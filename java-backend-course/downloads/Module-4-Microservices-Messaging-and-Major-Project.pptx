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Microservices, Messaging &amp; Major Project. Go from microservices fundamentals to deploying a full-scale Airbnb-like property rental platform — end-to-end production deployment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each brochure topic and where it is taught.
Project: Major Project: Airbnb Backend System — Build &amp; deploy a production-ready property rental platform across Sessions 21-24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19: Monolith vs Microservices &amp; Feign Client Inter-Service Communication.
Before you start: Modules 2–3: Spring Boot REST services, security tokens (Session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universally better architecture. Microservices trade code complexity for operational and distributed-systems complexity. Many successful companies run large monoliths; others split once team size and scaling needs demand it.
Our Splitwise project stays a (modular) monolith — appropriate for one team and one domain. The Airbnb-style major project is split because its domains (listings, bookings, payments) scale and evolve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distributed monolith combines the worst of both worlds: network latency and partial failures plus lock-step deployments. The tell-tale sign is a shared database schema that several services write to.
Ask the class to classify: a 3-person startup MVP (monolith), a bank with 40 teams (services), an internal admin tool (monolith).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decomposition is the starting point of the major project (Sessions 21–24). Draw arrows for which service needs which data: booking needs a property's price and capacity; payment needs the booking amount; notification listens to everyone's events.
Database per service enables independent schema changes and scaling, but it means no cross-service JOINs and no cross-service ACID transactions — the reason for sagas in Session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discovery: instances come and go (autoscaling, deployments), so callers resolve a logical name (property-service) to current addresses. Client-side discovery uses a registry like Eureka; on Kubernetes, platform DNS/Services often replace Eureka.
Rule of thumb for this course: use synchronous calls for reads needed to answer the current request, and events for everything that can happen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Eureka dashboard at http://localhost:8761 and start two property-service instances on different ports (--server.port8082 and 8083): both appear under one name.
Clients send heartbeats; instances that stop heart-beating are evicted after a timeout. Keep that in mind when you kill an instance during the lab — callers may briefly still route to it, which is why retries and timeouts matter.
The old @EnableEurekaClient annotation no longer exists; having the client starter on the classpath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"property-service" is resolved through Spring Cloud LoadBalancer and Eureka — no hard-coded host or port. Add url "http://localhost:8082" to bypass discovery (handy for local debugging or WireMock tests).
Feign reuses Spring's HTTP message converters, so the records deserialize with Jackson exactly like request bodies in our controllers.
Timeouts are the first line of defence against slow dependencies. A read timeout of 3 s means a hung property-service costs us at most 3 s per call instead of tying up a thread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an error decoder, any non-2xx response becomes a generic FeignException and your API would answer 500 for what is really a 404. Map remote errors to domain exceptions, which your @RestControllerAdvice already knows how to render.
Pitfall: annotating this class with @Configuration inside the component-scan path makes its beans apply to every Feign client. Keep it unannotated (or outside the scanned packages).
Token relay keeps the user's identity across services (each service re-validates the JWT — Session 18). For background jobs without a user, obtain a client-credentials token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styles look nearly identical to the caller: an injected interface. Teams with existing Feign code keep it; greenfield services can choose HTTP interfaces.
Declaring your own RestClient.Builder bean replaces Boot's auto-configured builder; in larger apps, customise the auto-configured one or use a dedicated qualifier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multiplies: if booking depends synchronously on three services each 99.9% available, booking can be at best ~99.7% available. Asynchronous designs break that multiplication.
This slide is the roadmap for the rest of Module 4 — each row is solved in a later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see failures when killing an instance (Eureka eviction delay). Perfect setup for next session's circuit breakers and retries.
Use different terminal tabs or a compose.yaml to run the services; Docker Compose is formalised in Session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real-world example of Conway's law from students' own organisations or projects — it makes the 'organisational reasons' argument tangible.
Q1 answer: B — Independent deployment and database-per-service are core; polyglot is optional.
Q2 answer: B — A distributed monolith pays network costs without gaining independence.
Q3 answer: B — Instances register under a logical name; clients look up current instances.
Q4 answer: B — The logical name is resolved to a live instance chosen by the load balancer.
Q5 answer: B — Without timeouts a slow dependency can exhaust your threads and cascade the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decouple services with message queues and Kafka, and protect synchronous calls with circuit breakers — the Spring Cloud &amp; Hystrix topic, implemented with today's Resilience4j.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20: Message Queues &amp; Kafka with Spring Boot, Spring Cloud &amp; the Hystrix Circuit Breaker.
Before you start: Session 19 (services calling each other) and Session 6 (producer–consumer queues).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Session 6's BlockingQueue producer–consumer: same idea, but the broker is a separate, durable, distributed system, so producers and consumers can live in different services and restart independently.
The trade-off is eventual consistency: after a booking is created, the confirmation email arrives a moment later. For most workflows that's exactly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key-to-partition mapping is hashing again (Session 5): Kafka's default partitioner hashes the key bytes (murmur2) modulo the partition count, so all events of booking 42 land in the same partition, in order.
Unlike a classic queue, consuming doesn't delete messages; each consumer group stores its own offset. That's why payments and notifications can read the same event independently.
Kafka 4.0 removed ZooKeeper entirely; clusters run in KRaft mode with Kafka's own Raft-based controllers. Old tutorials with a zookeeper container are outdated.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events for booking 42 go to the same partition and stay in order; booking 7 lands elsewhere. (Your partition numbers may differ.)
Run a second consumer with the same --group demo: partitions get split between them. Run one with a different group: it receives everything again.
Production clusters have 3+ brokers, replication factor 3 and min.insync.replicas2; managed options include Amazon MSK and Confluent Cloud (Session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Kafka 4 uses Jackson 3: the serializer is JacksonJsonSerializer (the older JsonSerializer is deprecated).
Events are named in the past tense — they describe facts that already happened (BookingCreated, PaymentFailed) — and carry an eventId for de-duplication.
send is asynchronous; never block on it inside a request thread unless you must. But how do we make sure the DB commit and the publish don't diverge? That's the outbox pattern in Session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Offsets are committed after the listener returns successfully (the default AckMode), which gives at-least-once delivery: a crash before the commit means the event is processed again — hence the idempotency table.
@RetryableTopic is an alternative that retries via separate delay topics without blocking the partition.
Keep listeners small: validate, de-duplicate, delegate to a service. Long-running work inside a listener delays the whole partition.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Electrical analogy: a breaker trips to protect the house when current is dangerous; it doesn't keep trying to push current through a short circuit. Likewise, an OPEN circuit stops sending requests to a failing service, giving it time to recover and keeping our threads free.
HALF_OPEN lets a few trial calls through; success closes the circuit, failure re-opens it for another wait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concepts across tabs: Hystrix requestVolumeThreshold ≈ R4j minimum-number-of-calls, errorThresholdPercentage ≈ failure-rate-threshold, sleepWindowInMilliseconds ≈ wait-duration-in-open-state. Knowing both is useful when maintaining older systems.
Annotations are AOP (Session 9): the method must be public and called from another bean. In Boot 4 the AOP starter is spring-boot-starter-aspectj.
A good fallback degrades gracefully and honestly: here the booking stays PENDING and payment is retried later — not 'pretend the payment succeeded'.
Retry wraps the circuit breaker by default in Resilience4j's aspect order, so each retry attempt is recorded by the 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availability, the safe fallback is 'not available' — never 'available' — so we can't double-book while property-service is down.
Watch the breaker live: with Actuator, GET /actuator/circuitbreakers and /actuator/health show states; metrics like resilience4j_circuitbreaker_state feed the Grafana dashboards of Session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 calls 5 and 6 never reach the remote service (remote calls stay at 4) — that's the fail fast benefit protecting both our threads and the struggling dependency.
Resilience4j adds time-based windows, slow-call detection, a configurable number of half-open trial calls, thread safety and metrics — but the state machine is exactly this one.
Exercise: change the window to 10 calls and the threshold to 30%, and predict when the breaker opens before running it.
Expected output:
1: OK
2: FALLBACK (queued for retry)
3: FALLBACK (queued for retry)
  [CLOSED -&gt; OPEN]
4: FALLBACK (queued for retry)
5: FALLBACK (queued for retry)
6: FALLBACK (queued for retry)
remote calls so far: 4
  [OPEN -&gt; HALF_OPEN]
  [HALF_OPEN -&gt; CLOSED]
7: OK
8: OK
state: CLOSED, remote calls: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Framework 7 added lightweight @Retryable and @ConcurrencyLimit to the core (package org.springframework.resilience). They're handy for simple retries without extra dependencies.
Jitter randomises backoff delays so thousands of clients don't retry in lock-step after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the shared events module (records only) is the contract between services — version it carefully, and prefer adding optional fields over renaming.
If consumers don't receive anything, check spring.json.trusted.packages, the group id, and auto-offset-reset (a new group with latest ignores old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question for Q2: what happens with 4 consumers in the group and 3 partitions? (One consumer is idle — parallelism is capped by partitions.)
Q1 answer: B — Order is per partition; use a key (e.g. bookingId) so related events share a partition.
Q2 answer: B — Within a group each partition is assigned to one consumer; different groups each receive all messages.
Q3 answer: B — Redeliveries happen (e.g. crash before offset commit); processing the same event twice must be harmless.
Q4 answer: B — OPEN means short-circuit: no remote call until the wait duration passes and HALF_OPEN trials succeed.
Q5 answer: C — Hystrix entered maintenance in 2018 and was removed in Spring Cloud 2020.0; Resilience4j is the standard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starts the major project: the Airbnb backend — high-level system design and data modeling for users, properties, bookings and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21: Major Project — Airbnb Backend: HLSD &amp; Data Modeling for Users, Properties &amp; Bookings.
Before you start: Sessions 19–20 (service decomposition, Kafka) and Session 12 (design → schema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next four sessions as one sprint toward a production-ready system. Each session ends with a milestone that builds on the previous one.
Encourage teams of 2–3: one owner per service mirrors how real microservice teams work (Conway's law, Session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Back-of-the-envelope math: 100,000 / 86,400 s ≈ 1.2 bookings per second; assume 10–20× at peak (holidays). Writes are modest; reads (search) dominate by orders of magnitude — so search gets its own read-optimised store and caching.
Consistency requirements differ per feature: search results may lag by seconds (eventual consistency is fine), but availability at booking time must be exact. This single insight drives much of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'book a stay' path across the diagram: gateway → booking-service (sync check with property-service for price/capacity) → booking stored as PENDING → booking.created → payment-service charges → payment.completed → booking CONFIRMED → notification sent. Session 22 implements exactly this choreography.
Why OpenSearch/Elasticsearch? Full-text relevance, faceted filters and geo queries at thousands of QPS are what search engines are built for; MySQL remains the system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endpoints sit under /api/v1/... behind the gateway. Mutating endpoints that a client might retry (create booking, cancel) accept an Idempotency-Key header (Session 15's Redis pattern, now essential).
Event names follow &lt;entity&gt;.&lt;past-tense-verb&gt;; payloads are versioned records in a shared events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Photos live in object storage (S3); the database stores URLs. Never store large binaries in MySQL rows.
calendar_overrides stores only exceptions (blocked nights, special prices); the default price is base_price. Booked nights live in booking-service — the authority on reservations.
Data duplication across services is normal: search keeps its own denormalised copy of property data, updated by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Splitwise's expense_splits idea: store the resolved facts (each night) rather than only a range, so integrity rules become simple key constraints.
Payment-service never stores card numbers: a provider (Stripe, Razorpay…) tokenises cards, keeping us out of most PCI-DSS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 cases are the whole point: ravi checking in on asha's check-out day and dev checking out on asha's check-in day are both fine. Off-by-one errors here mean either double bookings or wrongly rejected guests.
LocalDate.datesUntil(end) (Java 9+) excludes the end date — exactly the half-open semantics we need to generate booked_nights rows.
Keep this test in the booking-service suite; it's the most important unit test of the project.
Expected output:
asha nights: [2026-12-20, 2026-12-21, 2026-12-22, 2026-12-23]
ravi  2026-12-24 -&gt; 2026-12-27 : ok
meera 2026-12-18 -&gt; 2026-12-21 : CONFLICT
zoya  2026-12-21 -&gt; 2026-12-22 : CONFLICT
dev   2026-12-15 -&gt; 2026-12-20 : ok
rejected: check-out must be after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idx_bookings_property_dates serves the overlap query; booked_nights' primary key serves the integrity check. When a booking is cancelled or expires, its booked_nights rows are deleted, freeing the nights.
Each service's Flyway history is independent — services evolve their schemas without coordinating releases.
In local development all service databases can live in one MySQL container as separate schemas; in production each service gets its own instance or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project, a simpler first version is fine: search directly in property-service with indexed MySQL queries and pagination. Introduce the event-fed search-service as a stretch goal — the event already exists.
Eventual consistency explained to users: a listing edited a second ago may show its old price in search, but the booking page always shows the authoritative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scope tight: the aim is a coherent skeleton with correct data rules. Workflows (payments, saga) come next session.
Review each team's ERDs before they code: check cross-service references are ids only, money columns are DECIMAL, and nights are half-open.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is a reminder that most systems' write loads are smaller than people fear — the hard parts are correctness under concurrency and read scalability.
Q1 answer: B — The night of the 24th isn't part of A; A's guest leaves that morning.
Q2 answer: B — The database enforces uniqueness even under concurrent transactions.
Q3 answer: B — Different consistency requirements per feature: hints vs guarantees.
Q4 answer: B — Services reference each other's entities by id; integrity across services is handled by APIs and events.
Q5 answer: A — 100,000 / 86,400 s ≈ 1.2/s; plan for 10–20× at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implement the microservices and the booking workflow — the booking state machine, a Kafka choreography saga with payments, the outbox pattern and idempotent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22: Microservices Architecture &amp; Booking Management Workflows.
Before you start: Session 20 (Kafka, idempotent consumers) and Session 21 (schemas and the overlap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states (CANCELLED, EXPIRED, COMPLETED) have no outgoing transitions. Encoding this in one place means a late or duplicate event can never resurrect a booking.
The 15-minute hold balances fairness (guests can't block dates forever) with time to complete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JPA entity, transition() also appends a booking_status_history row; the ALLOWED map is identical.
Booking 43 is the important case: the payment event arrived after the booking expired. The state machine rejects the confirmation, and booking-service instead requests a refund — a compensating action.
Pure functions like refund are trivially unit-testable; put every policy edge (exactly 24 h, exactly 5 days) into a parameterized test.
Expected output:
42: PENDING -&gt; CONFIRMED (payment.completed)
42: CONFIRMED -&gt; COMPLETED (guest checked out)
rejected: booking 43: EXPIRED -&gt; CONFIRMED not allowed
FLEXIBLE cancel 240 h before -&gt; refund 18000.00
FLEXIBLE cancel  72 h before -&gt; refund 18000.00
FLEXIBLE cancel   6 h before -&gt; refund 0.00
MODERATE cancel 240 h before -&gt; refund 18000.00
MODERATE cancel  72 h before -&gt; refund 9000.00
MODERATE cancel   6 h before -&gt; refund 9000.00
STRICT   cancel 240 h before -&gt; refund 9000.00
STRICT   cancel  72 h before -&gt; refund 0.00
STRICT   cancel   6 h before -&gt; refund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Compensation is not rollback: the payment really happened and must be refunded; the email really went out and needs a follow-up. Design compensations as business operations.
We use choreography because the booking flow has two participants and a short path. If we later add fraud checks, insurance and loyalty points, an orchestrator would keep the flow understandable.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guest gets an immediate 201 with status PENDING; the client polls GET /bookings/{id} (or receives a push) until CONFIRMED. This keeps the API fast and resilient to payment-provider slowness.
Notice no service calls another synchronously after the initial request — failures in payment or notification can't break booking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correct when implemented carefully; we choose unique nights because the guarantee lives in the schema — no code path (or future developer) can bypass it.
The application-level overlap check is still useful: it gives a friendly early error before trying the insert, and serves availability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duplicate-key error must surface inside the try block, so the nights are inserted with JDBC immediately (and the booking with saveAndFlush). With deferred JPA flushing the violation would appear at commit time, outside our handler.
JdbcTemplate participates in the same JPA transaction because both use the same DataSource — one connection, one commit.
Idempotency: the unique idempotency_key column makes a retried POST return the original booking instead of creating a second one (two concurrent identical retries: one insert fails on the unique key → return the winner's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outbox gives us atomicity between state change and 'intent to publish'. The relay may publish an event twice (crash between send and mark-as-published), which is fine because every consumer is idempotent (Session 20).
CDC (change data capture) tools like Debezium tail the MySQL binlog and publish outbox rows without polling — an operational upgrade for high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UPDATE SKIP LOCKED (MySQL 8+) lets three booking-service instances run the relay concurrently without publishing the same row twice in normal operation.
Consumers of JSON-text payloads set the target type, e.g. spring.json.value.default.type, or the relay can add type headers. Keep payload schemas backward compatible: add fields, don't rename or remove them.
Housekeeping: delete published rows older than a few days with a scheduled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over the current status makes every possible ordering of events safe: duplicates do nothing, late events trigger compensation.
@Version on Booking protects against two handlers (say, a payment event and the expiry job) updating the same booking simultaneously: one commit wins, the other retries via the error handler and then sees the new state.
Payment-service mirrors this: it consumes booking.created, charges the provider with idempotency key booking-&lt;id&gt; (so retries never double-charge), stores the payment, and writes payment.completed/payment.failed to its own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map each pattern to the failure it prevents — e.g. outbox prevents lost events, idempotency prevents double charges, circuit breakers prevent cascading failures.
Patterns have costs; a modular monolith needs only a few of them. That's why Splitwise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concurrency test is the highlight: reuse Session 6's CountDownLatch start-gun pattern so all requests hit the database at once. Seeing exactly one success is deeply satisfying — and proves the schema-level guarantee.
Have teams draw the saga on paper first, listing for each event: producer, consumers, idempotency mechanism and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Q1 to emphasise that 'eventual consistency' still requires eventual correctness: every path ends in a consistent business state.
Q1 answer: C — Terminal states can't be resurrected; the money must be returned via a compensating action.
Q2 answer: B — Sagas with local transactions and compensations are the standard microservices alternative.
Q3 answer: B — The event is stored in the same transaction as the state change, then published by a relay.
Q4 answer: B — The second insert waits on the first's lock and then violates the primary key.
Q5 answer: B — Network retries are normal; idempotency keys make creation safe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one front door for all services with Spring Cloud Gateway, scalability patterns, Docker images and Compose, deployment strategies and environment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23: Spring Cloud Gateway, Scalability Patterns, Containerization &amp; Deployment.
Before you start: Sessions 19–22: the Airbnb services, Eureka, Kafka and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also where the strangler-fig migration (Session 19) happens: routes decide whether a path goes to the old monolith or a new service.
Keep business logic out of the gateway — it should stay a thin, fast, stateless layer. Services still validate tokens themselves (defence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Cloud Gateway 5 (Spring Cloud 2025.x) uses the starter spring-cloud-starter-gateway-server-webflux (a servlet-based -webmvc variant also exists), and its routes live under spring.cloud.gateway.server.webflux.routes. The old spring.cloud.gateway.routes prefix from earlier tutorials no longer binds.
The reactive (WebFlux/Netty) gateway handles many concurrent connections with few threads — ideal for a proxy that mostly waits on I/O.
GET /actuator/gateway/routes (with the gateway endpoint exposed) lists the active routes — handy for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Exceeding the rate limit returns 429 Too Many Requests. The token-bucket parameters allow short bursts (20) but a sustained rate of 10/s per user.
The fallback message is honest: it says the booking was not processed, so the client can safely retry with the same Idempotency-Key (Session 22).
Searching and browsing stay public; everything else needs a valid JWT (Session 18). Services keep validating tokens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Statelessness is why we chose bearer tokens over server sessions for the APIs: with sessions you'd need sticky routing or a shared session store.
Different services scale differently: search might run 6 replicas while payment runs 2. That independent scaling was one of the reasons to split the system in the first place (Session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built in layers; unchanged layers are reused from cache. Ordering Dockerfile instructions from least to most frequently changing (dependencies before source code) makes rebuilds fast.
Tag images with an immutable version (git SHA or semantic version), never deploy latest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image contains no compiler, no Maven, no source code — smaller and with a smaller attack surface. That's the JRE-vs-JDK distinction from Session 1 in practice.
MaxRAMPercentage makes the JVM size its heap from the container's memory limit instead of the host's RAM; ExitOnOutOfMemoryError lets the orchestrator restart a broken container instead of leaving it half-alive.
For faster rebuilds, Spring Boot can extract the JAR into layers (java -Djarmodetools -jar app.jar extract --layers) so dependency layers are cached separately from your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Compose network services reach each other by name (mysql, kafka, discovery). Only the gateway publishes a port — services aren't directly reachable from outside, as in production.
docker compose up --build -d, then docker compose ps and docker compose logs -f booking-service. Scale on the fly: docker compose up -d --scale booking-service3.
Environment-specific values live in a docker profile file; secrets come from environment variables populated from a git-ignored .env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Docker image runs in dev, staging and prod; only configuration changes. That makes 'it worked in staging' meaningful.
Relaxed binding maps environment variables to properties: SPRING_DATASOURCE_PASSWORD → spring.datasource.password.
Spring Cloud Config centralises configuration for many services (backed by Git, with refresh support); it's optional — many teams use their platform's parameter/secret stores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rolling update old and new versions serve traffic at the same time — so version N+1 must work with the schema and events that version N produces, and vice versa. That's why we insisted on additive changes.
Readiness says 'send me traffic'; liveness says 'restart me if false'. A service that is starting up (Flyway running) is alive but not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requests run the full test pyramid from Session 14, including Testcontainers integration tests — GitHub-hosted Ubuntu runners have Docker available.
Images are tagged with the commit SHA, so every deployment is traceable to exact code. A deployment job (Session 24: AWS) can pick up that tag.
Secrets such as the registry token come from GitHub's encrypted secrets, never from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issues: services starting before MySQL is ready (use healthchecks + depends_on: condition), Kafka advertised listener pointing at localhost inside containers, and Eureka URLs still set to localhost (use the docker profile).
The Weight route predicate in Spring Cloud Gateway (e.g. Weightbookings, 90 / Weightbookings, 10) implements a simple canary split for the stretch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why horizontal scaling requires stateless services, using sessions vs JWTs as the example.
For Q1, show a gateway that silently routes nothing because of the old property prefix: the app starts fine, every request 404s — a perfect example of why reading the release notes during upgrades matters.
Q1 answer: B — Gateway 5 moved its properties under spring.cloud.gateway.server.webflux (or .webmvc); the old prefix no longer binds.
Q2 answer: B — The lb scheme uses Spring Cloud LoadBalancer with the service registry.
Q3 answer: B — Build tools stay in the discarded stage; the runtime image is minimal.
Q4 answer: C — Canary releases expose a fraction of users and expand based on metrics.
Q5 answer: C — Secrets never live in Git or images; the platform injects them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session: production readiness — monitoring with Actuator, Micrometer, Prometheus and Grafana, logging and tracing, performance tuning, and deploying to AWS. Then the capstone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24: Monitoring, Logging, Performance Optimization &amp; Production Readiness.
Before you start: Session 23: containerised services, gateway, CI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all three signals together: a dashboard shows p95 latency jumped (metric) → exemplars or filtering show slow requests (traces) → the trace's id finds the exact log lines explaining the database timeout (logs).
RED (Rate, Errors, Duration) for services and USE (Utilisation, Saturation, Errors) for resources are two handy checklists derived from the golden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 health contributors cover the database, Redis, Kafka, disk space and more; add your own by implementing a HealthIndicator bean (e.g. pinging the payment provider).
Expose only what you need and protect it: in production put Actuator on a separate internal port (management.server.port) or behind security — /actuator/env and /actuator/heapdump can leak secrets.
Readiness should fail when the service can't do useful work (e.g. DB unreachable during startup); liveness only when the process is stuck and needs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Micrometer names bookings.created become bookings_created_total in Prometheus. Keep tag values low-cardinality (no user ids or booking ids as tags!) — every distinct value creates a new time series.
Add Prometheus (prom/prometheus) and Grafana (grafana/grafana) to the Compose file; import a JVM/Spring Boot dashboard, then build one for the golden signals and business metrics.
A rising conflict ratio may mean a popular property — or a bug in availability caching. Business metrics often detect problems before technical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4's spring-boot-starter-opentelemetry brings the OpenTelemetry SDK and the Micrometer tracing bridge; traces are exported over OTLP. The Boot 3 property management.otlp.tracing.endpoint was replaced by management.opentelemetry.tracing.export.otlp.endpoint.
HTTP clients built from Boot's builders (RestClient, WebClient) and Feign propagate context automatically; enabling Kafka observations carries the trace across the saga's asynchronous hops.
With tracing active, traceId and spanId are added to the logging MDC, so every log line can be joined with its trace — the request-id idea from Session 9, standardised.
(Code for this slide is in the web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should log to stdout/stderr; the platform (Docker, ECS, Kubernetes) collects and ships the stream. No log files inside containers.
Privacy and compliance (e.g. India's DPDP Act, GDPR) apply to logs too: mask emails/phones, never log secrets, and restrict who can search production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threads (Java 21, Session 6) let a Spring MVC service handle many more concurrent blocking requests with the same simple code: one property switches Tomcat request handling, @Async and scheduling onto virtual threads. Measure — they help I/O-bound workloads, not CPU-bound ones.
Most backend latency is I/O: database round trips and remote calls. Count them per request before optimising Java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load tests against a production-like environment (same instance sizes, realistic data volume). A test against an empty database on a laptop proves very little.
JFR's method profiling and allocation views show where CPU and memory go; combine with traces to see whether time is spent in your code or waiting on I/O.
Turn on MySQL's slow query log in staging and review it weekly — the cheapest performance tool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budgets turn reliability into a shared decision: if the budget is exhausted, the team prioritises reliability work over new features.
Great incident habits: one incident commander, a public status note, frequent updates, and rollback as the first resort when a deploy is the likely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list against the Airbnb project and mark each item done/partial/missing — it's an excellent final project review and a strong interview story.
Backups that were never restored are hopes, not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local container to its managed counterpart: MySQL → RDS, Redis → ElastiCache, Kafka → MSK, Eureka → often replaced by ECS Service Connect/Cloud Map or Kubernetes Services, Compose → ECS services.
Cost awareness: managed Kafka and OpenSearch are the expensive parts. For a portfolio deployment, run fewer services or use smaller instance types — and set billing alarms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OIDC federation lets GitHub Actions assume an IAM role for the duration of the job — nothing secret is stored in the repository.
The ALB target group health check should call /actuator/health/readiness; ECS replaces tasks gradually and only shifts traffic to healthy ones (rolling update with automatic rollback when deployment circuit breaker is enabled).
Secrets are injected by ECS from Secrets Manager at container start — the image and task definition contain only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present their Airbnb system in five minutes: architecture, one hard problem they solved, one metric dashboard, one thing they'd do differently. This mirrors a real system design interview.
Point students to the official Spring guides, the Spring Boot reference documentation and release notes — framework knowledge has a shelf life, and reading release notes is a professional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with the checklist and a short demo: dashboard → trace → logs for one request, plus before/after load-test numbers for one optimisation.
Remind students to tear down cloud resources after experimenting and to keep billing alarms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course by asking students which single practice from Module 4 they would introduce first in a real team — there is no wrong answer, but they should justify it with a failure it prevents.
Q1 answer: B — Traces show each span's duration across services for one request.
Q2 answer: B — Boot 4 moved tracing export under management.opentelemetry.tracing.export.otlp.; the old key no longer takes effect.
Q3 answer: B — High-cardinality tags (ids) create millions of series and overwhelm the metrics backend.
Q4 answer: B — Alert on symptoms tied to SLOs; investigate causes with dashboards.
Q5 answer: B — id-token: write + configure-aws-credentials exchanges a short-lived OIDC token for temporary role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Congratulations — all 24 sessions complete. Encourage students to keep their repositories alive: upgrade dependencies, add features, and write about what they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6446520"/>
            <a:ext cx="11277295" cy="0"/>
          </a:xfrm>
          <a:prstGeom prst="line">
            <a:avLst/>
          </a:prstGeom>
          <a:noFill/>
          <a:ln w="9525">
            <a:solidFill>
              <a:srgbClr val="D5DDD7"/>
            </a:solidFill>
            <a:prstDash val="solid"/>
          </a:ln>
        </p:spPr>
      </p:sp>
      <p:sp>
        <p:nvSpPr>
          <p:cNvPr id="3" name="Text 1"/>
          <p:cNvSpPr/>
          <p:nvPr/>
        </p:nvSpPr>
        <p:spPr>
          <a:xfrm>
            <a:off x="457200" y="6473952"/>
            <a:ext cx="10362895" cy="274320"/>
          </a:xfrm>
          <a:prstGeom prst="rect">
            <a:avLst/>
          </a:prstGeom>
          <a:noFill/>
          <a:ln/>
        </p:spPr>
        <p:txBody>
          <a:bodyPr wrap="square" rtlCol="0" anchor="ctr"/>
          <a:lstStyle/>
          <a:p>
            <a:pPr indent="0" marL="0">
              <a:buNone/>
            </a:pPr>
            <a:r>
              <a:rPr lang="en-US" sz="900" dirty="0">
                <a:solidFill>
                  <a:srgbClr val="5B6B60"/>
                </a:solidFill>
                <a:latin typeface="Calibri" pitchFamily="34" charset="0"/>
                <a:ea typeface="Calibri" pitchFamily="34" charset="-122"/>
                <a:cs typeface="Calibri" pitchFamily="34" charset="-120"/>
              </a:rPr>
              <a:t>Module 4 · Microservices, Messaging &amp; Major Project  —  based on the GeeksforGeeks “Java Backend Development Course With IBM Certification” syllabus</a:t>
            </a:r>
            <a:endParaRPr lang="en-US" sz="9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1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0773A"/>
          </a:solidFill>
          <a:ln w="12700">
            <a:solidFill>
              <a:srgbClr val="E0773A"/>
            </a:solidFill>
            <a:prstDash val="solid"/>
          </a:ln>
        </p:spPr>
      </p:sp>
      <p:sp>
        <p:nvSpPr>
          <p:cNvPr id="3" name="Text 1"/>
          <p:cNvSpPr/>
          <p:nvPr/>
        </p:nvSpPr>
        <p:spPr>
          <a:xfrm>
            <a:off x="731520" y="1188720"/>
            <a:ext cx="10058400" cy="457200"/>
          </a:xfrm>
          <a:prstGeom prst="rect">
            <a:avLst/>
          </a:prstGeom>
          <a:noFill/>
          <a:ln/>
        </p:spPr>
        <p:txBody>
          <a:bodyPr wrap="square" rtlCol="0" anchor="ctr"/>
          <a:lstStyle/>
          <a:p>
            <a:pPr indent="0" marL="0">
              <a:buNone/>
            </a:pPr>
            <a:r>
              <a:rPr lang="en-US" sz="1600" b="1" dirty="0">
                <a:solidFill>
                  <a:srgbClr val="E0773A"/>
                </a:solidFill>
                <a:latin typeface="Calibri" pitchFamily="34" charset="0"/>
                <a:ea typeface="Calibri" pitchFamily="34" charset="-122"/>
                <a:cs typeface="Calibri" pitchFamily="34" charset="-120"/>
              </a:rPr>
              <a:t>MODULE 4  ·  SESSIONS 19–24</a:t>
            </a:r>
            <a:endParaRPr lang="en-US" sz="1600" dirty="0"/>
          </a:p>
        </p:txBody>
      </p:sp>
      <p:sp>
        <p:nvSpPr>
          <p:cNvPr id="4" name="Text 2"/>
          <p:cNvSpPr/>
          <p:nvPr/>
        </p:nvSpPr>
        <p:spPr>
          <a:xfrm>
            <a:off x="731520" y="1691640"/>
            <a:ext cx="10515600" cy="1280160"/>
          </a:xfrm>
          <a:prstGeom prst="rect">
            <a:avLst/>
          </a:prstGeom>
          <a:noFill/>
          <a:ln/>
        </p:spPr>
        <p:txBody>
          <a:bodyPr wrap="square"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Microservices, Messaging &amp; Major Project</a:t>
            </a:r>
            <a:endParaRPr lang="en-US" sz="4400" dirty="0"/>
          </a:p>
        </p:txBody>
      </p:sp>
      <p:sp>
        <p:nvSpPr>
          <p:cNvPr id="5" name="Text 3"/>
          <p:cNvSpPr/>
          <p:nvPr/>
        </p:nvSpPr>
        <p:spPr>
          <a:xfrm>
            <a:off x="731520" y="3108960"/>
            <a:ext cx="10058400" cy="1005840"/>
          </a:xfrm>
          <a:prstGeom prst="rect">
            <a:avLst/>
          </a:prstGeom>
          <a:noFill/>
          <a:ln/>
        </p:spPr>
        <p:txBody>
          <a:bodyPr wrap="square" rtlCol="0" anchor="t"/>
          <a:lstStyle/>
          <a:p>
            <a:pPr indent="0" marL="0">
              <a:buNone/>
            </a:pPr>
            <a:r>
              <a:rPr lang="en-US" sz="1800" dirty="0">
                <a:solidFill>
                  <a:srgbClr val="C9D8CE"/>
                </a:solidFill>
                <a:latin typeface="Calibri" pitchFamily="34" charset="0"/>
                <a:ea typeface="Calibri" pitchFamily="34" charset="-122"/>
                <a:cs typeface="Calibri" pitchFamily="34" charset="-120"/>
              </a:rPr>
              <a:t>Go from microservices fundamentals to deploying a full-scale Airbnb-like property rental platform — end-to-end production deployment included.</a:t>
            </a:r>
            <a:endParaRPr lang="en-US" sz="1800" dirty="0"/>
          </a:p>
        </p:txBody>
      </p:sp>
      <p:sp>
        <p:nvSpPr>
          <p:cNvPr id="6" name="Text 4"/>
          <p:cNvSpPr/>
          <p:nvPr/>
        </p:nvSpPr>
        <p:spPr>
          <a:xfrm>
            <a:off x="731520" y="4937760"/>
            <a:ext cx="10058400" cy="365760"/>
          </a:xfrm>
          <a:prstGeom prst="rect">
            <a:avLst/>
          </a:prstGeom>
          <a:noFill/>
          <a:ln/>
        </p:spPr>
        <p:txBody>
          <a:bodyPr wrap="square" rtlCol="0" anchor="ctr"/>
          <a:lstStyle/>
          <a:p>
            <a:pPr indent="0" marL="0">
              <a:buNone/>
            </a:pPr>
            <a:r>
              <a:rPr lang="en-US" sz="1400" b="1" dirty="0">
                <a:solidFill>
                  <a:srgbClr val="F3EF6B"/>
                </a:solidFill>
                <a:latin typeface="Calibri" pitchFamily="34" charset="0"/>
                <a:ea typeface="Calibri" pitchFamily="34" charset="-122"/>
                <a:cs typeface="Calibri" pitchFamily="34" charset="-120"/>
              </a:rPr>
              <a:t>Java Backend Development — Interactive Course Notes</a:t>
            </a:r>
            <a:endParaRPr lang="en-US" sz="1400" dirty="0"/>
          </a:p>
        </p:txBody>
      </p:sp>
      <p:sp>
        <p:nvSpPr>
          <p:cNvPr id="7" name="Text 5"/>
          <p:cNvSpPr/>
          <p:nvPr/>
        </p:nvSpPr>
        <p:spPr>
          <a:xfrm>
            <a:off x="731520" y="5349240"/>
            <a:ext cx="10515600" cy="548640"/>
          </a:xfrm>
          <a:prstGeom prst="rect">
            <a:avLst/>
          </a:prstGeom>
          <a:noFill/>
          <a:ln/>
        </p:spPr>
        <p:txBody>
          <a:bodyPr wrap="square" rtlCol="0" anchor="ctr"/>
          <a:lstStyle/>
          <a:p>
            <a:pPr indent="0" marL="0">
              <a:buNone/>
            </a:pPr>
            <a:r>
              <a:rPr lang="en-US" sz="1100" dirty="0">
                <a:solidFill>
                  <a:srgbClr val="9FB3A6"/>
                </a:solidFill>
                <a:latin typeface="Calibri" pitchFamily="34" charset="0"/>
                <a:ea typeface="Calibri" pitchFamily="34" charset="-122"/>
                <a:cs typeface="Calibri" pitchFamily="34" charset="-120"/>
              </a:rPr>
              <a:t>Independent study companion based on the GeeksforGeeks “Java Backend Development Course With IBM Certification” brochure. Code targets Java 21 LTS (Java 25 LTS also works), Spring Boot 4.1.x (Spring Framework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Module roadmap</a:t>
            </a:r>
            <a:endParaRPr lang="en-US" sz="2800" dirty="0"/>
          </a:p>
        </p:txBody>
      </p:sp>
      <p:sp>
        <p:nvSpPr>
          <p:cNvPr id="4" name="Text 2"/>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Brochure topics in order, and the session that teaches each one.</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914400"/>
        </p:xfrm>
        <a:graphic>
          <a:graphicData uri="http://schemas.openxmlformats.org/drawingml/2006/table">
            <a:tbl>
              <a:tblPr/>
              <a:tblGrid>
                <a:gridCol w="548640"/>
                <a:gridCol w="8778240"/>
                <a:gridCol w="1947672"/>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Brochure topic (verbatim)</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Session(s)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Monolith vs microservices &amp; Feign Client inter-service communication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S19</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Message queues, Kafka integration with Spring Boot</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S20</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Spring Cloud &amp; Hystrix circuit breaker</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S20</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Airbnb Backend: HLSD, data modeling for users, properties &amp; bookings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S21</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Microservices architecture &amp; booking management workflows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S22</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Spring Cloud Gateway routing &amp; scalability patterns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Containerization, deployment strategy &amp; environment configuration</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S23</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438912">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Monitoring, logging, performance optimization &amp; production readiness</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indent="0" marL="0">
                        <a:buNone/>
                      </a:pPr>
                      <a:r>
                        <a:rPr lang="en-US" sz="1300" dirty="0">
                          <a:solidFill>
                            <a:srgbClr val="1F2A24"/>
                          </a:solidFill>
                          <a:latin typeface="Calibri" pitchFamily="34" charset="0"/>
                          <a:ea typeface="Calibri" pitchFamily="34" charset="-122"/>
                          <a:cs typeface="Calibri" pitchFamily="34" charset="-120"/>
                        </a:rPr>
                        <a:t>S24</a:t>
                      </a:r>
                      <a:endParaRPr lang="en-US" sz="1300" dirty="0">
                        <a:latin typeface="Calibri" charset="0"/>
                        <a:ea typeface="Calibri" charset="0"/>
                        <a:cs typeface="Calibri" charset="0"/>
                      </a:endParaRPr>
                    </a:p>
                  </a:txBody>
                  <a:tcPr marL="91440" marR="91440" marT="45720" marB="45720">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19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Monolith vs Microservices &amp; Feign Client Inter-Service Communication</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Monolith vs microservices &amp; Feign Client inter-service communication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Service discovery with Eureka; HTTP Interface clients as the modern alternative</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Compare monoliths, modular monoliths and microservices, and decide when splitting is worth it.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Decompose a domain into services around business capabilities with database-per-service.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Register and discover services with Eureka and call them with OpenFeign (timeouts, error decoding, header propagation).</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Recognise the failure modes of synchronous calls that later sessions solve (Kafka, circuit breakers, sagas).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Monolith vs microservices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When are microservices worth it?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Decomposing the Airbnb domain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How services talk: sync vs async</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Service discovery with Eureka</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Declarative HTTP calls with OpenFeign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Feign errors &amp; header propagation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The modern alternative: HTTP Interface clients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dark side of synchronous calls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Lab: discovery + Feign between two services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microservices &amp; Feign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19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Monolith vs microservices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monolith</a:t>
            </a:r>
            <a:pPr indent="0" marL="0">
              <a:buNone/>
            </a:pPr>
            <a:r>
              <a:rPr lang="en-US" sz="1350" dirty="0">
                <a:solidFill>
                  <a:srgbClr val="5B6B60"/>
                </a:solidFill>
                <a:latin typeface="Calibri" pitchFamily="34" charset="0"/>
                <a:ea typeface="Calibri" pitchFamily="34" charset="-122"/>
                <a:cs typeface="Calibri" pitchFamily="34" charset="-120"/>
              </a:rPr>
              <a:t> is one deployable unit. </a:t>
            </a:r>
            <a:pPr indent="0" marL="0">
              <a:buNone/>
            </a:pPr>
            <a:r>
              <a:rPr lang="en-US" sz="1350" b="1" dirty="0">
                <a:solidFill>
                  <a:srgbClr val="5B6B60"/>
                </a:solidFill>
                <a:latin typeface="Calibri" pitchFamily="34" charset="0"/>
                <a:ea typeface="Calibri" pitchFamily="34" charset="-122"/>
                <a:cs typeface="Calibri" pitchFamily="34" charset="-120"/>
              </a:rPr>
              <a:t>Microservices</a:t>
            </a:r>
            <a:pPr indent="0" marL="0">
              <a:buNone/>
            </a:pPr>
            <a:r>
              <a:rPr lang="en-US" sz="1350" dirty="0">
                <a:solidFill>
                  <a:srgbClr val="5B6B60"/>
                </a:solidFill>
                <a:latin typeface="Calibri" pitchFamily="34" charset="0"/>
                <a:ea typeface="Calibri" pitchFamily="34" charset="-122"/>
                <a:cs typeface="Calibri" pitchFamily="34" charset="-120"/>
              </a:rPr>
              <a:t> are many small, independently deployable services, each owning one business capability and its data.</a:t>
            </a:r>
            <a:endParaRPr lang="en-US" sz="1350" dirty="0"/>
          </a:p>
        </p:txBody>
      </p:sp>
      <p:sp>
        <p:nvSpPr>
          <p:cNvPr id="7" name="Text 5"/>
          <p:cNvSpPr/>
          <p:nvPr/>
        </p:nvSpPr>
        <p:spPr>
          <a:xfrm>
            <a:off x="457200" y="1883664"/>
            <a:ext cx="1127729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Monolith: one codebase, one deploy, one database; simple local dev, testing, debugging; in-process calls &amp; ACID transactions; scales as a whole; one tech stack; big-bang deploys; coupling grows over time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Modular monolith: one deploy, strict internal modules; clear boundaries without network costs; easy to split later; great default for new products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Microservices: independent deploy &amp; scaling per service; team autonomy, polyglot where useful; fault isolation (if designed for it); network calls, eventual consistency; heavy ops: discovery, tracing, CI/CD per service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When are microservices worth it?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Split for </a:t>
            </a:r>
            <a:pPr indent="0" marL="0">
              <a:buNone/>
            </a:pPr>
            <a:r>
              <a:rPr lang="en-US" sz="1350" b="1" dirty="0">
                <a:solidFill>
                  <a:srgbClr val="5B6B60"/>
                </a:solidFill>
                <a:latin typeface="Calibri" pitchFamily="34" charset="0"/>
                <a:ea typeface="Calibri" pitchFamily="34" charset="-122"/>
                <a:cs typeface="Calibri" pitchFamily="34" charset="-120"/>
              </a:rPr>
              <a:t>organisational</a:t>
            </a:r>
            <a:pPr indent="0" marL="0">
              <a:buNone/>
            </a:pPr>
            <a:r>
              <a:rPr lang="en-US" sz="1350" dirty="0">
                <a:solidFill>
                  <a:srgbClr val="5B6B60"/>
                </a:solidFill>
                <a:latin typeface="Calibri" pitchFamily="34" charset="0"/>
                <a:ea typeface="Calibri" pitchFamily="34" charset="-122"/>
                <a:cs typeface="Calibri" pitchFamily="34" charset="-120"/>
              </a:rPr>
              <a:t> and </a:t>
            </a:r>
            <a:pPr indent="0" marL="0">
              <a:buNone/>
            </a:pPr>
            <a:r>
              <a:rPr lang="en-US" sz="1350" b="1" dirty="0">
                <a:solidFill>
                  <a:srgbClr val="5B6B60"/>
                </a:solidFill>
                <a:latin typeface="Calibri" pitchFamily="34" charset="0"/>
                <a:ea typeface="Calibri" pitchFamily="34" charset="-122"/>
                <a:cs typeface="Calibri" pitchFamily="34" charset="-120"/>
              </a:rPr>
              <a:t>scaling</a:t>
            </a:r>
            <a:pPr indent="0" marL="0">
              <a:buNone/>
            </a:pPr>
            <a:r>
              <a:rPr lang="en-US" sz="1350" dirty="0">
                <a:solidFill>
                  <a:srgbClr val="5B6B60"/>
                </a:solidFill>
                <a:latin typeface="Calibri" pitchFamily="34" charset="0"/>
                <a:ea typeface="Calibri" pitchFamily="34" charset="-122"/>
                <a:cs typeface="Calibri" pitchFamily="34" charset="-120"/>
              </a:rPr>
              <a:t> reasons, not because it's fashionable.</a:t>
            </a:r>
            <a:endParaRPr lang="en-US" sz="1350" dirty="0"/>
          </a:p>
        </p:txBody>
      </p:sp>
      <p:sp>
        <p:nvSpPr>
          <p:cNvPr id="7" name="Text 5"/>
          <p:cNvSpPr/>
          <p:nvPr/>
        </p:nvSpPr>
        <p:spPr>
          <a:xfrm>
            <a:off x="457200" y="1883664"/>
            <a:ext cx="11277295" cy="213969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Conway's law:</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systems mirror the communication structure of the organisations that build them.</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Anti-patterns: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distributed monolith</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(services must deploy together),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shared database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chatty fine-grained calls, nano-services.</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Monolith is fine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Consider microservices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Team size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1–2 teams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many teams stepping on each other in one codebase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Deploy cadence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deploying everything together is OK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teams blocked by others' releases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Scaling profile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uniform load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search 100× more traffic than payments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Domain clarity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boundaries still changing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stable, well-understood bounded contexts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Ops maturity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CI/CD, monitoring, containers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automated pipelines, observability, on-call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INTERVIEW: </a:t>
            </a:r>
            <a:pPr indent="0" marL="0">
              <a:buNone/>
            </a:pPr>
            <a:r>
              <a:rPr lang="en-US" sz="1100" i="1" dirty="0">
                <a:solidFill>
                  <a:srgbClr val="1F2A24"/>
                </a:solidFill>
                <a:latin typeface="Calibri" pitchFamily="34" charset="0"/>
                <a:ea typeface="Calibri" pitchFamily="34" charset="-122"/>
                <a:cs typeface="Calibri" pitchFamily="34" charset="-120"/>
              </a:rPr>
              <a:t>How would you migrate a monolith?</a:t>
            </a:r>
            <a:pPr indent="0" marL="0">
              <a:buNone/>
            </a:pPr>
            <a:r>
              <a:rPr lang="en-US" sz="1100" dirty="0">
                <a:solidFill>
                  <a:srgbClr val="1F2A24"/>
                </a:solidFill>
                <a:latin typeface="Calibri" pitchFamily="34" charset="0"/>
                <a:ea typeface="Calibri" pitchFamily="34" charset="-122"/>
                <a:cs typeface="Calibri" pitchFamily="34" charset="-120"/>
              </a:rPr>
              <a:t> — The </a:t>
            </a:r>
            <a:pPr indent="0" marL="0">
              <a:buNone/>
            </a:pPr>
            <a:r>
              <a:rPr lang="en-US" sz="1100" b="1" dirty="0">
                <a:solidFill>
                  <a:srgbClr val="1F2A24"/>
                </a:solidFill>
                <a:latin typeface="Calibri" pitchFamily="34" charset="0"/>
                <a:ea typeface="Calibri" pitchFamily="34" charset="-122"/>
                <a:cs typeface="Calibri" pitchFamily="34" charset="-120"/>
              </a:rPr>
              <a:t>strangler fig</a:t>
            </a:r>
            <a:pPr indent="0" marL="0">
              <a:buNone/>
            </a:pPr>
            <a:r>
              <a:rPr lang="en-US" sz="1100" dirty="0">
                <a:solidFill>
                  <a:srgbClr val="1F2A24"/>
                </a:solidFill>
                <a:latin typeface="Calibri" pitchFamily="34" charset="0"/>
                <a:ea typeface="Calibri" pitchFamily="34" charset="-122"/>
                <a:cs typeface="Calibri" pitchFamily="34" charset="-120"/>
              </a:rPr>
              <a:t> pattern: put a gateway in front, carve out one capability at a time into a new service, route its traffic there, and retire the old code path.</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Decomposing the Airbnb domain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Use </a:t>
            </a:r>
            <a:pPr indent="0" marL="0">
              <a:buNone/>
            </a:pPr>
            <a:r>
              <a:rPr lang="en-US" sz="1350" b="1" dirty="0">
                <a:solidFill>
                  <a:srgbClr val="5B6B60"/>
                </a:solidFill>
                <a:latin typeface="Calibri" pitchFamily="34" charset="0"/>
                <a:ea typeface="Calibri" pitchFamily="34" charset="-122"/>
                <a:cs typeface="Calibri" pitchFamily="34" charset="-120"/>
              </a:rPr>
              <a:t>bounded contexts</a:t>
            </a:r>
            <a:pPr indent="0" marL="0">
              <a:buNone/>
            </a:pPr>
            <a:r>
              <a:rPr lang="en-US" sz="1350" dirty="0">
                <a:solidFill>
                  <a:srgbClr val="5B6B60"/>
                </a:solidFill>
                <a:latin typeface="Calibri" pitchFamily="34" charset="0"/>
                <a:ea typeface="Calibri" pitchFamily="34" charset="-122"/>
                <a:cs typeface="Calibri" pitchFamily="34" charset="-120"/>
              </a:rPr>
              <a:t> (from Domain-Driven Design): each service owns a capability, its model and its data.</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Database per 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booking-service never queries the property tables directly — it asks property-service (API) or keeps its own copy of data it needs (events).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The same word can mean different things per context: a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Property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in search (name, price, rating) vs in booking (id, max guests, cancellation policy).</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user-service — accounts, hosts &amp; guests, profiles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property-service — listings, photos, pricing, availability calendar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booking-service — reservations, booking state machine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payment-service — charges, refunds, payouts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notification-service — email/SMS/push on events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review-service — ratings after completed stays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How services talk: sync vs async</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Synchronous calls are simple but couple availability; asynchronous messages decouple services in time.</a:t>
            </a:r>
            <a:endParaRPr lang="en-US" sz="1350" dirty="0"/>
          </a:p>
        </p:txBody>
      </p:sp>
      <p:sp>
        <p:nvSpPr>
          <p:cNvPr id="7" name="Text 5"/>
          <p:cNvSpPr/>
          <p:nvPr/>
        </p:nvSpPr>
        <p:spPr>
          <a:xfrm>
            <a:off x="457200"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booking-service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needs property data</a:t>
            </a:r>
            <a:endParaRPr lang="en-US" sz="1150" dirty="0"/>
          </a:p>
        </p:txBody>
      </p:sp>
      <p:sp>
        <p:nvSpPr>
          <p:cNvPr id="8" name="Shape 6"/>
          <p:cNvSpPr/>
          <p:nvPr/>
        </p:nvSpPr>
        <p:spPr>
          <a:xfrm>
            <a:off x="2456627" y="2432304"/>
            <a:ext cx="320040" cy="0"/>
          </a:xfrm>
          <a:prstGeom prst="line">
            <a:avLst/>
          </a:prstGeom>
          <a:noFill/>
          <a:ln w="15875">
            <a:solidFill>
              <a:srgbClr val="6F8276"/>
            </a:solidFill>
            <a:prstDash val="solid"/>
            <a:tailEnd type="triangle"/>
          </a:ln>
        </p:spPr>
      </p:sp>
      <p:sp>
        <p:nvSpPr>
          <p:cNvPr id="9" name="Text 7"/>
          <p:cNvSpPr/>
          <p:nvPr/>
        </p:nvSpPr>
        <p:spPr>
          <a:xfrm>
            <a:off x="2776667"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Feign proxy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declarative client</a:t>
            </a:r>
            <a:endParaRPr lang="en-US" sz="1150" dirty="0"/>
          </a:p>
        </p:txBody>
      </p:sp>
      <p:sp>
        <p:nvSpPr>
          <p:cNvPr id="10" name="Shape 8"/>
          <p:cNvSpPr/>
          <p:nvPr/>
        </p:nvSpPr>
        <p:spPr>
          <a:xfrm>
            <a:off x="4776094" y="2432304"/>
            <a:ext cx="320040" cy="0"/>
          </a:xfrm>
          <a:prstGeom prst="line">
            <a:avLst/>
          </a:prstGeom>
          <a:noFill/>
          <a:ln w="15875">
            <a:solidFill>
              <a:srgbClr val="6F8276"/>
            </a:solidFill>
            <a:prstDash val="solid"/>
            <a:tailEnd type="triangle"/>
          </a:ln>
        </p:spPr>
      </p:sp>
      <p:sp>
        <p:nvSpPr>
          <p:cNvPr id="11" name="Text 9"/>
          <p:cNvSpPr/>
          <p:nvPr/>
        </p:nvSpPr>
        <p:spPr>
          <a:xfrm>
            <a:off x="5096134"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LoadBalancer</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picks an instance</a:t>
            </a:r>
            <a:endParaRPr lang="en-US" sz="1150" dirty="0"/>
          </a:p>
        </p:txBody>
      </p:sp>
      <p:sp>
        <p:nvSpPr>
          <p:cNvPr id="12" name="Shape 10"/>
          <p:cNvSpPr/>
          <p:nvPr/>
        </p:nvSpPr>
        <p:spPr>
          <a:xfrm>
            <a:off x="7095561" y="2432304"/>
            <a:ext cx="320040" cy="0"/>
          </a:xfrm>
          <a:prstGeom prst="line">
            <a:avLst/>
          </a:prstGeom>
          <a:noFill/>
          <a:ln w="15875">
            <a:solidFill>
              <a:srgbClr val="6F8276"/>
            </a:solidFill>
            <a:prstDash val="solid"/>
            <a:tailEnd type="triangle"/>
          </a:ln>
        </p:spPr>
      </p:sp>
      <p:sp>
        <p:nvSpPr>
          <p:cNvPr id="13" name="Text 11"/>
          <p:cNvSpPr/>
          <p:nvPr/>
        </p:nvSpPr>
        <p:spPr>
          <a:xfrm>
            <a:off x="7415601"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Eureka registry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where are the instances?</a:t>
            </a:r>
            <a:endParaRPr lang="en-US" sz="1150" dirty="0"/>
          </a:p>
        </p:txBody>
      </p:sp>
      <p:sp>
        <p:nvSpPr>
          <p:cNvPr id="14" name="Shape 12"/>
          <p:cNvSpPr/>
          <p:nvPr/>
        </p:nvSpPr>
        <p:spPr>
          <a:xfrm>
            <a:off x="9415028" y="2432304"/>
            <a:ext cx="320040" cy="0"/>
          </a:xfrm>
          <a:prstGeom prst="line">
            <a:avLst/>
          </a:prstGeom>
          <a:noFill/>
          <a:ln w="15875">
            <a:solidFill>
              <a:srgbClr val="6F8276"/>
            </a:solidFill>
            <a:prstDash val="solid"/>
            <a:tailEnd type="triangle"/>
          </a:ln>
        </p:spPr>
      </p:sp>
      <p:sp>
        <p:nvSpPr>
          <p:cNvPr id="15" name="Text 13"/>
          <p:cNvSpPr/>
          <p:nvPr/>
        </p:nvSpPr>
        <p:spPr>
          <a:xfrm>
            <a:off x="9735068"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property-service #2</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HTTP response</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Synchronous (REST / gRPC)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Asynchronous (Kafka, Session 20)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Interaction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request → wait → response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 event → consumers react later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Coupling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caller needs callee up now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producer doesn't know consumers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Latency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adds up along call chains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non-blocking for the producer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Consistency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immediate answer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eventual consistency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Good for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queries needing an answer now (price, availability)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notifications, workflows, data replication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Service discovery with Eureka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registry server; services register themselves on startup and fetch the registry to find each other.</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(every service)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&lt;properties&gt;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&lt;java.version&gt;21&lt;/java.version&gt;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&lt;spring-cloud.version&gt;2025.1.4&lt;/spring-cloud.version&gt;   &lt;!-- "Oakwood", for Boot 4.1 --&gt;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&lt;/properties&gt;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&lt;dependencyManagement&gt;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&lt;dependencies&gt;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&lt;groupId&gt;org.springframework.cloud&lt;/groupId&gt;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&lt;artifactId&gt;spring-cloud-dependencies&lt;/artifactId&gt;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&lt;version&gt;${spring-cloud.version}&lt;/version&gt;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&lt;type&gt;pom&lt;/type&gt;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&lt;scope&gt;import&lt;/scope&gt;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&lt;/dependencies&gt;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&lt;/dependencyManagement&gt;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 registry app:   spring-cloud-starter-netflix-eureka-server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 other services: spring-cloud-starter-netflix-eureka-client --&gt;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Declarative HTTP calls with OpenFeign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Write an interface with Spring MVC annotations; Feign generates the HTTP client, resolved through discovery and load balancing.</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PropertyClient.java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com.example.booking.property;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java.time.LocalDate;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org.springframework.cloud.openfeign.FeignClient;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org.springframework.web.bind.annotation.GetMapping;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org.springframework.web.bind.annotation.PathVariable;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org.springframework.web.bind.annotation.RequestParam;</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@FeignClient(name = "property-service", path = "/api/v1/properties",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configuration = PropertyClientConfig.class)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PropertyClient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@GetMapping("/{id}")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PropertySummary getProperty(@PathVariable("id") Long id);</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@GetMapping("/{id}/availability")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Availability availability(@PathVariable("id") Long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@RequestParam("checkIn") LocalDate checkIn,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@RequestParam("checkOut") LocalDate checkOut);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Feign errors &amp; header propagation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Translate remote HTTP errors into meaningful exceptions, and forward the caller's identity and request id.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PropertyClientConfig.java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com.example.booking.property;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feign.RequestInterceptor;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feign.codec.ErrorDecoder;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org.slf4j.MDC;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org.springframework.http.HttpHeaders;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org.springframework.web.context.request.RequestContextHolder;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org.springframework.web.context.request.ServletRequestAttributes;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NOT annotated with @Configuration: referenced only from @FeignClient(configuration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PropertyClientConfig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ErrorDecoder propertyErrorDecoder()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ErrorDecoder defaults = new ErrorDecoder.Default();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(methodKey, response) -&gt; switch (response.status())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case 404 -&gt; new PropertyNotFoundException("property not found: " + methodKey);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case 503, 504 -&gt; new DownstreamUnavailableException("property-service unavailable");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default -&gt; defaults.decode(methodKey, response);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modern alternative: HTTP Interface clients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Framework's own declarative clients (</a:t>
            </a:r>
            <a:pPr indent="0" marL="0">
              <a:buNone/>
            </a:pPr>
            <a:r>
              <a:rPr lang="en-US" sz="1350" dirty="0">
                <a:solidFill>
                  <a:srgbClr val="B4235A"/>
                </a:solidFill>
                <a:latin typeface="Consolas" pitchFamily="34" charset="0"/>
                <a:ea typeface="Consolas" pitchFamily="34" charset="-122"/>
                <a:cs typeface="Consolas" pitchFamily="34" charset="-120"/>
              </a:rPr>
              <a:t>@HttpExchange</a:t>
            </a:r>
            <a:pPr indent="0" marL="0">
              <a:buNone/>
            </a:pPr>
            <a:r>
              <a:rPr lang="en-US" sz="1350" dirty="0">
                <a:solidFill>
                  <a:srgbClr val="5B6B60"/>
                </a:solidFill>
                <a:latin typeface="Calibri" pitchFamily="34" charset="0"/>
                <a:ea typeface="Calibri" pitchFamily="34" charset="-122"/>
                <a:cs typeface="Calibri" pitchFamily="34" charset="-120"/>
              </a:rPr>
              <a:t>) run on </a:t>
            </a:r>
            <a:pPr indent="0" marL="0">
              <a:buNone/>
            </a:pPr>
            <a:r>
              <a:rPr lang="en-US" sz="1350" dirty="0">
                <a:solidFill>
                  <a:srgbClr val="B4235A"/>
                </a:solidFill>
                <a:latin typeface="Consolas" pitchFamily="34" charset="0"/>
                <a:ea typeface="Consolas" pitchFamily="34" charset="-122"/>
                <a:cs typeface="Consolas" pitchFamily="34" charset="-120"/>
              </a:rPr>
              <a:t>RestClient</a:t>
            </a:r>
            <a:pPr indent="0" marL="0">
              <a:buNone/>
            </a:pPr>
            <a:r>
              <a:rPr lang="en-US" sz="1350" dirty="0">
                <a:solidFill>
                  <a:srgbClr val="5B6B60"/>
                </a:solidFill>
                <a:latin typeface="Calibri" pitchFamily="34" charset="0"/>
                <a:ea typeface="Calibri" pitchFamily="34" charset="-122"/>
                <a:cs typeface="Calibri" pitchFamily="34" charset="-120"/>
              </a:rPr>
              <a:t> — no Netflix/OpenFeign dependency.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PropertyHttpClient.java</a:t>
            </a:r>
            <a:endParaRPr lang="en-US" sz="900" dirty="0"/>
          </a:p>
        </p:txBody>
      </p:sp>
      <p:sp>
        <p:nvSpPr>
          <p:cNvPr id="8" name="Text 6"/>
          <p:cNvSpPr/>
          <p:nvPr/>
        </p:nvSpPr>
        <p:spPr>
          <a:xfrm>
            <a:off x="457200" y="2157984"/>
            <a:ext cx="11277295" cy="3602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com.example.booking.property;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org.springframework.cloud.client.loadbalancer.LoadBalanced;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org.springframework.context.annotation.Bean;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org.springframework.context.annotation.Configuration;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org.springframework.web.bind.annotation.PathVariable;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org.springframework.web.client.RestClient;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org.springframework.web.client.support.RestClientAdapter;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org.springframework.web.service.annotation.GetExchange;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org.springframework.web.service.annotation.HttpExchange;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org.springframework.web.service.invoker.HttpServiceProxyFactory;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@HttpExchange("/api/v1/properties")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PropertyHttpClient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@GetExchange("/{id}")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PropertyClient.PropertySummary getProperty(@PathVariable Long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9"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dirty="0">
                <a:solidFill>
                  <a:srgbClr val="1F2A24"/>
                </a:solidFill>
                <a:latin typeface="Calibri" pitchFamily="34" charset="0"/>
                <a:ea typeface="Calibri" pitchFamily="34" charset="-122"/>
                <a:cs typeface="Calibri" pitchFamily="34" charset="-120"/>
              </a:rPr>
              <a:t>Spring Cloud OpenFeign is considered </a:t>
            </a:r>
            <a:pPr indent="0" marL="0">
              <a:buNone/>
            </a:pPr>
            <a:r>
              <a:rPr lang="en-US" sz="1100" i="1" dirty="0">
                <a:solidFill>
                  <a:srgbClr val="1F2A24"/>
                </a:solidFill>
                <a:latin typeface="Calibri" pitchFamily="34" charset="0"/>
                <a:ea typeface="Calibri" pitchFamily="34" charset="-122"/>
                <a:cs typeface="Calibri" pitchFamily="34" charset="-120"/>
              </a:rPr>
              <a:t>feature-complete</a:t>
            </a:r>
            <a:pPr indent="0" marL="0">
              <a:buNone/>
            </a:pPr>
            <a:r>
              <a:rPr lang="en-US" sz="1100" dirty="0">
                <a:solidFill>
                  <a:srgbClr val="1F2A24"/>
                </a:solidFill>
                <a:latin typeface="Calibri" pitchFamily="34" charset="0"/>
                <a:ea typeface="Calibri" pitchFamily="34" charset="-122"/>
                <a:cs typeface="Calibri" pitchFamily="34" charset="-120"/>
              </a:rPr>
              <a:t> (maintained, but no major new features). Spring now steers new code towards HTTP Interface clients; Spring Framework 7 further simplifies their registration (</a:t>
            </a:r>
            <a:pPr indent="0" marL="0">
              <a:buNone/>
            </a:pPr>
            <a:r>
              <a:rPr lang="en-US" sz="1100" dirty="0">
                <a:solidFill>
                  <a:srgbClr val="B4235A"/>
                </a:solidFill>
                <a:latin typeface="Consolas" pitchFamily="34" charset="0"/>
                <a:ea typeface="Consolas" pitchFamily="34" charset="-122"/>
                <a:cs typeface="Consolas" pitchFamily="34" charset="-120"/>
              </a:rPr>
              <a:t>@ImportHttpServices</a:t>
            </a:r>
            <a:pPr indent="0" marL="0">
              <a:buNone/>
            </a:pPr>
            <a:r>
              <a:rPr lang="en-US" sz="1100" dirty="0">
                <a:solidFill>
                  <a:srgbClr val="1F2A24"/>
                </a:solidFill>
                <a:latin typeface="Calibri" pitchFamily="34" charset="0"/>
                <a:ea typeface="Calibri" pitchFamily="34" charset="-122"/>
                <a:cs typeface="Calibri" pitchFamily="34" charset="-120"/>
              </a:rPr>
              <a:t>). The brochure's Feign skills transfer directly — same declarative idea.</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dark side of synchronous calls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Every network call can be slow, fail, or succeed without you knowing. Chains of calls multiply the risk.</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Guest app → booking-service: POST /bookings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booking-service → property-service: GET property (80 ms) OK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booking-service → payment-service: POST /payments ...</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payment-service: DB overloaded: no response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booking-service: request threads pile up waiting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Guest app → booking-service: more requests arrive...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booking-service → Guest app: everything slows: cascading failure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Problem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Slow dependency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timeouts on every call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today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Repeated failures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 breaker + fallback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20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Transient errors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retries with backoff (idempotent calls only)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20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Temporal coupling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events / message queues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20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distributed ACID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sagas + outbox</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22</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Hard to debug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correlation ids, distributed tracing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Session 24</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discovery + Feign between two services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Stand up a registry, two property-service instances, and a booking-service that calls them.</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discovery-server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(Eureka server, port 8761) and open its dashboard.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/api/v1/properties/{id}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/{id}/availability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(in-memory data is fine); register it with Eureka.</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Run two instances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--server.port=8082</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--server.port=8083</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log the port in each response.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@EnableFeignClients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PropertyClient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expose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/api/v1/bookings/quote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that calls both endpoints.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Call the quote endpoint repeatedly and observe load balancing across the two instances.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PropertyClientConfig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404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PropertyNotFoundException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(your advice returns 404) and timeouts of 2 s / 3 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Thread.sleep(5000)</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to one property endpoint and observe the read timeout; then stop one instance and observe the behaviour.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implement the same call with an HTTP Interface client and compare.</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microservices &amp; Feign</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is a defining property of microservices?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They share one database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Each is independently deployable and owns its data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They must use different languages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They never call each other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Services that must always be deployed together and share a schema form 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modular monolith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distributed monolith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service mesh</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saga</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What does Eureka provide?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message broker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Service registration and discovery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database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An API gateway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With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@FeignClient(name = "property-service")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how is the target host found?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Hard-coded in the annotation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Via Spring Cloud LoadBalancer and the discovery registry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DNS of the caller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From a database table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The most important first protection for synchronous calls 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logging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timeouts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bigger servers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more threads</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19</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19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Monolith → modular monolith → microservices: choose by team, scaling and ops maturity; beware distributed monoliths.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Decompose by bounded contexts; database per service; no cross-service JOINs or ACID transactions.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Sync (REST/Feign) for immediate queries, async (events) for everything that can happen later.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Eureka registers instances; Feign (or HTTP Interface clients) call them by logical name with load balancing.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Always set timeouts, decode errors, propagate tokens and correlation ids.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Bounded context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Boundary within which a domain model and its language are consistent.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Database per service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Each service owns its data; others access it only via APIs/events.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Strangler fig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Incrementally replace parts of a monolith behind a routing layer.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Service discovery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Resolving a logical service name to live instance addresses.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@FeignClient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Declarative HTTP client interface generated by Spring Cloud OpenFeign.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ErrorDecoder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Feign hook translating error responses into exceptions.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@HttpExchange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Spring Framework declarative HTTP client annotation.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Cascading failure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slow/failed dependency exhausting resources up the call chain.</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20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Message Queues &amp; Kafka with Spring Boot, Spring Cloud &amp; the Hystrix Circuit Breaker</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Message queues, Kafka integration with Spring Boot</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Cloud &amp; Hystrix circuit breaker</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Hystrix is retired: the circuit breaker is implemented with Resilience4j (Spring Cloud CircuitBreaker)</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Explain message queues vs pub/sub, delivery guarantees and why async messaging decouples services.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Describe Kafka's topics, partitions, offsets, replication, consumer groups and KRaft mode.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Produce and consume JSON events with Spring Kafka, with retries, dead-letter topics and idempotent consumers.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Apply the circuit breaker pattern (Hystrix concept, Resilience4j implementation) with fallbacks, retries and timeouts.</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Message queues: decoupling in time</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Kafka architecture</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Run Kafka locally (KRaft) and try the CLI</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Producing events with Spring Kafka</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Consuming events: listeners, retries, DLT, idempotency</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Spring Cloud &amp; the circuit breaker pattern</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Circuit breakers in code: Hystrix (legacy) vs Resilience4j</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Feign fallbacks &amp; Spring Cloud CircuitBreaker</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Build a tiny circuit breaker to see how it works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Resilience toolbox &amp; Spring Framework 7's built-in retries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Hands-on Lab: Lab: events with Kafka + a circuit breaker</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Quiz: Quiz: Kafka &amp; circuit breakers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Summary: Session 20 recap</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Message queues: decoupling in time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Instead of calling a service and waiting, a producer </a:t>
            </a:r>
            <a:pPr indent="0" marL="0">
              <a:buNone/>
            </a:pPr>
            <a:r>
              <a:rPr lang="en-US" sz="1350" b="1" dirty="0">
                <a:solidFill>
                  <a:srgbClr val="5B6B60"/>
                </a:solidFill>
                <a:latin typeface="Calibri" pitchFamily="34" charset="0"/>
                <a:ea typeface="Calibri" pitchFamily="34" charset="-122"/>
                <a:cs typeface="Calibri" pitchFamily="34" charset="-120"/>
              </a:rPr>
              <a:t>publishes a message</a:t>
            </a:r>
            <a:pPr indent="0" marL="0">
              <a:buNone/>
            </a:pPr>
            <a:r>
              <a:rPr lang="en-US" sz="1350" dirty="0">
                <a:solidFill>
                  <a:srgbClr val="5B6B60"/>
                </a:solidFill>
                <a:latin typeface="Calibri" pitchFamily="34" charset="0"/>
                <a:ea typeface="Calibri" pitchFamily="34" charset="-122"/>
                <a:cs typeface="Calibri" pitchFamily="34" charset="-120"/>
              </a:rPr>
              <a:t> to a broker; consumers process it when they can.</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Delivery semantics: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at-most-once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(may lose),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at-least-once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(may duplicate — most common),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exactly-once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(within limits, costly).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At-least-once ⇒ consumers must be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idempotent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Point-to-point queue: each message processed by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one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consumer; work distribution (e.g. send 10k emails); RabbitMQ queues, AWS SQS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Publish / subscribe: each message delivered to </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every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subscribing group; events: “BookingCreated” → payments, notifications, analytics; Kafka topics, RabbitMQ exchanges, SNS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Benefit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Temporal decoupling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notification-service can be down; events wait in the broker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Load levelling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burst of 50k bookings is processed at the consumers' pace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Extensibility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add an analytics consumer without touching booking-service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Resilience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cascading failure from slow downstream services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Kafka architecture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Kafka is a distributed, </a:t>
            </a:r>
            <a:pPr indent="0" marL="0">
              <a:buNone/>
            </a:pPr>
            <a:r>
              <a:rPr lang="en-US" sz="1350" b="1" dirty="0">
                <a:solidFill>
                  <a:srgbClr val="5B6B60"/>
                </a:solidFill>
                <a:latin typeface="Calibri" pitchFamily="34" charset="0"/>
                <a:ea typeface="Calibri" pitchFamily="34" charset="-122"/>
                <a:cs typeface="Calibri" pitchFamily="34" charset="-120"/>
              </a:rPr>
              <a:t>append-only log</a:t>
            </a:r>
            <a:pPr indent="0" marL="0">
              <a:buNone/>
            </a:pPr>
            <a:r>
              <a:rPr lang="en-US" sz="1350" dirty="0">
                <a:solidFill>
                  <a:srgbClr val="5B6B60"/>
                </a:solidFill>
                <a:latin typeface="Calibri" pitchFamily="34" charset="0"/>
                <a:ea typeface="Calibri" pitchFamily="34" charset="-122"/>
                <a:cs typeface="Calibri" pitchFamily="34" charset="-120"/>
              </a:rPr>
              <a:t>. Topics are split into partitions, replicated across brokers, and read by consumer groups at their own pace.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Messages are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retained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a configured time (e.g. 7 days) — consumers can replay from any offset.</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Ordering</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guaranteed only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within a partition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use the entity id (bookingId) as the key.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Parallelism per group ≤ number of partitions; adding consumers triggers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rebalance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Producers: booking-service, payment-service [key → partition = hash(key) % partitions, acks=all for durability]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Topic “booking.created” (3 partitions, replicated) [P0: offsets 0 1 2 3 …, P1: offsets 0 1 2 …, P2: offsets 0 1 …, leader + follower replicas (ISR)]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Brokers (cluster) in KRaft mode: metadata managed by Kafka controllers — no ZooKeeper since Kafka 4.0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Consumer groups [notification-service (group A), payment-service (group B), each group reads every event; inside a group each partition has one consumer]</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Run Kafka locally (KRaft) and try the CLI</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single-node broker in Docker, a topic with 3 partitions, and keyed messages.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compose.yaml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apache/kafka:4.1.0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ports: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"9092:9092"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environment: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KAFKA_NODE_ID: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KAFKA_PROCESS_ROLES: broker,controller          # KRaft: one node does both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KAFKA_LISTENERS: PLAINTEXT://:9092,CONTROLLER://:9093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KAFKA_ADVERTISED_LISTENERS: PLAINTEXT://localhost:9092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KAFKA_CONTROLLER_LISTENER_NAMES: CONTROLLER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KAFKA_LISTENER_SECURITY_PROTOCOL_MAP: CONTROLLER:PLAINTEXT,PLAINTEXT:PLAINTEXT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KAFKA_CONTROLLER_QUORUM_VOTERS: 1@localhost:9093</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KAFKA_OFFSETS_TOPIC_REPLICATION_FACTOR: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KAFKA_TRANSACTION_STATE_LOG_REPLICATION_FACTOR: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KAFKA_TRANSACTION_STATE_LOG_MIN_ISR: 1</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Producing events with Spring Kafka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B4235A"/>
                </a:solidFill>
                <a:latin typeface="Consolas" pitchFamily="34" charset="0"/>
                <a:ea typeface="Consolas" pitchFamily="34" charset="-122"/>
                <a:cs typeface="Consolas" pitchFamily="34" charset="-120"/>
              </a:rPr>
              <a:t>KafkaTemplate</a:t>
            </a:r>
            <a:pPr indent="0" marL="0">
              <a:buNone/>
            </a:pPr>
            <a:r>
              <a:rPr lang="en-US" sz="1350" dirty="0">
                <a:solidFill>
                  <a:srgbClr val="5B6B60"/>
                </a:solidFill>
                <a:latin typeface="Calibri" pitchFamily="34" charset="0"/>
                <a:ea typeface="Calibri" pitchFamily="34" charset="-122"/>
                <a:cs typeface="Calibri" pitchFamily="34" charset="-120"/>
              </a:rPr>
              <a:t> sends records asynchronously; the key decides the partition.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(+3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&lt;artifactId&gt;spring-boot-starter-kafka&lt;/artifactId&gt;   &lt;!-- Boot 4 starter for Spring for Apache Kafka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Consuming events: listeners, retries, DLT, idempotency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dirty="0">
                <a:solidFill>
                  <a:srgbClr val="B4235A"/>
                </a:solidFill>
                <a:latin typeface="Consolas" pitchFamily="34" charset="0"/>
                <a:ea typeface="Consolas" pitchFamily="34" charset="-122"/>
                <a:cs typeface="Consolas" pitchFamily="34" charset="-120"/>
              </a:rPr>
              <a:t>@KafkaListener</a:t>
            </a:r>
            <a:pPr indent="0" marL="0">
              <a:buNone/>
            </a:pPr>
            <a:r>
              <a:rPr lang="en-US" sz="1350" dirty="0">
                <a:solidFill>
                  <a:srgbClr val="5B6B60"/>
                </a:solidFill>
                <a:latin typeface="Calibri" pitchFamily="34" charset="0"/>
                <a:ea typeface="Calibri" pitchFamily="34" charset="-122"/>
                <a:cs typeface="Calibri" pitchFamily="34" charset="-120"/>
              </a:rPr>
              <a:t> method per event type; failures are retried, then parked in a dead-letter topic.</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application.yml (notification-service)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spring: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bootstrap-servers: localhost:9092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consumer: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group-id: notification-service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auto-offset-reset: earliest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key-deserializer: org.apache.kafka.common.serialization.StringDeserializer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value-deserializer: org.springframework.kafka.support.serializer.ErrorHandlingDeserializer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properties: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spring.deserializer.value.delegate.class: org.springframework.kafka.support.serializer.JacksonJsonDeserializer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spring.json.trusted.packages: "com.example.events"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Concern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Solution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Poison message (bad JSON)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ErrorHandlingDeserializer → straight to the DLT, no infinite loop</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Transient failure (SMTP down)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retries with backoff, then DLT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Duplicate delivery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idempotent consumer: remember processed eventIds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Inspecting failures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consume/replay the .DLT topic after fixing the bug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Cloud &amp; the circuit breaker pattern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Spring Cloud packages proven distributed-systems patterns. Its first circuit breaker was Netflix </a:t>
            </a:r>
            <a:pPr indent="0" marL="0">
              <a:buNone/>
            </a:pPr>
            <a:r>
              <a:rPr lang="en-US" sz="1350" b="1" dirty="0">
                <a:solidFill>
                  <a:srgbClr val="5B6B60"/>
                </a:solidFill>
                <a:latin typeface="Calibri" pitchFamily="34" charset="0"/>
                <a:ea typeface="Calibri" pitchFamily="34" charset="-122"/>
                <a:cs typeface="Calibri" pitchFamily="34" charset="-120"/>
              </a:rPr>
              <a:t>Hystrix</a:t>
            </a:r>
            <a:pPr indent="0" marL="0">
              <a:buNone/>
            </a:pPr>
            <a:r>
              <a:rPr lang="en-US" sz="1350" dirty="0">
                <a:solidFill>
                  <a:srgbClr val="5B6B60"/>
                </a:solidFill>
                <a:latin typeface="Calibri" pitchFamily="34" charset="0"/>
                <a:ea typeface="Calibri" pitchFamily="34" charset="-122"/>
                <a:cs typeface="Calibri" pitchFamily="34" charset="-120"/>
              </a:rPr>
              <a:t>; today it is </a:t>
            </a:r>
            <a:pPr indent="0" marL="0">
              <a:buNone/>
            </a:pPr>
            <a:r>
              <a:rPr lang="en-US" sz="1350" b="1" dirty="0">
                <a:solidFill>
                  <a:srgbClr val="5B6B60"/>
                </a:solidFill>
                <a:latin typeface="Calibri" pitchFamily="34" charset="0"/>
                <a:ea typeface="Calibri" pitchFamily="34" charset="-122"/>
                <a:cs typeface="Calibri" pitchFamily="34" charset="-120"/>
              </a:rPr>
              <a:t>Resilience4j</a:t>
            </a:r>
            <a:pPr indent="0" marL="0">
              <a:buNone/>
            </a:pPr>
            <a:r>
              <a:rPr lang="en-US" sz="1350" dirty="0">
                <a:solidFill>
                  <a:srgbClr val="5B6B60"/>
                </a:solidFill>
                <a:latin typeface="Calibri" pitchFamily="34" charset="0"/>
                <a:ea typeface="Calibri" pitchFamily="34" charset="-122"/>
                <a:cs typeface="Calibri" pitchFamily="34" charset="-120"/>
              </a:rPr>
              <a:t>.</a:t>
            </a:r>
            <a:endParaRPr lang="en-US" sz="1350" dirty="0"/>
          </a:p>
        </p:txBody>
      </p:sp>
      <p:sp>
        <p:nvSpPr>
          <p:cNvPr id="7" name="Text 5"/>
          <p:cNvSpPr/>
          <p:nvPr/>
        </p:nvSpPr>
        <p:spPr>
          <a:xfrm>
            <a:off x="457200" y="1883664"/>
            <a:ext cx="11277295" cy="213969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CLOSED → OPEN  (failure rate ≥ threshold)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OPEN → HALF_OPEN  (after wait duration)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HALF_OPEN → CLOSED  (trials succeed)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HALF_OPEN → OPEN  (trial fails)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Spring Cloud project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Netflix Eureka / LoadBalancer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discovery &amp; client-side load balancing (Session 19)</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OpenFeign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declarative HTTP clients (Session 19)</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CircuitBreaker (Resilience4j)</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 breakers, retries, time limits — today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Gateway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edge routing, filters, rate limiting (Session 23)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Config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centralised configuration (Session 23)</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VERSION: </a:t>
            </a:r>
            <a:pPr indent="0" marL="0">
              <a:buNone/>
            </a:pPr>
            <a:r>
              <a:rPr lang="en-US" sz="1100" b="1" dirty="0">
                <a:solidFill>
                  <a:srgbClr val="1F2A24"/>
                </a:solidFill>
                <a:latin typeface="Calibri" pitchFamily="34" charset="0"/>
                <a:ea typeface="Calibri" pitchFamily="34" charset="-122"/>
                <a:cs typeface="Calibri" pitchFamily="34" charset="-120"/>
              </a:rPr>
              <a:t>Hystrix</a:t>
            </a:r>
            <a:pPr indent="0" marL="0">
              <a:buNone/>
            </a:pPr>
            <a:r>
              <a:rPr lang="en-US" sz="1100" dirty="0">
                <a:solidFill>
                  <a:srgbClr val="1F2A24"/>
                </a:solidFill>
                <a:latin typeface="Calibri" pitchFamily="34" charset="0"/>
                <a:ea typeface="Calibri" pitchFamily="34" charset="-122"/>
                <a:cs typeface="Calibri" pitchFamily="34" charset="-120"/>
              </a:rPr>
              <a:t> has been in maintenance mode since 2018 and was removed from Spring Cloud in 2020.0. The concept the brochure names is exactly the same — we implement it with </a:t>
            </a:r>
            <a:pPr indent="0" marL="0">
              <a:buNone/>
            </a:pPr>
            <a:r>
              <a:rPr lang="en-US" sz="1100" b="1" dirty="0">
                <a:solidFill>
                  <a:srgbClr val="1F2A24"/>
                </a:solidFill>
                <a:latin typeface="Calibri" pitchFamily="34" charset="0"/>
                <a:ea typeface="Calibri" pitchFamily="34" charset="-122"/>
                <a:cs typeface="Calibri" pitchFamily="34" charset="-120"/>
              </a:rPr>
              <a:t>Resilience4j</a:t>
            </a:r>
            <a:pPr indent="0" marL="0">
              <a:buNone/>
            </a:pPr>
            <a:r>
              <a:rPr lang="en-US" sz="1100" dirty="0">
                <a:solidFill>
                  <a:srgbClr val="1F2A24"/>
                </a:solidFill>
                <a:latin typeface="Calibri" pitchFamily="34" charset="0"/>
                <a:ea typeface="Calibri" pitchFamily="34" charset="-122"/>
                <a:cs typeface="Calibri"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Circuit breakers in code: Hystrix (legacy) vs Resilience4j</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Same idea, modern library: annotate the method, name the fallback, configure thresholds.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PaymentGateway.java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com.example.booking.payment;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io.github.resilience4j.circuitbreaker.annotation.CircuitBreaker;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io.github.resilience4j.retry.annotation.Retry;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org.slf4j.Logger;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org.slf4j.LoggerFactory;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org.springframework.stereotype.Service;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PaymentGateway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static final Logger log = LoggerFactory.getLogger(PaymentGateway.class);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PaymentClient client;                     // Feign/HTTP client to payment-service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PaymentGateway(PaymentClient client) { this.client = client;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@CircuitBreaker(name = "payment", fallbackMethod = "chargeFallback")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@Retry(name = "payment")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PaymentResult charge(ChargeRequest req)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client.charge(req);</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Feign fallbacks &amp; Spring Cloud CircuitBreaker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Protect Feign clients declaratively, or wrap any call programmatically through Spring Cloud's abstraction.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PropertyClientFallback.java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application.yml:  spring.cloud.openfeign.circuitbreaker.enabled: true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pom: spring-cloud-starter-circuitbreaker-resilience4j</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@FeignClient(name = "property-service", path = "/api/v1/properties", fallback = PropertyClientFallback.class)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interface PropertyClient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@GetMapping("/{id}") PropertySummary getProperty(@PathVariable("id") Long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PropertyClientFallback implements PropertyClient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@Override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PropertySummary getProperty(Long id)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Resilience4j module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Protects against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CircuitBreaker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repeatedly calling a failing dependency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transient errors (only for idempotent operations!)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TimeLimiter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calls that take too long (async)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Bulkhead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dependency exhausting all threads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RateLimiter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overloading a dependency (or being overloaded)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Build a tiny circuit breaker to see how it works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count-based sliding window, a failure-rate threshold and a wait duration — the core of Resilience4j in 60 lines (with a fake clock).</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MiniCircuitBreaker.java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java.time.Duration;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java.time.Instant;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java.util.ArrayDeque;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java.util.Deque;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java.util.function.Supplier;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MiniCircuitBreaker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enum State { CLOSED, OPEN, HALF_OPEN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int windowSize;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double failureRateThreshold;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Duration waitInOpen;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Deque&lt;Boolean&gt; window = new ArrayDeque&lt;&gt;();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State state = State.CLOSED;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Instant openedAt;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Instant now = Instant.parse("2026-10-25T10:00:00Z");   // fake clock: deterministic demo</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MiniCircuitBreaker(int windowSize, double failureRateThreshold, Duration waitInOpen)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this.windowSize = windowSize;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this.failureRateThreshold = failureRateThreshold;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this.waitInOpen = waitInOpen;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Resilience toolbox &amp; Spring Framework 7's built-in retries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Combine patterns deliberately; each one has a cost.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Spring Framework 7 core resilience</a:t>
            </a:r>
            <a:endParaRPr lang="en-US" sz="900" dirty="0"/>
          </a:p>
        </p:txBody>
      </p:sp>
      <p:sp>
        <p:nvSpPr>
          <p:cNvPr id="8" name="Text 6"/>
          <p:cNvSpPr/>
          <p:nvPr/>
        </p:nvSpPr>
        <p:spPr>
          <a:xfrm>
            <a:off x="457200" y="2157984"/>
            <a:ext cx="11277295" cy="186537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@Configuration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@EnableResilientMethods                 // required: the annotations are inert without it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ResilienceConfig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class ExchangeRateClient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@Retryable(maxRetries = 3, delay = 200, multiplier = 2, jitter = 50)   // up to 4 calls in total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@ConcurrencyLimit(10)                                                // max 10 concurrent callers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 when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Careful about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Timeout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always, on every remote call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too short → false failures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 + backoff + jitter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transient faults, idempotent calls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 storms; never blindly retry payments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 breaker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dependency fails repeatedly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 meaningful fallback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Bulkhead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isolate slow dependencies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sizing the pools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Async messaging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the caller doesn't need an immediate answer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eventual consistency, idempotency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10" name="Text 7"/>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PITFALL: </a:t>
            </a:r>
            <a:pPr indent="0" marL="0">
              <a:buNone/>
            </a:pPr>
            <a:r>
              <a:rPr lang="en-US" sz="1100" dirty="0">
                <a:solidFill>
                  <a:srgbClr val="1F2A24"/>
                </a:solidFill>
                <a:latin typeface="Calibri" pitchFamily="34" charset="0"/>
                <a:ea typeface="Calibri" pitchFamily="34" charset="-122"/>
                <a:cs typeface="Calibri" pitchFamily="34" charset="-120"/>
              </a:rPr>
              <a:t>Off-by-one: Resilience4j </a:t>
            </a:r>
            <a:pPr indent="0" marL="0">
              <a:buNone/>
            </a:pPr>
            <a:r>
              <a:rPr lang="en-US" sz="1100" dirty="0">
                <a:solidFill>
                  <a:srgbClr val="B4235A"/>
                </a:solidFill>
                <a:latin typeface="Consolas" pitchFamily="34" charset="0"/>
                <a:ea typeface="Consolas" pitchFamily="34" charset="-122"/>
                <a:cs typeface="Consolas" pitchFamily="34" charset="-120"/>
              </a:rPr>
              <a:t>max-attempts: 3</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3 calls in total</a:t>
            </a:r>
            <a:pPr indent="0" marL="0">
              <a:buNone/>
            </a:pPr>
            <a:r>
              <a:rPr lang="en-US" sz="1100" dirty="0">
                <a:solidFill>
                  <a:srgbClr val="1F2A24"/>
                </a:solidFill>
                <a:latin typeface="Calibri" pitchFamily="34" charset="0"/>
                <a:ea typeface="Calibri" pitchFamily="34" charset="-122"/>
                <a:cs typeface="Calibri" pitchFamily="34" charset="-120"/>
              </a:rPr>
              <a:t>; Spring's </a:t>
            </a:r>
            <a:pPr indent="0" marL="0">
              <a:buNone/>
            </a:pPr>
            <a:r>
              <a:rPr lang="en-US" sz="1100" dirty="0">
                <a:solidFill>
                  <a:srgbClr val="B4235A"/>
                </a:solidFill>
                <a:latin typeface="Consolas" pitchFamily="34" charset="0"/>
                <a:ea typeface="Consolas" pitchFamily="34" charset="-122"/>
                <a:cs typeface="Consolas" pitchFamily="34" charset="-120"/>
              </a:rPr>
              <a:t>@Retryable(maxRetries = 3)</a:t>
            </a:r>
            <a:pPr indent="0" marL="0">
              <a:buNone/>
            </a:pPr>
            <a:r>
              <a:rPr lang="en-US" sz="1100" dirty="0">
                <a:solidFill>
                  <a:srgbClr val="1F2A24"/>
                </a:solidFill>
                <a:latin typeface="Calibri" pitchFamily="34" charset="0"/>
                <a:ea typeface="Calibri" pitchFamily="34" charset="-122"/>
                <a:cs typeface="Calibri" pitchFamily="34" charset="-120"/>
              </a:rPr>
              <a:t> = </a:t>
            </a:r>
            <a:pPr indent="0" marL="0">
              <a:buNone/>
            </a:pPr>
            <a:r>
              <a:rPr lang="en-US" sz="1100" b="1" dirty="0">
                <a:solidFill>
                  <a:srgbClr val="1F2A24"/>
                </a:solidFill>
                <a:latin typeface="Calibri" pitchFamily="34" charset="0"/>
                <a:ea typeface="Calibri" pitchFamily="34" charset="-122"/>
                <a:cs typeface="Calibri" pitchFamily="34" charset="-120"/>
              </a:rPr>
              <a:t>1 call + 3 retries = 4 calls</a:t>
            </a:r>
            <a:pPr indent="0" marL="0">
              <a:buNone/>
            </a:pPr>
            <a:r>
              <a:rPr lang="en-US" sz="1100" dirty="0">
                <a:solidFill>
                  <a:srgbClr val="1F2A24"/>
                </a:solidFill>
                <a:latin typeface="Calibri" pitchFamily="34" charset="0"/>
                <a:ea typeface="Calibri" pitchFamily="34" charset="-122"/>
                <a:cs typeface="Calibri" pitchFamily="34" charset="-120"/>
              </a:rPr>
              <a:t>. Spring's core module has no circuit breaker or fallback methods — keep Resilience4j for those.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Lab: events with Kafka + a circuit breaker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Make booking-service publish events, notification-service consume them safely, and protect a synchronous call with Resilience4j.</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Start Kafka (KRaft) with the compose file; 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booking.created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3 partitions using the CLI.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 booking-service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spring-boot-starter-kafka</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the producer config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BookingEventsPublisher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publish when a booking is created.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notification-service with the consumer config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BookingCreatedListener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that logs a fake email; run two instances and watch partitions being shared.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processed_events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table (UNIQUE event_id) and prove duplicates are ignored by re-sending the same event from the CLI.</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Send invalid JSON with the console producer; confirm it lands in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booking.created.DLT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the listener keeps running.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Resilience4j to booking-service: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@CircuitBreaker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fallback on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PaymentGateway.charge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the YAML config.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Stop payment-service and fire requests: watch CLOSED → OPEN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/actuator/circuitbreakers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then restart it and watch HALF_OPEN → CLOSED.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switch the listener to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@RetryableTopic</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compare behaviour; 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MiniCircuitBreaker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your own thresholds.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Kafka &amp; circuit breakers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Kafka guarantees message ordering…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across the whole topic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within a single partition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only with one broker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never</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Two consumers in the SAME group read a topic with 3 partitions. What happens?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Both get every message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Partitions are divided between them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Only one works, the other is idle forever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Messages are lost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With at-least-once delivery, consumers must be…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fast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idempotent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stateless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single-threaded</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What does an OPEN circuit breaker do with new calls?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Retries them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Fails fast and uses the fallback without calling the dependency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Queues them in Kafka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Sends them to another region</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What replaced Netflix Hystrix in Spring Cloud?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Eureka</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Ribbon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Resilience4j via Spring Cloud CircuitBreaker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Zuul</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20</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20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Messaging decouples services in time; queues distribute work, pub/sub broadcasts events; design for at-least-once.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Kafka: topics → partitions (ordered logs) → offsets; replication; consumer groups; KRaft (no ZooKeeper).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Kafka: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KafkaTemplate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JacksonJsonSerializer,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@KafkaListener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ErrorHandlingDeserializer, DefaultErrorHandler + DLT, idempotent consumers.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Circuit breaker states CLOSED/OPEN/HALF_OPEN: Hystrix is the classic, Resilience4j the current implementation.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Combine timeouts, careful retries, breakers, bulkheads; Spring 7 adds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@Retryable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@ConcurrencyLimit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(watch the off-by-one).</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Partition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Ordered, append-only log that is the unit of parallelism in Kafka.</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Offset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Position of a record in a partition; consumers commit offsets per group.</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Consumer group</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Set of consumers sharing a topic’s partitions; groups each get all messages.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KRaft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Kafka’s built-in Raft metadata mode replacing ZooKeeper (Kafka 4+).</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DLT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Dead-letter topic holding records that failed processing after retries.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Idempotent consumer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Processing the same event twice has the same effect as once.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Circuit breaker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Stops calls to a failing dependency and fails fast with a fallback.</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Fallback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Alternative response when a protected call fails or is short-circuited.</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21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Major Project — Airbnb Backend: HLSD &amp; Data Modeling for Users, Properties &amp; Bookings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Airbnb Backend: HLSD, data modeling for users, properties &amp; bookings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Capture functional and non-functional requirements and estimate scale for a rental platform.</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Produce a high-level system design: services, data stores, event bus, caching and search.</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Model users, properties, availability, bookings and payments with database-per-service.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Encode the no-double-booking rule (half-open date intervals) in code and in the schema.</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Project: Major project brief: an Airbnb-like rental platform</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Requirements &amp; back-of-the-envelope estimates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High-level system design (HLSD)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Service APIs at a glance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Data model: users &amp; properties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Data model: bookings &amp; payments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no-double-booking rule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Schemas as Flyway migrations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Search: a read model fed by events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1: Airbnb foundations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Airbnb HLSD &amp; data model</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21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Major project brief: an Airbnb-like rental platform</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and deploy an Airbnb-like Property Rental Platform — HLSD, data modeling for users, properties, bookings and payments, scalable microservices architecture, Spring Cloud Gateway routing, containerized deployment, monitoring, logging, and production readiness.” — brochure</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Tech per the brochure: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Microservices, Kafka, Spring Cloud, Docker, AWS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Everything from Modules 1–3 is reused: REST design, JPA, Flyway, tests, Redis, security, OAuth2 tokens.</a:t>
            </a:r>
            <a:endParaRPr lang="en-US" sz="1700" dirty="0"/>
          </a:p>
        </p:txBody>
      </p:sp>
      <p:sp>
        <p:nvSpPr>
          <p:cNvPr id="8" name="Text 6"/>
          <p:cNvSpPr/>
          <p:nvPr/>
        </p:nvSpPr>
        <p:spPr>
          <a:xfrm>
            <a:off x="5852160" y="1975104"/>
            <a:ext cx="1230554"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S21</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requirements, HLSD, data model</a:t>
            </a:r>
            <a:endParaRPr lang="en-US" sz="1150" dirty="0"/>
          </a:p>
        </p:txBody>
      </p:sp>
      <p:sp>
        <p:nvSpPr>
          <p:cNvPr id="9" name="Shape 7"/>
          <p:cNvSpPr/>
          <p:nvPr/>
        </p:nvSpPr>
        <p:spPr>
          <a:xfrm>
            <a:off x="7082714" y="2432304"/>
            <a:ext cx="320040" cy="0"/>
          </a:xfrm>
          <a:prstGeom prst="line">
            <a:avLst/>
          </a:prstGeom>
          <a:noFill/>
          <a:ln w="15875">
            <a:solidFill>
              <a:srgbClr val="6F8276"/>
            </a:solidFill>
            <a:prstDash val="solid"/>
            <a:tailEnd type="triangle"/>
          </a:ln>
        </p:spPr>
      </p:sp>
      <p:sp>
        <p:nvSpPr>
          <p:cNvPr id="10" name="Text 8"/>
          <p:cNvSpPr/>
          <p:nvPr/>
        </p:nvSpPr>
        <p:spPr>
          <a:xfrm>
            <a:off x="7402754" y="1975104"/>
            <a:ext cx="1230554"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S22</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services &amp; booking workflows (Kafka, saga)</a:t>
            </a:r>
            <a:endParaRPr lang="en-US" sz="1150" dirty="0"/>
          </a:p>
        </p:txBody>
      </p:sp>
      <p:sp>
        <p:nvSpPr>
          <p:cNvPr id="11" name="Shape 9"/>
          <p:cNvSpPr/>
          <p:nvPr/>
        </p:nvSpPr>
        <p:spPr>
          <a:xfrm>
            <a:off x="8633308" y="2432304"/>
            <a:ext cx="320040" cy="0"/>
          </a:xfrm>
          <a:prstGeom prst="line">
            <a:avLst/>
          </a:prstGeom>
          <a:noFill/>
          <a:ln w="15875">
            <a:solidFill>
              <a:srgbClr val="6F8276"/>
            </a:solidFill>
            <a:prstDash val="solid"/>
            <a:tailEnd type="triangle"/>
          </a:ln>
        </p:spPr>
      </p:sp>
      <p:sp>
        <p:nvSpPr>
          <p:cNvPr id="12" name="Text 10"/>
          <p:cNvSpPr/>
          <p:nvPr/>
        </p:nvSpPr>
        <p:spPr>
          <a:xfrm>
            <a:off x="8953348" y="1975104"/>
            <a:ext cx="1230554"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S23</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gateway, scaling, Docker, deployment</a:t>
            </a:r>
            <a:endParaRPr lang="en-US" sz="1150" dirty="0"/>
          </a:p>
        </p:txBody>
      </p:sp>
      <p:sp>
        <p:nvSpPr>
          <p:cNvPr id="13" name="Shape 11"/>
          <p:cNvSpPr/>
          <p:nvPr/>
        </p:nvSpPr>
        <p:spPr>
          <a:xfrm>
            <a:off x="10183901" y="2432304"/>
            <a:ext cx="320040" cy="0"/>
          </a:xfrm>
          <a:prstGeom prst="line">
            <a:avLst/>
          </a:prstGeom>
          <a:noFill/>
          <a:ln w="15875">
            <a:solidFill>
              <a:srgbClr val="6F8276"/>
            </a:solidFill>
            <a:prstDash val="solid"/>
            <a:tailEnd type="triangle"/>
          </a:ln>
        </p:spPr>
      </p:sp>
      <p:sp>
        <p:nvSpPr>
          <p:cNvPr id="14" name="Text 12"/>
          <p:cNvSpPr/>
          <p:nvPr/>
        </p:nvSpPr>
        <p:spPr>
          <a:xfrm>
            <a:off x="10503941" y="1975104"/>
            <a:ext cx="1230554"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S24</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monitoring, performance, production readiness</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Requirements &amp; back-of-the-envelope estimates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Design starts from what users do and what the system must guarantee.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20 M users — 2 M listings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100 k bookings/day — ≈ 1.2/s avg, ~20/s peak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50 M searches/day — ≈ 600/s avg, ~5 k/s peak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20 TB photos — 2 M × 20 × 500 KB → object storage + CDN</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Functional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Non-functional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Hosts list properties with photos, amenities, prices, calendar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double booking — strong consistency for availability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Guests search by city, dates, guests, price, amenities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Search p95 &lt; 300 ms; read-heavy (≈ 500 reads : 1 write)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View a property and its availability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Bookings &amp; payments must be reliable and idempotent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Book, pay, cancel (per policy), get notified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99.9% availability; graceful degradation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Leave reviews after completed stays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Secure: OAuth2 tokens, least privilege, PCI scope minimal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High-level system design (HLSD)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Services own their data; synchronous calls for immediate answers; Kafka events for everything that can happen afterwards.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property-service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is the source of truth for listings;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search-service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keeps a denormalised index fed by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property.updated</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events.</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booking-service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owns reservations and the availability guarantee;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payment-service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talks to the payment provider.</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notification-service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only consumes events — adding it never touches other services.</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Clients: Web | iOS / Android | CDN (photos, static assets)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Edge: API Gateway (routing, auth, rate limits (S23)) | Auth server (OAuth2 / OIDC (S18))</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Services: user | property | search | booking | payment | notification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Kafka event bus: property.updated | booking.created | payment.completed | payment.failed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 MySQL per service | Redis (cache, idempotency, rate limits) | OpenSearch (search index) | S3 (photos)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Service APIs at a glance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first contract per service — refined as we implement.</a:t>
            </a:r>
            <a:endParaRPr lang="en-US" sz="13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Key endpoints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Publishes / consumes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POST /users, GET /users/{id}, POST /users/{id}/host-profile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property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POST /properties, PUT /properties/{id}, GET /properties/{id}, PUT /properties/{id}/calendar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publishes property.updated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search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 /search?city&amp;checkIn&amp;checkOut&amp;guests&amp;minPrice&amp;maxPrice&amp;page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consumes property.updated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booking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POST /bookings (Idempotency-Key), GET /bookings/{id}, POST /bookings/{id}/cancel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publishes booking.created; consumes payment.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payment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GET /payments/{bookingId}, provider webhook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consumes booking.created; publishes payment.completed/failed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notification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consumes everything relevant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Data model: users &amp; properties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Each service has its own schema. Cross-service references are plain ids — no foreign keys across databases.</a:t>
            </a:r>
            <a:endParaRPr lang="en-US" sz="1350" dirty="0"/>
          </a:p>
        </p:txBody>
      </p:sp>
      <p:sp>
        <p:nvSpPr>
          <p:cNvPr id="7" name="Text 5"/>
          <p:cNvSpPr/>
          <p:nvPr/>
        </p:nvSpPr>
        <p:spPr>
          <a:xfrm>
            <a:off x="457200" y="1883664"/>
            <a:ext cx="1127729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(id PK, email UQ, name, password_hash, phone, created_at)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user_roles (user_id PK, FK → users, role PK (GUEST, HOST, ADMIN))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properties (id PK, host_id (user id, no FK), title, city, lat / lng, max_guests, base_price DECIMAL(10,2), currency, cancellation_policy, status, version)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property_photos (id PK, property_id FK, url (S3), position)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amenities (id PK, code UQ, name)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property_amenities (property_id FK, amenity_id FK, PK (property_id, amenity_id))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calendar_overrides (property_id FK, night DATE, price DECIMAL(10,2), blocked BOOLEAN, PK (property_id, night))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 1 — N user_roles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properties 1 — N property_photos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properties M — N amenities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properties 1 — N calendar_overrides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properties.host_id ⇢ users.id (by id, across services)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Data model: bookings &amp; payments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Booking-service owns reservations and enforces availability; payment-service owns money movement.</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booked_nights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has one row per occupied night with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PRIMARY KEY (property_id, night)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 the database itself refuses a second booking of the same night.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Status history gives an audit trail of the booking state machine (Session 22).</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bookings (id PK, property_id, guest_id, host_id, check_in DATE, check_out DATE, guests, status, total_amount DECIMAL(12,2), currency, idempotency_key UQ, expires_at, version)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booked_nights (property_id PK, night DATE PK, booking_id FK → bookings)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booking_status_history (id PK, booking_id FK, from_status, to_status, changed_at, reason)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payments (id PK, booking_id UQ, amount DECIMAL(12,2), currency, status, provider_ref, idempotency_key UQ, created_at)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refunds (id PK, payment_id FK, amount, reason, created_at)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bookings 1 — N booked_nights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bookings 1 — N booking_status_history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payments 1 — N refunds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payments.booking_id ⇢ bookings.id (by id, across services)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no-double-booking rule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Stays are </a:t>
            </a:r>
            <a:pPr indent="0" marL="0">
              <a:buNone/>
            </a:pPr>
            <a:r>
              <a:rPr lang="en-US" sz="1350" b="1" dirty="0">
                <a:solidFill>
                  <a:srgbClr val="5B6B60"/>
                </a:solidFill>
                <a:latin typeface="Calibri" pitchFamily="34" charset="0"/>
                <a:ea typeface="Calibri" pitchFamily="34" charset="-122"/>
                <a:cs typeface="Calibri" pitchFamily="34" charset="-120"/>
              </a:rPr>
              <a:t>half-open intervals</a:t>
            </a:r>
            <a:pPr indent="0" marL="0">
              <a:buNone/>
            </a:pPr>
            <a:r>
              <a:rPr lang="en-US" sz="1350" dirty="0">
                <a:solidFill>
                  <a:srgbClr val="5B6B60"/>
                </a:solidFill>
                <a:latin typeface="Calibri" pitchFamily="34" charset="0"/>
                <a:ea typeface="Calibri" pitchFamily="34" charset="-122"/>
                <a:cs typeface="Calibri" pitchFamily="34" charset="-120"/>
              </a:rPr>
              <a:t> </a:t>
            </a:r>
            <a:pPr indent="0" marL="0">
              <a:buNone/>
            </a:pPr>
            <a:r>
              <a:rPr lang="en-US" sz="1350" dirty="0">
                <a:solidFill>
                  <a:srgbClr val="B4235A"/>
                </a:solidFill>
                <a:latin typeface="Consolas" pitchFamily="34" charset="0"/>
                <a:ea typeface="Consolas" pitchFamily="34" charset="-122"/>
                <a:cs typeface="Consolas" pitchFamily="34" charset="-120"/>
              </a:rPr>
              <a:t>[check-in, check-out)</a:t>
            </a:r>
            <a:pPr indent="0" marL="0">
              <a:buNone/>
            </a:pPr>
            <a:r>
              <a:rPr lang="en-US" sz="1350" dirty="0">
                <a:solidFill>
                  <a:srgbClr val="5B6B60"/>
                </a:solidFill>
                <a:latin typeface="Calibri" pitchFamily="34" charset="0"/>
                <a:ea typeface="Calibri" pitchFamily="34" charset="-122"/>
                <a:cs typeface="Calibri" pitchFamily="34" charset="-120"/>
              </a:rPr>
              <a:t>: the guest leaves on the check-out morning, so that night is free for the next guest.</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BookingOverlap.java</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java.time.LocalDate;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BookingOverlap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Half-open stay [checkIn, checkOut).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record Stay(String guest, LocalDate checkIn, LocalDate checkOut)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if (!checkOut.isAfter(checkIn)) throw new IllegalArgumentException("check-out must be after check-in");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boolean overlaps(Stay other) {                 // a.in &lt; b.out AND a.out &gt; b.in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return checkIn.isBefore(other.checkOut) &amp;&amp; checkOut.isAfter(other.checkIn);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Domain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overlaps() check with half-open intervals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SQL query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WHERE property_id ? AND check_in &lt; :newCheckOut AND check_out &gt; :newCheckIn AND status IN (PENDING, CONFIRMED)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Schema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booked_nights PK (property_id, night) — concurrent inserts of the same night fail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Concurrency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compared in Session 22: row lock vs @Version vs unique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Schemas as Flyway migrations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property-service and booking-service each get their own database and migrations.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property-service: V1__properties.sql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CREATE TABLE properties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BIGINT AUTO_INCREMENT PRIMARY 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host_id              BIGINT        NOT NULL,          -- user id from user-service (no cross-DB FK)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title                VARCHAR(150)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description          TEXT,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city                 VARCHAR(80)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country              CHAR(2)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latitude             DECIMAL(9,6),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longitude            DECIMAL(9,6),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max_guests           SMALLINT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bedrooms             SMALLINT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base_price           DECIMAL(10,2)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currency             CHAR(3)       NOT NULL DEFAULT 'INR',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cancellation_policy  VARCHAR(10)   NOT NULL,         -- FLEXIBLE | MODERATE | STRICT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               VARCHAR(10)   NOT NULL DEFAULT 'DRAFT',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created_at           TIMESTAMP(6)  NOT NULL DEFAULT CURRENT_TIMESTAMP(6),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version              BIGINT        NOT NULL DEFAULT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CONSTRAINT chk_guests CHECK (max_guests &gt;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CONSTRAINT chk_price  CHECK (base_price &gt; 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INDEX idx_properties_city (city, status)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Search: a read model fed by events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Search reads must be fast and filterable; they can tolerate a few seconds of staleness. Booking can't — so it re-checks.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This is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CQRS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(Command Query Responsibility Segregation): writes go to the system of record, reads to an optimised model.</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Availability in search results is a </a:t>
            </a:r>
            <a:endParaRPr lang="en-US" sz="1700" dirty="0"/>
          </a:p>
          <a:p>
            <a:pPr marL="177800" indent="-177800">
              <a:spcAft>
                <a:spcPts val="400"/>
              </a:spcAft>
              <a:buSzPct val="100000"/>
              <a:buChar char="•"/>
            </a:pPr>
            <a:r>
              <a:rPr lang="en-US" sz="1700" i="1" dirty="0">
                <a:solidFill>
                  <a:srgbClr val="1F2A24"/>
                </a:solidFill>
                <a:latin typeface="Calibri" pitchFamily="34" charset="0"/>
                <a:ea typeface="Calibri" pitchFamily="34" charset="-122"/>
                <a:cs typeface="Calibri" pitchFamily="34" charset="-120"/>
              </a:rPr>
              <a:t>hint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the authoritative check happens in booking-service at booking time.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Cache popular queries ('Goa, this weekend, 2 guests') in Redis for a short TTL.</a:t>
            </a:r>
            <a:endParaRPr lang="en-US" sz="17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Host updates listing</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property-service (MySQL)</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property.updated</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Kafka event</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search-service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updates the index</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OpenSearch</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full-text, filters, geo</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Guest search</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p95 &lt; 300 ms, Redis for hot queries</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1: Airbnb foundations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Skeleton services, schemas, and the most important rule — tested.</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 repository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user-service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payment-service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(Spring Boot 4.1, Java 21) and a shared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events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module.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Flyway migrations per service (schemas from today's slides) and a local MySQL with one schema per 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property CRUD for hosts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/api/v1/properties/search?city=&amp;guests=&amp;page=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indexed queries and paging.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GET /api/v1/properties/{id}/availability?checkIn=&amp;checkOut=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using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calendar_overrides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(blocked nights) and a price quote.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 booking-service implement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Stay.overlaps()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rule and the overlap SQL query; unit-test all edge cases from the slide.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Document the HLSD diagram, service API table and ERDs in the README.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Register services with Eureka (Session 19) and call property availability from booking-service with Feign + timeouts.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emit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property.updated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events and build a minimal search-service consuming them.</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Airbnb HLSD &amp; data model</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Booking A is 20–24 Dec (check-out 24th). Can booking B check in on 24 Dec?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No, it overlaps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Yes — stays are half-open intervals [check-in, check-out)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Only if A is cancelled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Only for 1 night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How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booked_nights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with PRIMARY KEY (property_id, night) prevent double bookings?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It slows inserts down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 second insert of the same property-night violates the key and fails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locks the whole table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It deletes old bookings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may search results be eventually consistent but booking may not?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Search is less important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Search can tolerate brief staleness; booking must re-check authoritative availability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Booking uses Redis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Search never changes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In database-per-service, how does property-service reference a host?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Foreign key to user-service's table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By storing the host's user id (no cross-database FK)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By copying the whole users table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It doesn't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≈100,000 bookings/day is on average about…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1 per second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100 per second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1,000 per second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0.01 per second</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21</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21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Requirements and estimates drive design: read-heavy search, low-volume but critical bookings.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HLSD: gateway, six services, MySQL per service, Redis, OpenSearch, S3/CDN, Kafka event bus.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Data model: properties + calendar overrides; bookings + booked_nights + status history; payments + refunds; ids across services.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No double booking: half-open intervals, overlap query, and a primary key on (property_id, night).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Search is a CQRS read model fed by events; booking re-checks authoritative availability.</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HLSD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High-level system design: services, stores, flows and scaling choices.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Half-open interval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[check-in, check-out): check-out day is not a booked night.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booked_nights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One row per occupied night; PK (property_id, night) prevents double booking.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Back-of-envelope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Quick capacity estimate from daily volumes to per-second rates.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CQRS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Separate models for writes (commands) and reads (queries).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Read model</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Denormalised, query-optimised copy of data (e.g. a search index).</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Database per service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No cross-service foreign keys; reference by id.</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PCI scope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Avoid storing card data by using a payment provider’s tokens.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22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Microservices Architecture &amp; Booking Management Workflows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Microservices architecture &amp; booking management workflows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Model the booking lifecycle as an explicit state machine with valid transitions only.</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Coordinate booking and payment across services with a choreography saga and compensating actions.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Prevent double bookings under concurrency and make every step idempotent.</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Publish events reliably with the transactional outbox pattern.</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booking state machine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State machine &amp; cancellation policy in code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Distributed transactions &amp; the saga pattern</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Our booking saga (choreography over Kafka)</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Concurrency: two guests, one apartment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Creating a booking: idempotent, atomic, conflict-safe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dual-write problem &amp; the transactional outbox</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Outbox table and relay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Reacting to payment events (and compensating)</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Microservices patterns in the project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2: booking workflow end to end</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booking workflows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22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booking state machine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booking moves through well-defined states. Making transitions explicit prevents impossible situations like confirming an expired booking.</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PENDING → CONFIRMED  (payment.completed)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PENDING → CANCELLED  (payment.failed)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PENDING → EXPIRED  (timeout)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CONFIRMED → CANCELLED  (cancel → refund)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CONFIRMED → COMPLETED  (check-out)</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Transition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Trigger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Side effects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PENDING → CONFIRMED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payment.completed event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notify guest &amp; host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PENDING → CANCELLED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payment.failed event or guest cancels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release nights (compensation)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PENDING → EXPIRED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scheduler: expires_at passed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release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CONFIRMED → CANCELLED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guest/host cancels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refund per policy, release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CONFIRMED → COMPLETED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check-out date passed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enable reviews, host payout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State machine &amp; cancellation policy in code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An </a:t>
            </a:r>
            <a:pPr indent="0" marL="0">
              <a:buNone/>
            </a:pPr>
            <a:r>
              <a:rPr lang="en-US" sz="1350" dirty="0">
                <a:solidFill>
                  <a:srgbClr val="B4235A"/>
                </a:solidFill>
                <a:latin typeface="Consolas" pitchFamily="34" charset="0"/>
                <a:ea typeface="Consolas" pitchFamily="34" charset="-122"/>
                <a:cs typeface="Consolas" pitchFamily="34" charset="-120"/>
              </a:rPr>
              <a:t>EnumMap</a:t>
            </a:r>
            <a:pPr indent="0" marL="0">
              <a:buNone/>
            </a:pPr>
            <a:r>
              <a:rPr lang="en-US" sz="1350" dirty="0">
                <a:solidFill>
                  <a:srgbClr val="5B6B60"/>
                </a:solidFill>
                <a:latin typeface="Calibri" pitchFamily="34" charset="0"/>
                <a:ea typeface="Calibri" pitchFamily="34" charset="-122"/>
                <a:cs typeface="Calibri" pitchFamily="34" charset="-120"/>
              </a:rPr>
              <a:t> of allowed transitions guards every change; refunds are a pure function of policy and timing.</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BookingWorkflow.java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java.math.RoundingMode;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java.time.Duration;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java.time.LocalDateTime;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BookingWorkflow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enum Status { PENDING, CONFIRMED, CANCELLED, EXPIRED, COMPLETED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enum Policy { FLEXIBLE, MODERATE, STRICT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final Map&lt;Status, Set&lt;Status&gt;&gt; ALLOWED = new EnumMap&lt;&gt;(Map.of(</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Status.PENDING, EnumSet.of(Status.CONFIRMED, Status.CANCELLED, Status.EXPIRED),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Status.CONFIRMED, EnumSet.of(Status.CANCELLED, Status.COMPLETED),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Status.CANCELLED, EnumSet.noneOf(Status.class),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Status.EXPIRED, EnumSet.noneOf(Status.class),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Status.COMPLETED, EnumSet.noneOf(Status.class)));</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static class Booking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final long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Status status = Status.PENDING;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final List&lt;String&gt; history = new ArrayList&lt;&gt;();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Distributed transactions &amp; the saga pattern</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booking spans two databases (booking &amp; payment). There is no single ACID transaction across services — so we use a </a:t>
            </a:r>
            <a:pPr indent="0" marL="0">
              <a:buNone/>
            </a:pPr>
            <a:r>
              <a:rPr lang="en-US" sz="1350" b="1" dirty="0">
                <a:solidFill>
                  <a:srgbClr val="5B6B60"/>
                </a:solidFill>
                <a:latin typeface="Calibri" pitchFamily="34" charset="0"/>
                <a:ea typeface="Calibri" pitchFamily="34" charset="-122"/>
                <a:cs typeface="Calibri" pitchFamily="34" charset="-120"/>
              </a:rPr>
              <a:t>saga</a:t>
            </a:r>
            <a:pPr indent="0" marL="0">
              <a:buNone/>
            </a:pPr>
            <a:r>
              <a:rPr lang="en-US" sz="1350" dirty="0">
                <a:solidFill>
                  <a:srgbClr val="5B6B60"/>
                </a:solidFill>
                <a:latin typeface="Calibri" pitchFamily="34" charset="0"/>
                <a:ea typeface="Calibri" pitchFamily="34" charset="-122"/>
                <a:cs typeface="Calibri" pitchFamily="34" charset="-120"/>
              </a:rPr>
              <a:t>: a sequence of local transactions with compensations.</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Why not two-phase commit (XA)? It blocks on the slowest participant, couples availability, and Kafka/most cloud services don't take part in it.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step needs a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compensating action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release the nights, refund the payment, notify the guest.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Sagas are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eventually consistent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for a moment a booking is PENDING while payment is processed.</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Choreography: services react to each other's events; no central coordinator; loose coupling; simple for short flows (our booking); flow is implicit — needs good tracing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Orchestration: an orchestrator tells each service what to do; flow explicit in one place; better for long, branching workflows; orchestrator is extra infrastructure (e.g. Temporal, Camunda)</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Our booking saga (choreography over Kafka)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Each service does one local transaction and publishes an event; the next service reacts.</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1. Guest → booking-service: POST /bookings (Idempotency-Key)</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2. booking-service: tx: booking PENDING + nights + outbox</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3. booking-service → Guest: 201 Created (PENDING)</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4. booking-service → Kafka: booking.created (via outbox relay)</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5. Kafka → payment-service: booking.created</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6. payment-service: charge provider (idempotency key)</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7. payment-service → Kafka: payment.completed | payment.failed</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8. Kafka → booking-service: payment.completed</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9. booking-service: tx: PENDING -&gt; CONFIRMED</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10. Kafka → notification: booking/payment events</a:t>
            </a:r>
            <a:endParaRPr lang="en-US" sz="1100" dirty="0"/>
          </a:p>
          <a:p>
            <a:pPr marL="177800" indent="-177800">
              <a:spcAft>
                <a:spcPts val="400"/>
              </a:spcAft>
              <a:buSzPct val="100000"/>
              <a:buChar char="•"/>
            </a:pPr>
            <a:r>
              <a:rPr lang="en-US" sz="1100" dirty="0">
                <a:solidFill>
                  <a:srgbClr val="1F2A24"/>
                </a:solidFill>
                <a:latin typeface="Calibri" pitchFamily="34" charset="0"/>
                <a:ea typeface="Calibri" pitchFamily="34" charset="-122"/>
                <a:cs typeface="Calibri" pitchFamily="34" charset="-120"/>
              </a:rPr>
              <a:t>11. notification → Guest: email: booking confirmed</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Failure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Compensation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payment.failed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booking → CANCELLED, delete booked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payment within 15 min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scheduler → EXPIRED, delete booked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payment.completed after EXPIRED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 refund request → payment-service refunds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guest cancels a CONFIRMED booking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refund per policy, release nights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Concurrency: two guests, one apartment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requests for overlapping nights arrive at the same millisecond. Exactly one must win.</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Guest A → booking-service: book 20–24 Dec</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Guest B → booking-service: book 22–26 Dec</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booking-service → MySQL: tx A: INSERT nights 20, 21, 22, 23</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booking-service → MySQL: tx B: INSERT nights 22, 23, 24, 25</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MySQL: B waits on night 22 (A holds it)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MySQL → booking-service: A commits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MySQL → booking-service: B: duplicate key (22) -&gt; rollback</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8. booking-service → Guest A: 201 Created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9. booking-service → Guest B: 409 Conflict: dates just taken</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Strategy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Pessimistic lock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SELECT … FOR UPDATE on a per-property row, then overlap query + insert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simple to reason about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serialises all bookings of a property; lock waits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Optimistic (@Version)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version on a per-property calendar row; conflicting commit retries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blocking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retry storms on popular properties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Unique nights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PK (property_id, night); insert one row per night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database-enforced, fine-grained, simple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one row per night; delete on cancel/expiry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Creating a booking: idempotent, atomic, conflict-safe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One local transaction: booking row, its nights, and an outbox event — all or nothing.</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BookingService.java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com.example.booking.outbox.OutboxEvent;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com.example.booking.outbox.OutboxRepository;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com.example.booking.property.PropertyClient.PropertySummary;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com.example.events.BookingCreated;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java.math.BigDecimal;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java.sql.Date;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java.time.*;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java.util.List;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lombok.RequiredArgsConstructor;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org.springframework.dao.DuplicateKeyException;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org.springframework.jdbc.core.JdbcTemplate;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org.springframework.transaction.annotation.Transactional;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tools.jackson.databind.json.JsonMapper;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BookingService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BookingRepository bookings;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dual-write problem &amp; the transactional outbox</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Committing to MySQL and publishing to Kafka are two separate systems. If one succeeds and the other fails, services disagree forever.</a:t>
            </a:r>
            <a:endParaRPr lang="en-US" sz="1350" dirty="0"/>
          </a:p>
        </p:txBody>
      </p:sp>
      <p:sp>
        <p:nvSpPr>
          <p:cNvPr id="7" name="Text 5"/>
          <p:cNvSpPr/>
          <p:nvPr/>
        </p:nvSpPr>
        <p:spPr>
          <a:xfrm>
            <a:off x="457200"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Local transaction</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INSERT booking + nights + outbox row</a:t>
            </a:r>
            <a:endParaRPr lang="en-US" sz="1150" dirty="0"/>
          </a:p>
        </p:txBody>
      </p:sp>
      <p:sp>
        <p:nvSpPr>
          <p:cNvPr id="8" name="Shape 6"/>
          <p:cNvSpPr/>
          <p:nvPr/>
        </p:nvSpPr>
        <p:spPr>
          <a:xfrm>
            <a:off x="2456627" y="2432304"/>
            <a:ext cx="320040" cy="0"/>
          </a:xfrm>
          <a:prstGeom prst="line">
            <a:avLst/>
          </a:prstGeom>
          <a:noFill/>
          <a:ln w="15875">
            <a:solidFill>
              <a:srgbClr val="6F8276"/>
            </a:solidFill>
            <a:prstDash val="solid"/>
            <a:tailEnd type="triangle"/>
          </a:ln>
        </p:spPr>
      </p:sp>
      <p:sp>
        <p:nvSpPr>
          <p:cNvPr id="9" name="Text 7"/>
          <p:cNvSpPr/>
          <p:nvPr/>
        </p:nvSpPr>
        <p:spPr>
          <a:xfrm>
            <a:off x="2776667"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outbox_events table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unpublished rows</a:t>
            </a:r>
            <a:endParaRPr lang="en-US" sz="1150" dirty="0"/>
          </a:p>
        </p:txBody>
      </p:sp>
      <p:sp>
        <p:nvSpPr>
          <p:cNvPr id="10" name="Shape 8"/>
          <p:cNvSpPr/>
          <p:nvPr/>
        </p:nvSpPr>
        <p:spPr>
          <a:xfrm>
            <a:off x="4776094" y="2432304"/>
            <a:ext cx="320040" cy="0"/>
          </a:xfrm>
          <a:prstGeom prst="line">
            <a:avLst/>
          </a:prstGeom>
          <a:noFill/>
          <a:ln w="15875">
            <a:solidFill>
              <a:srgbClr val="6F8276"/>
            </a:solidFill>
            <a:prstDash val="solid"/>
            <a:tailEnd type="triangle"/>
          </a:ln>
        </p:spPr>
      </p:sp>
      <p:sp>
        <p:nvSpPr>
          <p:cNvPr id="11" name="Text 9"/>
          <p:cNvSpPr/>
          <p:nvPr/>
        </p:nvSpPr>
        <p:spPr>
          <a:xfrm>
            <a:off x="5096134"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Relay</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poller (FOR UPDATE SKIP LOCKED) or CDC (Debezium)</a:t>
            </a:r>
            <a:endParaRPr lang="en-US" sz="1150" dirty="0"/>
          </a:p>
        </p:txBody>
      </p:sp>
      <p:sp>
        <p:nvSpPr>
          <p:cNvPr id="12" name="Shape 10"/>
          <p:cNvSpPr/>
          <p:nvPr/>
        </p:nvSpPr>
        <p:spPr>
          <a:xfrm>
            <a:off x="7095561" y="2432304"/>
            <a:ext cx="320040" cy="0"/>
          </a:xfrm>
          <a:prstGeom prst="line">
            <a:avLst/>
          </a:prstGeom>
          <a:noFill/>
          <a:ln w="15875">
            <a:solidFill>
              <a:srgbClr val="6F8276"/>
            </a:solidFill>
            <a:prstDash val="solid"/>
            <a:tailEnd type="triangle"/>
          </a:ln>
        </p:spPr>
      </p:sp>
      <p:sp>
        <p:nvSpPr>
          <p:cNvPr id="13" name="Text 11"/>
          <p:cNvSpPr/>
          <p:nvPr/>
        </p:nvSpPr>
        <p:spPr>
          <a:xfrm>
            <a:off x="7415601"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Kafka topic</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booking.created</a:t>
            </a:r>
            <a:endParaRPr lang="en-US" sz="1150" dirty="0"/>
          </a:p>
        </p:txBody>
      </p:sp>
      <p:sp>
        <p:nvSpPr>
          <p:cNvPr id="14" name="Shape 12"/>
          <p:cNvSpPr/>
          <p:nvPr/>
        </p:nvSpPr>
        <p:spPr>
          <a:xfrm>
            <a:off x="9415028" y="2432304"/>
            <a:ext cx="320040" cy="0"/>
          </a:xfrm>
          <a:prstGeom prst="line">
            <a:avLst/>
          </a:prstGeom>
          <a:noFill/>
          <a:ln w="15875">
            <a:solidFill>
              <a:srgbClr val="6F8276"/>
            </a:solidFill>
            <a:prstDash val="solid"/>
            <a:tailEnd type="triangle"/>
          </a:ln>
        </p:spPr>
      </p:sp>
      <p:sp>
        <p:nvSpPr>
          <p:cNvPr id="15" name="Text 13"/>
          <p:cNvSpPr/>
          <p:nvPr/>
        </p:nvSpPr>
        <p:spPr>
          <a:xfrm>
            <a:off x="9735068"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Consumers</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idempotent (event id)</a:t>
            </a:r>
            <a:endParaRPr lang="en-US" sz="11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Naive approach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can go wrong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commit DB, then publish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crash after commit → event never sent → payment never happens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 then commit DB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DB rollback after publish → payment for a booking that doesn't exist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outbox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event stored atomically with the data; published at least once by the relay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Outbox table and relay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polling relay that several instances can run safely in parallel.</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V2__outbox.sql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CREATE TABLE outbox_events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            BIGINT AUTO_INCREMENT PRIMARY KEY,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topic         VARCHAR(100)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event_key     VARCHAR(100) NOT NULL,           -- Kafka key (bookingId) keeps per-booking order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payload       JSON         NOT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created_at    TIMESTAMP(6) NOT NULL DEFAULT CURRENT_TIMESTAMP(6),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published_at  TIMESTAMP(6) NULL,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INDEX idx_outbox_unpublished (published_at, id)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Reacting to payment events (and compensating)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Booking-service listens to payment results and applies state transitions idempotently.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PaymentEventsHandler.java</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com.example.events.PaymentCompleted;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com.example.events.PaymentFailed;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lombok.RequiredArgsConstructor;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org.springframework.jdbc.core.simple.JdbcClient;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org.springframework.kafka.annotation.KafkaListener;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org.springframework.transaction.annotation.Transactional;</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@RequiredArgsConstructor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PaymentEventsHandler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BookingRepository bookings;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JdbcClient jdbc;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RefundRequests refunds;               // writes a refund request to the outbox</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@KafkaListener(topics = "payment.completed", groupId = "booking-service")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@Transactional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void completed(PaymentCompleted e)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Booking b = bookings.findById(e.bookingId()).orElseThrow();</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Microservices patterns in the project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By now the Airbnb backend uses most of the classic microservices patterns — each for a concrete reason.</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Contracts: version event schemas and APIs; prefer additive changes; consider consumer-driven contract tests (Spring Cloud Contract, Pact).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Each service: own repository or module, own pipeline, own database, own on-call ownership.</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Database per service — independent schemas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Service discovery — Eureka (S19)</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Circuit breaker — Resilience4j (S20)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Event-driven — Kafka topics (S20)</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Saga — booking ↔ payment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Transactional outbox — reliable events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Idempotency keys — safe retries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CQRS read model — search index (S21)</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API gateway — single entry (S23)</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Externalised config — profiles, env vars (S23)</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Correlation &amp; tracing — request ids, traces (S24)</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Health checks — liveness/readiness (S23–24)</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2: booking workflow end to end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Implement the saga with Kafka, prove there are no double bookings under concurrency, and handle every failure path.</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entity with the state machine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ALLOWED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map,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@Version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status history).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Implement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/api/v1/bookings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Idempotency-Key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unique booked nights and the outbox, returning 201 PENDING (409 on conflicts).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outbox table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OutboxRelay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verify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booking.created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reaches Kafka (console consumer).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 payment-service, consume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booking.created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simulate the provider (fail when amount ends in .13), store the payment and publish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payment.completed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payment.failed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via its outbox.</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In booking-service, handle payment events with the idempotent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switch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add the expiry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@Scheduled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job.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Concurrency test: fire 20 parallel requests for overlapping dates (e.g. a JUnit test with an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ExecutorService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assert exactly one 201 and 19 × 409.</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Failure drills: stop payment-service (bookings stay PENDING, then EXPIRE); replay an event twice (no double processing); deliver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payment.completed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after expiry (refund requested).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consume all events in notification-service and log 'emails';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POST /bookings/{id}/cancel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the refund policy.</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booking workflows</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A payment.completed event arrives for a booking that already EXPIRED. Correct reaction?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Confirm the booking anyway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Ignore it silently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Keep the booking expired and trigger a refund (compensation)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Delete the booking</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Why not use a two-phase commit across booking and payment databases?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MySQL can't do transactions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It couples availability, blocks on the slowest participant and isn't supported by Kafka/most cloud services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is too fast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Spring forbids it</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What problem does the transactional outbox solve?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Slow queries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The dual write: DB commit and event publish can't be atomic otherwise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Authentication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Schema migrations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With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booked_nights</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PK (property_id, night), two transactions insert night 22 concurrently. What happens?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Both succeed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One commits; the other gets a duplicate-key error and rolls back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MySQL merges them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Both fail</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Why does POST /bookings accept an Idempotency-Key header?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For caching</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So a retried request returns the original booking instead of creating a duplicate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For authentication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To choose a Kafka partition</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22</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22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Booking state machine: PENDING → CONFIRMED/CANCELLED/EXPIRED → COMPLETED; transitions guarded centrally.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Choreography saga over Kafka: booking.created → payment.completed/failed → confirm or compensate.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No double booking: unique (property_id, night) rows inside one transaction; 409 on conflict; idempotency keys for retries.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Transactional outbox + relay (SKIP LOCKED / CDC) for reliable, at-least-once events; idempotent consumers.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failure path has a compensation: release nights, refund payments, notify users.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Saga</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Sequence of local transactions with compensating actions instead of a distributed transaction.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Choreography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Services coordinate by reacting to each other’s events.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Orchestration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central coordinator directs each saga step.</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Compensating action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Business operation undoing a completed step (refund, release).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Transactional outbox</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Events stored in the same DB transaction, published later by a relay.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Dual-write problem</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Updating two systems without atomicity leads to inconsistency.</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SKIP LOCKED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SQL option to skip rows locked by other transactions (parallel workers).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Terminal state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 state with no outgoing transitions (CANCELLED, EXPIRED, COMPLETED).</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23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Spring Cloud Gateway, Scalability Patterns, Containerization &amp; Deployment</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Spring Cloud Gateway routing &amp; scalability patterns</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Containerization, deployment strategy &amp; environment configuration</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CI pipeline with GitHub Actions</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Route all client traffic through Spring Cloud Gateway with load balancing, auth, rate limiting and fallbacks.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Apply scalability patterns: stateless replicas, caching, read replicas, async processing, autoscaling.</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Containerise services with multi-stage Dockerfiles and run the whole system with Docker Compose.</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Configure environments safely (profiles, env vars, secrets) and choose a deployment strategy and CI pipeline.</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The API gateway: one front door</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Routing with Spring Cloud Gateway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Gateway resilience &amp; security</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Scalability patterns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Containers &amp; Docker essentials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A production-grade Dockerfile for a Spring Boot service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Running the whole platform with Docker Compose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Environment configuration done right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Theory: Deployment strategies &amp; zero downtime</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Practical: Continuous integration with GitHub Actions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Hands-on Lab: Project milestone 3: gateway + containers</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Quiz: Quiz: gateway, scaling &amp; deployment</a:t>
            </a:r>
            <a:endParaRPr lang="en-US" sz="1250" dirty="0"/>
          </a:p>
          <a:p>
            <a:pPr marL="342900" indent="-342900">
              <a:spcAft>
                <a:spcPts val="400"/>
              </a:spcAft>
              <a:buSzPct val="100000"/>
              <a:buFont typeface="+mj-lt"/>
              <a:buAutoNum type="arabicPeriod" startAt="1"/>
            </a:pPr>
            <a:r>
              <a:rPr lang="en-US" sz="1250" dirty="0">
                <a:solidFill>
                  <a:srgbClr val="1F2A24"/>
                </a:solidFill>
                <a:latin typeface="Calibri" pitchFamily="34" charset="0"/>
                <a:ea typeface="Calibri" pitchFamily="34" charset="-122"/>
                <a:cs typeface="Calibri" pitchFamily="34" charset="-120"/>
              </a:rPr>
              <a:t>Summary: Session 23 recap</a:t>
            </a:r>
            <a:endParaRPr lang="en-US" sz="12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The API gateway: one front door</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Clients shouldn't know about six services, their ports and instances. A </a:t>
            </a:r>
            <a:pPr indent="0" marL="0">
              <a:buNone/>
            </a:pPr>
            <a:r>
              <a:rPr lang="en-US" sz="1350" b="1" dirty="0">
                <a:solidFill>
                  <a:srgbClr val="5B6B60"/>
                </a:solidFill>
                <a:latin typeface="Calibri" pitchFamily="34" charset="0"/>
                <a:ea typeface="Calibri" pitchFamily="34" charset="-122"/>
                <a:cs typeface="Calibri" pitchFamily="34" charset="-120"/>
              </a:rPr>
              <a:t>gateway</a:t>
            </a:r>
            <a:pPr indent="0" marL="0">
              <a:buNone/>
            </a:pPr>
            <a:r>
              <a:rPr lang="en-US" sz="1350" dirty="0">
                <a:solidFill>
                  <a:srgbClr val="5B6B60"/>
                </a:solidFill>
                <a:latin typeface="Calibri" pitchFamily="34" charset="0"/>
                <a:ea typeface="Calibri" pitchFamily="34" charset="-122"/>
                <a:cs typeface="Calibri" pitchFamily="34" charset="-120"/>
              </a:rPr>
              <a:t> routes requests and handles edge concerns once.</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Clients: Web | Mobile | Partners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Gateway: Spring Cloud Gateway (routing · JWT check · rate limit · CORS · circuit breaker · request id)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Services: property ×2 | search ×3 | booking ×2 | payment ×2</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Responsibility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at the edge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Routing &amp; load balancing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clients use one host; instances can change freely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Authentication (JWT validation)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reject anonymous traffic before it reaches services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Rate limiting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protect services from abuse and spikes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CORS, TLS termination, compression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configure once, not in every service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Circuit breakers &amp; fallbacks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fail fast with a friendly 503 instead of hanging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Routing with Spring Cloud Gateway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Routes = </a:t>
            </a:r>
            <a:pPr indent="0" marL="0">
              <a:buNone/>
            </a:pPr>
            <a:r>
              <a:rPr lang="en-US" sz="1350" b="1" dirty="0">
                <a:solidFill>
                  <a:srgbClr val="5B6B60"/>
                </a:solidFill>
                <a:latin typeface="Calibri" pitchFamily="34" charset="0"/>
                <a:ea typeface="Calibri" pitchFamily="34" charset="-122"/>
                <a:cs typeface="Calibri" pitchFamily="34" charset="-120"/>
              </a:rPr>
              <a:t>predicates</a:t>
            </a:r>
            <a:pPr indent="0" marL="0">
              <a:buNone/>
            </a:pPr>
            <a:r>
              <a:rPr lang="en-US" sz="1350" dirty="0">
                <a:solidFill>
                  <a:srgbClr val="5B6B60"/>
                </a:solidFill>
                <a:latin typeface="Calibri" pitchFamily="34" charset="0"/>
                <a:ea typeface="Calibri" pitchFamily="34" charset="-122"/>
                <a:cs typeface="Calibri" pitchFamily="34" charset="-120"/>
              </a:rPr>
              <a:t> (when) + </a:t>
            </a:r>
            <a:pPr indent="0" marL="0">
              <a:buNone/>
            </a:pPr>
            <a:r>
              <a:rPr lang="en-US" sz="1350" b="1" dirty="0">
                <a:solidFill>
                  <a:srgbClr val="5B6B60"/>
                </a:solidFill>
                <a:latin typeface="Calibri" pitchFamily="34" charset="0"/>
                <a:ea typeface="Calibri" pitchFamily="34" charset="-122"/>
                <a:cs typeface="Calibri" pitchFamily="34" charset="-120"/>
              </a:rPr>
              <a:t>filters</a:t>
            </a:r>
            <a:pPr indent="0" marL="0">
              <a:buNone/>
            </a:pPr>
            <a:r>
              <a:rPr lang="en-US" sz="1350" dirty="0">
                <a:solidFill>
                  <a:srgbClr val="5B6B60"/>
                </a:solidFill>
                <a:latin typeface="Calibri" pitchFamily="34" charset="0"/>
                <a:ea typeface="Calibri" pitchFamily="34" charset="-122"/>
                <a:cs typeface="Calibri" pitchFamily="34" charset="-120"/>
              </a:rPr>
              <a:t> (what to do) + a </a:t>
            </a:r>
            <a:pPr indent="0" marL="0">
              <a:buNone/>
            </a:pPr>
            <a:r>
              <a:rPr lang="en-US" sz="1350" b="1" dirty="0">
                <a:solidFill>
                  <a:srgbClr val="5B6B60"/>
                </a:solidFill>
                <a:latin typeface="Calibri" pitchFamily="34" charset="0"/>
                <a:ea typeface="Calibri" pitchFamily="34" charset="-122"/>
                <a:cs typeface="Calibri" pitchFamily="34" charset="-120"/>
              </a:rPr>
              <a:t>URI</a:t>
            </a:r>
            <a:pPr indent="0" marL="0">
              <a:buNone/>
            </a:pPr>
            <a:r>
              <a:rPr lang="en-US" sz="1350" dirty="0">
                <a:solidFill>
                  <a:srgbClr val="5B6B60"/>
                </a:solidFill>
                <a:latin typeface="Calibri" pitchFamily="34" charset="0"/>
                <a:ea typeface="Calibri" pitchFamily="34" charset="-122"/>
                <a:cs typeface="Calibri" pitchFamily="34" charset="-120"/>
              </a:rPr>
              <a:t> (where). </a:t>
            </a:r>
            <a:pPr indent="0" marL="0">
              <a:buNone/>
            </a:pPr>
            <a:r>
              <a:rPr lang="en-US" sz="1350" dirty="0">
                <a:solidFill>
                  <a:srgbClr val="B4235A"/>
                </a:solidFill>
                <a:latin typeface="Consolas" pitchFamily="34" charset="0"/>
                <a:ea typeface="Consolas" pitchFamily="34" charset="-122"/>
                <a:cs typeface="Consolas" pitchFamily="34" charset="-120"/>
              </a:rPr>
              <a:t>lb://</a:t>
            </a:r>
            <a:pPr indent="0" marL="0">
              <a:buNone/>
            </a:pPr>
            <a:r>
              <a:rPr lang="en-US" sz="1350" dirty="0">
                <a:solidFill>
                  <a:srgbClr val="5B6B60"/>
                </a:solidFill>
                <a:latin typeface="Calibri" pitchFamily="34" charset="0"/>
                <a:ea typeface="Calibri" pitchFamily="34" charset="-122"/>
                <a:cs typeface="Calibri" pitchFamily="34" charset="-120"/>
              </a:rPr>
              <a:t> resolves service names through discovery.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(api-gateway)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&lt;groupId&gt;org.springframework.cloud&lt;/groupId&gt;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&lt;artifactId&gt;spring-cloud-starter-gateway-server-webflux&lt;/artifactId&gt;   &lt;!-- Gateway 5 (reactive)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&lt;groupId&gt;org.springframework.cloud&lt;/groupId&gt;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&lt;artifactId&gt;spring-cloud-starter-netflix-eureka-client&lt;/artifactId&gt;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Gateway resilience &amp; security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Circuit breaker with a fallback, Redis-backed rate limiting per user, and JWT validation at the edge.</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application.yml (bookings route, extended)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id: bookings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uri: lb://booking-service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predicates: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Path=/api/v1/bookings/**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filters: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name: CircuitBreaker                       # spring-cloud-starter-circuitbreaker-reactor-resilience4j</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args: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name: bookingsCB</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fallbackUri: forward:/fallback/bookings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name: RequestRateLimiter                   # needs spring-boot-starter-data-redis-reactive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args: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redis-rate-limiter.replenishRate: 10     # tokens per second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redis-rate-limiter.burstCapacity: 20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key-resolver: "#{@userKeyResolver}"</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Scalability patterns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Scale </a:t>
            </a:r>
            <a:pPr indent="0" marL="0">
              <a:buNone/>
            </a:pPr>
            <a:r>
              <a:rPr lang="en-US" sz="1350" b="1" dirty="0">
                <a:solidFill>
                  <a:srgbClr val="5B6B60"/>
                </a:solidFill>
                <a:latin typeface="Calibri" pitchFamily="34" charset="0"/>
                <a:ea typeface="Calibri" pitchFamily="34" charset="-122"/>
                <a:cs typeface="Calibri" pitchFamily="34" charset="-120"/>
              </a:rPr>
              <a:t>out</a:t>
            </a:r>
            <a:pPr indent="0" marL="0">
              <a:buNone/>
            </a:pPr>
            <a:r>
              <a:rPr lang="en-US" sz="1350" dirty="0">
                <a:solidFill>
                  <a:srgbClr val="5B6B60"/>
                </a:solidFill>
                <a:latin typeface="Calibri" pitchFamily="34" charset="0"/>
                <a:ea typeface="Calibri" pitchFamily="34" charset="-122"/>
                <a:cs typeface="Calibri" pitchFamily="34" charset="-120"/>
              </a:rPr>
              <a:t> (more instances) rather than </a:t>
            </a:r>
            <a:pPr indent="0" marL="0">
              <a:buNone/>
            </a:pPr>
            <a:r>
              <a:rPr lang="en-US" sz="1350" b="1" dirty="0">
                <a:solidFill>
                  <a:srgbClr val="5B6B60"/>
                </a:solidFill>
                <a:latin typeface="Calibri" pitchFamily="34" charset="0"/>
                <a:ea typeface="Calibri" pitchFamily="34" charset="-122"/>
                <a:cs typeface="Calibri" pitchFamily="34" charset="-120"/>
              </a:rPr>
              <a:t>up</a:t>
            </a:r>
            <a:pPr indent="0" marL="0">
              <a:buNone/>
            </a:pPr>
            <a:r>
              <a:rPr lang="en-US" sz="1350" dirty="0">
                <a:solidFill>
                  <a:srgbClr val="5B6B60"/>
                </a:solidFill>
                <a:latin typeface="Calibri" pitchFamily="34" charset="0"/>
                <a:ea typeface="Calibri" pitchFamily="34" charset="-122"/>
                <a:cs typeface="Calibri" pitchFamily="34" charset="-120"/>
              </a:rPr>
              <a:t> (bigger machines) — which only works if services are stateless.</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Scale the bottleneck you measured, not the one you imagine (Session 24: metrics and load tests).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Databases are usually the hardest part to scale — protect them with caching, connection pools and async writes.</a:t>
            </a:r>
            <a:endParaRPr lang="en-US" sz="1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 our project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Stateless services + horizontal scaling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any instance serves any request; add replicas under load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JWT auth, no HTTP sessions in services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Load balancing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spread requests (round robin, least connections)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gateway + Spring Cloud LoadBalancer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Caching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serve repeated reads from memory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Redis for search results &amp; property pages; CDN for photos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Read replicas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route reads to MySQL replicas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search-heavy reads, reports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Async processing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queue work instead of doing it inline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Kafka for payments &amp; notifications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Partitioning / sharding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split data by key across nodes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Kafka partitions by bookingId; DB sharding by region later</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Autoscaling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adjust replicas by CPU/latency/queue lag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ECS/Kubernetes autoscaling (Session 24)</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Back-pressure &amp; rate limits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refuse or slow excess load gracefully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gateway 429s, bounded queues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Containers &amp; Docker essentials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container image packages your app </a:t>
            </a:r>
            <a:pPr indent="0" marL="0">
              <a:buNone/>
            </a:pPr>
            <a:r>
              <a:rPr lang="en-US" sz="1350" b="1" dirty="0">
                <a:solidFill>
                  <a:srgbClr val="5B6B60"/>
                </a:solidFill>
                <a:latin typeface="Calibri" pitchFamily="34" charset="0"/>
                <a:ea typeface="Calibri" pitchFamily="34" charset="-122"/>
                <a:cs typeface="Calibri" pitchFamily="34" charset="-120"/>
              </a:rPr>
              <a:t>with</a:t>
            </a:r>
            <a:pPr indent="0" marL="0">
              <a:buNone/>
            </a:pPr>
            <a:r>
              <a:rPr lang="en-US" sz="1350" dirty="0">
                <a:solidFill>
                  <a:srgbClr val="5B6B60"/>
                </a:solidFill>
                <a:latin typeface="Calibri" pitchFamily="34" charset="0"/>
                <a:ea typeface="Calibri" pitchFamily="34" charset="-122"/>
                <a:cs typeface="Calibri" pitchFamily="34" charset="-120"/>
              </a:rPr>
              <a:t> its runtime and dependencies, so it runs the same on a laptop, CI and the cloud.</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Virtual machine: full guest OS per VM; GBs, boots in minutes; strong isolation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Container: shares the host kernel; isolated processes; MBs, starts in seconds; immutable image layers, cached and shared</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Command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docker build -t booking-service:1.0 .</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build an image from a Dockerfile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docker run -p 8080:8080 booking-service:1.0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start a container, publish a port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docker ps / docker logs -f &lt;id&gt;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list containers / follow logs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docker exec -it &lt;id&gt; sh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shell into a running container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docker push &lt;registry&gt;/booking-service:1.0</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publish to a registry (GHCR, ECR, Docker Hub)</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A production-grade Dockerfile for a Spring Boot service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Multi-stage: build with Maven + JDK, run on a slim JRE as a non-root user.</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Dockerfile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 ---- build stage: JDK + Maven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FROM maven:3.9-eclipse-temurin-21 AS build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WORKDIR /workspace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COPY pom.xml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RUN mvn -q -B dependency:go-offline        # dependencies cached in their own layer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COPY src ./src</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RUN mvn -q -B package -DskipTests          # tests already ran in CI</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runtime stage: JRE only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FROM eclipse-temurin:21-jre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RUN groupadd --system app &amp;&amp; useradd --system --gid app app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WORKDIR /app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COPY --from=build /workspace/target/*.jar app.jar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USER app                                   # never run as root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EXPOSE 8080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ENV JAVA_TOOL_OPTIONS="-XX:MaxRAMPercentage=75 -XX:+ExitOnOutOfMemoryError"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ENTRYPOINT ["java", "-jar", "/app/app.jar"]</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Running the whole platform with Docker Compose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Infrastructure + services + gateway on one network, started with one command.</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compose.yaml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services: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mysql:8.4</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environment: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MYSQL_ROOT_PASSWORD: ${MYSQL_ROOT_PASSWORD}        # from .env (git-ignored)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volumes: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mysql-data:/var/lib/mysql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./infra/mysql-init:/docker-entrypoint-initdb.d   # creates one schema + user per 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healthcheck:</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test: ["CMD", "mysqladmin", "ping", "-h", "localhost"]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interval: 5s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retries: 20</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redis: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redis:7-alpine</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apache/kafka:4.1.0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environment: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KAFKA_NODE_ID: 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KAFKA_PROCESS_ROLES: broker,controller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Environment configuration done right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Build </a:t>
            </a:r>
            <a:pPr indent="0" marL="0">
              <a:buNone/>
            </a:pPr>
            <a:r>
              <a:rPr lang="en-US" sz="1350" b="1" dirty="0">
                <a:solidFill>
                  <a:srgbClr val="5B6B60"/>
                </a:solidFill>
                <a:latin typeface="Calibri" pitchFamily="34" charset="0"/>
                <a:ea typeface="Calibri" pitchFamily="34" charset="-122"/>
                <a:cs typeface="Calibri" pitchFamily="34" charset="-120"/>
              </a:rPr>
              <a:t>one</a:t>
            </a:r>
            <a:pPr indent="0" marL="0">
              <a:buNone/>
            </a:pPr>
            <a:r>
              <a:rPr lang="en-US" sz="1350" dirty="0">
                <a:solidFill>
                  <a:srgbClr val="5B6B60"/>
                </a:solidFill>
                <a:latin typeface="Calibri" pitchFamily="34" charset="0"/>
                <a:ea typeface="Calibri" pitchFamily="34" charset="-122"/>
                <a:cs typeface="Calibri" pitchFamily="34" charset="-120"/>
              </a:rPr>
              <a:t> immutable artifact; inject everything that differs per environment at runtime (12-factor app).</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application-prod.yml</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spring: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datasource: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url: ${DB_URL}                               # injected by the platform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username: ${DB_USER}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password: ${DB_PASSWORD}                     # from the secret manager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jpa: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open-in-view: false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config: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import: optional:configserver:${CONFIG_SERVER_URL:http://config:8888}   # Spring Cloud Config (optional)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server: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shutdown: graceful                             # finish in-flight requests on SIGTERM</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management: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Kind of setting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it lives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Defaults &amp; structure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application.yml in the JAR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timeouts, pool sizes, feature defaults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Per-environment values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profile files / env vars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application-prod.yml, SPRING_DATASOURCE_URL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Secrets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secret manager → env vars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DB passwords, OAuth secrets, JWT keys (AWS Secrets Manager, Vault, K8s secrets)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Shared, changing config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Spring Cloud Config server (Git-backed)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feature flags, limits across services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Never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Git or Docker images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plain-text passwords, private keys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Deployment strategies &amp; zero downtime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How you replace version N with N+1 decides whether users notice.</a:t>
            </a:r>
            <a:endParaRPr lang="en-US" sz="1350" dirty="0"/>
          </a:p>
        </p:txBody>
      </p:sp>
      <p:sp>
        <p:nvSpPr>
          <p:cNvPr id="7" name="Text 5"/>
          <p:cNvSpPr/>
          <p:nvPr/>
        </p:nvSpPr>
        <p:spPr>
          <a:xfrm>
            <a:off x="457200" y="1883664"/>
            <a:ext cx="5120640"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Prerequisites: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readiness/liveness probes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(enabled by default in Spring Boot 4),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graceful shutdown</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backward-compatible APIs and events.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Database changes use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expand → migrate → contract</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add the new column first, deploy code that writes both, backfill, then remove the old column in a later release.</a:t>
            </a:r>
            <a:endParaRPr lang="en-US" sz="1700" dirty="0"/>
          </a:p>
        </p:txBody>
      </p:sp>
      <p:sp>
        <p:nvSpPr>
          <p:cNvPr id="8" name="Text 6"/>
          <p:cNvSpPr/>
          <p:nvPr/>
        </p:nvSpPr>
        <p:spPr>
          <a:xfrm>
            <a:off x="58521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Build &amp; test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CI: ./mvnw verify</a:t>
            </a:r>
            <a:endParaRPr lang="en-US" sz="1150" dirty="0"/>
          </a:p>
        </p:txBody>
      </p:sp>
      <p:sp>
        <p:nvSpPr>
          <p:cNvPr id="9" name="Shape 7"/>
          <p:cNvSpPr/>
          <p:nvPr/>
        </p:nvSpPr>
        <p:spPr>
          <a:xfrm>
            <a:off x="6772595" y="2432304"/>
            <a:ext cx="320040" cy="0"/>
          </a:xfrm>
          <a:prstGeom prst="line">
            <a:avLst/>
          </a:prstGeom>
          <a:noFill/>
          <a:ln w="15875">
            <a:solidFill>
              <a:srgbClr val="6F8276"/>
            </a:solidFill>
            <a:prstDash val="solid"/>
            <a:tailEnd type="triangle"/>
          </a:ln>
        </p:spPr>
      </p:sp>
      <p:sp>
        <p:nvSpPr>
          <p:cNvPr id="10" name="Text 8"/>
          <p:cNvSpPr/>
          <p:nvPr/>
        </p:nvSpPr>
        <p:spPr>
          <a:xfrm>
            <a:off x="709263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Image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tag git SHA</a:t>
            </a:r>
            <a:endParaRPr lang="en-US" sz="1150" dirty="0"/>
          </a:p>
        </p:txBody>
      </p:sp>
      <p:sp>
        <p:nvSpPr>
          <p:cNvPr id="11" name="Shape 9"/>
          <p:cNvSpPr/>
          <p:nvPr/>
        </p:nvSpPr>
        <p:spPr>
          <a:xfrm>
            <a:off x="8013070" y="2432304"/>
            <a:ext cx="320040" cy="0"/>
          </a:xfrm>
          <a:prstGeom prst="line">
            <a:avLst/>
          </a:prstGeom>
          <a:noFill/>
          <a:ln w="15875">
            <a:solidFill>
              <a:srgbClr val="6F8276"/>
            </a:solidFill>
            <a:prstDash val="solid"/>
            <a:tailEnd type="triangle"/>
          </a:ln>
        </p:spPr>
      </p:sp>
      <p:sp>
        <p:nvSpPr>
          <p:cNvPr id="12" name="Text 10"/>
          <p:cNvSpPr/>
          <p:nvPr/>
        </p:nvSpPr>
        <p:spPr>
          <a:xfrm>
            <a:off x="833311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Deploy N+1</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readiness probe passes</a:t>
            </a:r>
            <a:endParaRPr lang="en-US" sz="1150" dirty="0"/>
          </a:p>
        </p:txBody>
      </p:sp>
      <p:sp>
        <p:nvSpPr>
          <p:cNvPr id="13" name="Shape 11"/>
          <p:cNvSpPr/>
          <p:nvPr/>
        </p:nvSpPr>
        <p:spPr>
          <a:xfrm>
            <a:off x="9253545" y="2432304"/>
            <a:ext cx="320040" cy="0"/>
          </a:xfrm>
          <a:prstGeom prst="line">
            <a:avLst/>
          </a:prstGeom>
          <a:noFill/>
          <a:ln w="15875">
            <a:solidFill>
              <a:srgbClr val="6F8276"/>
            </a:solidFill>
            <a:prstDash val="solid"/>
            <a:tailEnd type="triangle"/>
          </a:ln>
        </p:spPr>
      </p:sp>
      <p:sp>
        <p:nvSpPr>
          <p:cNvPr id="14" name="Text 12"/>
          <p:cNvSpPr/>
          <p:nvPr/>
        </p:nvSpPr>
        <p:spPr>
          <a:xfrm>
            <a:off x="9573585"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Shift traffic</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rolling / canary</a:t>
            </a:r>
            <a:endParaRPr lang="en-US" sz="1150" dirty="0"/>
          </a:p>
        </p:txBody>
      </p:sp>
      <p:sp>
        <p:nvSpPr>
          <p:cNvPr id="15" name="Shape 13"/>
          <p:cNvSpPr/>
          <p:nvPr/>
        </p:nvSpPr>
        <p:spPr>
          <a:xfrm>
            <a:off x="10494020" y="2432304"/>
            <a:ext cx="320040" cy="0"/>
          </a:xfrm>
          <a:prstGeom prst="line">
            <a:avLst/>
          </a:prstGeom>
          <a:noFill/>
          <a:ln w="15875">
            <a:solidFill>
              <a:srgbClr val="6F8276"/>
            </a:solidFill>
            <a:prstDash val="solid"/>
            <a:tailEnd type="triangle"/>
          </a:ln>
        </p:spPr>
      </p:sp>
      <p:sp>
        <p:nvSpPr>
          <p:cNvPr id="16" name="Text 14"/>
          <p:cNvSpPr/>
          <p:nvPr/>
        </p:nvSpPr>
        <p:spPr>
          <a:xfrm>
            <a:off x="10814060" y="1975104"/>
            <a:ext cx="920435"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Watch metrics</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errors, latency → rollback?</a:t>
            </a:r>
            <a:endParaRPr lang="en-US" sz="11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2819324"/>
                <a:gridCol w="2819324"/>
                <a:gridCol w="2819324"/>
                <a:gridCol w="2819324"/>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Strategy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Recreate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stop all old, start all new</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simple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downtime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Rolling update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replace instances a few at a time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no downtime, no extra capacity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two versions run side by side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Blue-green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deploy full new stack, switch traffic at the load balancer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instant switch &amp; rollback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double capacity during deploy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Canary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send 5% → 25% → 100% of traffic to the new version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limits blast radius, data-driven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needs good metrics &amp; routing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Continuous integration with GitHub Actions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Every pull request is built and tested; every merge to </a:t>
            </a:r>
            <a:pPr indent="0" marL="0">
              <a:buNone/>
            </a:pPr>
            <a:r>
              <a:rPr lang="en-US" sz="1350" dirty="0">
                <a:solidFill>
                  <a:srgbClr val="B4235A"/>
                </a:solidFill>
                <a:latin typeface="Consolas" pitchFamily="34" charset="0"/>
                <a:ea typeface="Consolas" pitchFamily="34" charset="-122"/>
                <a:cs typeface="Consolas" pitchFamily="34" charset="-120"/>
              </a:rPr>
              <a:t>main</a:t>
            </a:r>
            <a:pPr indent="0" marL="0">
              <a:buNone/>
            </a:pPr>
            <a:r>
              <a:rPr lang="en-US" sz="1350" dirty="0">
                <a:solidFill>
                  <a:srgbClr val="5B6B60"/>
                </a:solidFill>
                <a:latin typeface="Calibri" pitchFamily="34" charset="0"/>
                <a:ea typeface="Calibri" pitchFamily="34" charset="-122"/>
                <a:cs typeface="Calibri" pitchFamily="34" charset="-120"/>
              </a:rPr>
              <a:t> publishes versioned images.</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.github/workflows/ci.yml</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name: ci</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pull_request: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push: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branches: [main]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jobs: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build: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runs-on: ubuntu-latest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permissions: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contents: read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packages: write                       # push images to GHCR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steps: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uses: actions/checkout@v7</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uses: actions/setup-java@v6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with: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distribution: temurin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java-version: '21'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cache: maven</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name: Build and test (unit + Testcontainers ITs use the runner's Docker)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Project milestone 3: gateway + containers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Make the Airbnb platform start with one command behind a single, protected entry point.</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Create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api-gateway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spring-cloud-starter-gateway-server-webflux</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Eureka; route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/api/v1/properties/**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/search/**</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lb://</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URIs.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bookings circuit breaker with a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/fallback/bookings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503 problem response; stop booking-service and observe it.</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Redis rate limiting per user (429 beyond the limit) and JWT validation at the gateway.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 multi-stage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Dockerfile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(non-root, JRE runtime) for every service; build and run one locally.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Write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compose.yaml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with MySQL (schema per service), Redis, Kafka (KRaft), discovery, all services and the gateway; 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application-docker.yml</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files.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Run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docker compose up --build -d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scale booking-service to 3 and confirm the gateway balances across instances.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Externalise secrets into a git-ignored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.env</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confirm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git status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shows no secrets.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the GitHub Actions workflow; open a PR and watch the pipeline go green. Stretch: canary routing with two gateway routes and weights.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gateway, scaling &amp; deployment</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In Spring Cloud Gateway 5, where do route definitions live in YAML?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spring.cloud.gateway.routes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spring.cloud.gateway.server.webflux.routes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zuul.routes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server.routes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What does </a:t>
            </a:r>
            <a:pPr indent="0" marL="0">
              <a:spcAft>
                <a:spcPts val="400"/>
              </a:spcAft>
              <a:buNone/>
            </a:pPr>
            <a:r>
              <a:rPr lang="en-US" sz="850" dirty="0">
                <a:solidFill>
                  <a:srgbClr val="B4235A"/>
                </a:solidFill>
                <a:latin typeface="Consolas" pitchFamily="34" charset="0"/>
                <a:ea typeface="Consolas" pitchFamily="34" charset="-122"/>
                <a:cs typeface="Consolas" pitchFamily="34" charset="-120"/>
              </a:rPr>
              <a:t>uri: lb://booking-service</a:t>
            </a:r>
            <a:pPr indent="0" marL="0">
              <a:spcAft>
                <a:spcPts val="400"/>
              </a:spcAft>
              <a:buNone/>
            </a:pPr>
            <a:r>
              <a:rPr lang="en-US" sz="850" dirty="0">
                <a:solidFill>
                  <a:srgbClr val="1F2A24"/>
                </a:solidFill>
                <a:latin typeface="Calibri" pitchFamily="34" charset="0"/>
                <a:ea typeface="Calibri" pitchFamily="34" charset="-122"/>
                <a:cs typeface="Calibri" pitchFamily="34" charset="-120"/>
              </a:rPr>
              <a:t> mean?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load balancer appliance address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Resolve booking-service via discovery and load-balance across its instances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Use HTTP/2</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Local booking file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use a multi-stage Dockerfile?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To run two apps in one container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Build with JDK/Maven, ship only the JRE and the JAR — smaller and safer images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It is required by Docker</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To skip tests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Which deployment strategy sends a small percentage of traffic to the new version first?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Recreate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Blue-green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Canary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Big bang</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Where should the production database password come from?</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application.yml in Git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Baked into the Docker image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secret manager injected as an environment variable at runtime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comment in the Dockerfile</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23</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23 recap</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Spring Cloud Gateway 5: routes with predicates, filters and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lb://</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URIs under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spring.cloud.gateway.server.webflux</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JWT, rate limiting, circuit breaker fallbacks at the edge.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Scale out stateless services; cache, replicate reads, process asynchronously, autoscale, apply back-pressure.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Multi-stage Dockerfiles (JDK build → JRE runtime, non-root); Compose runs infra + services + gateway.</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One immutable image, configuration injected per environment; secrets from secret managers.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Rolling / blue-green / canary deployments need probes, graceful shutdown and backward-compatible changes; CI builds, tests and publishes images.</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API gateway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Single entry point handling routing and edge concerns.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Route predicate</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Condition (path, method, header) selecting a gateway route.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Gateway filter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Modifies requests/responses: rewrite, rate limit, circuit breaker.</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Horizontal scaling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Adding instances instead of bigger machines.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Multi-stage build</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Dockerfile with separate build and runtime stages.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12-factor config</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Store configuration in the environment, not in code.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Blue-green deployment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Two full environments; switch traffic at once.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Expand/contract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Backward-compatible database migration in steps.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411480"/>
            <a:ext cx="7315200" cy="320040"/>
          </a:xfrm>
          <a:prstGeom prst="rect">
            <a:avLst/>
          </a:prstGeom>
          <a:noFill/>
          <a:ln/>
        </p:spPr>
        <p:txBody>
          <a:bodyPr wrap="square" rtlCol="0" anchor="ctr"/>
          <a:lstStyle/>
          <a:p>
            <a:pPr indent="0" marL="0">
              <a:buNone/>
            </a:pPr>
            <a:r>
              <a:rPr lang="en-US" sz="1200" b="1" dirty="0">
                <a:solidFill>
                  <a:srgbClr val="E0773A"/>
                </a:solidFill>
                <a:latin typeface="Calibri" pitchFamily="34" charset="0"/>
                <a:ea typeface="Calibri" pitchFamily="34" charset="-122"/>
                <a:cs typeface="Calibri" pitchFamily="34" charset="-120"/>
              </a:rPr>
              <a:t>SESSION 24 OF 24  ·  MODULE 4</a:t>
            </a:r>
            <a:endParaRPr lang="en-US" sz="1200" dirty="0"/>
          </a:p>
        </p:txBody>
      </p:sp>
      <p:sp>
        <p:nvSpPr>
          <p:cNvPr id="4" name="Text 2"/>
          <p:cNvSpPr/>
          <p:nvPr/>
        </p:nvSpPr>
        <p:spPr>
          <a:xfrm>
            <a:off x="457200" y="777240"/>
            <a:ext cx="11277295" cy="1005840"/>
          </a:xfrm>
          <a:prstGeom prst="rect">
            <a:avLst/>
          </a:prstGeom>
          <a:noFill/>
          <a:ln/>
        </p:spPr>
        <p:txBody>
          <a:bodyPr wrap="square" rtlCol="0" anchor="t"/>
          <a:lstStyle/>
          <a:p>
            <a:pPr indent="0" marL="0">
              <a:buNone/>
            </a:pPr>
            <a:r>
              <a:rPr lang="en-US" sz="3000" b="1" dirty="0">
                <a:solidFill>
                  <a:srgbClr val="1F2A24"/>
                </a:solidFill>
                <a:latin typeface="Calibri" pitchFamily="34" charset="0"/>
                <a:ea typeface="Calibri" pitchFamily="34" charset="-122"/>
                <a:cs typeface="Calibri" pitchFamily="34" charset="-120"/>
              </a:rPr>
              <a:t>Monitoring, Logging, Performance Optimization &amp; Production Readiness</a:t>
            </a:r>
            <a:endParaRPr lang="en-US" sz="3000" dirty="0"/>
          </a:p>
        </p:txBody>
      </p:sp>
      <p:sp>
        <p:nvSpPr>
          <p:cNvPr id="5" name="Text 3"/>
          <p:cNvSpPr/>
          <p:nvPr/>
        </p:nvSpPr>
        <p:spPr>
          <a:xfrm>
            <a:off x="457200" y="19202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Brochure topics covered</a:t>
            </a:r>
            <a:endParaRPr lang="en-US" sz="1300" dirty="0"/>
          </a:p>
        </p:txBody>
      </p:sp>
      <p:sp>
        <p:nvSpPr>
          <p:cNvPr id="6" name="Text 4"/>
          <p:cNvSpPr/>
          <p:nvPr/>
        </p:nvSpPr>
        <p:spPr>
          <a:xfrm>
            <a:off x="457200" y="2240280"/>
            <a:ext cx="5577840" cy="1463040"/>
          </a:xfrm>
          <a:prstGeom prst="rect">
            <a:avLst/>
          </a:prstGeom>
          <a:noFill/>
          <a:ln/>
        </p:spPr>
        <p:txBody>
          <a:bodyPr wrap="square" rtlCol="0" anchor="t"/>
          <a:lstStyle/>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Monitoring, logging, performance optimization &amp; production readiness</a:t>
            </a:r>
            <a:endParaRPr lang="en-US" sz="1400" dirty="0"/>
          </a:p>
          <a:p>
            <a:pPr indent="0" marL="0">
              <a:spcAft>
                <a:spcPts val="400"/>
              </a:spcAft>
              <a:buNone/>
            </a:pPr>
            <a:r>
              <a:rPr lang="en-US" sz="1400" dirty="0">
                <a:solidFill>
                  <a:srgbClr val="1F2A24"/>
                </a:solidFill>
                <a:latin typeface="Calibri" pitchFamily="34" charset="0"/>
                <a:ea typeface="Calibri" pitchFamily="34" charset="-122"/>
                <a:cs typeface="Calibri" pitchFamily="34" charset="-120"/>
              </a:rPr>
              <a:t>+ Deploying on AWS (ECS Fargate, RDS, ElastiCache, MSK) and the capstone wrap-up</a:t>
            </a:r>
            <a:endParaRPr lang="en-US" sz="1400" dirty="0"/>
          </a:p>
        </p:txBody>
      </p:sp>
      <p:sp>
        <p:nvSpPr>
          <p:cNvPr id="7" name="Text 5"/>
          <p:cNvSpPr/>
          <p:nvPr/>
        </p:nvSpPr>
        <p:spPr>
          <a:xfrm>
            <a:off x="457200" y="3749040"/>
            <a:ext cx="548640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Learning objectives</a:t>
            </a:r>
            <a:endParaRPr lang="en-US" sz="1300" dirty="0"/>
          </a:p>
        </p:txBody>
      </p:sp>
      <p:sp>
        <p:nvSpPr>
          <p:cNvPr id="8" name="Text 6"/>
          <p:cNvSpPr/>
          <p:nvPr/>
        </p:nvSpPr>
        <p:spPr>
          <a:xfrm>
            <a:off x="457200" y="4069080"/>
            <a:ext cx="5577840" cy="2286000"/>
          </a:xfrm>
          <a:prstGeom prst="rect">
            <a:avLst/>
          </a:prstGeom>
          <a:noFill/>
          <a:ln/>
        </p:spPr>
        <p:txBody>
          <a:bodyPr wrap="square" rtlCol="0" anchor="t"/>
          <a:lstStyle/>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Instrument services with Actuator health, Micrometer metrics and OpenTelemetry tracing.</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Produce structured, correlated logs and build dashboards and alerts around SLOs.</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Find and fix performance bottlenecks with load tests, profiling and query tuning.</a:t>
            </a:r>
            <a:endParaRPr lang="en-US" sz="1250" dirty="0"/>
          </a:p>
          <a:p>
            <a:pPr marL="177800" indent="-177800">
              <a:spcAft>
                <a:spcPts val="400"/>
              </a:spcAft>
              <a:buSzPct val="100000"/>
              <a:buChar char="•"/>
            </a:pPr>
            <a:r>
              <a:rPr lang="en-US" sz="1250" dirty="0">
                <a:solidFill>
                  <a:srgbClr val="1F2A24"/>
                </a:solidFill>
                <a:latin typeface="Calibri" pitchFamily="34" charset="0"/>
                <a:ea typeface="Calibri" pitchFamily="34" charset="-122"/>
                <a:cs typeface="Calibri" pitchFamily="34" charset="-120"/>
              </a:rPr>
              <a:t>Run a production-readiness review and deploy the platform to AWS with a CI/CD pipeline.</a:t>
            </a:r>
            <a:endParaRPr lang="en-US" sz="1250" dirty="0"/>
          </a:p>
        </p:txBody>
      </p:sp>
      <p:sp>
        <p:nvSpPr>
          <p:cNvPr id="9" name="Text 7"/>
          <p:cNvSpPr/>
          <p:nvPr/>
        </p:nvSpPr>
        <p:spPr>
          <a:xfrm>
            <a:off x="6400800" y="1920240"/>
            <a:ext cx="5303520" cy="320040"/>
          </a:xfrm>
          <a:prstGeom prst="rect">
            <a:avLst/>
          </a:prstGeom>
          <a:noFill/>
          <a:ln/>
        </p:spPr>
        <p:txBody>
          <a:bodyPr wrap="square" rtlCol="0" anchor="ctr"/>
          <a:lstStyle/>
          <a:p>
            <a:pPr indent="0" marL="0">
              <a:buNone/>
            </a:pPr>
            <a:r>
              <a:rPr lang="en-US" sz="1300" b="1" dirty="0">
                <a:solidFill>
                  <a:srgbClr val="5B6B60"/>
                </a:solidFill>
                <a:latin typeface="Calibri" pitchFamily="34" charset="0"/>
                <a:ea typeface="Calibri" pitchFamily="34" charset="-122"/>
                <a:cs typeface="Calibri" pitchFamily="34" charset="-120"/>
              </a:rPr>
              <a:t>Agenda</a:t>
            </a:r>
            <a:endParaRPr lang="en-US" sz="1300" dirty="0"/>
          </a:p>
        </p:txBody>
      </p:sp>
      <p:sp>
        <p:nvSpPr>
          <p:cNvPr id="10" name="Text 8"/>
          <p:cNvSpPr/>
          <p:nvPr/>
        </p:nvSpPr>
        <p:spPr>
          <a:xfrm>
            <a:off x="6400800" y="2240280"/>
            <a:ext cx="5303520" cy="4114800"/>
          </a:xfrm>
          <a:prstGeom prst="rect">
            <a:avLst/>
          </a:prstGeom>
          <a:noFill/>
          <a:ln/>
        </p:spPr>
        <p:txBody>
          <a:bodyPr wrap="square" rtlCol="0" anchor="t"/>
          <a:lstStyle/>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Observability: knowing what your system is doing</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Spring Boot Actuator: health, info &amp; metrics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Business metrics, Prometheus &amp; Grafana</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Distributed tracing with OpenTelemetry</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Production logging: structured, correlated, safe</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Performance optimisation: measure first</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Load testing, profiling &amp; query tuning</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SLOs, alerts &amp; incident response</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Production readiness checklist</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Theory: Deploying on AWS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Practical: CD pipeline: GitHub Actions → ECR → ECS</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Project: Capstone wrap-up: what you built</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Hands-on Lab: Final milestone: production-ready Airbnb backend</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Quiz: Quiz: observability &amp; production</a:t>
            </a:r>
            <a:endParaRPr lang="en-US" sz="1150" dirty="0"/>
          </a:p>
          <a:p>
            <a:pPr marL="342900" indent="-342900">
              <a:spcAft>
                <a:spcPts val="400"/>
              </a:spcAft>
              <a:buSzPct val="100000"/>
              <a:buFont typeface="+mj-lt"/>
              <a:buAutoNum type="arabicPeriod" startAt="1"/>
            </a:pPr>
            <a:r>
              <a:rPr lang="en-US" sz="1150" dirty="0">
                <a:solidFill>
                  <a:srgbClr val="1F2A24"/>
                </a:solidFill>
                <a:latin typeface="Calibri" pitchFamily="34" charset="0"/>
                <a:ea typeface="Calibri" pitchFamily="34" charset="-122"/>
                <a:cs typeface="Calibri" pitchFamily="34" charset="-120"/>
              </a:rPr>
              <a:t>Summary: Session 24 recap — course complete</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Observability: knowing what your system is doing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b="1" dirty="0">
                <a:solidFill>
                  <a:srgbClr val="5B6B60"/>
                </a:solidFill>
                <a:latin typeface="Calibri" pitchFamily="34" charset="0"/>
                <a:ea typeface="Calibri" pitchFamily="34" charset="-122"/>
                <a:cs typeface="Calibri" pitchFamily="34" charset="-120"/>
              </a:rPr>
              <a:t>Monitoring</a:t>
            </a:r>
            <a:pPr indent="0" marL="0">
              <a:buNone/>
            </a:pPr>
            <a:r>
              <a:rPr lang="en-US" sz="1350" dirty="0">
                <a:solidFill>
                  <a:srgbClr val="5B6B60"/>
                </a:solidFill>
                <a:latin typeface="Calibri" pitchFamily="34" charset="0"/>
                <a:ea typeface="Calibri" pitchFamily="34" charset="-122"/>
                <a:cs typeface="Calibri" pitchFamily="34" charset="-120"/>
              </a:rPr>
              <a:t> tells you </a:t>
            </a:r>
            <a:pPr indent="0" marL="0">
              <a:buNone/>
            </a:pPr>
            <a:r>
              <a:rPr lang="en-US" sz="1350" i="1" dirty="0">
                <a:solidFill>
                  <a:srgbClr val="5B6B60"/>
                </a:solidFill>
                <a:latin typeface="Calibri" pitchFamily="34" charset="0"/>
                <a:ea typeface="Calibri" pitchFamily="34" charset="-122"/>
                <a:cs typeface="Calibri" pitchFamily="34" charset="-120"/>
              </a:rPr>
              <a:t>that</a:t>
            </a:r>
            <a:pPr indent="0" marL="0">
              <a:buNone/>
            </a:pPr>
            <a:r>
              <a:rPr lang="en-US" sz="1350" dirty="0">
                <a:solidFill>
                  <a:srgbClr val="5B6B60"/>
                </a:solidFill>
                <a:latin typeface="Calibri" pitchFamily="34" charset="0"/>
                <a:ea typeface="Calibri" pitchFamily="34" charset="-122"/>
                <a:cs typeface="Calibri" pitchFamily="34" charset="-120"/>
              </a:rPr>
              <a:t> something is wrong; </a:t>
            </a:r>
            <a:pPr indent="0" marL="0">
              <a:buNone/>
            </a:pPr>
            <a:r>
              <a:rPr lang="en-US" sz="1350" b="1" dirty="0">
                <a:solidFill>
                  <a:srgbClr val="5B6B60"/>
                </a:solidFill>
                <a:latin typeface="Calibri" pitchFamily="34" charset="0"/>
                <a:ea typeface="Calibri" pitchFamily="34" charset="-122"/>
                <a:cs typeface="Calibri" pitchFamily="34" charset="-120"/>
              </a:rPr>
              <a:t>observability</a:t>
            </a:r>
            <a:pPr indent="0" marL="0">
              <a:buNone/>
            </a:pPr>
            <a:r>
              <a:rPr lang="en-US" sz="1350" dirty="0">
                <a:solidFill>
                  <a:srgbClr val="5B6B60"/>
                </a:solidFill>
                <a:latin typeface="Calibri" pitchFamily="34" charset="0"/>
                <a:ea typeface="Calibri" pitchFamily="34" charset="-122"/>
                <a:cs typeface="Calibri" pitchFamily="34" charset="-120"/>
              </a:rPr>
              <a:t> lets you ask </a:t>
            </a:r>
            <a:pPr indent="0" marL="0">
              <a:buNone/>
            </a:pPr>
            <a:r>
              <a:rPr lang="en-US" sz="1350" i="1" dirty="0">
                <a:solidFill>
                  <a:srgbClr val="5B6B60"/>
                </a:solidFill>
                <a:latin typeface="Calibri" pitchFamily="34" charset="0"/>
                <a:ea typeface="Calibri" pitchFamily="34" charset="-122"/>
                <a:cs typeface="Calibri" pitchFamily="34" charset="-120"/>
              </a:rPr>
              <a:t>why</a:t>
            </a:r>
            <a:pPr indent="0" marL="0">
              <a:buNone/>
            </a:pPr>
            <a:r>
              <a:rPr lang="en-US" sz="1350" dirty="0">
                <a:solidFill>
                  <a:srgbClr val="5B6B60"/>
                </a:solidFill>
                <a:latin typeface="Calibri" pitchFamily="34" charset="0"/>
                <a:ea typeface="Calibri" pitchFamily="34" charset="-122"/>
                <a:cs typeface="Calibri" pitchFamily="34" charset="-120"/>
              </a:rPr>
              <a:t> — using metrics, logs and traces together.</a:t>
            </a:r>
            <a:endParaRPr lang="en-US" sz="1350" dirty="0"/>
          </a:p>
        </p:txBody>
      </p:sp>
      <p:sp>
        <p:nvSpPr>
          <p:cNvPr id="7" name="Text 5"/>
          <p:cNvSpPr/>
          <p:nvPr/>
        </p:nvSpPr>
        <p:spPr>
          <a:xfrm>
            <a:off x="457200" y="1883664"/>
            <a:ext cx="11277295" cy="273405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Metrics — numbers over time: rate, errors, latency, saturation (Micrometer → Prometheus)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Logs — discrete events with context (structured JSON → Loki/ELK/CloudWatch)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Traces — one request's path across services (OpenTelemetry → Tempo/Jaeger)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Health — liveness &amp; readiness for orchestrators (Actuator)</a:t>
            </a:r>
            <a:endParaRPr lang="en-US" sz="13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Golden signal</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Booking-service example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Latency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p95 of POST /bookings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Traffic</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requests per second, bookings created per minute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Errors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5xx rate, payment failures, DLT messages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Saturation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DB pool usage, CPU, Kafka consumer lag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Spring Boot Actuator: health, info &amp; metrics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Actuator adds production endpoints; Micrometer records metrics in a vendor-neutral way.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pom.xml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&lt;groupId&gt;org.springframework.boot&lt;/groupId&gt;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&lt;artifactId&gt;spring-boot-starter-actuator&lt;/artifactId&gt;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&lt;groupId&gt;io.micrometer&lt;/groupId&gt;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&lt;artifactId&gt;micrometer-registry-prometheus&lt;/artifactId&gt;   &lt;!-- exposes /actuator/prometheus --&gt;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&lt;/dependency&gt;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Business metrics, Prometheus &amp; Grafana</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Record what matters to the business, scrape it with Prometheus, visualise and alert in Grafana.</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BookingMetrics.java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package com.example.booking.observability;</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io.micrometer.core.instrument.Counter;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io.micrometer.core.instrument.MeterRegistry;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io.micrometer.core.instrument.Timer;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java.util.function.Supplier;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org.springframework.stereotype.Component;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@Component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public class BookingMetrics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Counter created;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Counter conflicts;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private final Timer quoteTimer;</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public BookingMetrics(MeterRegistry registry)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this.created = Counter.builder("bookings.created").description("Bookings created").register(registry);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this.conflicts = Counter.builder("bookings.conflicts")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.description("Double-booking attempts rejected").register(registry);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this.quoteTimer = Timer.builder("bookings.quote.time").publishPercentileHistogram().register(registry);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Distributed tracing with OpenTelemetry</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a:t>
            </a:r>
            <a:pPr indent="0" marL="0">
              <a:buNone/>
            </a:pPr>
            <a:r>
              <a:rPr lang="en-US" sz="1350" b="1" dirty="0">
                <a:solidFill>
                  <a:srgbClr val="5B6B60"/>
                </a:solidFill>
                <a:latin typeface="Calibri" pitchFamily="34" charset="0"/>
                <a:ea typeface="Calibri" pitchFamily="34" charset="-122"/>
                <a:cs typeface="Calibri" pitchFamily="34" charset="-120"/>
              </a:rPr>
              <a:t>trace</a:t>
            </a:r>
            <a:pPr indent="0" marL="0">
              <a:buNone/>
            </a:pPr>
            <a:r>
              <a:rPr lang="en-US" sz="1350" dirty="0">
                <a:solidFill>
                  <a:srgbClr val="5B6B60"/>
                </a:solidFill>
                <a:latin typeface="Calibri" pitchFamily="34" charset="0"/>
                <a:ea typeface="Calibri" pitchFamily="34" charset="-122"/>
                <a:cs typeface="Calibri" pitchFamily="34" charset="-120"/>
              </a:rPr>
              <a:t> follows one request through every service; each step is a </a:t>
            </a:r>
            <a:pPr indent="0" marL="0">
              <a:buNone/>
            </a:pPr>
            <a:r>
              <a:rPr lang="en-US" sz="1350" b="1" dirty="0">
                <a:solidFill>
                  <a:srgbClr val="5B6B60"/>
                </a:solidFill>
                <a:latin typeface="Calibri" pitchFamily="34" charset="0"/>
                <a:ea typeface="Calibri" pitchFamily="34" charset="-122"/>
                <a:cs typeface="Calibri" pitchFamily="34" charset="-120"/>
              </a:rPr>
              <a:t>span</a:t>
            </a:r>
            <a:pPr indent="0" marL="0">
              <a:buNone/>
            </a:pPr>
            <a:r>
              <a:rPr lang="en-US" sz="1350" dirty="0">
                <a:solidFill>
                  <a:srgbClr val="5B6B60"/>
                </a:solidFill>
                <a:latin typeface="Calibri" pitchFamily="34" charset="0"/>
                <a:ea typeface="Calibri" pitchFamily="34" charset="-122"/>
                <a:cs typeface="Calibri" pitchFamily="34" charset="-120"/>
              </a:rPr>
              <a:t>. The trace id travels in the </a:t>
            </a:r>
            <a:pPr indent="0" marL="0">
              <a:buNone/>
            </a:pPr>
            <a:r>
              <a:rPr lang="en-US" sz="1350" dirty="0">
                <a:solidFill>
                  <a:srgbClr val="B4235A"/>
                </a:solidFill>
                <a:latin typeface="Consolas" pitchFamily="34" charset="0"/>
                <a:ea typeface="Consolas" pitchFamily="34" charset="-122"/>
                <a:cs typeface="Consolas" pitchFamily="34" charset="-120"/>
              </a:rPr>
              <a:t>traceparent</a:t>
            </a:r>
            <a:pPr indent="0" marL="0">
              <a:buNone/>
            </a:pPr>
            <a:r>
              <a:rPr lang="en-US" sz="1350" dirty="0">
                <a:solidFill>
                  <a:srgbClr val="5B6B60"/>
                </a:solidFill>
                <a:latin typeface="Calibri" pitchFamily="34" charset="0"/>
                <a:ea typeface="Calibri" pitchFamily="34" charset="-122"/>
                <a:cs typeface="Calibri" pitchFamily="34" charset="-120"/>
              </a:rPr>
              <a:t> header (and Kafka headers).</a:t>
            </a:r>
            <a:endParaRPr lang="en-US" sz="1350" dirty="0"/>
          </a:p>
        </p:txBody>
      </p:sp>
      <p:sp>
        <p:nvSpPr>
          <p:cNvPr id="7" name="Text 5"/>
          <p:cNvSpPr/>
          <p:nvPr/>
        </p:nvSpPr>
        <p:spPr>
          <a:xfrm>
            <a:off x="457200" y="1883664"/>
            <a:ext cx="1127729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1. Gateway → booking-service: POST /bookings  trace 4bf9…</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2. booking-service → property-service: GET /properties/101 (span 2)</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3. property-service → booking-service: 38 ms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4. booking-service → MySQL: INSERT booking + nights (span 3)</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5. MySQL → booking-service: 12 ms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6. booking-service → Kafka: outbox → booking.created (span 4)</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7. booking-service → Gateway: 201 in 71 ms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Production logging: structured, correlated, safe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Logs are for machines first: JSON with trace ids, shipped to a central store, searchable and retained by policy.</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application-prod.yml  (+1 more in the web notes)</a:t>
            </a:r>
            <a:endParaRPr lang="en-US" sz="900" dirty="0"/>
          </a:p>
        </p:txBody>
      </p:sp>
      <p:sp>
        <p:nvSpPr>
          <p:cNvPr id="8" name="Text 6"/>
          <p:cNvSpPr/>
          <p:nvPr/>
        </p:nvSpPr>
        <p:spPr>
          <a:xfrm>
            <a:off x="457200" y="2157984"/>
            <a:ext cx="11277295" cy="245973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logging:</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structured: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format: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console: ecs                         # JSON lines (Elastic Common Schema)</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level:</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root: INFO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com.example: INFO</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org.hibernate.SQL: WARN                # never DEBUG in production</a:t>
            </a:r>
            <a:endParaRPr lang="en-US" sz="11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Don't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log business events at INFO, failures at ERROR with the exception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log every request body (cost, privacy)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include ids: bookingId, propertyId, traceId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log passwords, tokens, card data, full personal 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ship logs to Loki / OpenSearch / CloudWatch</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ssh into servers to read files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329184">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set retention &amp; access controls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keep logs forever "just in case"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Performance optimisation: measure first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Never guess. Reproduce the load, measure, find the bottleneck, change one thing, measure again.</a:t>
            </a:r>
            <a:endParaRPr lang="en-US" sz="1350" dirty="0"/>
          </a:p>
        </p:txBody>
      </p:sp>
      <p:sp>
        <p:nvSpPr>
          <p:cNvPr id="7" name="Text 5"/>
          <p:cNvSpPr/>
          <p:nvPr/>
        </p:nvSpPr>
        <p:spPr>
          <a:xfrm>
            <a:off x="457200"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Define target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e.g. p95 &lt; 300 ms at 200 RPS</a:t>
            </a:r>
            <a:endParaRPr lang="en-US" sz="1150" dirty="0"/>
          </a:p>
        </p:txBody>
      </p:sp>
      <p:sp>
        <p:nvSpPr>
          <p:cNvPr id="8" name="Shape 6"/>
          <p:cNvSpPr/>
          <p:nvPr/>
        </p:nvSpPr>
        <p:spPr>
          <a:xfrm>
            <a:off x="2456627" y="2432304"/>
            <a:ext cx="320040" cy="0"/>
          </a:xfrm>
          <a:prstGeom prst="line">
            <a:avLst/>
          </a:prstGeom>
          <a:noFill/>
          <a:ln w="15875">
            <a:solidFill>
              <a:srgbClr val="6F8276"/>
            </a:solidFill>
            <a:prstDash val="solid"/>
            <a:tailEnd type="triangle"/>
          </a:ln>
        </p:spPr>
      </p:sp>
      <p:sp>
        <p:nvSpPr>
          <p:cNvPr id="9" name="Text 7"/>
          <p:cNvSpPr/>
          <p:nvPr/>
        </p:nvSpPr>
        <p:spPr>
          <a:xfrm>
            <a:off x="2776667"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Load test</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k6 / Gatling</a:t>
            </a:r>
            <a:endParaRPr lang="en-US" sz="1150" dirty="0"/>
          </a:p>
        </p:txBody>
      </p:sp>
      <p:sp>
        <p:nvSpPr>
          <p:cNvPr id="10" name="Shape 8"/>
          <p:cNvSpPr/>
          <p:nvPr/>
        </p:nvSpPr>
        <p:spPr>
          <a:xfrm>
            <a:off x="4776094" y="2432304"/>
            <a:ext cx="320040" cy="0"/>
          </a:xfrm>
          <a:prstGeom prst="line">
            <a:avLst/>
          </a:prstGeom>
          <a:noFill/>
          <a:ln w="15875">
            <a:solidFill>
              <a:srgbClr val="6F8276"/>
            </a:solidFill>
            <a:prstDash val="solid"/>
            <a:tailEnd type="triangle"/>
          </a:ln>
        </p:spPr>
      </p:sp>
      <p:sp>
        <p:nvSpPr>
          <p:cNvPr id="11" name="Text 9"/>
          <p:cNvSpPr/>
          <p:nvPr/>
        </p:nvSpPr>
        <p:spPr>
          <a:xfrm>
            <a:off x="5096134"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Find bottleneck</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metrics, traces, JFR profile, EXPLAIN</a:t>
            </a:r>
            <a:endParaRPr lang="en-US" sz="1150" dirty="0"/>
          </a:p>
        </p:txBody>
      </p:sp>
      <p:sp>
        <p:nvSpPr>
          <p:cNvPr id="12" name="Shape 10"/>
          <p:cNvSpPr/>
          <p:nvPr/>
        </p:nvSpPr>
        <p:spPr>
          <a:xfrm>
            <a:off x="7095561" y="2432304"/>
            <a:ext cx="320040" cy="0"/>
          </a:xfrm>
          <a:prstGeom prst="line">
            <a:avLst/>
          </a:prstGeom>
          <a:noFill/>
          <a:ln w="15875">
            <a:solidFill>
              <a:srgbClr val="6F8276"/>
            </a:solidFill>
            <a:prstDash val="solid"/>
            <a:tailEnd type="triangle"/>
          </a:ln>
        </p:spPr>
      </p:sp>
      <p:sp>
        <p:nvSpPr>
          <p:cNvPr id="13" name="Text 11"/>
          <p:cNvSpPr/>
          <p:nvPr/>
        </p:nvSpPr>
        <p:spPr>
          <a:xfrm>
            <a:off x="7415601"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Fix one thing</a:t>
            </a:r>
            <a:endParaRPr lang="en-US" sz="1150" dirty="0"/>
          </a:p>
        </p:txBody>
      </p:sp>
      <p:sp>
        <p:nvSpPr>
          <p:cNvPr id="14" name="Shape 12"/>
          <p:cNvSpPr/>
          <p:nvPr/>
        </p:nvSpPr>
        <p:spPr>
          <a:xfrm>
            <a:off x="9415028" y="2432304"/>
            <a:ext cx="320040" cy="0"/>
          </a:xfrm>
          <a:prstGeom prst="line">
            <a:avLst/>
          </a:prstGeom>
          <a:noFill/>
          <a:ln w="15875">
            <a:solidFill>
              <a:srgbClr val="6F8276"/>
            </a:solidFill>
            <a:prstDash val="solid"/>
            <a:tailEnd type="triangle"/>
          </a:ln>
        </p:spPr>
      </p:sp>
      <p:sp>
        <p:nvSpPr>
          <p:cNvPr id="15" name="Text 13"/>
          <p:cNvSpPr/>
          <p:nvPr/>
        </p:nvSpPr>
        <p:spPr>
          <a:xfrm>
            <a:off x="9735068" y="1975104"/>
            <a:ext cx="1999427" cy="914400"/>
          </a:xfrm>
          <a:prstGeom prst="roundRect">
            <a:avLst>
              <a:gd name="adj" fmla="val 8000"/>
            </a:avLst>
          </a:prstGeom>
          <a:solidFill>
            <a:srgbClr val="EEF4F0"/>
          </a:solidFill>
          <a:ln w="12700">
            <a:solidFill>
              <a:srgbClr val="9FB8A8"/>
            </a:solidFill>
          </a:ln>
        </p:spPr>
        <p:txBody>
          <a:bodyPr wrap="square" rtlCol="0" anchor="ctr"/>
          <a:lstStyle/>
          <a:p>
            <a:pPr algn="ctr" indent="0" marL="0">
              <a:buNone/>
            </a:pPr>
            <a:r>
              <a:rPr lang="en-US" sz="1150" b="1" dirty="0">
                <a:solidFill>
                  <a:srgbClr val="1F2A24"/>
                </a:solidFill>
                <a:latin typeface="Calibri" pitchFamily="34" charset="0"/>
                <a:ea typeface="Calibri" pitchFamily="34" charset="-122"/>
                <a:cs typeface="Calibri" pitchFamily="34" charset="-120"/>
              </a:rPr>
              <a:t>Re-measure</a:t>
            </a:r>
            <a:endParaRPr lang="en-US" sz="1150" dirty="0"/>
          </a:p>
          <a:p>
            <a:pPr algn="ctr" indent="0" marL="0">
              <a:buNone/>
            </a:pPr>
            <a:r>
              <a:rPr lang="en-US" sz="900" dirty="0">
                <a:solidFill>
                  <a:srgbClr val="5B6B60"/>
                </a:solidFill>
                <a:latin typeface="Calibri" pitchFamily="34" charset="0"/>
                <a:ea typeface="Calibri" pitchFamily="34" charset="-122"/>
                <a:cs typeface="Calibri" pitchFamily="34" charset="-120"/>
              </a:rPr>
              <a:t>keep or revert</a:t>
            </a:r>
            <a:endParaRPr lang="en-US" sz="115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3759098"/>
                <a:gridCol w="3759098"/>
                <a:gridCol w="3759098"/>
              </a:tblGrid>
              <a:tr h="2057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Common bottleneck</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Typical fix</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Session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N+1 queries, missing indexes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fetch joins / projections, composite indexes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11, today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Repeated expensive reads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Redis caching with eviction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Exhausted DB connection pool</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size pool from measurements; shorter transactions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Blocking I/O under load</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virtual threads: spring.threads.virtual.enabledtrue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Slow downstream services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timeouts, circuit breakers, async events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19–20</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Large payloads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pagination, compression, field selection</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0574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GC pauses / memory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right-size heap (MaxRAMPercentage), choose GC, fix leaks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1, 23</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Load testing, profiling &amp; query tuning</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 k6 script with SLO thresholds, a Java Flight Recorder profile, and an index that turns a table scan into a range scan.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search-load.js  (+2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import http from 'k6/http';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import { check, sleep } from 'k6';</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export const options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stages: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duration: '1m', target: 50 },      // ramp up</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duration: '3m', target: 200 },     // sustained load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duration: '1m', target: 0 },       // ramp down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thresholds: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http_req_duration: ['p(95)&lt;300'],    // SLO: 95% under 300 ms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http_req_failed: ['rate&lt;0.01'],      // &lt; 1% errors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export default function ()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const res = http.get('http://localhost:8080/api/v1/search?city=Goa&amp;guests=2&amp;page=0');</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check(res, { 'status is 200': (r) =&gt; r.status === 200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sleep(1);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SLOs, alerts &amp; incident response</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Agree on what "good enough" means, alert when users are hurting, and learn from every incident.</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Alert on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symptoms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users feel (errors, latency, booking failures), investigate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causes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with dashboards.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Every alert needs an owner and a runbook; noisy alerts get ignored — delete or fix them.</a:t>
            </a:r>
            <a:endParaRPr lang="en-US" sz="17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for booking-service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SLI (indicator)</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share of POST /bookings answered successfully in &lt; 500 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SLO (objective)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99.5% of requests meet the SLI over 30 days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Error budget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0.5% ≈ 3.6 hours of "bad" requests per month to spend on releases and incidents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Alert</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page when the budget burns too fast (e.g. 2% in 1 hour), not on every CPU spike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Runbook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step-by-step response: check dashboards, recent deploys, DLT size, rollback</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Postmortem</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blameless write-up: timeline, root cause, action items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Production readiness checklist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Before go-live, every service passes the same review.</a:t>
            </a:r>
            <a:endParaRPr lang="en-US" sz="135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1277295" cy="914400"/>
        </p:xfrm>
        <a:graphic>
          <a:graphicData uri="http://schemas.openxmlformats.org/drawingml/2006/table">
            <a:tbl>
              <a:tblPr/>
              <a:tblGrid>
                <a:gridCol w="5638648"/>
                <a:gridCol w="5638648"/>
              </a:tblGrid>
              <a:tr h="235131">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Security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TLS everywhere, JWT validation in gateway &amp; services, least-privilege IAM, secrets in a manager, dependency scanning</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Reliability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timeouts on all calls, circuit breakers, idempotent endpoints &amp; consumers, DLT monitoring, graceful shutdown</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Data</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Flyway migrations reviewed (expand/contract), automated backups, restore tested, PITR enabled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Observability</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health probes, golden-signal dashboards, business metrics, tracing, structured logs, SLO alerts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Performance</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load-tested at 2× expected peak, connection pools sized, caches with TTLs, indexes verified</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235131">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Operations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150" dirty="0">
                          <a:solidFill>
                            <a:srgbClr val="1F2A24"/>
                          </a:solidFill>
                          <a:latin typeface="Calibri" pitchFamily="34" charset="0"/>
                          <a:ea typeface="Calibri" pitchFamily="34" charset="-122"/>
                          <a:cs typeface="Calibri" pitchFamily="34" charset="-120"/>
                        </a:rPr>
                        <a:t>CI/CD with rollback, runbooks, on-call rota, capacity plan, cost alarms</a:t>
                      </a:r>
                      <a:endParaRPr lang="en-US" sz="115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8" name="Text 5"/>
          <p:cNvSpPr/>
          <p:nvPr/>
        </p:nvSpPr>
        <p:spPr>
          <a:xfrm>
            <a:off x="457200" y="5806440"/>
            <a:ext cx="11277295" cy="530352"/>
          </a:xfrm>
          <a:prstGeom prst="rect">
            <a:avLst/>
          </a:prstGeom>
          <a:solidFill>
            <a:srgbClr val="FFF8E1"/>
          </a:solidFill>
          <a:ln w="9525">
            <a:solidFill>
              <a:srgbClr val="E9C46A"/>
            </a:solidFill>
          </a:ln>
        </p:spPr>
        <p:txBody>
          <a:bodyPr wrap="square" lIns="1016" tIns="1016" rIns="1016" bIns="1016" rtlCol="0" anchor="ctr"/>
          <a:lstStyle/>
          <a:p>
            <a:pPr indent="0" marL="0">
              <a:buNone/>
            </a:pPr>
            <a:r>
              <a:rPr lang="en-US" sz="1100" b="1" dirty="0">
                <a:solidFill>
                  <a:srgbClr val="1F2A24"/>
                </a:solidFill>
                <a:latin typeface="Calibri" pitchFamily="34" charset="0"/>
                <a:ea typeface="Calibri" pitchFamily="34" charset="-122"/>
                <a:cs typeface="Calibri" pitchFamily="34" charset="-120"/>
              </a:rPr>
              <a:t>BEST: </a:t>
            </a:r>
            <a:pPr indent="0" marL="0">
              <a:buNone/>
            </a:pPr>
            <a:r>
              <a:rPr lang="en-US" sz="1100" dirty="0">
                <a:solidFill>
                  <a:srgbClr val="1F2A24"/>
                </a:solidFill>
                <a:latin typeface="Calibri" pitchFamily="34" charset="0"/>
                <a:ea typeface="Calibri" pitchFamily="34" charset="-122"/>
                <a:cs typeface="Calibri" pitchFamily="34" charset="-120"/>
              </a:rPr>
              <a:t>Practise failure before it happens: kill a service instance, drop the cache, pause Kafka, restore a backup into a scratch database. A </a:t>
            </a:r>
            <a:pPr indent="0" marL="0">
              <a:buNone/>
            </a:pPr>
            <a:r>
              <a:rPr lang="en-US" sz="1100" b="1" dirty="0">
                <a:solidFill>
                  <a:srgbClr val="1F2A24"/>
                </a:solidFill>
                <a:latin typeface="Calibri" pitchFamily="34" charset="0"/>
                <a:ea typeface="Calibri" pitchFamily="34" charset="-122"/>
                <a:cs typeface="Calibri" pitchFamily="34" charset="-120"/>
              </a:rPr>
              <a:t>game day</a:t>
            </a:r>
            <a:pPr indent="0" marL="0">
              <a:buNone/>
            </a:pPr>
            <a:r>
              <a:rPr lang="en-US" sz="1100" dirty="0">
                <a:solidFill>
                  <a:srgbClr val="1F2A24"/>
                </a:solidFill>
                <a:latin typeface="Calibri" pitchFamily="34" charset="0"/>
                <a:ea typeface="Calibri" pitchFamily="34" charset="-122"/>
                <a:cs typeface="Calibri" pitchFamily="34" charset="-120"/>
              </a:rPr>
              <a:t> reveals gaps no checklist can.</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4C8DFF"/>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Deploying on AWS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Managed services remove undifferentiated operational work. A typical production layout for our platform:</a:t>
            </a:r>
            <a:endParaRPr lang="en-US" sz="1350" dirty="0"/>
          </a:p>
        </p:txBody>
      </p:sp>
      <p:sp>
        <p:nvSpPr>
          <p:cNvPr id="7" name="Text 5"/>
          <p:cNvSpPr/>
          <p:nvPr/>
        </p:nvSpPr>
        <p:spPr>
          <a:xfrm>
            <a:off x="457200" y="1883664"/>
            <a:ext cx="5120640" cy="4471416"/>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Services run in </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private subnets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only the load balancer is public. Security groups allow just the required ports.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Region choice: e.g. </a:t>
            </a:r>
            <a:endParaRPr lang="en-US" sz="1700" dirty="0"/>
          </a:p>
          <a:p>
            <a:pPr marL="177800" indent="-177800">
              <a:spcAft>
                <a:spcPts val="400"/>
              </a:spcAft>
              <a:buSzPct val="100000"/>
              <a:buChar char="•"/>
            </a:pPr>
            <a:r>
              <a:rPr lang="en-US" sz="1700" dirty="0">
                <a:solidFill>
                  <a:srgbClr val="B4235A"/>
                </a:solidFill>
                <a:latin typeface="Consolas" pitchFamily="34" charset="0"/>
                <a:ea typeface="Consolas" pitchFamily="34" charset="-122"/>
                <a:cs typeface="Consolas" pitchFamily="34" charset="-120"/>
              </a:rPr>
              <a:t>ap-south-1</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(Mumbai) for Indian users; Multi-AZ for resilience.</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Alternatives: EKS (Kubernetes) for more control, Elastic Beanstalk/App Runner for simplicity.</a:t>
            </a:r>
            <a:endParaRPr lang="en-US" sz="1700" dirty="0"/>
          </a:p>
        </p:txBody>
      </p:sp>
      <p:sp>
        <p:nvSpPr>
          <p:cNvPr id="8" name="Text 6"/>
          <p:cNvSpPr/>
          <p:nvPr/>
        </p:nvSpPr>
        <p:spPr>
          <a:xfrm>
            <a:off x="5852160" y="1883664"/>
            <a:ext cx="5882335" cy="4471416"/>
          </a:xfrm>
          <a:prstGeom prst="rect">
            <a:avLst/>
          </a:prstGeom>
          <a:solidFill>
            <a:srgbClr val="F7F9F8"/>
          </a:solidFill>
          <a:ln w="9525">
            <a:solidFill>
              <a:srgbClr val="D5DDD7"/>
            </a:solidFill>
          </a:ln>
        </p:spPr>
        <p:txBody>
          <a:bodyPr wrap="square" lIns="1524" tIns="1524" rIns="1524" bIns="1524" rtlCol="0" anchor="t"/>
          <a:lstStyle/>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Edge: Route 53 (DNS) | CloudFront + S3 (photos, static web) | WAF (filter attacks)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Ingress: Application Load Balancer (TLS, health checks)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Compute: ECS Fargate services (gateway + 6 services, autoscaling) | ECR (container images)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Data: RDS MySQL (Multi-AZ, read replica) | ElastiCache Redis | Amazon MSK (Kafka) | OpenSearch</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Ops: CloudWatch (logs, metrics, alarms) | Secrets Manager | IAM (least privilege)</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22A06B"/>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CD pipeline: GitHub Actions → ECR → ECS</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Keyless deployments with OIDC: build, push the image tagged with the commit SHA, roll out a new task definition.</a:t>
            </a:r>
            <a:endParaRPr lang="en-US" sz="1350" dirty="0"/>
          </a:p>
        </p:txBody>
      </p:sp>
      <p:sp>
        <p:nvSpPr>
          <p:cNvPr id="7" name="Text 5"/>
          <p:cNvSpPr/>
          <p:nvPr/>
        </p:nvSpPr>
        <p:spPr>
          <a:xfrm>
            <a:off x="457200" y="1883664"/>
            <a:ext cx="11277295" cy="274320"/>
          </a:xfrm>
          <a:prstGeom prst="rect">
            <a:avLst/>
          </a:prstGeom>
          <a:solidFill>
            <a:srgbClr val="E6ECE8"/>
          </a:solidFill>
          <a:ln/>
        </p:spPr>
        <p:txBody>
          <a:bodyPr wrap="square" lIns="762" tIns="762" rIns="762" bIns="762" rtlCol="0" anchor="ctr"/>
          <a:lstStyle/>
          <a:p>
            <a:pPr indent="0" marL="0">
              <a:buNone/>
            </a:pPr>
            <a:r>
              <a:rPr lang="en-US" sz="900" b="1" dirty="0">
                <a:solidFill>
                  <a:srgbClr val="5B6B60"/>
                </a:solidFill>
                <a:latin typeface="Consolas" pitchFamily="34" charset="0"/>
                <a:ea typeface="Consolas" pitchFamily="34" charset="-122"/>
                <a:cs typeface="Consolas" pitchFamily="34" charset="-120"/>
              </a:rPr>
              <a:t>.github/workflows/deploy.yml  (+1 more in the web notes)</a:t>
            </a:r>
            <a:endParaRPr lang="en-US" sz="900" dirty="0"/>
          </a:p>
        </p:txBody>
      </p:sp>
      <p:sp>
        <p:nvSpPr>
          <p:cNvPr id="8" name="Text 6"/>
          <p:cNvSpPr/>
          <p:nvPr/>
        </p:nvSpPr>
        <p:spPr>
          <a:xfrm>
            <a:off x="457200" y="2157984"/>
            <a:ext cx="11277295" cy="4197096"/>
          </a:xfrm>
          <a:prstGeom prst="rect">
            <a:avLst/>
          </a:prstGeom>
          <a:solidFill>
            <a:srgbClr val="F3F6F4"/>
          </a:solidFill>
          <a:ln w="9525">
            <a:solidFill>
              <a:srgbClr val="D5DDD7"/>
            </a:solidFill>
          </a:ln>
        </p:spPr>
        <p:txBody>
          <a:bodyPr wrap="square" lIns="1016" tIns="1016" rIns="1016" bIns="1016" rtlCol="0" anchor="t"/>
          <a:lstStyle/>
          <a:p>
            <a:pPr indent="0" marL="0">
              <a:buNone/>
            </a:pPr>
            <a:r>
              <a:rPr lang="en-US" sz="1100" dirty="0">
                <a:solidFill>
                  <a:srgbClr val="24292F"/>
                </a:solidFill>
                <a:latin typeface="Consolas" pitchFamily="34" charset="0"/>
                <a:ea typeface="Consolas" pitchFamily="34" charset="-122"/>
                <a:cs typeface="Consolas" pitchFamily="34" charset="-120"/>
              </a:rPr>
              <a:t>name: deploy-booking-service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on: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push: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branches: [main]</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jobs: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deploy: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runs-on: ubuntu-latest</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permissions: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id-token: write                  # OIDC token -&gt; no long-lived AWS keys in GitHub</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contents: read</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steps:</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uses: actions/checkout@v7</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uses: aws-actions/configure-aws-credentials@v6</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with:</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role-to-assume: arn:aws:iam::123456789012:role/github-deploy</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aws-region: ap-south-1</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id: ecr</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uses: aws-actions/amazon-ecr-login@v2</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name: Build and push image</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run: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IMAGE=${{ steps.ecr.outputs.registry }}/booking-service:${{ github.sha }}</a:t>
            </a:r>
            <a:endParaRPr lang="en-US" sz="1100" dirty="0"/>
          </a:p>
          <a:p>
            <a:pPr indent="0" marL="0">
              <a:buNone/>
            </a:pPr>
            <a:r>
              <a:rPr lang="en-US" sz="1100" dirty="0">
                <a:solidFill>
                  <a:srgbClr val="24292F"/>
                </a:solidFill>
                <a:latin typeface="Consolas" pitchFamily="34" charset="0"/>
                <a:ea typeface="Consolas" pitchFamily="34" charset="-122"/>
                <a:cs typeface="Consolas" pitchFamily="34" charset="-120"/>
              </a:rPr>
              <a:t>// … full listing in the web notes</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05A72"/>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Capstone wrap-up: what you built</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Two complete backends, mapped to the brochure's skills.</a:t>
            </a:r>
            <a:endParaRPr lang="en-US" sz="1350" dirty="0"/>
          </a:p>
        </p:txBody>
      </p:sp>
      <p:sp>
        <p:nvSpPr>
          <p:cNvPr id="7" name="Text 5"/>
          <p:cNvSpPr/>
          <p:nvPr/>
        </p:nvSpPr>
        <p:spPr>
          <a:xfrm>
            <a:off x="457200" y="1883664"/>
            <a:ext cx="11277295" cy="2734056"/>
          </a:xfrm>
          <a:prstGeom prst="rect">
            <a:avLst/>
          </a:prstGeom>
          <a:noFill/>
          <a:ln/>
        </p:spPr>
        <p:txBody>
          <a:bodyPr wrap="square" rtlCol="0" anchor="t"/>
          <a:lstStyle/>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Portfolio: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two public repositories with READMEs (architecture diagrams, ERDs, API tables, how to run with one command), CI badges and an AI-usage log.</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Interview stories: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exact money splitting, the zero-sum invariant, no double booking with unique nights, the outbox pattern, cache-after-authorization.</a:t>
            </a:r>
            <a:endParaRPr lang="en-US" sz="1700" dirty="0"/>
          </a:p>
          <a:p>
            <a:pPr marL="177800" indent="-177800">
              <a:spcAft>
                <a:spcPts val="400"/>
              </a:spcAft>
              <a:buSzPct val="100000"/>
              <a:buChar char="•"/>
            </a:pPr>
            <a:r>
              <a:rPr lang="en-US" sz="1700" b="1" dirty="0">
                <a:solidFill>
                  <a:srgbClr val="1F2A24"/>
                </a:solidFill>
                <a:latin typeface="Calibri" pitchFamily="34" charset="0"/>
                <a:ea typeface="Calibri" pitchFamily="34" charset="-122"/>
                <a:cs typeface="Calibri" pitchFamily="34" charset="-120"/>
              </a:rPr>
              <a:t>Next steps: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 Kubernetes, gRPC, GraphQL, event sourcing, advanced SQL tuning, system design practice.</a:t>
            </a:r>
            <a:endParaRPr lang="en-US" sz="17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7295" cy="914400"/>
        </p:xfrm>
        <a:graphic>
          <a:graphicData uri="http://schemas.openxmlformats.org/drawingml/2006/table">
            <a:tbl>
              <a:tblPr/>
              <a:tblGrid>
                <a:gridCol w="5638648"/>
                <a:gridCol w="5638648"/>
              </a:tblGrid>
              <a:tr h="1828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Brochure skill</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you practised it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2F6F4E"/>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OOPs Concepts &amp; Core Java</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1–3; every project class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Exception Handling &amp; Multithreading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2–3, 6; ProblemDetail errors, concurrency tests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Functional Programming with Java 8</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3, 5; streams &amp; lambdas everywhere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JDBC &amp; Database Connectivity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10–11; JdbcClient, JPA, Flyway</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Collections Framework &amp; Stream API</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4–5; debt simplifier heaps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Backend System Design Fundamentals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12, 21–24; HLSD, data modeling, scaling</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REST API Development</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8–9, 13–18; Splitwise &amp; Airbnb APIs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182880">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Microservices Architecture</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Sessions 19–24; Feign, Kafka, sagas, gateway, Docker, AWS</a:t>
                      </a:r>
                      <a:endParaRPr lang="en-US" sz="1000" dirty="0">
                        <a:latin typeface="Calibri" charset="0"/>
                        <a:ea typeface="Calibri" charset="0"/>
                        <a:cs typeface="Calibri" charset="0"/>
                      </a:endParaRPr>
                    </a:p>
                  </a:txBody>
                  <a:tcPr marL="45720" marR="45720" marT="45720" marB="45720"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E889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HANDS-ON LAB</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Final milestone: production-ready Airbnb backend</a:t>
            </a:r>
            <a:endParaRPr lang="en-US" sz="2800" dirty="0"/>
          </a:p>
        </p:txBody>
      </p:sp>
      <p:sp>
        <p:nvSpPr>
          <p:cNvPr id="6" name="Text 4"/>
          <p:cNvSpPr/>
          <p:nvPr/>
        </p:nvSpPr>
        <p:spPr>
          <a:xfrm>
            <a:off x="457200" y="1261872"/>
            <a:ext cx="11277295" cy="566928"/>
          </a:xfrm>
          <a:prstGeom prst="rect">
            <a:avLst/>
          </a:prstGeom>
          <a:noFill/>
          <a:ln/>
        </p:spPr>
        <p:txBody>
          <a:bodyPr wrap="square" rtlCol="0" anchor="t"/>
          <a:lstStyle/>
          <a:p>
            <a:pPr indent="0" marL="0">
              <a:buNone/>
            </a:pPr>
            <a:r>
              <a:rPr lang="en-US" sz="1350" dirty="0">
                <a:solidFill>
                  <a:srgbClr val="5B6B60"/>
                </a:solidFill>
                <a:latin typeface="Calibri" pitchFamily="34" charset="0"/>
                <a:ea typeface="Calibri" pitchFamily="34" charset="-122"/>
                <a:cs typeface="Calibri" pitchFamily="34" charset="-120"/>
              </a:rPr>
              <a:t>Make the platform observable, measured and deployable — then review it like a production team.</a:t>
            </a:r>
            <a:endParaRPr lang="en-US" sz="1350" dirty="0"/>
          </a:p>
        </p:txBody>
      </p:sp>
      <p:sp>
        <p:nvSpPr>
          <p:cNvPr id="7" name="Text 5"/>
          <p:cNvSpPr/>
          <p:nvPr/>
        </p:nvSpPr>
        <p:spPr>
          <a:xfrm>
            <a:off x="457200" y="1883664"/>
            <a:ext cx="11277295" cy="4471416"/>
          </a:xfrm>
          <a:prstGeom prst="rect">
            <a:avLst/>
          </a:prstGeom>
          <a:noFill/>
          <a:ln/>
        </p:spPr>
        <p:txBody>
          <a:bodyPr wrap="square" rtlCol="0" anchor="t"/>
          <a:lstStyle/>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Actuator + Prometheus registry to every service; expose health probes and the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bookings.created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bookings.conflicts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metrics.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Prometheus and Grafana to Compose; build a dashboard with the four golden signals per service and the business metrics.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Add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spring-boot-starter-opentelemetry</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grafana/otel-lgtm</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follow one booking's trace from gateway to Kafka consumer.</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Switch to JSON logs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logging.structured.format.console: ecs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and find all log lines of one trace id.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Run the k6 search test; record p95, find the slowest endpoint with traces/EXPLAIN, fix it, and re-run.</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Enable </a:t>
            </a:r>
            <a:endParaRPr lang="en-US" sz="1500" dirty="0"/>
          </a:p>
          <a:p>
            <a:pPr marL="342900" indent="-342900">
              <a:spcAft>
                <a:spcPts val="400"/>
              </a:spcAft>
              <a:buSzPct val="100000"/>
              <a:buFont typeface="+mj-lt"/>
              <a:buAutoNum type="arabicPeriod" startAt="1"/>
            </a:pPr>
            <a:r>
              <a:rPr lang="en-US" sz="1500" dirty="0">
                <a:solidFill>
                  <a:srgbClr val="B4235A"/>
                </a:solidFill>
                <a:latin typeface="Consolas" pitchFamily="34" charset="0"/>
                <a:ea typeface="Consolas" pitchFamily="34" charset="-122"/>
                <a:cs typeface="Consolas" pitchFamily="34" charset="-120"/>
              </a:rPr>
              <a:t>spring.threads.virtual.enabled=true</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 on one I/O-heavy service and compare results under the same load.</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Fill in the production-readiness checklist for your system and fix the top three gaps.</a:t>
            </a:r>
            <a:endParaRPr lang="en-US" sz="1500" dirty="0"/>
          </a:p>
          <a:p>
            <a:pPr marL="342900" indent="-342900">
              <a:spcAft>
                <a:spcPts val="400"/>
              </a:spcAft>
              <a:buSzPct val="100000"/>
              <a:buFont typeface="+mj-lt"/>
              <a:buAutoNum type="arabicPeriod" startAt="1"/>
            </a:pPr>
            <a:r>
              <a:rPr lang="en-US" sz="1500" dirty="0">
                <a:solidFill>
                  <a:srgbClr val="1F2A24"/>
                </a:solidFill>
                <a:latin typeface="Calibri" pitchFamily="34" charset="0"/>
                <a:ea typeface="Calibri" pitchFamily="34" charset="-122"/>
                <a:cs typeface="Calibri" pitchFamily="34" charset="-120"/>
              </a:rPr>
              <a:t>Stretch: deploy one service to AWS ECS Fargate with the GitHub Actions workflow (or document the exact steps and costs).</a:t>
            </a:r>
            <a:endParaRPr lang="en-US" sz="15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9B6BF0"/>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QUIZ</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Quiz: observability &amp; production</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Q1. Which signal best answers 'which service made this request slow?'</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 CPU metric</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A distributed trace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A health check</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A Dockerfile</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Q2. In Spring Boot 4, which property sets the OTLP endpoint for traces?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management.otlp.tracing.endpoint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management.opentelemetry.tracing.export.otlp.endpoint</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spring.tracing.url</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otel.trace.url only</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Q3. Why must metric tags have low cardinality?</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Prometheus rejects strings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Each distinct tag value creates a new time series — user ids would explode storage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Tags are encrypted</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Grafana limits tags to 3</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Q4. What should a pager alert typically be based on?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Any CPU spike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User-facing symptoms such as error-rate or latency SLO burn</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Log volume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Number of deployments</a:t>
            </a:r>
            <a:endParaRPr lang="en-US" sz="850" dirty="0"/>
          </a:p>
          <a:p>
            <a:pPr indent="0" marL="0">
              <a:spcAft>
                <a:spcPts val="400"/>
              </a:spcAft>
              <a:buNone/>
            </a:pPr>
            <a:r>
              <a:rPr lang="en-US" sz="850" dirty="0">
                <a:solidFill>
                  <a:srgbClr val="1F2A24"/>
                </a:solidFill>
                <a:latin typeface="Calibri" pitchFamily="34" charset="0"/>
                <a:ea typeface="Calibri" pitchFamily="34" charset="-122"/>
                <a:cs typeface="Calibri" pitchFamily="34" charset="-120"/>
              </a:rPr>
              <a:t>Q5. How does the GitHub Actions workflow authenticate to AWS without stored keys?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A. Hard-coded access keys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B. OIDC federation assuming an IAM role</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C. SSH keys</a:t>
            </a:r>
            <a:endParaRPr lang="en-US" sz="850" dirty="0"/>
          </a:p>
          <a:p>
            <a:pPr lvl="1" indent="0" marL="0">
              <a:spcAft>
                <a:spcPts val="400"/>
              </a:spcAft>
              <a:buNone/>
            </a:pPr>
            <a:r>
              <a:rPr lang="en-US" sz="750" dirty="0">
                <a:solidFill>
                  <a:srgbClr val="5B6B60"/>
                </a:solidFill>
                <a:latin typeface="Calibri" pitchFamily="34" charset="0"/>
                <a:ea typeface="Calibri" pitchFamily="34" charset="-122"/>
                <a:cs typeface="Calibri" pitchFamily="34" charset="-120"/>
              </a:rPr>
              <a:t>D. The ECR password in the repo</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0773A"/>
          </a:solidFill>
          <a:ln w="12700">
            <a:solidFill>
              <a:srgbClr val="E0773A"/>
            </a:solidFill>
            <a:prstDash val="solid"/>
          </a:ln>
        </p:spPr>
      </p:sp>
      <p:sp>
        <p:nvSpPr>
          <p:cNvPr id="3" name="Text 1"/>
          <p:cNvSpPr/>
          <p:nvPr/>
        </p:nvSpPr>
        <p:spPr>
          <a:xfrm>
            <a:off x="457200" y="256032"/>
            <a:ext cx="1463040" cy="292608"/>
          </a:xfrm>
          <a:prstGeom prst="roundRect">
            <a:avLst>
              <a:gd name="adj" fmla="val 18750"/>
            </a:avLst>
          </a:prstGeom>
          <a:solidFill>
            <a:srgbClr val="C99A2E"/>
          </a:solid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2011680" y="256032"/>
            <a:ext cx="3657600" cy="292608"/>
          </a:xfrm>
          <a:prstGeom prst="rect">
            <a:avLst/>
          </a:prstGeom>
          <a:noFill/>
          <a:ln/>
        </p:spPr>
        <p:txBody>
          <a:bodyPr wrap="square" rtlCol="0" anchor="ctr"/>
          <a:lstStyle/>
          <a:p>
            <a:pPr indent="0" marL="0">
              <a:buNone/>
            </a:pPr>
            <a:r>
              <a:rPr lang="en-US" sz="1050" dirty="0">
                <a:solidFill>
                  <a:srgbClr val="5B6B60"/>
                </a:solidFill>
                <a:latin typeface="Calibri" pitchFamily="34" charset="0"/>
                <a:ea typeface="Calibri" pitchFamily="34" charset="-122"/>
                <a:cs typeface="Calibri" pitchFamily="34" charset="-120"/>
              </a:rPr>
              <a:t>Session 24</a:t>
            </a:r>
            <a:endParaRPr lang="en-US" sz="1050" dirty="0"/>
          </a:p>
        </p:txBody>
      </p:sp>
      <p:sp>
        <p:nvSpPr>
          <p:cNvPr id="5" name="Text 3"/>
          <p:cNvSpPr/>
          <p:nvPr/>
        </p:nvSpPr>
        <p:spPr>
          <a:xfrm>
            <a:off x="457200" y="566928"/>
            <a:ext cx="11277295" cy="685800"/>
          </a:xfrm>
          <a:prstGeom prst="rect">
            <a:avLst/>
          </a:prstGeom>
          <a:noFill/>
          <a:ln/>
        </p:spPr>
        <p:txBody>
          <a:bodyPr wrap="square" rtlCol="0" anchor="t"/>
          <a:lstStyle/>
          <a:p>
            <a:pPr indent="0" marL="0">
              <a:buNone/>
            </a:pPr>
            <a:r>
              <a:rPr lang="en-US" sz="2800" b="1" dirty="0">
                <a:solidFill>
                  <a:srgbClr val="1F2A24"/>
                </a:solidFill>
                <a:latin typeface="Calibri" pitchFamily="34" charset="0"/>
                <a:ea typeface="Calibri" pitchFamily="34" charset="-122"/>
                <a:cs typeface="Calibri" pitchFamily="34" charset="-120"/>
              </a:rPr>
              <a:t>Session 24 recap — course complete</a:t>
            </a:r>
            <a:endParaRPr lang="en-US" sz="2800" dirty="0"/>
          </a:p>
        </p:txBody>
      </p:sp>
      <p:sp>
        <p:nvSpPr>
          <p:cNvPr id="6" name="Text 4"/>
          <p:cNvSpPr/>
          <p:nvPr/>
        </p:nvSpPr>
        <p:spPr>
          <a:xfrm>
            <a:off x="457200" y="1261872"/>
            <a:ext cx="11277295" cy="5093208"/>
          </a:xfrm>
          <a:prstGeom prst="rect">
            <a:avLst/>
          </a:prstGeom>
          <a:noFill/>
          <a:ln/>
        </p:spPr>
        <p:txBody>
          <a:bodyPr wrap="square" rtlCol="0" anchor="t"/>
          <a:lstStyle/>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Observability = metrics (Micrometer/Prometheus), logs (structured, correlated), traces (OpenTelemetry), health probes (Actuator).</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Performance: set targets, load-test, profile, tune queries and pools, cache, use virtual threads for blocking I/O.</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SLOs and error budgets guide alerting and priorities; runbooks and blameless postmortems guide incidents.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Production readiness covers security, reliability, data, observability, performance and operations.</a:t>
            </a:r>
            <a:endParaRPr lang="en-US" sz="1700" dirty="0"/>
          </a:p>
          <a:p>
            <a:pPr marL="177800" indent="-177800">
              <a:spcAft>
                <a:spcPts val="400"/>
              </a:spcAft>
              <a:buSzPct val="100000"/>
              <a:buChar char="•"/>
            </a:pPr>
            <a:r>
              <a:rPr lang="en-US" sz="1700" dirty="0">
                <a:solidFill>
                  <a:srgbClr val="1F2A24"/>
                </a:solidFill>
                <a:latin typeface="Calibri" pitchFamily="34" charset="0"/>
                <a:ea typeface="Calibri" pitchFamily="34" charset="-122"/>
                <a:cs typeface="Calibri" pitchFamily="34" charset="-120"/>
              </a:rPr>
              <a:t>AWS: ALB → ECS Fargate → RDS/ElastiCache/MSK with CloudWatch &amp; Secrets Manager; GitHub Actions deploys via OIDC.</a:t>
            </a:r>
            <a:endParaRPr lang="en-US" sz="1700" dirty="0"/>
          </a:p>
        </p:txBody>
      </p:sp>
      <p:sp>
        <p:nvSpPr>
          <p:cNvPr id="7" name="Text 5"/>
          <p:cNvSpPr/>
          <p:nvPr/>
        </p:nvSpPr>
        <p:spPr>
          <a:xfrm>
            <a:off x="457200" y="3867912"/>
            <a:ext cx="11277295" cy="2487168"/>
          </a:xfrm>
          <a:prstGeom prst="rect">
            <a:avLst/>
          </a:prstGeom>
          <a:noFill/>
          <a:ln/>
        </p:spPr>
        <p:txBody>
          <a:bodyPr wrap="square" rtlCol="0" anchor="t"/>
          <a:lstStyle/>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Golden signals</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Latency, traffic, errors, saturation.</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Micrometer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Vendor-neutral metrics facade used by Spring Boot.</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Span</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One timed operation within a distributed trace.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traceparent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W3C header carrying trace context between services.</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SLO</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Target level for a service level indicator over a time window.</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Error budget</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Allowed unreliability (100% − SLO) to spend on change.</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JFR</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Java Flight Recorder — low-overhead JVM profiling.</a:t>
            </a:r>
            <a:endParaRPr lang="en-US" sz="1300" dirty="0"/>
          </a:p>
          <a:p>
            <a:pPr marL="177800" indent="-177800">
              <a:spcAft>
                <a:spcPts val="400"/>
              </a:spcAft>
              <a:buSzPct val="100000"/>
              <a:buChar char="•"/>
            </a:pPr>
            <a:r>
              <a:rPr lang="en-US" sz="1300" b="1" dirty="0">
                <a:solidFill>
                  <a:srgbClr val="1F2A24"/>
                </a:solidFill>
                <a:latin typeface="Calibri" pitchFamily="34" charset="0"/>
                <a:ea typeface="Calibri" pitchFamily="34" charset="-122"/>
                <a:cs typeface="Calibri" pitchFamily="34" charset="-120"/>
              </a:rPr>
              <a:t>OIDC deploy</a:t>
            </a:r>
            <a:endParaRPr lang="en-US" sz="1300" dirty="0"/>
          </a:p>
          <a:p>
            <a:pPr marL="177800" indent="-1778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 — CI assumes a cloud role with short-lived credentials, no stored keys.</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Microservices, Messaging &amp; Major Project</dc:title>
  <dc:subject>Java Backend Development Course With IBM Certification</dc:subject>
  <dc:creator>Java Backend Interactive Course Notes</dc:creator>
  <cp:lastModifiedBy>Java Backend Interactive Course Notes</cp:lastModifiedBy>
  <cp:revision>1</cp:revision>
  <dcterms:created xsi:type="dcterms:W3CDTF">2026-10-25T08:00:52Z</dcterms:created>
  <dcterms:modified xsi:type="dcterms:W3CDTF">2026-10-25T08:00:52Z</dcterms:modified>
</cp:coreProperties>
</file>