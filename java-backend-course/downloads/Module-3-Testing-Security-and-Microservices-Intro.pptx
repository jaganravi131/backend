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Testing, Security &amp; Microservices Intro. Harden your backend with unit testing, Redis caching, Spring Security, and OAuth2 — then enhance the Splitwise project with all these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each brochure topic and where it is taught.
Project: Minor Project: Splitwise Backend Advanced — Redis caching, Spring Security &amp; AI-assisted coding with Cursor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13: Splitwise Backend (Part 2): Expense Flows &amp; Group Management.
Before you start: Session 12: Splitwise schema, entities and money splitting.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brochure's 'expense creation and settlement flows' and 'user and group management features' for the minor project.
Remind students of the Session 12 flowchart: we now implement each box. Keep the invariant in mind — balances in a group always sum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 percentage and shares are the same algorithm with different weights: allocate the total in paise proportionally, then hand leftover paise out by the largest remainder rule so the sum is exact.
In Spring every strategy is a @Component; a resolver receives List&lt;SplitStrategy&gt; and indexes it into an EnumMap&lt;SplitType, SplitStrategy&gt;. A new strategy is picked up automatically.
Interview tip: this is the canonical answer to 'how do you avoid a giant switch over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allocate for EQUAL: 100,000 paise × 1/3 33,333.33… each; the floors sum to 99,999, so one leftover paisa goes to the first participant (ties broken by position).
Every result sums exactly to the expense amount — the same invariant Expense.replaceSplits enforces (Session 12). Defence in depth.
In the real project, ids are Long user ids and validation failures throw BusinessRuleException (→ 422).
Expected output:
EQUAL      {asha=333.34, ravi=333.33, meera=333.33}
EXACT      {asha=450.00, ravi=300.00, meera=250.00}
PERCENTAGE {asha=500.00, ravi=333.30, meera=166.70}
SHARES     {asha=500.00, ravi=250.00, meera=250.00}
rejected: exact amounts add up to 800, expected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getReferenceById returns a lazy proxy without a SELECT — enough to set a foreign key. We already proved the ids are members, so no extra queries are needed.
Any exception (rule violation, constraint violation) rolls the whole transaction back: no expense without splits, no splits without an expense.
group.memberIds() is a small helper on the aggregate that returns the set of member user ids (loaded by findWithMembers in a single query — no N+1).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derived table aggregates one source; LEFT JOIN + COALESCE give 0 for members with no activity. With the (group_id, …) indexes from Session 12 this stays fast for thousands of expenses.
Sign convention check: a debtor (negative) who sends a settlement moves towards zero (+ sent); a creditor who receives one also moves towards zero (− received).
We mix JPA (writes, aggregates) and JdbcClient (a reporting query) in one application — perfectly normal. This result is a prime candidate for Redis caching in Session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reuses Session 4's PriorityQueue with a multi-key Comparator — the tie-break on the user name makes results deterministic, which matters for tests and for users who refresh the page.
Each iteration settles at least one person completely, hence at most n − 1 transfers.
The endpoint GET /balances/simplified simply feeds BalanceService.balances() into this function; nothing is stored until someone actually records a settlement.
Expected output:
sum = 0.00
ravi pays asha 700.00
dev pays asha 500.00
meera pays asha 300.00
meera pays zoya 200.00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lock when removing a member? Without it, an expense involving user 3 could be committed between our balance check and the removal, leaving a non-zero balance for someone no longer in the group (a classic check-then-act race — Session 6, now at database level).
Optimistic locking suits expense edits (rare conflicts, users can retry); a short pessimistic lock suits the 'check balance then remove' sequence. Choose per operation.
Advanced: expose the entity version as an HTTP ETag and require If-Match on PUT — the REST-native form of optimistic 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by hand with the class: Dinner gives each person a 400 share; Asha paid 1200 → +800. Cab: Ravi paid 600, owes 400 + 100 → +100. Meera owes 400 + 500 → −900. Sum 0 ✓.
After Meera pays Asha 800, Asha is settled and Meera still owes Ravi 100 — exactly the second suggested transfer.
HTTPie syntax: fieldvalue sends a string, field:json sends raw JSON (numbers, arrays). Equivalent curl commands work just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keep the pure-Java strategies and simplifier free of Spring annotations except @Component — next session they write fast unit tests for them, then MockMvc tests for the endpoints.
Stretch goal for strong students: an activity feed endpoint merging expenses and settlements ordered by time (a UNION ALL query projected into a DTO).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discussion for Q3: can you find balances where greedy uses more transfers than optimal? (e.g. two separate pairs that cancel exactly — greedy may cross them). It's still bounded by n − 1.
Q1 answer: B — Each type is a strategy bean; the resolver discovers new strategies automatically (Open/Closed principle).
Q2 answer: B — Weights 2/4, 1/4, 1/4 of 1,000 → 500, 250, 250 — no remainder to distribute.
Q3 answer: C — Each step settles at least one person, so at most n − 1 4 transfers.
Q4 answer: B — Group-management rule: only members with a zero balance can leave or be removed.
Q5 answer: B — Money systems keep history; balances simply ignore rows with deleted_at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prove all of this works — JUnit 5 and Mockito for services and strategies, and MockMvc for the REST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14: JUnit 5 &amp; Mockito — Service &amp; Controller Testing, MockMvc for REST APIs.
Before you start: Sessions 12–13: the Splitwise services, controllers and repositories we are about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Splitwise money logic is the perfect motivation: a rounding bug that loses one paisa per expense is invisible in a demo and catastrophic in production. Tests make the invariants explicit.
Speed matters: a unit suite that runs in 3 seconds gets run on every change; a suite that takes 10 minutes gets skipped. That's why the base of the pyramid is plain Java without 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classes and methods can be package-private in JUnit 5 — no public noise needed.
Use isEqualByComparingTo for BigDecimal: 400.0 and 400.00 are equal amounts but not equals() (Session 12).
Good test names describe behaviour: sharesAlwaysAddUpToTheAmount, rejectsPayerWhoIsNotAMember — the report then reads like a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test checks a property (after applying the transfers, every balance is zero) rather than one hard-coded answer — far more robust when the algorithm's tie-breaking changes.
@CsvSource converts strings to BigDecimal and int automatically. Add a row for every bug you ever fix: the suite becomes a memory of past mistakes.
assertThat(v).isZero() works for BigDecimal regardless of scale (0.00 vs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BDD style (given/willReturn, then(...).should()) reads naturally with Arrange-Act-Assert; classic when/thenReturn and verify are equivalent.
Over-mocking is a smell: if a test needs ten stubs, the class probably does too much. Tests give design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CreateExpenseRequest here has the Session 13 shape: description, amount, paidBy, splitType, expenseDate, participants.
willAnswer(inv -&gt; inv.getArgument(0)) makes save return what it received — a common stub for repositories.
The second test proves a negative: on a rule violation nothing is saved. never() verification is exactly the behaviour here, so verifying the interaction is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4 split the test support into per-technology modules. If @WebMvcTest doesn't resolve, add spring-boot-starter-webmvc-test (which also brings spring-boot-starter-test).
@MockitoBean comes from Spring Framework itself (org.springframework.test.context.bean.override.mockito), as does @MockitoSpyBean.
Every distinct set of @MockitoBeans creates a new cached context; dozens of variations make suites slow. Consolidate where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bodies as Java text blocks keep JSON readable and copy-pasteable from Postman.
@WebMvcTest includes @ControllerAdvice beans, so the 400/404 tests prove that your GlobalExceptionHandler and the validation annotations work together.
The controller test doesn't care how the service computes anything — that's the service test's job. Each layer is tested for its own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Testcontainers starts a throwaway MySQL 8.4 in Docker; Flyway migrates it; @ServiceConnection points the datasource at it. You test against the same database engine as production — no H2 dialect surprises.
Name integration tests IT so the failsafe plugin runs them in verify (Session 7), keeping mvn test fast.
For @DataJpaTest + @ServiceConnection, Boot 4's default @AutoConfigureTestDatabase(replace NON_TEST) keeps the container database instead of swapping in an embedded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team rule: every bug fix starts with a failing test that reproduces it. The suite then guards against regressions forever.
Coverage of 100% with weak assertions is worth less than 70% with sharp ones. Show a test that executes code but asserts nothing — it adds coverage and zero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must be running for Testcontainers. If CI lacks Docker, tag ITs with @Tag("it") and run them in a separate job.
Pair students: one writes a test, the other tries to break the implementation so that the test still passes — a manual form of mutation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up Q5 with a real example from this course: the reserved word groups works in H2 but fails in MySQL 8 — exactly the class of bug only a real database catches.
Q1 answer: B — @MockBean was removed in Boot 4; Spring Framework's @MockitoBean replaces it. @Mock is plain Mockito without Spring.
Q2 answer: C — @WebMvcTest is the web slice; services must be mocked with @MockitoBean.
Q3 answer: C — isEqualByComparingTo uses compareTo, ignoring scale; equals treats different scales as different.
Q4 answer: B — BDDMockito verification that no save interaction happened — nothing was persisted after a rule violation.
Q5 answer: B — Same engine and version as production — reserved words, CHECK constraints, SQL functions behave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performance. We introduce Redis, distinguish caches from cookies and server from browser caching, and cache the expensive balances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15: Redis — Cache vs Cookie, Server vs Browser Cache.
Before you start: Session 13 (the balances query to optimise) and Session 9 (AOP proxies).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Splitwise balances endpoint runs a multi-join aggregate on every call, yet balances change only when someone adds an expense or settles. That read/write ratio (maybe 50:1) is the textbook case for caching.
Phil Karlton's joke applies: there are only two hard things in computer science: cache invalidation and naming things. Most of today is about invalidation.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confusion: 'storing the session in a cookie'. Usually the cookie stores only a session id; the session data lives on the server — often in Redis (Spring Session), so any instance can serve the user.
Never put secrets or authorization data in a readable cookie. If you must store tokens in cookies, use HttpOnly; Secure; SameSiteLax/Strict (Session 18 discusses this for OAuth).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caching is free performance: zero server work for fresh hits. But it is outside your control once sent — you cannot evict a browser's cache, so keep max-age short for data that changes.
Server caching (Redis) is under your control: you can evict instantly when data changes. The two complement each other.
Personal financial data should be private (never cached by shared proxies) — or no-store for highly sensitive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ResponseEntity.eTag(...) plus Spring's built-in conditional request handling compares If-None-Match and replaces the response with 304. ShallowEtagHeaderFilter can generate ETags from the response body hash for any endpoint, at the cost of still computing the body.
Here ExpenseResponse is assumed to expose the entity version. Version-based ETags also enable If-Match for safe updates (Session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Session 4's LRU cache built on LinkedHashMap? Redis applies the same idea server-wide with maxmemory-policy allkeys-lru — but approximated by sampling for efficiency.
Redis is a cache and a primary store for some data (rate limits, sessions, leaderboards). Decide per use case whether losing the data on a restart is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blocks the single command thread while it walks every key — on a large production instance it can stall all clients. SCAN iterates incrementally.
SET ... NX EX is atomic 'set if absent with expiry' — the building block for idempotency keys and simple distributed locks (used again in Session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Evict, don't update: after a write, deleting the cache entry is simpler and safer than computing the new cached value (two concurrent writers could otherwise cache an outdated result).
A TTL guarantees eventual freshness even if an eviction is missed (e.g. a write made directly in the database by 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becomes splitwise::balances::7 in Redis. Run MONITOR in redis-cli while calling the API: the first call shows a GET miss and a SET; the next calls show only GETs.
Values are stored with JDK serialization by default (binary). For human-readable JSON configure serializeValuesWith(...) with a JSON serializer — with Jackson 3 you must include type information (or use a typed serializer per cache) so values deserialize back into your records.
sync true makes concurrent misses for the same key wait for one loader in this instance — a cheap stampede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in the expense controller: if (!guards.allow(userId, 30)) return 429 Too Many Requests; and if (!guards.firstTime(header)) return the original result / 409 for an Idempotency-Key header.
Why Redis and not a ConcurrentHashMap? With three API instances behind a load balancer, each would keep its own counters — the limit would effectively triple. Redis is the shared, atomic source.
Fixed windows allow bursts at window edges; sliding-window or token-bucket algorithms (often a small Lua script or Redis 7 functions) smooth that out. API gateways (Session 23) offer rate limiting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report numbers: typical results are 30–80 ms uncached versus 1–3 ms cached on a laptop. Then ask what the risk is if they forget one @CacheEvict (stale balances for up to 10 minutes — the TTL).
If deserialization errors appear after changing a record, flush the cache (FLUSHDB in dev) — cached old shapes are a classic deployment gotcha; versioned cache names (balances-v2) avoid it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Q4 by asking: what if the eviction happens but the transaction later rolls back? (Harmless — the next read just recomputes. Evicting is always safe; populating with uncommitted data would not be.)
Q1 answer: B — Cookies live in the browser and travel with every matching request; server caches live in your infrastructure.
Q2 answer: C — no-store forbids storing; no-cache allows storing but requires revalidation.
Q3 answer: B — The ETag matches, so the cached copy is still valid; 304 avoids resending the body.
Q4 answer: B — Evict the specific key on write (@CacheEvict(key "#groupId")); the TTL is only a safety net.
Q5 answer: B — Each instance has its own memory; Redis gives one atomic counter for the whole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Spring Security — authentication vs authorization, the security filter chain, and storing users with BCrypt-hashed passwords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16: Spring Security — Authentication vs Authorization &amp; Database-Based User Authentication.
Before you start: Sessions 8–9 (filters, AOP proxies) and Session 12 (the users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at an airport, showing your passport is authentication; your boarding pass deciding which gate and seat you may access is authorization.
Notice two kinds of roles in Splitwise: global roles (platform admin) and per-group roles (group admin). URL rules handle the first; method security with domain checks handles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directly on Session 8: Spring Security registers one servlet filter (DelegatingFilterProxy → FilterChainProxy) that runs its own internal chain of security filters.
SecurityContextHolder uses a ThreadLocal by default — the current user is available anywhere on the request thread (SecurityContextHolder.getContext().getAuthentication()), which is how @PreAuthorize and @AuthenticationPrincipal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evaluated top to bottom; put specific matchers first and anyRequest() last.
CSRF protection matters when the browser automatically attaches credentials (session cookies). A stateless API that requires an Authorization header on every request isn't vulnerable in the same way, so disabling CSRF is standard there — keep it enabled for cookie-based sessions and server-rendered forms.
The removed WebSecurityConfigurerAdapter, antMatchers and .and() chaining from old tutorials don't exist in Spring Security 7 — always use this bean + lambda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the same password twice yields two different strings because of the salt — that's why you must use matches, never compare hashes with equals.
Slowness is the feature: ~100 ms is invisible to a user logging in but makes brute-forcing a leaked database impractically expensive. Re-tune the cost factor as hardware gets faster.
Connection to Session 5: this is the 'password hashing' row of the hashing table — the opposite design goal from HashMap's fast hash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 sees a single UserDetailsService bean plus a PasswordEncoder bean and wires a DaoAuthenticationProvider automatically — no manual AuthenticationManager setup.
Never reveal whether the username or the password was wrong: Spring returns the same 401 for both, which prevents user enumeration.
(Set here is java.util.Set; imports trimmed for space.) Group roles are not loaded here — they're per group and checked at method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temporary X-User-Id header from Sessions 13–14 now disappears: controllers take the acting user from @AuthenticationPrincipal — clients can no longer impersonate others by changing a header.
HTTP Basic sends credentials (base64, not encrypted!) on every request — acceptable for learning and service-to-service calls over HTTPS only. Token-based authentication (OAuth2/JWT) follows in Session 18.
Password policy: length beats complexity rules; check against breached-password lists in real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 rules can't express 'admin of this group' because the decision needs data. Method security evaluates SpEL with access to method arguments (#groupId) and the authentication.
SpEL argument names like #groupId rely on the -parameters compiler flag, which the Spring Boot parent POM enables.
OWASP API Security Top 10 lists Broken Object Level Authorization first — a test for 'user of group 7 requests group 8' belongs in every API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@PreAuthorize evaluates to false, Spring throws AccessDeniedException; our ProblemJsonHandlers (or an @ExceptionHandler for AccessDeniedException in the advice) turns it into a 403 problem response.
Should a non-member get 403 or 404 for a group? 404 hides the group's existence (prevents enumeration); 403 is more debuggable. Pick a policy and apply it consistently.
These membership checks run a query per call — cheap with the UNIQUE (group_id, user_id) index, and cacheable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CORS is a browser mechanism: it decides whether JavaScript from another origin may read your responses. It is not an authentication mechanism and doesn't protect non-browser clients.
Security tests are cheap insurance: one test per rule (anonymous → 401, wrong role → 403, right role → 200, non-member → 403/404) catches the misconfigurations that otherwise reach production.
@WithMockUser creates a simple Spring User principal; for tests that need our AppUserPrincipal (domain checks), use .with(user(new AppUserPrincipal(...))) from SecurityMockMvcRequestPostProcessors.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an ADMIN user in a Flyway migration with a pre-computed BCrypt hash — never a plain password in SQL. Generate the hash once with PasswordEncoderFactories.createDelegatingPasswordEncoder().encode("...") in a scratch test.
Common pitfall: hasRole("ROLE_ADMIN") — hasRole adds the ROLE_ prefix itself, so this checks ROLE_ROLE_ADMIN and always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Q4, ask why hasRole('ADMIN') is insufficient: a platform admin and a group admin are different concepts — mixing them grants far too much power.
Q1 answer: B — 401 means the client isn't authenticated; 403 means authenticated but not permitted.
Q2 answer: B — loadUserByUsername returns UserDetails; the DaoAuthenticationProvider checks the password with the encoder.
Q3 answer: B — Fast hashes enable massive brute-force attempts; BCrypt's cost factor makes each guess expensive and the salt defeats rainbow tables.
Q4 answer: C — Per-group roles need data, so a bean method evaluated via SpEL performs the domain-level check.
Q5 answer: B — CSRF exploits credentials the browser sends automatically (cookies). Header-based tokens aren't attached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the Splitwise Advanced minor project — integrating JUnit, Redis and Spring Security with role-based access and advanced validations, using Cursor's AI agents to speed up the repetitive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17: Minor Project — Splitwise Advanced with Cursor AI: JUnit + Redis + Security Integration.
Before you start: Sessions 13–16: Splitwise flows, tests, Redis caching and Spring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an integration sprint: no new framework concepts, but making Sessions 13–16 work together is where real engineering problems appear (cache keys vs authorization, test setup with security, validation layering).
Tech for this minor project per the brochure: JUnit &amp; Mockito, Redis, Spring Security, Cursor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names and features evolve quickly; the workflow principles here (context, rules, plan → implement → test → review) transfer to any AI coding assistant.
Cursor indexes the repository to retrieve relevant code. Respect your organisation's policies: use privacy settings, and never paste secrets or customer data into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the rules mirror everything we learned: they are the course's 'version notes' turned into machine-readable guidance. Updating them is part of upgrading Spring Boot.
globs scopes a rule to matching files; alwaysApply: true includes it in every request. Keep rules short and specific — long essays get ignored by models just like by humans.
Commit the rules to Git so the whole team (and CI review bots) share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prompts contain acceptance criteria; the agent can then check its own work by running the tests. That loop — generate, run, read failures, fix — is where agents genuinely save time.
For repetitive work (DTOs for ten endpoints, mapping code, test scaffolding, migrations from an ERD) agents shine. For core money rules, write or at least review every line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layering in the final design: field constraints (shape) → @ValidSplit (internal consistency, no database) → service rules (membership, needs data) → database constraints (last line of defence).
The violation is attached to the participants property, so our GlobalExceptionHandler reports it in the same errors map as field errors — clients get one consistent 400 format.
@PastOrPresent on the date and @Size(max 50) on participants are cheap guards against nonsense and abuse.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split GroupQueries and BalanceService? The cache key is the group id only, so the authorization check must always run before the cache lookup — otherwise a non-member could read cached balances. Keeping them in separate beans makes the order explicit and avoids self-invocation.
'Edit own expense' is a data-level rule: compare expense.createdBy with the principal's id in the service (or in a @PreAuthorize bean method).
Ask an AI agent to generate the security tests from this matrix — a perfect, verifiable, repetitive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valuable moment is the failing test: the agent's first attempt had a subtle rounding-order bug — exactly the kind of mistake that would slip through without tests. Tests turn AI output from 'plausible' into 'verified'.
The human's job shifts to specification (the prompt), judgement (approving the plan) and review (the diff). That's still engineering — arguably the most important part.
Keep an AI usage log in the README for this project: prompt, what was generated, what you changed and why. Interviewers increasingly ask how candidates use AI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course's own lint idea in CI: a simple grep for @MockBean, javax.persistence or antMatchers fails the build — cheap protection against outdated AI suggestions.
Agents that can execute terminal commands must be supervised: approve commands, never give them production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containers start once per test class: MySQL (with Flyway migrations) and Redis. @ServiceConnection(name "redis") tells Boot that the generic container is a Redis server.
The seed script inserts users with BCrypt hashes generated once — never plain passwords — and group memberships for asha/ravi/meera.
This single test would have caught the 'cache before authorization' bug from the permission-matrix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focuses on behaviour (tests prove the matrix), not on how much code the AI wrote. A student who rejects a bad AI suggestion and explains why has demonstrated exactly the judgement employers want.
If students lack Cursor access, the same workflow works with any assistant that supports project instructions; the rules file content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Q5's broader lesson: AI assistants reflect the average of their training data, which lags behind the latest framework releases.
Q1 answer: C — Agent mode plans, edits multiple files and can run terminal commands (with approval).
Q2 answer: B — Rules provide persistent context so generated code matches your stack and conventions; review is still required.
Q3 answer: B — Only a class-level constraint can see several fields of the request at once.
Q4 answer: B — Otherwise a non-member could read another group's cached balances. Authorize first, then hit the cache.
Q5 answer: B — @MockBean was removed in Boot 4. Fix the code and update the rules so it doesn't recur.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OAuth 2.0 — delegated authorization, flows and scopes — and 'Login with GitHub' in Spring Boot, ending with a bridge to microservices.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18: OAuth 2.0 Workflow, Scopes &amp; GitHub OAuth2 with Spring Boot.
Before you start: Session 16: Spring Security filter chain, principals and authorities.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'password anti-pattern': early apps asked for your email password to import contacts. If that app was breached, so was your mailbox. OAuth replaced that with scoped, revocable tokens.
OAuth 2.0 is an authorization framework (RFC 6749). Logging users in with it requires an identity layer — OpenID Connect — or, for providers like GitHub, calling a user-info API with the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steps with real URLs. Spring Security implements all of them: the /oauth2/authorization/{registrationId} entry point, state generation, the callback at /login/oauth2/code/{registrationId}, the token exchange and the user-info call.
Why not return the token directly in the redirect (the old implicit flow)? URLs leak through browser history, logs and referrer headers. A one-time code exchanged on the back channel is far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Least privilege: a 'Login with GitHub' button needs at most read:user (and user:email if you need a verified email). Asking for repo scares users and creates enormous risk if your app leaks tokens.
Access tokens should be short-lived (minutes); refresh tokens longer-lived but rotated and revocable.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URL mismatch is the #1 setup error (GitHub shows 'redirect_uri is not associated with this application'). Use separate OAuth Apps for local, staging and production, each with its own callback URL.
If a secret leaks, regenerate it on GitHub immediately and rotate it in your secret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Visiting any protected page redirects to GitHub; after consent, Spring creates an HTTP session and the user is logged in. This is a browser login, so the session cookie + CSRF protection model from Session 16 applies.
Spring Boot 4 renamed the starter to spring-boot-starter-security-oauth2-client (the old spring-boot-starter-oauth2-client name is gone).
Spring Security's CommonOAuth2Provider.GITHUB supplies the authorization, token and user-info URLs, so the provider section can be omitted for GitHub (and Google, Facebook, Okta).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on the immutable numeric GitHub id, not the login (users can rename their GitHub account) and not the email (may be private or change).
Account linking: an existing Splitwise user (registered with a password in Session 16) can link GitHub later; then both login methods resolve to the same local User. Be careful to link only after verifying ownership of both.
To get the private email you'd add the user:email scope and call https://api.github.com/user/emails with the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put secrets or personal data you wouldn't print into a JWT payload — it's only base64-encoded.
For browser SPAs, the recommended pattern is a Backend for Frontend: the server keeps tokens and gives the browser an HttpOnly session cookie, rather than storing tokens in localStorage where XSS can steal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payload is readable by anyone (we just decoded it); the signature is what makes it trustworthy. Changing sub from 42 to 1 breaks the signature, so the forged token is rejected.
HS256 uses one shared secret (fine inside one system); most identity providers sign with RS256/ES256 private keys so that services only need the public keys to verify.
MessageDigest.isEqual compares in constant time, avoiding timing attacks that leak how many leading characters matched.
Expected output:
parts: 3
header : {"alg":"HS256","typ":"JWT"}
payload: {"iss":"https://auth.splitwise.local","sub":"42","scope":"expenses:read expenses:write","exp":1793000000}
valid signature? true
tampered token valid? false
wrong key valid?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Splitwise is a sensible monolith. The Airbnb-style major project (Sessions 21–24) has independent domains — users, properties, bookings, payments — with different scaling needs, which makes it a good microservices candidate.
Preview: Feign clients (Session 19) can propagate the caller's bearer token or obtain their own via client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Revoke the app in GitHub (Settings → Applications → Authorized OAuth Apps) and log in again — students see the consent screen reappear, making 'revocable delegated access' concrete.
Two filter chains: annotate the API chain with @Order(1) and http.securityMatcher("/api/"); the browser chain (no matcher) handles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Q1 to re-draw the four roles on the board with our concrete systems in each box.
For Q4, paste a real token into a JWT debugger in class (one from the Keycloak stretch lab, never a production token) to show that anyone can read the claims.
Q1 answer: C — github.com authenticates the user and issues tokens; our Spring Boot app is the client; api.github.com is the resource server.
Q2 answer: B — The client checks that the state returned matches the one it sent, so attackers can't inject their own authorization responses.
Q3 answer: C — Client credentials authenticate the calling service itself (machine-to-machine).
Q4 answer: B — Standard JWTs (JWS) are signed, not encrypted — never put secrets in them.
Q5 answer: C — Least privilege: profile access is enough to identify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complete: Splitwise is tested, cached, secured, and can log users in with GitHub. Module 4 starts with monoliths vs microservices and Feign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6446520"/>
            <a:ext cx="11277295" cy="0"/>
          </a:xfrm>
          <a:prstGeom prst="line">
            <a:avLst/>
          </a:prstGeom>
          <a:noFill/>
          <a:ln w="9525">
            <a:solidFill>
              <a:srgbClr val="D5DDD7"/>
            </a:solidFill>
            <a:prstDash val="solid"/>
          </a:ln>
        </p:spPr>
      </p:sp>
      <p:sp>
        <p:nvSpPr>
          <p:cNvPr id="3" name="Text 1"/>
          <p:cNvSpPr/>
          <p:nvPr/>
        </p:nvSpPr>
        <p:spPr>
          <a:xfrm>
            <a:off x="457200" y="6473952"/>
            <a:ext cx="10362895" cy="274320"/>
          </a:xfrm>
          <a:prstGeom prst="rect">
            <a:avLst/>
          </a:prstGeom>
          <a:noFill/>
          <a:ln/>
        </p:spPr>
        <p:txBody>
          <a:bodyPr wrap="square" rtlCol="0" anchor="ctr"/>
          <a:lstStyle/>
          <a:p>
            <a:pPr indent="0" marL="0">
              <a:buNone/>
            </a:pPr>
            <a:r>
              <a:rPr lang="en-US" sz="900" dirty="0">
                <a:solidFill>
                  <a:srgbClr val="5B6B60"/>
                </a:solidFill>
                <a:latin typeface="Calibri" pitchFamily="34" charset="0"/>
                <a:ea typeface="Calibri" pitchFamily="34" charset="-122"/>
                <a:cs typeface="Calibri" pitchFamily="34" charset="-120"/>
              </a:rPr>
              <a:t>Module 3 · Testing, Security &amp; Microservices Intro  —  based on the GeeksforGeeks “Java Backend Development Course With IBM Certification” syllabus</a:t>
            </a:r>
            <a:endParaRPr lang="en-US" sz="9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1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8B6CF0"/>
          </a:solidFill>
          <a:ln w="12700">
            <a:solidFill>
              <a:srgbClr val="8B6CF0"/>
            </a:solidFill>
            <a:prstDash val="solid"/>
          </a:ln>
        </p:spPr>
      </p:sp>
      <p:sp>
        <p:nvSpPr>
          <p:cNvPr id="3" name="Text 1"/>
          <p:cNvSpPr/>
          <p:nvPr/>
        </p:nvSpPr>
        <p:spPr>
          <a:xfrm>
            <a:off x="731520" y="1188720"/>
            <a:ext cx="10058400" cy="457200"/>
          </a:xfrm>
          <a:prstGeom prst="rect">
            <a:avLst/>
          </a:prstGeom>
          <a:noFill/>
          <a:ln/>
        </p:spPr>
        <p:txBody>
          <a:bodyPr wrap="square" rtlCol="0" anchor="ctr"/>
          <a:lstStyle/>
          <a:p>
            <a:pPr indent="0" marL="0">
              <a:buNone/>
            </a:pPr>
            <a:r>
              <a:rPr lang="en-US" sz="1600" b="1" dirty="0">
                <a:solidFill>
                  <a:srgbClr val="8B6CF0"/>
                </a:solidFill>
                <a:latin typeface="Calibri" pitchFamily="34" charset="0"/>
                <a:ea typeface="Calibri" pitchFamily="34" charset="-122"/>
                <a:cs typeface="Calibri" pitchFamily="34" charset="-120"/>
              </a:rPr>
              <a:t>MODULE 3  ·  SESSIONS 13–18</a:t>
            </a:r>
            <a:endParaRPr lang="en-US" sz="1600" dirty="0"/>
          </a:p>
        </p:txBody>
      </p:sp>
      <p:sp>
        <p:nvSpPr>
          <p:cNvPr id="4" name="Text 2"/>
          <p:cNvSpPr/>
          <p:nvPr/>
        </p:nvSpPr>
        <p:spPr>
          <a:xfrm>
            <a:off x="731520" y="1691640"/>
            <a:ext cx="10515600" cy="1280160"/>
          </a:xfrm>
          <a:prstGeom prst="rect">
            <a:avLst/>
          </a:prstGeom>
          <a:noFill/>
          <a:ln/>
        </p:spPr>
        <p:txBody>
          <a:bodyPr wrap="square"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Testing, Security &amp; Microservices Intro</a:t>
            </a:r>
            <a:endParaRPr lang="en-US" sz="4400" dirty="0"/>
          </a:p>
        </p:txBody>
      </p:sp>
      <p:sp>
        <p:nvSpPr>
          <p:cNvPr id="5" name="Text 3"/>
          <p:cNvSpPr/>
          <p:nvPr/>
        </p:nvSpPr>
        <p:spPr>
          <a:xfrm>
            <a:off x="731520" y="3108960"/>
            <a:ext cx="10058400" cy="1005840"/>
          </a:xfrm>
          <a:prstGeom prst="rect">
            <a:avLst/>
          </a:prstGeom>
          <a:noFill/>
          <a:ln/>
        </p:spPr>
        <p:txBody>
          <a:bodyPr wrap="square" rtlCol="0" anchor="t"/>
          <a:lstStyle/>
          <a:p>
            <a:pPr indent="0" marL="0">
              <a:buNone/>
            </a:pPr>
            <a:r>
              <a:rPr lang="en-US" sz="1800" dirty="0">
                <a:solidFill>
                  <a:srgbClr val="C9D8CE"/>
                </a:solidFill>
                <a:latin typeface="Calibri" pitchFamily="34" charset="0"/>
                <a:ea typeface="Calibri" pitchFamily="34" charset="-122"/>
                <a:cs typeface="Calibri" pitchFamily="34" charset="-120"/>
              </a:rPr>
              <a:t>Harden your backend with unit testing, Redis caching, Spring Security, and OAuth2 — then enhance the Splitwise project with all these capabilities.</a:t>
            </a:r>
            <a:endParaRPr lang="en-US" sz="1800" dirty="0"/>
          </a:p>
        </p:txBody>
      </p:sp>
      <p:sp>
        <p:nvSpPr>
          <p:cNvPr id="6" name="Text 4"/>
          <p:cNvSpPr/>
          <p:nvPr/>
        </p:nvSpPr>
        <p:spPr>
          <a:xfrm>
            <a:off x="731520" y="4937760"/>
            <a:ext cx="10058400" cy="365760"/>
          </a:xfrm>
          <a:prstGeom prst="rect">
            <a:avLst/>
          </a:prstGeom>
          <a:noFill/>
          <a:ln/>
        </p:spPr>
        <p:txBody>
          <a:bodyPr wrap="square" rtlCol="0" anchor="ctr"/>
          <a:lstStyle/>
          <a:p>
            <a:pPr indent="0" marL="0">
              <a:buNone/>
            </a:pPr>
            <a:r>
              <a:rPr lang="en-US" sz="1400" b="1" dirty="0">
                <a:solidFill>
                  <a:srgbClr val="F3EF6B"/>
                </a:solidFill>
                <a:latin typeface="Calibri" pitchFamily="34" charset="0"/>
                <a:ea typeface="Calibri" pitchFamily="34" charset="-122"/>
                <a:cs typeface="Calibri" pitchFamily="34" charset="-120"/>
              </a:rPr>
              <a:t>Java Backend Development — Interactive Course Notes</a:t>
            </a:r>
            <a:endParaRPr lang="en-US" sz="1400" dirty="0"/>
          </a:p>
        </p:txBody>
      </p:sp>
      <p:sp>
        <p:nvSpPr>
          <p:cNvPr id="7" name="Text 5"/>
          <p:cNvSpPr/>
          <p:nvPr/>
        </p:nvSpPr>
        <p:spPr>
          <a:xfrm>
            <a:off x="731520" y="5349240"/>
            <a:ext cx="10515600" cy="548640"/>
          </a:xfrm>
          <a:prstGeom prst="rect">
            <a:avLst/>
          </a:prstGeom>
          <a:noFill/>
          <a:ln/>
        </p:spPr>
        <p:txBody>
          <a:bodyPr wrap="square" rtlCol="0" anchor="ctr"/>
          <a:lstStyle/>
          <a:p>
            <a:pPr indent="0" marL="0">
              <a:buNone/>
            </a:pPr>
            <a:r>
              <a:rPr lang="en-US" sz="1100" dirty="0">
                <a:solidFill>
                  <a:srgbClr val="9FB3A6"/>
                </a:solidFill>
                <a:latin typeface="Calibri" pitchFamily="34" charset="0"/>
                <a:ea typeface="Calibri" pitchFamily="34" charset="-122"/>
                <a:cs typeface="Calibri" pitchFamily="34" charset="-120"/>
              </a:rPr>
              <a:t>Independent study companion based on the GeeksforGeeks “Java Backend Development Course With IBM Certification” brochure. Code targets Java 21 LTS (Java 25 LTS also works), Spring Boot 4.1.x (Spring Framework 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Module roadmap</a:t>
            </a:r>
            <a:endParaRPr lang="en-US" sz="2800" dirty="0"/>
          </a:p>
        </p:txBody>
      </p:sp>
      <p:sp>
        <p:nvSpPr>
          <p:cNvPr id="4" name="Text 2"/>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Brochure topics in order, and the session that teaches each one.</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7295" cy="914400"/>
        </p:xfrm>
        <a:graphic>
          <a:graphicData uri="http://schemas.openxmlformats.org/drawingml/2006/table">
            <a:tbl>
              <a:tblPr/>
              <a:tblGrid>
                <a:gridCol w="548640"/>
                <a:gridCol w="8778240"/>
                <a:gridCol w="1947672"/>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Brochure topic (verbatim)</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Session(s)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Splitwise Backend (Part 2): expense flows &amp; group management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JUnit 5 &amp; Mockito — service &amp; controller layer testing</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MockMvc for REST API testing</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Redis: cache vs cookie, server vs browser cache</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S15</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Spring Security — authentication vs authorization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Database-based user authentication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Splitwise with Cursor AI: JUnit + Redis + Security integration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S17</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OAuth 2.0 workflow, scopes &amp; GitHub OAuth2 with Spring Boot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S18</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8B6CF0"/>
                </a:solidFill>
                <a:latin typeface="Calibri" pitchFamily="34" charset="0"/>
                <a:ea typeface="Calibri" pitchFamily="34" charset="-122"/>
                <a:cs typeface="Calibri" pitchFamily="34" charset="-120"/>
              </a:rPr>
              <a:t>SESSION 13 OF 24  ·  MODULE 3</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Splitwise Backend (Part 2): Expense Flows &amp; Group Management</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Splitwise Backend (Part 2): expense flows &amp; group management</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equal, exact, percentage and shares splits with the Strategy pattern and exact money allocation.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Build the add/edit/delete expense flows as transactional, validated operations.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Compute group balances with SQL and simplify debts with a greedy two-heap algorithm.</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Enforce group-management rules: membership, roles, removing members, settling up.</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Project: Part 2 scope: money starts moving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Strategy pattern for split types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Split strategies in pure Java</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Wiring it into Spring: the add-expense service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Computing balances with one SQL query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Simplifying debts with two priority queues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Group management rules &amp; concurrency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The whole flow from the command line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Project milestone 2: expenses, balances &amp; settlements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expense flows &amp; group management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13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05A72"/>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Part 2 scope: money starts moving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Part 1 gave us users, groups and a schema. Part 2 implements the flows that make Splitwise useful.</a:t>
            </a:r>
            <a:endParaRPr lang="en-US" sz="1350" dirty="0"/>
          </a:p>
        </p:txBody>
      </p:sp>
      <p:sp>
        <p:nvSpPr>
          <p:cNvPr id="7" name="Text 5"/>
          <p:cNvSpPr/>
          <p:nvPr/>
        </p:nvSpPr>
        <p:spPr>
          <a:xfrm>
            <a:off x="457200"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Add expense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4 split types</a:t>
            </a:r>
            <a:endParaRPr lang="en-US" sz="1150" dirty="0"/>
          </a:p>
        </p:txBody>
      </p:sp>
      <p:sp>
        <p:nvSpPr>
          <p:cNvPr id="8" name="Shape 6"/>
          <p:cNvSpPr/>
          <p:nvPr/>
        </p:nvSpPr>
        <p:spPr>
          <a:xfrm>
            <a:off x="2456627" y="2432304"/>
            <a:ext cx="320040" cy="0"/>
          </a:xfrm>
          <a:prstGeom prst="line">
            <a:avLst/>
          </a:prstGeom>
          <a:noFill/>
          <a:ln w="15875">
            <a:solidFill>
              <a:srgbClr val="6F8276"/>
            </a:solidFill>
            <a:prstDash val="solid"/>
            <a:tailEnd type="triangle"/>
          </a:ln>
        </p:spPr>
      </p:sp>
      <p:sp>
        <p:nvSpPr>
          <p:cNvPr id="9" name="Text 7"/>
          <p:cNvSpPr/>
          <p:nvPr/>
        </p:nvSpPr>
        <p:spPr>
          <a:xfrm>
            <a:off x="2776667"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Balances</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paid − owed ± settlements</a:t>
            </a:r>
            <a:endParaRPr lang="en-US" sz="1150" dirty="0"/>
          </a:p>
        </p:txBody>
      </p:sp>
      <p:sp>
        <p:nvSpPr>
          <p:cNvPr id="10" name="Shape 8"/>
          <p:cNvSpPr/>
          <p:nvPr/>
        </p:nvSpPr>
        <p:spPr>
          <a:xfrm>
            <a:off x="4776094" y="2432304"/>
            <a:ext cx="320040" cy="0"/>
          </a:xfrm>
          <a:prstGeom prst="line">
            <a:avLst/>
          </a:prstGeom>
          <a:noFill/>
          <a:ln w="15875">
            <a:solidFill>
              <a:srgbClr val="6F8276"/>
            </a:solidFill>
            <a:prstDash val="solid"/>
            <a:tailEnd type="triangle"/>
          </a:ln>
        </p:spPr>
      </p:sp>
      <p:sp>
        <p:nvSpPr>
          <p:cNvPr id="11" name="Text 9"/>
          <p:cNvSpPr/>
          <p:nvPr/>
        </p:nvSpPr>
        <p:spPr>
          <a:xfrm>
            <a:off x="5096134"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Simplify debts</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fewest transfers</a:t>
            </a:r>
            <a:endParaRPr lang="en-US" sz="1150" dirty="0"/>
          </a:p>
        </p:txBody>
      </p:sp>
      <p:sp>
        <p:nvSpPr>
          <p:cNvPr id="12" name="Shape 10"/>
          <p:cNvSpPr/>
          <p:nvPr/>
        </p:nvSpPr>
        <p:spPr>
          <a:xfrm>
            <a:off x="7095561" y="2432304"/>
            <a:ext cx="320040" cy="0"/>
          </a:xfrm>
          <a:prstGeom prst="line">
            <a:avLst/>
          </a:prstGeom>
          <a:noFill/>
          <a:ln w="15875">
            <a:solidFill>
              <a:srgbClr val="6F8276"/>
            </a:solidFill>
            <a:prstDash val="solid"/>
            <a:tailEnd type="triangle"/>
          </a:ln>
        </p:spPr>
      </p:sp>
      <p:sp>
        <p:nvSpPr>
          <p:cNvPr id="13" name="Text 11"/>
          <p:cNvSpPr/>
          <p:nvPr/>
        </p:nvSpPr>
        <p:spPr>
          <a:xfrm>
            <a:off x="7415601"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Settle up</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record a payment</a:t>
            </a:r>
            <a:endParaRPr lang="en-US" sz="1150" dirty="0"/>
          </a:p>
        </p:txBody>
      </p:sp>
      <p:sp>
        <p:nvSpPr>
          <p:cNvPr id="14" name="Shape 12"/>
          <p:cNvSpPr/>
          <p:nvPr/>
        </p:nvSpPr>
        <p:spPr>
          <a:xfrm>
            <a:off x="9415028" y="2432304"/>
            <a:ext cx="320040" cy="0"/>
          </a:xfrm>
          <a:prstGeom prst="line">
            <a:avLst/>
          </a:prstGeom>
          <a:noFill/>
          <a:ln w="15875">
            <a:solidFill>
              <a:srgbClr val="6F8276"/>
            </a:solidFill>
            <a:prstDash val="solid"/>
            <a:tailEnd type="triangle"/>
          </a:ln>
        </p:spPr>
      </p:sp>
      <p:sp>
        <p:nvSpPr>
          <p:cNvPr id="15" name="Text 13"/>
          <p:cNvSpPr/>
          <p:nvPr/>
        </p:nvSpPr>
        <p:spPr>
          <a:xfrm>
            <a:off x="9735068"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Balances 0</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group can close</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Endpoint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/api/v1/groups/{id}/expenses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add expense (EQUAL, EXACT, PERCENTAGE, SHARES)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PUT / DELETE …/expenses/{expenseId}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edit (optimistic locking) / soft delete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…/expenses?page&amp;size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expense feed, newest first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/api/v1/groups/{id}/balances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per-member balance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GET …/balances/simplified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suggested transfers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POST /api/v1/groups/{id}/settlements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settle 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DELETE /api/v1/groups/{id}/members/{userId}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remove member (only when balance is 0)</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Strategy pattern for split types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Each split type is a small class behind one interface. Adding a new type never touches </a:t>
            </a:r>
            <a:pPr indent="0" marL="0">
              <a:buNone/>
            </a:pPr>
            <a:r>
              <a:rPr lang="en-US" sz="1350" dirty="0">
                <a:solidFill>
                  <a:srgbClr val="B4235A"/>
                </a:solidFill>
                <a:latin typeface="Consolas" pitchFamily="34" charset="0"/>
                <a:ea typeface="Consolas" pitchFamily="34" charset="-122"/>
                <a:cs typeface="Consolas" pitchFamily="34" charset="-120"/>
              </a:rPr>
              <a:t>ExpenseService</a:t>
            </a:r>
            <a:pPr indent="0" marL="0">
              <a:buNone/>
            </a:pPr>
            <a:r>
              <a:rPr lang="en-US" sz="1350" dirty="0">
                <a:solidFill>
                  <a:srgbClr val="5B6B60"/>
                </a:solidFill>
                <a:latin typeface="Calibri" pitchFamily="34" charset="0"/>
                <a:ea typeface="Calibri" pitchFamily="34" charset="-122"/>
                <a:cs typeface="Calibri" pitchFamily="34" charset="-120"/>
              </a:rPr>
              <a:t> — the Open/Closed principle.</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SplitStrategy</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EqualSplit</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ExactSplit</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PercentageSplit</a:t>
            </a:r>
            <a:endParaRPr lang="en-US" sz="1300" dirty="0"/>
          </a:p>
          <a:p>
            <a:pPr lvl="1" marL="3556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SharesSplit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Client sends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Validation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₹1,000 among A, B, 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EQUAL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participants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1 participant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333.34 / 333.33 / 333.33</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EXACT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amount per person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amounts sum to the total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450 / 300 / 250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PERCENTAGE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percent per person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percents sum to 100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50% / 33.33% / 16.67% → 500 / 333.30 / 166.70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shares per person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shares &gt; 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2 : 1 : 1 → 500 / 250 / 250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Split strategies in pure Java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core money logic has no Spring or database dependency — so it is trivial to test (Session 14).</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SplitStrategies.java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java.math.RoundingMode;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SplitStrategies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enum SplitType { EQUAL, EXACT, PERCENTAGE, SHARES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Participant(String userId, BigDecimal value)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Participant of(String id) { return new Participant(id, BigDecimal.ONE);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Participant of(String id, String value) { return new Participant(id, new BigDecimal(value));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interface SplitStrategy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SplitType 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Map&lt;String, BigDecimal&gt; split(BigDecimal amount, List&lt;Participant&gt; participants);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Proportional allocation in paise; leftover paise go to the largest fractional parts.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Map&lt;String, BigDecimal&gt; allocate(BigDecimal amount, List&lt;Participant&gt; ps)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total = amount.setScale(2, RoundingMode.UNNECESSARY).movePointRight(2).longValueExact();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BigDecimal weightSum = ps.stream().map(Participant::value).reduce(BigDecimal.ZERO, BigDecimal::add);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Wiring it into Spring: the add-expense service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Strategies become beans; the service loads the group, checks the rules, splits, and saves — in one transaction.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SplitStrategyResolver.java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com.example.splitwise.expense.split;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com.example.splitwise.common.BusinessRuleException;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com.example.splitwise.expense.SplitType;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java.util.EnumMap;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SplitStrategyResolver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Map&lt;SplitType, SplitStrategy&gt; byType = new EnumMap&lt;&gt;(SplitType.class);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SplitStrategyResolver(List&lt;SplitStrategy&gt; strategies) {    // every @Component strategy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 (SplitStrategy s : strategies)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(byType.put(s.type(), s) != null) throw new IllegalStateException("duplicate " + s.type());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SplitStrategy get(SplitType type)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SplitStrategy s = byType.get(type);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Computing balances with one SQL query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Balance = paid − owed + settlements sent − settlements received. Let the database aggregate.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BalanceService.java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com.example.splitwise.settlement;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org.springframework.jdbc.core.simple.JdbcClient;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org.springframework.transaction.annotation.Transactional;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record MemberBalance(Long userId, String displayName, BigDecimal balance)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BalanceService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JdbcClient jdbc;</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BalanceService(JdbcClient jdbc) { this.jdbc = jdbc;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@Transactional(readOnly = true)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List&lt;MemberBalance&gt; balances(long groupId)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jdbc.sql("""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SELECT u.id AS user_id, u.display_name,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COALESCE(paid.total, 0) - COALESCE(owed.total,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Simplifying debts with two priority queues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Instead of everyone paying everyone, match the biggest debtor with the biggest creditor until all balances are zero.</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DebtSimplifier.java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DebtSimplifier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Transfer(String from, String to, BigDecimal amount)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@Override public String toString() { return from + " pays " + to + " " + amount;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Balance(String user, BigDecimal amount)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Greedy: largest debtor pays largest creditor. Produces at most n - 1 transfers.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List&lt;Transfer&gt; simplify(Map&lt;String, BigDecimal&gt; balances)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Comparator&lt;Balance&gt; biggestFirst = Comparator.comparing(Balance::amount).reversed()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.thenComparing(Balance::user);                       // deterministic tie-break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PriorityQueue&lt;Balance&gt; creditors = new PriorityQueue&lt;&gt;(biggestFirst);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PriorityQueue&lt;Balance&gt; debtors = new PriorityQueue&lt;&gt;(biggestFirst);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balances.forEach((user, amt) -&gt;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(amt.signum() &gt; 0) creditors.add(new Balance(user, amt));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else if (amt.signum() &lt; 0) debtors.add(new Balance(user, amt.negate()));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dirty="0">
                <a:solidFill>
                  <a:srgbClr val="1F2A24"/>
                </a:solidFill>
                <a:latin typeface="Calibri" pitchFamily="34" charset="0"/>
                <a:ea typeface="Calibri" pitchFamily="34" charset="-122"/>
                <a:cs typeface="Calibri" pitchFamily="34" charset="-120"/>
              </a:rPr>
              <a:t>Finding the </a:t>
            </a:r>
            <a:pPr indent="0" marL="0">
              <a:buNone/>
            </a:pPr>
            <a:r>
              <a:rPr lang="en-US" sz="1100" i="1" dirty="0">
                <a:solidFill>
                  <a:srgbClr val="1F2A24"/>
                </a:solidFill>
                <a:latin typeface="Calibri" pitchFamily="34" charset="0"/>
                <a:ea typeface="Calibri" pitchFamily="34" charset="-122"/>
                <a:cs typeface="Calibri" pitchFamily="34" charset="-120"/>
              </a:rPr>
              <a:t>absolute minimum</a:t>
            </a:r>
            <a:pPr indent="0" marL="0">
              <a:buNone/>
            </a:pPr>
            <a:r>
              <a:rPr lang="en-US" sz="1100" dirty="0">
                <a:solidFill>
                  <a:srgbClr val="1F2A24"/>
                </a:solidFill>
                <a:latin typeface="Calibri" pitchFamily="34" charset="0"/>
                <a:ea typeface="Calibri" pitchFamily="34" charset="-122"/>
                <a:cs typeface="Calibri" pitchFamily="34" charset="-120"/>
              </a:rPr>
              <a:t> number of transfers is NP-hard in general (it relates to subset-sum). The greedy heap approach runs in O(n log n) and never needs more than n − 1 transfers — the practical choice.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Group management rules &amp; concurrency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Money rules must hold even when two members act at the same moment.</a:t>
            </a:r>
            <a:endParaRPr lang="en-US" sz="1350" dirty="0"/>
          </a:p>
        </p:txBody>
      </p:sp>
      <p:sp>
        <p:nvSpPr>
          <p:cNvPr id="7" name="Text 5"/>
          <p:cNvSpPr/>
          <p:nvPr/>
        </p:nvSpPr>
        <p:spPr>
          <a:xfrm>
            <a:off x="457200" y="1975104"/>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DELETE /groups/7/members/3</a:t>
            </a:r>
            <a:endParaRPr lang="en-US" sz="1200" dirty="0"/>
          </a:p>
        </p:txBody>
      </p:sp>
      <p:sp>
        <p:nvSpPr>
          <p:cNvPr id="8" name="Shape 6"/>
          <p:cNvSpPr/>
          <p:nvPr/>
        </p:nvSpPr>
        <p:spPr>
          <a:xfrm>
            <a:off x="6095848" y="2247595"/>
            <a:ext cx="0" cy="320040"/>
          </a:xfrm>
          <a:prstGeom prst="line">
            <a:avLst/>
          </a:prstGeom>
          <a:noFill/>
          <a:ln w="15875">
            <a:solidFill>
              <a:srgbClr val="6F8276"/>
            </a:solidFill>
            <a:prstDash val="solid"/>
            <a:tailEnd type="triangle"/>
          </a:ln>
        </p:spPr>
      </p:sp>
      <p:sp>
        <p:nvSpPr>
          <p:cNvPr id="9" name="Text 7"/>
          <p:cNvSpPr/>
          <p:nvPr/>
        </p:nvSpPr>
        <p:spPr>
          <a:xfrm>
            <a:off x="457200" y="2567635"/>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Lock the group row</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SELECT … FOR UPDATE (findByIdForUpdate)</a:t>
            </a:r>
            <a:endParaRPr lang="en-US" sz="1200" dirty="0"/>
          </a:p>
        </p:txBody>
      </p:sp>
      <p:sp>
        <p:nvSpPr>
          <p:cNvPr id="10" name="Shape 8"/>
          <p:cNvSpPr/>
          <p:nvPr/>
        </p:nvSpPr>
        <p:spPr>
          <a:xfrm>
            <a:off x="6095848" y="2840126"/>
            <a:ext cx="0" cy="320040"/>
          </a:xfrm>
          <a:prstGeom prst="line">
            <a:avLst/>
          </a:prstGeom>
          <a:noFill/>
          <a:ln w="15875">
            <a:solidFill>
              <a:srgbClr val="6F8276"/>
            </a:solidFill>
            <a:prstDash val="solid"/>
            <a:tailEnd type="triangle"/>
          </a:ln>
        </p:spPr>
      </p:sp>
      <p:sp>
        <p:nvSpPr>
          <p:cNvPr id="11" name="Text 9"/>
          <p:cNvSpPr/>
          <p:nvPr/>
        </p:nvSpPr>
        <p:spPr>
          <a:xfrm>
            <a:off x="457200" y="3160166"/>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Balance of user 3 0 ?</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no → 422 “settle up first”</a:t>
            </a:r>
            <a:endParaRPr lang="en-US" sz="1200" dirty="0"/>
          </a:p>
        </p:txBody>
      </p:sp>
      <p:sp>
        <p:nvSpPr>
          <p:cNvPr id="12" name="Shape 10"/>
          <p:cNvSpPr/>
          <p:nvPr/>
        </p:nvSpPr>
        <p:spPr>
          <a:xfrm>
            <a:off x="6095848" y="3432658"/>
            <a:ext cx="0" cy="320040"/>
          </a:xfrm>
          <a:prstGeom prst="line">
            <a:avLst/>
          </a:prstGeom>
          <a:noFill/>
          <a:ln w="15875">
            <a:solidFill>
              <a:srgbClr val="6F8276"/>
            </a:solidFill>
            <a:prstDash val="solid"/>
            <a:tailEnd type="triangle"/>
          </a:ln>
        </p:spPr>
      </p:sp>
      <p:sp>
        <p:nvSpPr>
          <p:cNvPr id="13" name="Text 11"/>
          <p:cNvSpPr/>
          <p:nvPr/>
        </p:nvSpPr>
        <p:spPr>
          <a:xfrm>
            <a:off x="457200" y="3752698"/>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Remove membership</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orphanRemoval deletes the row</a:t>
            </a:r>
            <a:endParaRPr lang="en-US" sz="1200" dirty="0"/>
          </a:p>
        </p:txBody>
      </p:sp>
      <p:sp>
        <p:nvSpPr>
          <p:cNvPr id="14" name="Shape 12"/>
          <p:cNvSpPr/>
          <p:nvPr/>
        </p:nvSpPr>
        <p:spPr>
          <a:xfrm>
            <a:off x="6095848" y="4025189"/>
            <a:ext cx="0" cy="320040"/>
          </a:xfrm>
          <a:prstGeom prst="line">
            <a:avLst/>
          </a:prstGeom>
          <a:noFill/>
          <a:ln w="15875">
            <a:solidFill>
              <a:srgbClr val="6F8276"/>
            </a:solidFill>
            <a:prstDash val="solid"/>
            <a:tailEnd type="triangle"/>
          </a:ln>
        </p:spPr>
      </p:sp>
      <p:sp>
        <p:nvSpPr>
          <p:cNvPr id="15" name="Text 13"/>
          <p:cNvSpPr/>
          <p:nvPr/>
        </p:nvSpPr>
        <p:spPr>
          <a:xfrm>
            <a:off x="457200" y="4345229"/>
            <a:ext cx="11277295" cy="272491"/>
          </a:xfrm>
          <a:prstGeom prst="roundRect">
            <a:avLst>
              <a:gd name="adj" fmla="val 26846"/>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Commit → 204 No Content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Enforced by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Only members appear in expenses and settlements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service checks + foreign keys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Shares sum to the amount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strategy + Expense.replaceSplits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Members can leave/be removed only with balance 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service check under a row lock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Two people editing the same expense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@Version → 409 Conflict, client reloads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Only ADMINs can remove members or delete the group</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 Security, Sessions 16–17</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Deleting an expense keeps history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soft delete (deleted_at)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whole flow from the command line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Two expenses, balances, a simplified plan and a settlement — the numbers must always add up to zero.</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HTTPie session</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group 7 members: Asha (1), Ravi (2), Meera (3)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 POST :8080/api/v1/groups/7/expenses description=Dinner amount=1200.00 paidBy:=1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splitType=EQUAL expenseDate=2026-10-20 participants:='[{"userId":1},{"userId":2},{"userId":3}]'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HTTP/1.1 201 Created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Location: http://localhost:8080/api/v1/groups/7/expenses/41</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 POST :8080/api/v1/groups/7/expenses description=Cab amount=600.00 paidBy:=2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splitType=EXACT expenseDate=2026-10-21 participants:='[{"userId":2,"value":100},{"userId":3,"value":500}]'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HTTP/1.1 201 Created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 :8080/api/v1/groups/7/balances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{"userId":1,"displayName":"Asha","balance":800.00},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{"userId":2,"displayName":"Ravi","balance":100.00},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{"userId":3,"displayName":"Meera","balance":-900.00}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 :8080/api/v1/groups/7/balances/simplified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{"from":"Meera","to":"Asha","amount":800.00}, {"from":"Meera","to":"Ravi","amount":100.00}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 POST :8080/api/v1/groups/7/settlements payerId:=3 payeeId:=1 amount=800.00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HTTP/1.1 201 Created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milestone 2: expenses, balances &amp; settlements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Complete the money flows of the minor project with tests-ready, rule-enforcing services.</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SplitStrategy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EqualSplit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ExactSplit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PercentageSplit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SharesSplit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as Spring components and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SplitStrategyResolver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 /groups/{id}/expenses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the membership rules; return 201 + Location; reject bad splits with 422.</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…/expenses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(paged, newest first, excluding soft-deleted),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PUT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@Version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(409 on conflict) and soft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DELETE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BalanceService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/groups/{id}/balances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log a warning if the balances don't sum to zero.</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DebtSimplifier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/groups/{id}/balances/simplified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 /groups/{id}/settlements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(members only, payer ≠ payee, amount &gt; 0) and watch balances move.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member removal with the row lock and zero-balance rule (422 otherwise).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Export a Postman/HTTPie collection covering happy paths and every error path; open the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Splitwise Part 2</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pull request.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expense flows &amp; group management</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design lets you add a new split type without modifying ExpenseService?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 big switch statement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Strategy pattern + a resolver map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Inheritance from ExpenseService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static utility class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₹1,000 split by SHARES 2 : 1 : 1 gives…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333.34 / 333.33 / 333.33</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500 / 250 / 250</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400 / 300 / 300</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666.67 / 166.67 / 166.66</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With 5 members, the greedy debt simplification produces at most…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10 transfers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5 transfers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4 transfers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1 transfer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A member with balance −100 asks to leave the group. The API should…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remove them anyway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return 422 and ask them to settle up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delete their expenses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set their balance to zero</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Why soft-delete expenses instead of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DELETE FROM expenses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is faster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 preserves history and audit trails (and allows undo)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MySQL cannot delete rows with foreign keys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JPA requires it</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13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Strategy pattern: one class per split type, resolved from an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EnumMap</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proportional allocation with largest-remainder keeps sums exact.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Add-expense = validate → load group → membership rules → split → save expense + splits atomically.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Balances come from one aggregate SQL query: paid − owed + sent − received; they always sum to zero.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Greedy two-heap debt simplification: O(n log n), at most n − 1 transfers.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Group rules: members only, zero balance to leave (under a row lock),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@Version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edits, soft deletes.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Strategy pattern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Family of interchangeable algorithms behind one interface.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Largest remainder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Allocate floors, then give leftover units to the largest fractional parts.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getReferenceById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JPA proxy for an id without loading the row — ideal for setting FKs.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Balance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Paid − owed + settlements sent − settlements received.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Debt simplification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Greedy matching of largest debtor and creditor.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Row lock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SELECT … FOR UPDATE: blocks concurrent writers until commit.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ETag / If-Match</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HTTP headers for optimistic concurrency on updates.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Zero-sum invariant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Balances in a group always add up to zero.</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8B6CF0"/>
                </a:solidFill>
                <a:latin typeface="Calibri" pitchFamily="34" charset="0"/>
                <a:ea typeface="Calibri" pitchFamily="34" charset="-122"/>
                <a:cs typeface="Calibri" pitchFamily="34" charset="-120"/>
              </a:rPr>
              <a:t>SESSION 14 OF 24  ·  MODULE 3</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JUnit 5 &amp; Mockito — Service &amp; Controller Testing, MockMvc for REST APIs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JUnit 5 &amp; Mockito — service &amp; controller layer testing</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MockMvc for REST API testing</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Write clear JUnit 5 (Jupiter) tests with AssertJ, parameterized tests and nested structure.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Isolate services with Mockito: stubbing, verification, argument captors and BDD style.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Test controllers with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@WebMvcTest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 MockMvc (and MockMvcTester), including validation and error responses.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Run realistic integration tests with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@SpringBootTest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@DataJpaTest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and Testcontainers MySQL.</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Why test — and the test pyramid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JUnit 5 (Jupiter) essentials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Unit tests for the money logic</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Mockito: isolating the unit under test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Service-layer test with Mockito</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Spring test slices: load only what you test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Controller tests with @WebMvcTest &amp; MockMvc</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MockMvcTester &amp; full integration tests with Testcontainers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What makes a good test suite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a test suite for Splitwise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JUnit, Mockito &amp; MockMvc</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14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Why test — and the test pyramid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Tests let you change code without fear. Most tests should be small and fast; a few should exercise the whole system.</a:t>
            </a:r>
            <a:endParaRPr lang="en-US" sz="1350" dirty="0"/>
          </a:p>
        </p:txBody>
      </p:sp>
      <p:sp>
        <p:nvSpPr>
          <p:cNvPr id="7" name="Text 5"/>
          <p:cNvSpPr/>
          <p:nvPr/>
        </p:nvSpPr>
        <p:spPr>
          <a:xfrm>
            <a:off x="457200" y="1883664"/>
            <a:ext cx="5120640" cy="387705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F.I.R.S.T.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Fast, Independent, Repeatable, Self-validating, Timely.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Structure every test as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Arrange → Act → Assert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(Given → When → Then).</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spring-boot-starter-test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brings JUnit Jupiter, AssertJ, Mockito, Hamcrest, JSONassert and JsonPath.</a:t>
            </a:r>
            <a:endParaRPr lang="en-US" sz="1700" dirty="0"/>
          </a:p>
        </p:txBody>
      </p:sp>
      <p:sp>
        <p:nvSpPr>
          <p:cNvPr id="8" name="Text 6"/>
          <p:cNvSpPr/>
          <p:nvPr/>
        </p:nvSpPr>
        <p:spPr>
          <a:xfrm>
            <a:off x="5852160" y="1883664"/>
            <a:ext cx="5882335" cy="3877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End-to-end — few · slow · whole system through HTTP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Integration — some · real DB / Spring context (Testcontainers, @SpringBootTest)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Slice tests — @WebMvcTest, @DataJpaTest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Unit tests — many · milliseconds · plain JUnit + Mockito</a:t>
            </a:r>
            <a:endParaRPr lang="en-US" sz="13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dirty="0">
                <a:solidFill>
                  <a:srgbClr val="1F2A24"/>
                </a:solidFill>
                <a:latin typeface="Calibri" pitchFamily="34" charset="0"/>
                <a:ea typeface="Calibri" pitchFamily="34" charset="-122"/>
                <a:cs typeface="Calibri" pitchFamily="34" charset="-120"/>
              </a:rPr>
              <a:t>Spring Boot 4 ships </a:t>
            </a:r>
            <a:pPr indent="0" marL="0">
              <a:buNone/>
            </a:pPr>
            <a:r>
              <a:rPr lang="en-US" sz="1100" b="1" dirty="0">
                <a:solidFill>
                  <a:srgbClr val="1F2A24"/>
                </a:solidFill>
                <a:latin typeface="Calibri" pitchFamily="34" charset="0"/>
                <a:ea typeface="Calibri" pitchFamily="34" charset="-122"/>
                <a:cs typeface="Calibri" pitchFamily="34" charset="-120"/>
              </a:rPr>
              <a:t>JUnit 6</a:t>
            </a:r>
            <a:pPr indent="0" marL="0">
              <a:buNone/>
            </a:pPr>
            <a:r>
              <a:rPr lang="en-US" sz="1100" dirty="0">
                <a:solidFill>
                  <a:srgbClr val="1F2A24"/>
                </a:solidFill>
                <a:latin typeface="Calibri" pitchFamily="34" charset="0"/>
                <a:ea typeface="Calibri" pitchFamily="34" charset="-122"/>
                <a:cs typeface="Calibri" pitchFamily="34" charset="-120"/>
              </a:rPr>
              <a:t>, which keeps the JUnit 5 </a:t>
            </a:r>
            <a:pPr indent="0" marL="0">
              <a:buNone/>
            </a:pPr>
            <a:r>
              <a:rPr lang="en-US" sz="1100" i="1" dirty="0">
                <a:solidFill>
                  <a:srgbClr val="1F2A24"/>
                </a:solidFill>
                <a:latin typeface="Calibri" pitchFamily="34" charset="0"/>
                <a:ea typeface="Calibri" pitchFamily="34" charset="-122"/>
                <a:cs typeface="Calibri" pitchFamily="34" charset="-120"/>
              </a:rPr>
              <a:t>Jupiter</a:t>
            </a:r>
            <a:pPr indent="0" marL="0">
              <a:buNone/>
            </a:pPr>
            <a:r>
              <a:rPr lang="en-US" sz="1100" dirty="0">
                <a:solidFill>
                  <a:srgbClr val="1F2A24"/>
                </a:solidFill>
                <a:latin typeface="Calibri" pitchFamily="34" charset="0"/>
                <a:ea typeface="Calibri" pitchFamily="34" charset="-122"/>
                <a:cs typeface="Calibri" pitchFamily="34" charset="-120"/>
              </a:rPr>
              <a:t> programming model (</a:t>
            </a:r>
            <a:pPr indent="0" marL="0">
              <a:buNone/>
            </a:pPr>
            <a:r>
              <a:rPr lang="en-US" sz="1100" dirty="0">
                <a:solidFill>
                  <a:srgbClr val="B4235A"/>
                </a:solidFill>
                <a:latin typeface="Consolas" pitchFamily="34" charset="0"/>
                <a:ea typeface="Consolas" pitchFamily="34" charset="-122"/>
                <a:cs typeface="Consolas" pitchFamily="34" charset="-120"/>
              </a:rPr>
              <a:t>org.junit.jupiter.api.*</a:t>
            </a:r>
            <a:pPr indent="0" marL="0">
              <a:buNone/>
            </a:pPr>
            <a:r>
              <a:rPr lang="en-US" sz="1100" dirty="0">
                <a:solidFill>
                  <a:srgbClr val="1F2A24"/>
                </a:solidFill>
                <a:latin typeface="Calibri" pitchFamily="34" charset="0"/>
                <a:ea typeface="Calibri" pitchFamily="34" charset="-122"/>
                <a:cs typeface="Calibri" pitchFamily="34" charset="-120"/>
              </a:rPr>
              <a:t>) taught here. JUnit 4 support is gone.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JUnit 5 (Jupiter) essentials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Annotations organise the lifecycle; AssertJ makes assertions read like sentences.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Assertions: JUnit vs AssertJ</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JUnit assertions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assertEquals(3, shares.size());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assertThrows(BusinessRuleException.class, () -&gt; strategy.split(amount, participants));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AssertJ — fluent, better failure messages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assertThat(shares).hasSize(3).containsKeys(1L, 2L, 3L);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assertThat(total).isEqualByComparingTo("1000.00");          // BigDecimal: ignore scale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assertThatThrownBy(() -&gt; strategy.split(amount, participants))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.isInstanceOf(BusinessRuleException.class)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.hasMessageContaining("add up to");</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Annotation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 test method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@BeforeEach / @AfterEach</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 around every test (fresh fixtures)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@BeforeAll / @AfterAll</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once per class (static), e.g. start a container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@DisplayName("…")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human-readable names in reports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@Nested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group related tests in inner classes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@ParameterizedTest + @CsvSource / @ValueSource / @MethodSource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same test, many inputs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@Tag("slow"), @Disabled, @Timeout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filter, skip, guard against hangs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@ExtendWith(MockitoExtension.class)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plug in extensions (Mockito, Spring)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Unit tests for the money logic</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Pure Java, no Spring, milliseconds per test — parameterized cases cover the tricky rounding edges.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EqualSplitTest.java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com.example.splitwise.expense.split;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org.assertj.core.api.Assertions.assertThat;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java.util.Map;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java.util.stream.LongStream;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org.junit.jupiter.params.ParameterizedTest;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org.junit.jupiter.params.provider.CsvSource;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EqualSplitTest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EqualSplit strategy = new EqualSplit();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@ParameterizedTest(name = "{0} split {1} ways -&gt; first share {2}")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@CsvSource({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"100.00,  3, 33.34",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"2400.00, 4, 600.00",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"0.01,    2, 0.01",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"10.00,   3, 3.34"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Mockito: isolating the unit under test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service depends on repositories and other services. Replace them with </a:t>
            </a:r>
            <a:pPr indent="0" marL="0">
              <a:buNone/>
            </a:pPr>
            <a:r>
              <a:rPr lang="en-US" sz="1350" b="1" dirty="0">
                <a:solidFill>
                  <a:srgbClr val="5B6B60"/>
                </a:solidFill>
                <a:latin typeface="Calibri" pitchFamily="34" charset="0"/>
                <a:ea typeface="Calibri" pitchFamily="34" charset="-122"/>
                <a:cs typeface="Calibri" pitchFamily="34" charset="-120"/>
              </a:rPr>
              <a:t>test doubles</a:t>
            </a:r>
            <a:pPr indent="0" marL="0">
              <a:buNone/>
            </a:pPr>
            <a:r>
              <a:rPr lang="en-US" sz="1350" dirty="0">
                <a:solidFill>
                  <a:srgbClr val="5B6B60"/>
                </a:solidFill>
                <a:latin typeface="Calibri" pitchFamily="34" charset="0"/>
                <a:ea typeface="Calibri" pitchFamily="34" charset="-122"/>
                <a:cs typeface="Calibri" pitchFamily="34" charset="-120"/>
              </a:rPr>
              <a:t> so a test checks one class's logic only.</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@ExtendWith(MockitoExtension.class)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@Mock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fields; strict stubs fail tests with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unused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stubbing (keeps tests honest).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Prefer constructing the service yourself (constructor injection pays off!) over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@InjectMocks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magic.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Don't mock what you don't own deeply (e.g. JPA internals) and never mock the class under 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Verify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outcomes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first (return values, captured arguments); verify interactions only when they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are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the behaviour (e.g.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save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must not be called).</a:t>
            </a:r>
            <a:endParaRPr lang="en-US"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Double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is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Mockito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Stub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returns canned answers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given(repo.findById(1L)).willReturn(Optional.of(u))</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records calls so you can verify interactions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then(repo).should().save(any())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real object, selectively stubbed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@Spy, spy(realObject)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Fake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working lightweight implementation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in-memory repository (hand-written)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Captor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captures arguments for assertions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ArgumentCaptor&lt;Expense&gt;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Service-layer test with Mockito</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Test </a:t>
            </a:r>
            <a:pPr indent="0" marL="0">
              <a:buNone/>
            </a:pPr>
            <a:r>
              <a:rPr lang="en-US" sz="1350" dirty="0">
                <a:solidFill>
                  <a:srgbClr val="B4235A"/>
                </a:solidFill>
                <a:latin typeface="Consolas" pitchFamily="34" charset="0"/>
                <a:ea typeface="Consolas" pitchFamily="34" charset="-122"/>
                <a:cs typeface="Consolas" pitchFamily="34" charset="-120"/>
              </a:rPr>
              <a:t>ExpenseService.addExpense</a:t>
            </a:r>
            <a:pPr indent="0" marL="0">
              <a:buNone/>
            </a:pPr>
            <a:r>
              <a:rPr lang="en-US" sz="1350" dirty="0">
                <a:solidFill>
                  <a:srgbClr val="5B6B60"/>
                </a:solidFill>
                <a:latin typeface="Calibri" pitchFamily="34" charset="0"/>
                <a:ea typeface="Calibri" pitchFamily="34" charset="-122"/>
                <a:cs typeface="Calibri" pitchFamily="34" charset="-120"/>
              </a:rPr>
              <a:t> without a database: stub the repositories, capture what gets saved, and check the rule violations.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ExpenseServiceTest.java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org.assertj.core.api.Assertions.*;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org.mockito.ArgumentMatchers.*;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org.mockito.BDDMockito.*;</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com.example.splitwise.common.BusinessRuleException;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com.example.splitwise.expense.split.*;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com.example.splitwise.group.ExpenseGroupRepository;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com.example.splitwise.user.UserRepository;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java.time.LocalDate;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org.junit.jupiter.api.BeforeEach;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org.junit.jupiter.api.Test;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org.junit.jupiter.api.extension.ExtendWith;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org.mockito.ArgumentCaptor;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org.mockito.Mock;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org.mockito.junit.jupiter.MockitoExtension;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test slices: load only what you test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Starting the whole application for every test is slow. Slices start just one layer, with everything else mocked or absent.</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Replace a bean with a mock using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`@MockitoBean`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@MockBean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was removed in Boot 4).</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caches application contexts between tests with the same configuration — keep configurations few and consistent.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Boot 4 packages: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org.springframework.boot.webmvc.test.autoconfigure.WebMvcTest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org.springframework.boot.data.jpa.test.autoconfigure.DataJpaTest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Annotation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Loads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 for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Boot 4 test starter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(none) + Mockito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nothing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services, strategies, utilities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spring-boot-starter-test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@WebMvcTest(Controller.class)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MVC: controllers, advice, filters, Jackson, MockMvc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request mapping, validation, status codes, JSON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spring-boot-starter-webmvc-test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@DataJpaTest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JPA, repositories, Flyway, transactions (rolled back)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queries, mappings, constraints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spring-boot-starter-data-jpa-test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@SpringBootTest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full application context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end-to-end flows across layers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spring-boot-starter-test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Controller tests with @WebMvcTest &amp; MockMvc</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Send real HTTP requests through the MVC stack — mapping, validation, JSON, </a:t>
            </a:r>
            <a:pPr indent="0" marL="0">
              <a:buNone/>
            </a:pPr>
            <a:r>
              <a:rPr lang="en-US" sz="1350" dirty="0">
                <a:solidFill>
                  <a:srgbClr val="B4235A"/>
                </a:solidFill>
                <a:latin typeface="Consolas" pitchFamily="34" charset="0"/>
                <a:ea typeface="Consolas" pitchFamily="34" charset="-122"/>
                <a:cs typeface="Consolas" pitchFamily="34" charset="-120"/>
              </a:rPr>
              <a:t>@RestControllerAdvice</a:t>
            </a:r>
            <a:pPr indent="0" marL="0">
              <a:buNone/>
            </a:pPr>
            <a:r>
              <a:rPr lang="en-US" sz="1350" dirty="0">
                <a:solidFill>
                  <a:srgbClr val="5B6B60"/>
                </a:solidFill>
                <a:latin typeface="Calibri" pitchFamily="34" charset="0"/>
                <a:ea typeface="Calibri" pitchFamily="34" charset="-122"/>
                <a:cs typeface="Calibri" pitchFamily="34" charset="-120"/>
              </a:rPr>
              <a:t> — with the service mocked.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ExpenseControllerTest.java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org.mockito.ArgumentMatchers.*;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org.mockito.BDDMockito.given;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org.springframework.test.web.servlet.request.MockMvcRequestBuilders.*;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org.springframework.test.web.servlet.result.MockMvcResultMatchers.*;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com.example.splitwise.common.NotFoundException;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java.time.Instant;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org.junit.jupiter.api.Test;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org.springframework.beans.factory.annotation.Autowired;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org.springframework.boot.webmvc.test.autoconfigure.WebMvcTest;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org.springframework.http.MediaType;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org.springframework.test.context.bean.override.mockito.MockitoBean;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org.springframework.test.web.servlet.MockMvc;</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@WebMvcTest(ExpenseController.class)              // web layer only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ExpenseControllerTest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@Autowired MockMvc mvc;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MockMvcTester &amp; full integration tests with Testcontainers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AssertJ-style MockMvc for concise assertions, and a real MySQL in Docker for the end-to-end flow.</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ExpenseControllerTesterTest.java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org.assertj.core.api.Assertions.assertThat;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org.mockito.BDDMockito.given;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com.example.splitwise.common.NotFoundException;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org.junit.jupiter.api.Test;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org.springframework.beans.factory.annotation.Autowired;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org.springframework.boot.webmvc.test.autoconfigure.WebMvcTest;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org.springframework.http.HttpStatus;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org.springframework.test.context.bean.override.mockito.MockitoBean;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org.springframework.test.web.servlet.assertj.MockMvcTester;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@WebMvcTest(ExpenseController.class)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ExpenseControllerTesterTest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@Autowired MockMvcTester mvc;                  // auto-configured when AssertJ is present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@MockitoBean ExpenseService service;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void unknownExpenseIs404()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given(service.get(7L, 999L)).willThrow(new NotFoundException("expense 999 not found in group 7"));</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What makes a good test suite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Coverage is a flashlight, not a target. Aim for confidence in behaviour.</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JaCoCo (Session 7):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./mvnw verify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target/site/jacoco/index.html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look for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untested branches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 business code.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Mutation testing (PIT) checks whether tests actually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fail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when code is wrong.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 flaky test is a bug — fix or delete it; never ignore it.</a:t>
            </a:r>
            <a:endParaRPr lang="en-US" sz="1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Avoid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Test behaviour and invariants (shares sum to amount)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testing private methods or getters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 reason to fail per test; clear names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giant tests asserting everything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Builders / TestData for readable fixtures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copy-pasted setup in every test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Deterministic time (Clock.fixed) and 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Thread.sleep and test order dependencies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Real DB for repository/integration tests (Testcontainers)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mocking JPA or SQL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Run fast tests on every change, ITs in CI</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skipping tests to “save time”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a test suite for Splitwise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Cover the minor project from the bottom of the pyramid to the top.</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test dependencies (webmvc-test, data-jpa-test, spring-boot-testcontainers, testcontainers-junit-jupiter, testcontainers-mysql).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parameterized unit tests for all four split strategies, including invalid inputs (percentages ≠ 100, non-positive shares, wrong exact totals).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DebtSimplifierTest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the property-style checks from the slides.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ExpenseServiceTest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Mockito: happy path (captor on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save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payer not a member, participant not a member, unknown group (404).</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ExpenseControllerTest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@WebMvcTest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@MockitoBean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201 + Location, 400 field errors, 404 and 422 problem details.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one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@DataJpaTest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for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findWithMembers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against Testcontainers MySQL (flush + clear before reloading).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SplitwiseFlowIT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covering expense → balances → settlement → balances, asserting the zero-sum invariant.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./mvnw verify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open the JaCoCo report and push coverage of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expense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settlement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packages above 80%.</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JUnit, Mockito &amp; MockMvc</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In Spring Boot 4, which annotation replaces a bean with a Mockito mock in a Spring test?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@MockBean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@MockitoBean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@Mock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@InjectMocks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Which test loads only controllers, advice and the MVC infrastructure?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@SpringBootTest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@DataJpaTest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@WebMvcTest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@JsonTest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How do you assert two BigDecimals 400.0 and 400.00 are the same amount in AssertJ?</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isEqualTo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isSameAs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isEqualByComparingTo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hasToString</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What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then(expenses).should(never()).save(any())</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verify?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save was called once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save was never called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save threw an exception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the mock was reset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Why use Testcontainers instead of H2 for repository tests?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H2 is not free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Tests run against the real MySQL engine, catching dialect and constraint differences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Testcontainers needs no Docker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Spring forbids H2</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14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Pyramid: many fast unit tests, fewer slices, a few integration/E2E tests; Arrange-Act-Assert; F.I.R.S.T.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JUnit 5 Jupiter: lifecycle annotations,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@Nested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@ParameterizedTest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AssertJ for fluent assertions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isEqualByComparingTo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Mockito: stubs, mocks, captors, BDD style; construct services with mocks via constructor injection.</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@WebMvcTest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MockMvc/MockMvcTester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@MockitoBean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controllers; JSON bodies as text blocks.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Integration: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@SpringBootTest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@DataJpaTest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Testcontainers MySQL with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@ServiceConnection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Boot 4 test starters.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Test pyramid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Many unit tests, fewer integration tests, very few end-to-end tests.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@ParameterizedTest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Runs one test method for each row of inputs.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Stub vs mock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Stub returns canned data; mock verifies interactions.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ArgumentCaptor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Captures arguments passed to a mock for assertions.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@WebMvcTest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Web-layer slice: controllers, advice, MockMvc.</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@MockitoBean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Spring Framework annotation replacing a bean with a Mockito mock.</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MockMvcTester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AssertJ-friendly MockMvc API (Spring Framework 6.2+).</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@ServiceConnection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Boot wires connection details from a Testcontainers container.</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8B6CF0"/>
                </a:solidFill>
                <a:latin typeface="Calibri" pitchFamily="34" charset="0"/>
                <a:ea typeface="Calibri" pitchFamily="34" charset="-122"/>
                <a:cs typeface="Calibri" pitchFamily="34" charset="-120"/>
              </a:rPr>
              <a:t>SESSION 15 OF 24  ·  MODULE 3</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Redis — Cache vs Cookie, Server vs Browser Cache</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Redis: cache vs cookie, server vs browser cache</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where caches live and contrast caches with cookies.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HTTP caching headers (Cache-Control, ETag, 304) for browser/CDN caching.</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Redis data types from the CLI and from Spring (StringRedisTemplate).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Apply cache-aside with Spring's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@Cacheable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@CacheEvict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on Redis, with TTLs and correct invalidation.</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Why cache? Latency, load and where caches live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Cache vs cookie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Browser cache vs server cache: HTTP caching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HTTP caching in Spring MVC</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Redis: an in-memory data structure server</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Hands-on with redis-cli</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Caching patterns &amp; pitfalls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Spring Cache + Redis: @Cacheable &amp; @CacheEvict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Beyond caching: rate limiting &amp; idempotency with StringRedisTemplate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make Splitwise fast with Redis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caching &amp; Redis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15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Why cache? Latency, load and where caches live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cache stores the result of expensive work close to where it is needed, trading </a:t>
            </a:r>
            <a:pPr indent="0" marL="0">
              <a:buNone/>
            </a:pPr>
            <a:r>
              <a:rPr lang="en-US" sz="1350" b="1" dirty="0">
                <a:solidFill>
                  <a:srgbClr val="5B6B60"/>
                </a:solidFill>
                <a:latin typeface="Calibri" pitchFamily="34" charset="0"/>
                <a:ea typeface="Calibri" pitchFamily="34" charset="-122"/>
                <a:cs typeface="Calibri" pitchFamily="34" charset="-120"/>
              </a:rPr>
              <a:t>freshness</a:t>
            </a:r>
            <a:pPr indent="0" marL="0">
              <a:buNone/>
            </a:pPr>
            <a:r>
              <a:rPr lang="en-US" sz="1350" dirty="0">
                <a:solidFill>
                  <a:srgbClr val="5B6B60"/>
                </a:solidFill>
                <a:latin typeface="Calibri" pitchFamily="34" charset="0"/>
                <a:ea typeface="Calibri" pitchFamily="34" charset="-122"/>
                <a:cs typeface="Calibri" pitchFamily="34" charset="-120"/>
              </a:rPr>
              <a:t> for </a:t>
            </a:r>
            <a:pPr indent="0" marL="0">
              <a:buNone/>
            </a:pPr>
            <a:r>
              <a:rPr lang="en-US" sz="1350" b="1" dirty="0">
                <a:solidFill>
                  <a:srgbClr val="5B6B60"/>
                </a:solidFill>
                <a:latin typeface="Calibri" pitchFamily="34" charset="0"/>
                <a:ea typeface="Calibri" pitchFamily="34" charset="-122"/>
                <a:cs typeface="Calibri" pitchFamily="34" charset="-120"/>
              </a:rPr>
              <a:t>speed</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Hit ratio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decides the value of a cache;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TTL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invalidation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decide how stale it may get.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Cache what is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read often, changes rarely, and is expensive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 compute.</a:t>
            </a:r>
            <a:endParaRPr lang="en-US" sz="1700" dirty="0"/>
          </a:p>
        </p:txBody>
      </p:sp>
      <p:sp>
        <p:nvSpPr>
          <p:cNvPr id="8" name="Text 6"/>
          <p:cNvSpPr/>
          <p:nvPr/>
        </p:nvSpPr>
        <p:spPr>
          <a:xfrm>
            <a:off x="5852160" y="1883664"/>
            <a:ext cx="588233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Client: Browser cache (Cache-Control, ETag)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Edge: CDN / gateway cache (public, shared)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App: In-process cache (Caffeine, per instance) | Distributed cache (Redis, shared by all instances)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 MySQL buffer pool (database's own cache)</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Typical latency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Read from RAM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~100 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Redis GET on the same network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~0.2–1 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Indexed MySQL query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~1–10 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Aggregate query over many rows (our balances)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10–200 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Call to a service in another region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100+ 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Cache vs cookie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Both "remember things", but for different parties and purposes.</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Cookie: small key-value data (~4 KB)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stored in the browser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sent with every request to its domain; set by the server via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Set-Cookie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identifies state: session id, preferences, CSRF token; security flags: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HttpOnly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Secure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SameSite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expiry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Cache: copy of data kept to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avoid recomputation or refetching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lives in browser, CDN, app memory or Redis; can be large (MBs to GBs in Redis); correctness depends on TTL and invalidation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Cookie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Server cache (Redis)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Who stores it?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user's browser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your infrastructure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Who can read it?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browser (unless HttpOnly) and your server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only your servers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Per-user or shared?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 browser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usually shared (or keyed per user)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Can the user tamper with it?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yes — never trust it unsigned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Typical content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session id, JWT (sometimes), locale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query results, sessions, rate counters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Browser cache vs server cache: HTTP caching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browser (and CDNs) obey HTTP headers. Revalidation with </a:t>
            </a:r>
            <a:pPr indent="0" marL="0">
              <a:buNone/>
            </a:pPr>
            <a:r>
              <a:rPr lang="en-US" sz="1350" b="1" dirty="0">
                <a:solidFill>
                  <a:srgbClr val="5B6B60"/>
                </a:solidFill>
                <a:latin typeface="Calibri" pitchFamily="34" charset="0"/>
                <a:ea typeface="Calibri" pitchFamily="34" charset="-122"/>
                <a:cs typeface="Calibri" pitchFamily="34" charset="-120"/>
              </a:rPr>
              <a:t>ETag</a:t>
            </a:r>
            <a:pPr indent="0" marL="0">
              <a:buNone/>
            </a:pPr>
            <a:r>
              <a:rPr lang="en-US" sz="1350" dirty="0">
                <a:solidFill>
                  <a:srgbClr val="5B6B60"/>
                </a:solidFill>
                <a:latin typeface="Calibri" pitchFamily="34" charset="0"/>
                <a:ea typeface="Calibri" pitchFamily="34" charset="-122"/>
                <a:cs typeface="Calibri" pitchFamily="34" charset="-120"/>
              </a:rPr>
              <a:t> saves bandwidth even when data must be checked.</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Browser → API: GET /groups/7/expenses/41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API → Browser: 200 + ETag: "v4" + Cache-Control: private, max-age=60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Browser: within 60 s: served from browser cache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Browser → API: after 60 s: GET + If-None-Match: "v4"</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API → Browser: 304 Not Modified (no body)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Browser → API: after an edit: If-None-Match: "v4"</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API → Browser: 200 + new body + ETag: "v5"</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Header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Cache-Control: max-age60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fresh for 60 s, no request needed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private / public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only the user's browser / also shared caches (CDN)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no-cache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may store, but must revalidate before every use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no-store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never store (sensitive 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ETag + If-None-Match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version tag → 304 Not Modified if unchanged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Vary: Authorization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 separately per value of that header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HTTP caching in Spring MVC</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Return </a:t>
            </a:r>
            <a:pPr indent="0" marL="0">
              <a:buNone/>
            </a:pPr>
            <a:r>
              <a:rPr lang="en-US" sz="1350" dirty="0">
                <a:solidFill>
                  <a:srgbClr val="B4235A"/>
                </a:solidFill>
                <a:latin typeface="Consolas" pitchFamily="34" charset="0"/>
                <a:ea typeface="Consolas" pitchFamily="34" charset="-122"/>
                <a:cs typeface="Consolas" pitchFamily="34" charset="-120"/>
              </a:rPr>
              <a:t>Cache-Control</a:t>
            </a:r>
            <a:pPr indent="0" marL="0">
              <a:buNone/>
            </a:pPr>
            <a:r>
              <a:rPr lang="en-US" sz="1350" dirty="0">
                <a:solidFill>
                  <a:srgbClr val="5B6B60"/>
                </a:solidFill>
                <a:latin typeface="Calibri" pitchFamily="34" charset="0"/>
                <a:ea typeface="Calibri" pitchFamily="34" charset="-122"/>
                <a:cs typeface="Calibri" pitchFamily="34" charset="-120"/>
              </a:rPr>
              <a:t> and </a:t>
            </a:r>
            <a:pPr indent="0" marL="0">
              <a:buNone/>
            </a:pPr>
            <a:r>
              <a:rPr lang="en-US" sz="1350" dirty="0">
                <a:solidFill>
                  <a:srgbClr val="B4235A"/>
                </a:solidFill>
                <a:latin typeface="Consolas" pitchFamily="34" charset="0"/>
                <a:ea typeface="Consolas" pitchFamily="34" charset="-122"/>
                <a:cs typeface="Consolas" pitchFamily="34" charset="-120"/>
              </a:rPr>
              <a:t>ETag</a:t>
            </a:r>
            <a:pPr indent="0" marL="0">
              <a:buNone/>
            </a:pPr>
            <a:r>
              <a:rPr lang="en-US" sz="1350" dirty="0">
                <a:solidFill>
                  <a:srgbClr val="5B6B60"/>
                </a:solidFill>
                <a:latin typeface="Calibri" pitchFamily="34" charset="0"/>
                <a:ea typeface="Calibri" pitchFamily="34" charset="-122"/>
                <a:cs typeface="Calibri" pitchFamily="34" charset="-120"/>
              </a:rPr>
              <a:t> from a controller; Spring answers </a:t>
            </a:r>
            <a:pPr indent="0" marL="0">
              <a:buNone/>
            </a:pPr>
            <a:r>
              <a:rPr lang="en-US" sz="1350" dirty="0">
                <a:solidFill>
                  <a:srgbClr val="B4235A"/>
                </a:solidFill>
                <a:latin typeface="Consolas" pitchFamily="34" charset="0"/>
                <a:ea typeface="Consolas" pitchFamily="34" charset="-122"/>
                <a:cs typeface="Consolas" pitchFamily="34" charset="-120"/>
              </a:rPr>
              <a:t>304</a:t>
            </a:r>
            <a:pPr indent="0" marL="0">
              <a:buNone/>
            </a:pPr>
            <a:r>
              <a:rPr lang="en-US" sz="1350" dirty="0">
                <a:solidFill>
                  <a:srgbClr val="5B6B60"/>
                </a:solidFill>
                <a:latin typeface="Calibri" pitchFamily="34" charset="0"/>
                <a:ea typeface="Calibri" pitchFamily="34" charset="-122"/>
                <a:cs typeface="Calibri" pitchFamily="34" charset="-120"/>
              </a:rPr>
              <a:t> automatically when the client's tag matches.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ExpenseController.java (excerpt)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@GetMapping("/{expenseId}")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ResponseEntity&lt;ExpenseResponse&gt; get(@PathVariable Long groupId, @PathVariable Long expenseId)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ExpenseResponse e = service.get(groupId, expenseId);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ResponseEntity.ok()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.cacheControl(CacheControl.maxAge(Duration.ofSeconds(60)).cachePrivate())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.eTag(String.valueOf(e.version()))     // entity @Version makes a perfect ETag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.body(e);                              // matching If-None-Match -&gt; 304, empty body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Redis: an in-memory data structure server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Redis keeps data in RAM, executes commands in microseconds, and offers rich data types — not just strings.</a:t>
            </a:r>
            <a:endParaRPr lang="en-US" sz="1350" dirty="0"/>
          </a:p>
        </p:txBody>
      </p:sp>
      <p:sp>
        <p:nvSpPr>
          <p:cNvPr id="7" name="Text 5"/>
          <p:cNvSpPr/>
          <p:nvPr/>
        </p:nvSpPr>
        <p:spPr>
          <a:xfrm>
            <a:off x="457200" y="1883664"/>
            <a:ext cx="11277295" cy="213969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 key can have 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TTL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when memory is full an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eviction policy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applies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allkeys-lru</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allkeys-lfu</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volatile-ttl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noeviction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Commands run one at a time (single-threaded execution) → each command is atomic.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Optional persistence (RDB snapshots / AOF log) and replication; Redis Cluster shards keys across nodes using hash slots.</a:t>
            </a:r>
            <a:endParaRPr lang="en-US" sz="17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Commands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Backend use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String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SET k v EX 60, GET, INCR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 entries, counters, rate limits, idempotency keys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HSET, HGETALL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object-like records (user profile)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List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LPUSH, LRANGE, BRPOP</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recent activity, simple queues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SADD, SISMEMBER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unique visitors, tags, online users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Sorted set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ZADD, ZREVRANGE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leaderboards, time-ordered feeds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Stream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XADD, XREADGROUP</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event logs with consumer groups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INFO: </a:t>
            </a:r>
            <a:pPr indent="0" marL="0">
              <a:buNone/>
            </a:pPr>
            <a:r>
              <a:rPr lang="en-US" sz="1100" dirty="0">
                <a:solidFill>
                  <a:srgbClr val="1F2A24"/>
                </a:solidFill>
                <a:latin typeface="Calibri" pitchFamily="34" charset="0"/>
                <a:ea typeface="Calibri" pitchFamily="34" charset="-122"/>
                <a:cs typeface="Calibri" pitchFamily="34" charset="-120"/>
              </a:rPr>
              <a:t>Valkey (a Linux Foundation fork) and managed services such as AWS ElastiCache are wire-compatible with Redis — the code in this session works with all of them.</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Hands-on with redis-cli</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Start Redis next to MySQL and try the core commands.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compose.yaml (add)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services: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redis: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redis:7-alpine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command: ["redis-server", "--maxmemory", "256mb", "--maxmemory-policy", "allkeys-lru"]</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ports: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"6379:6379"</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Caching patterns &amp; pitfalls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b="1" dirty="0">
                <a:solidFill>
                  <a:srgbClr val="5B6B60"/>
                </a:solidFill>
                <a:latin typeface="Calibri" pitchFamily="34" charset="0"/>
                <a:ea typeface="Calibri" pitchFamily="34" charset="-122"/>
                <a:cs typeface="Calibri" pitchFamily="34" charset="-120"/>
              </a:rPr>
              <a:t>Cache-aside</a:t>
            </a:r>
            <a:pPr indent="0" marL="0">
              <a:buNone/>
            </a:pPr>
            <a:r>
              <a:rPr lang="en-US" sz="1350" dirty="0">
                <a:solidFill>
                  <a:srgbClr val="5B6B60"/>
                </a:solidFill>
                <a:latin typeface="Calibri" pitchFamily="34" charset="0"/>
                <a:ea typeface="Calibri" pitchFamily="34" charset="-122"/>
                <a:cs typeface="Calibri" pitchFamily="34" charset="-120"/>
              </a:rPr>
              <a:t> is the default for application caches: read the cache, fall back to the database, then populate the cache.</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Other patterns: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read-through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(cache loads itself),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write-through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(write cache + DB together),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write-behind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(write cache, flush to DB later — risky for money).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For money, the database stays the source of truth; the cache is a disposable copy.</a:t>
            </a:r>
            <a:endParaRPr lang="en-US" sz="17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GET balances</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Redis hit?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yes → return (≈1 ms)</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Miss → query MySQL</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≈50 ms</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Store with TTL</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SET … EX 600</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Return</a:t>
            </a:r>
            <a:endParaRPr lang="en-US" sz="11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Problem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Mitigation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Stale 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 still holds old balances after an expense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evict on every write + a TTL as safety net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Stampede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hot key expires; 1,000 requests hit MySQL at once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@Cacheable(sync true), locks, early refresh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Avalanche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many keys expire simultaneously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random TTL jitter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Penetration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requests for ids that don't exist always miss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 “not found” briefly, validate ids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Big keys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 huge value slows Redis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cache smaller, focused objects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Cache + Redis: @Cacheable &amp; @CacheEvict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Annotate methods; a proxy implements cache-aside for you, with Redis as the shared store.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(+3 more in the web notes)</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&lt;artifactId&gt;spring-boot-starter-data-redis&lt;/artifactId&gt;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&lt;artifactId&gt;spring-boot-starter-cache&lt;/artifactId&gt;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PITFALL: </a:t>
            </a:r>
            <a:pPr indent="0" marL="0">
              <a:buNone/>
            </a:pPr>
            <a:r>
              <a:rPr lang="en-US" sz="1100" dirty="0">
                <a:solidFill>
                  <a:srgbClr val="1F2A24"/>
                </a:solidFill>
                <a:latin typeface="Calibri" pitchFamily="34" charset="0"/>
                <a:ea typeface="Calibri" pitchFamily="34" charset="-122"/>
                <a:cs typeface="Calibri" pitchFamily="34" charset="-120"/>
              </a:rPr>
              <a:t>Caching is a proxy (Session 9): a </a:t>
            </a:r>
            <a:pPr indent="0" marL="0">
              <a:buNone/>
            </a:pPr>
            <a:r>
              <a:rPr lang="en-US" sz="1100" dirty="0">
                <a:solidFill>
                  <a:srgbClr val="B4235A"/>
                </a:solidFill>
                <a:latin typeface="Consolas" pitchFamily="34" charset="0"/>
                <a:ea typeface="Consolas" pitchFamily="34" charset="-122"/>
                <a:cs typeface="Consolas" pitchFamily="34" charset="-120"/>
              </a:rPr>
              <a:t>this.balances(id)</a:t>
            </a:r>
            <a:pPr indent="0" marL="0">
              <a:buNone/>
            </a:pPr>
            <a:r>
              <a:rPr lang="en-US" sz="1100" dirty="0">
                <a:solidFill>
                  <a:srgbClr val="1F2A24"/>
                </a:solidFill>
                <a:latin typeface="Calibri" pitchFamily="34" charset="0"/>
                <a:ea typeface="Calibri" pitchFamily="34" charset="-122"/>
                <a:cs typeface="Calibri" pitchFamily="34" charset="-120"/>
              </a:rPr>
              <a:t> call from inside </a:t>
            </a:r>
            <a:pPr indent="0" marL="0">
              <a:buNone/>
            </a:pPr>
            <a:r>
              <a:rPr lang="en-US" sz="1100" dirty="0">
                <a:solidFill>
                  <a:srgbClr val="B4235A"/>
                </a:solidFill>
                <a:latin typeface="Consolas" pitchFamily="34" charset="0"/>
                <a:ea typeface="Consolas" pitchFamily="34" charset="-122"/>
                <a:cs typeface="Consolas" pitchFamily="34" charset="-120"/>
              </a:rPr>
              <a:t>BalanceService</a:t>
            </a:r>
            <a:pPr indent="0" marL="0">
              <a:buNone/>
            </a:pPr>
            <a:r>
              <a:rPr lang="en-US" sz="1100" dirty="0">
                <a:solidFill>
                  <a:srgbClr val="1F2A24"/>
                </a:solidFill>
                <a:latin typeface="Calibri" pitchFamily="34" charset="0"/>
                <a:ea typeface="Calibri" pitchFamily="34" charset="-122"/>
                <a:cs typeface="Calibri" pitchFamily="34" charset="-120"/>
              </a:rPr>
              <a:t> bypasses the cache. Also keep the cache key consistent — </a:t>
            </a:r>
            <a:pPr indent="0" marL="0">
              <a:buNone/>
            </a:pPr>
            <a:r>
              <a:rPr lang="en-US" sz="1100" dirty="0">
                <a:solidFill>
                  <a:srgbClr val="B4235A"/>
                </a:solidFill>
                <a:latin typeface="Consolas" pitchFamily="34" charset="0"/>
                <a:ea typeface="Consolas" pitchFamily="34" charset="-122"/>
                <a:cs typeface="Consolas" pitchFamily="34" charset="-120"/>
              </a:rPr>
              <a:t>#groupId</a:t>
            </a:r>
            <a:pPr indent="0" marL="0">
              <a:buNone/>
            </a:pPr>
            <a:r>
              <a:rPr lang="en-US" sz="1100" dirty="0">
                <a:solidFill>
                  <a:srgbClr val="1F2A24"/>
                </a:solidFill>
                <a:latin typeface="Calibri" pitchFamily="34" charset="0"/>
                <a:ea typeface="Calibri" pitchFamily="34" charset="-122"/>
                <a:cs typeface="Calibri" pitchFamily="34" charset="-120"/>
              </a:rPr>
              <a:t> must refer to the same id in </a:t>
            </a:r>
            <a:pPr indent="0" marL="0">
              <a:buNone/>
            </a:pPr>
            <a:r>
              <a:rPr lang="en-US" sz="1100" dirty="0">
                <a:solidFill>
                  <a:srgbClr val="B4235A"/>
                </a:solidFill>
                <a:latin typeface="Consolas" pitchFamily="34" charset="0"/>
                <a:ea typeface="Consolas" pitchFamily="34" charset="-122"/>
                <a:cs typeface="Consolas" pitchFamily="34" charset="-120"/>
              </a:rPr>
              <a:t>@Cacheable</a:t>
            </a:r>
            <a:pPr indent="0" marL="0">
              <a:buNone/>
            </a:pPr>
            <a:r>
              <a:rPr lang="en-US" sz="1100" dirty="0">
                <a:solidFill>
                  <a:srgbClr val="1F2A24"/>
                </a:solidFill>
                <a:latin typeface="Calibri" pitchFamily="34" charset="0"/>
                <a:ea typeface="Calibri" pitchFamily="34" charset="-122"/>
                <a:cs typeface="Calibri" pitchFamily="34" charset="-120"/>
              </a:rPr>
              <a:t> and </a:t>
            </a:r>
            <a:pPr indent="0" marL="0">
              <a:buNone/>
            </a:pPr>
            <a:r>
              <a:rPr lang="en-US" sz="1100" dirty="0">
                <a:solidFill>
                  <a:srgbClr val="B4235A"/>
                </a:solidFill>
                <a:latin typeface="Consolas" pitchFamily="34" charset="0"/>
                <a:ea typeface="Consolas" pitchFamily="34" charset="-122"/>
                <a:cs typeface="Consolas" pitchFamily="34" charset="-120"/>
              </a:rPr>
              <a:t>@CacheEvict</a:t>
            </a:r>
            <a:pPr indent="0" marL="0">
              <a:buNone/>
            </a:pPr>
            <a:r>
              <a:rPr lang="en-US" sz="1100" dirty="0">
                <a:solidFill>
                  <a:srgbClr val="1F2A24"/>
                </a:solidFill>
                <a:latin typeface="Calibri" pitchFamily="34" charset="0"/>
                <a:ea typeface="Calibri" pitchFamily="34" charset="-122"/>
                <a:cs typeface="Calibri"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400" b="1" dirty="0">
                <a:solidFill>
                  <a:srgbClr val="1F2A24"/>
                </a:solidFill>
                <a:latin typeface="Calibri" pitchFamily="34" charset="0"/>
                <a:ea typeface="Calibri" pitchFamily="34" charset="-122"/>
                <a:cs typeface="Calibri" pitchFamily="34" charset="-120"/>
              </a:rPr>
              <a:t>Beyond caching: rate limiting &amp; idempotency with StringRedisTemplate</a:t>
            </a:r>
            <a:endParaRPr lang="en-US" sz="24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Atomic Redis commands solve cross-instance problems that in-memory maps cannot.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RedisGuards.java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com.example.splitwise.common;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java.time.Duration;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java.time.Instant;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org.springframework.data.redis.core.StringRedisTemplate;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RedisGuards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StringRedisTemplate redis;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RedisGuards(StringRedisTemplate redis) { this.redis = redis;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Fixed-window rate limit: at most 'limit' calls per user per minute, across ALL app instances.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boolean allow(long userId, int limit)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key = "rl:" + userId + ":" + (Instant.now().getEpochSecond() / 60);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 count = redis.opsForValue().increment(key);            // atomic INCR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(count != null &amp;&amp; count == 1)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redis.expire(key, Duration.ofSeconds(70));              // first hit sets the window TTL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count != null &amp;&amp; count &lt;= limit;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make Splitwise fast with Redis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Measure, cache, invalidate, verify — and add two Redis-powered safeguards.</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Redis to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compose.yaml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the data-redis + cache starters to the project; configure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spring.data.redis.*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spring.cache.type=redis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Measure the balances endpoint first: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curl -s -o /dev/null -w '%{time_total}\n' localhost:8080/api/v1/groups/7/balances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(run 10×).</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CacheConfig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@Cacheable("balances")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make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MemberBalance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Serializable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measure again and compare.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@CacheEvict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to add/edit/delete expense and settle-up; prove freshness: balances change immediately after a new expense.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Watch it happen: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redis-cli MONITOR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TTL splitwise::balances::7</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Return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Cache-Control: private, max-age=30</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an ETag on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/expenses/{id}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verify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304</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If-None-Match</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RedisGuards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limit expense creation to 30/min per user (429) and honour an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Idempotency-Key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header on POST /settlements.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write an integration test with a Testcontainers Redis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@ServiceConnection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on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GenericContainer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redis:7-alpine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@ServiceConnection(name = "redis")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proving eviction works.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caching &amp; Redis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Where is a cookie stored?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In Redis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In the user's browser, sent with requests to its domain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In the database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In the CDN only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A response has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Cache-Control: no-store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The browser…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caches it for a day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must revalidate before use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must not store it at all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stores it in a cookie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The client sends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If-None-Match: "4"</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and the resource version is still 4. Best response?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200 with full body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304 Not Modified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204 No Content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412 Precondition Failed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After adding an expense, how should the cached balances be handled?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Leave them until the TTL expires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Evict the group's balances entry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Flush all of Redis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Store the expense in a cookie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Why use Redis INCR for rate limiting instead of a HashMap in the app?</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HashMap is slower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Counters must be shared and atomic across all app instances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Redis has no TTLs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HashMaps cannot store numbers</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15</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15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Caches trade freshness for speed; they live in the browser, CDN, app memory and Redis.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Cookies are small browser-side state sent with requests (use HttpOnly/Secure/SameSite); caches are copies of data to avoid work.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HTTP caching: Cache-Control, ETag/If-None-Match → 304;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private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personal data.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Redis: in-memory data types with TTLs, atomic commands, eviction policies; use SCAN not KEYS.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Cache on Redis: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@Cacheable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sync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@CacheEvict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 writes, TTL safety net, Serializable values; Redis also powers rate limits and idempotency keys.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Cache-aside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Read cache → on miss load from DB → store in cache.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TTL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Time-to-live after which a cache entry expires automatically.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ETag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Version identifier of a response used for conditional requests.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304 Not Modified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Cached copy is still valid — no body sent.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HttpOnly cookie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Cookie that JavaScript cannot read — mitigates XSS token theft.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Cache stampede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Many concurrent misses on one hot key overload the database.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allkeys-lru</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Redis eviction policy removing least-recently-used keys when memory is full.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SET NX EX</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Atomic set-if-absent with expiry — idempotency keys, simple locks.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8B6CF0"/>
                </a:solidFill>
                <a:latin typeface="Calibri" pitchFamily="34" charset="0"/>
                <a:ea typeface="Calibri" pitchFamily="34" charset="-122"/>
                <a:cs typeface="Calibri" pitchFamily="34" charset="-120"/>
              </a:rPr>
              <a:t>SESSION 16 OF 24  ·  MODULE 3</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Spring Security — Authentication vs Authorization &amp; Database-Based User Authentication</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Spring Security — authentication vs authorization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Database-based user authentication</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Distinguish authentication from authorization, 401 from 403, roles from permissions.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Spring Security's filter chain, AuthenticationManager, UserDetailsService and SecurityContext.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Authenticate users stored in MySQL with BCrypt-hashed passwords via a custom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UserDetailsService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Authorize with URL rules and method security (</a:t>
            </a:r>
            <a:endParaRPr lang="en-US" sz="1250" dirty="0"/>
          </a:p>
          <a:p>
            <a:pPr marL="177800" indent="-177800">
              <a:spcAft>
                <a:spcPts val="400"/>
              </a:spcAft>
              <a:buSzPct val="100000"/>
              <a:buChar char="•"/>
            </a:pPr>
            <a:r>
              <a:rPr lang="en-US" sz="1250" dirty="0">
                <a:solidFill>
                  <a:srgbClr val="B4235A"/>
                </a:solidFill>
                <a:latin typeface="Consolas" pitchFamily="34" charset="0"/>
                <a:ea typeface="Consolas" pitchFamily="34" charset="-122"/>
                <a:cs typeface="Consolas" pitchFamily="34" charset="-120"/>
              </a:rPr>
              <a:t>@PreAuthorize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 including domain-level checks — and test it.</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Authentication vs authorization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Spring Security architecture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Configuring the SecurityFilterChain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Storing passwords safely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Database-based authentication with a custom UserDetailsService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Registration, the current user, and the responses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Authorization: URL rules, method security &amp; domain checks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Method security with a domain permission bean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Sessions vs tokens, CORS &amp; testing security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secure the Splitwise API</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Spring Security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16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Authentication vs authorization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b="1" dirty="0">
                <a:solidFill>
                  <a:srgbClr val="5B6B60"/>
                </a:solidFill>
                <a:latin typeface="Calibri" pitchFamily="34" charset="0"/>
                <a:ea typeface="Calibri" pitchFamily="34" charset="-122"/>
                <a:cs typeface="Calibri" pitchFamily="34" charset="-120"/>
              </a:rPr>
              <a:t>Authentication</a:t>
            </a:r>
            <a:pPr indent="0" marL="0">
              <a:buNone/>
            </a:pPr>
            <a:r>
              <a:rPr lang="en-US" sz="1350" dirty="0">
                <a:solidFill>
                  <a:srgbClr val="5B6B60"/>
                </a:solidFill>
                <a:latin typeface="Calibri" pitchFamily="34" charset="0"/>
                <a:ea typeface="Calibri" pitchFamily="34" charset="-122"/>
                <a:cs typeface="Calibri" pitchFamily="34" charset="-120"/>
              </a:rPr>
              <a:t> answers </a:t>
            </a:r>
            <a:pPr indent="0" marL="0">
              <a:buNone/>
            </a:pPr>
            <a:r>
              <a:rPr lang="en-US" sz="1350" i="1" dirty="0">
                <a:solidFill>
                  <a:srgbClr val="5B6B60"/>
                </a:solidFill>
                <a:latin typeface="Calibri" pitchFamily="34" charset="0"/>
                <a:ea typeface="Calibri" pitchFamily="34" charset="-122"/>
                <a:cs typeface="Calibri" pitchFamily="34" charset="-120"/>
              </a:rPr>
              <a:t>who are you?</a:t>
            </a:r>
            <a:pPr indent="0" marL="0">
              <a:buNone/>
            </a:pPr>
            <a:r>
              <a:rPr lang="en-US" sz="1350" dirty="0">
                <a:solidFill>
                  <a:srgbClr val="5B6B60"/>
                </a:solidFill>
                <a:latin typeface="Calibri" pitchFamily="34" charset="0"/>
                <a:ea typeface="Calibri" pitchFamily="34" charset="-122"/>
                <a:cs typeface="Calibri" pitchFamily="34" charset="-120"/>
              </a:rPr>
              <a:t> </a:t>
            </a:r>
            <a:pPr indent="0" marL="0">
              <a:buNone/>
            </a:pPr>
            <a:r>
              <a:rPr lang="en-US" sz="1350" b="1" dirty="0">
                <a:solidFill>
                  <a:srgbClr val="5B6B60"/>
                </a:solidFill>
                <a:latin typeface="Calibri" pitchFamily="34" charset="0"/>
                <a:ea typeface="Calibri" pitchFamily="34" charset="-122"/>
                <a:cs typeface="Calibri" pitchFamily="34" charset="-120"/>
              </a:rPr>
              <a:t>Authorization</a:t>
            </a:r>
            <a:pPr indent="0" marL="0">
              <a:buNone/>
            </a:pPr>
            <a:r>
              <a:rPr lang="en-US" sz="1350" dirty="0">
                <a:solidFill>
                  <a:srgbClr val="5B6B60"/>
                </a:solidFill>
                <a:latin typeface="Calibri" pitchFamily="34" charset="0"/>
                <a:ea typeface="Calibri" pitchFamily="34" charset="-122"/>
                <a:cs typeface="Calibri" pitchFamily="34" charset="-120"/>
              </a:rPr>
              <a:t> answers </a:t>
            </a:r>
            <a:pPr indent="0" marL="0">
              <a:buNone/>
            </a:pPr>
            <a:r>
              <a:rPr lang="en-US" sz="1350" i="1" dirty="0">
                <a:solidFill>
                  <a:srgbClr val="5B6B60"/>
                </a:solidFill>
                <a:latin typeface="Calibri" pitchFamily="34" charset="0"/>
                <a:ea typeface="Calibri" pitchFamily="34" charset="-122"/>
                <a:cs typeface="Calibri" pitchFamily="34" charset="-120"/>
              </a:rPr>
              <a:t>what are you allowed to do?</a:t>
            </a:r>
            <a:pPr indent="0" marL="0">
              <a:buNone/>
            </a:pPr>
            <a:r>
              <a:rPr lang="en-US" sz="1350" dirty="0">
                <a:solidFill>
                  <a:srgbClr val="5B6B60"/>
                </a:solidFill>
                <a:latin typeface="Calibri" pitchFamily="34" charset="0"/>
                <a:ea typeface="Calibri" pitchFamily="34" charset="-122"/>
                <a:cs typeface="Calibri" pitchFamily="34" charset="-120"/>
              </a:rPr>
              <a:t> Authentication always comes first.</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Authentication (AuthN): verify identity: password, token, OAuth login, certificate; result: an authenticated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principal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failure →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401 Unauthorized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(really: unauthenticated)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Authorization (AuthZ): decide access: role, permission, ownership, group membership; URL rules and method rules; failure →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403 Forbidden</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Splitwise example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Principal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logged-in user asha@example.com (id 1)</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Credentials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password, bearer token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Authority / role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ROLE_USER, ROLE_ADMIN (app-wide)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Domain permission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“is ADMIN of group 7” (stored in group_members.role)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Security architecture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Security is a chain of </a:t>
            </a:r>
            <a:pPr indent="0" marL="0">
              <a:buNone/>
            </a:pPr>
            <a:r>
              <a:rPr lang="en-US" sz="1350" b="1" dirty="0">
                <a:solidFill>
                  <a:srgbClr val="5B6B60"/>
                </a:solidFill>
                <a:latin typeface="Calibri" pitchFamily="34" charset="0"/>
                <a:ea typeface="Calibri" pitchFamily="34" charset="-122"/>
                <a:cs typeface="Calibri" pitchFamily="34" charset="-120"/>
              </a:rPr>
              <a:t>servlet filters</a:t>
            </a:r>
            <a:pPr indent="0" marL="0">
              <a:buNone/>
            </a:pPr>
            <a:r>
              <a:rPr lang="en-US" sz="1350" dirty="0">
                <a:solidFill>
                  <a:srgbClr val="5B6B60"/>
                </a:solidFill>
                <a:latin typeface="Calibri" pitchFamily="34" charset="0"/>
                <a:ea typeface="Calibri" pitchFamily="34" charset="-122"/>
                <a:cs typeface="Calibri" pitchFamily="34" charset="-120"/>
              </a:rPr>
              <a:t> in front of the DispatcherServlet. Each request is authenticated, then authorized, before your controller runs.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Add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spring-boot-starter-security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everything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secured by default (generated password in the log).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You customise behaviour by declaring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SecurityFilterChain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bean with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lambda DSL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Failures become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AuthenticationException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401 via an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entry point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AccessDeniedException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403 via an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access-denied handler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975104"/>
            <a:ext cx="5882335" cy="566928"/>
          </a:xfrm>
          <a:prstGeom prst="roundRect">
            <a:avLst>
              <a:gd name="adj" fmla="val 12903"/>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HTTP request</a:t>
            </a:r>
            <a:endParaRPr lang="en-US" sz="1200" dirty="0"/>
          </a:p>
        </p:txBody>
      </p:sp>
      <p:sp>
        <p:nvSpPr>
          <p:cNvPr id="9" name="Shape 7"/>
          <p:cNvSpPr/>
          <p:nvPr/>
        </p:nvSpPr>
        <p:spPr>
          <a:xfrm>
            <a:off x="8793328" y="2542032"/>
            <a:ext cx="0" cy="320040"/>
          </a:xfrm>
          <a:prstGeom prst="line">
            <a:avLst/>
          </a:prstGeom>
          <a:noFill/>
          <a:ln w="15875">
            <a:solidFill>
              <a:srgbClr val="6F8276"/>
            </a:solidFill>
            <a:prstDash val="solid"/>
            <a:tailEnd type="triangle"/>
          </a:ln>
        </p:spPr>
      </p:sp>
      <p:sp>
        <p:nvSpPr>
          <p:cNvPr id="10" name="Text 8"/>
          <p:cNvSpPr/>
          <p:nvPr/>
        </p:nvSpPr>
        <p:spPr>
          <a:xfrm>
            <a:off x="5852160" y="2862072"/>
            <a:ext cx="5882335" cy="566928"/>
          </a:xfrm>
          <a:prstGeom prst="roundRect">
            <a:avLst>
              <a:gd name="adj" fmla="val 12903"/>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FilterChainProxy → SecurityFilterChain</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CORS → CSRF → authentication filters (Basic / Bearer / OAuth2 login) → ExceptionTranslation → AuthorizationFilter</a:t>
            </a:r>
            <a:endParaRPr lang="en-US" sz="1200" dirty="0"/>
          </a:p>
        </p:txBody>
      </p:sp>
      <p:sp>
        <p:nvSpPr>
          <p:cNvPr id="11" name="Shape 9"/>
          <p:cNvSpPr/>
          <p:nvPr/>
        </p:nvSpPr>
        <p:spPr>
          <a:xfrm>
            <a:off x="8793328" y="3429000"/>
            <a:ext cx="0" cy="320040"/>
          </a:xfrm>
          <a:prstGeom prst="line">
            <a:avLst/>
          </a:prstGeom>
          <a:noFill/>
          <a:ln w="15875">
            <a:solidFill>
              <a:srgbClr val="6F8276"/>
            </a:solidFill>
            <a:prstDash val="solid"/>
            <a:tailEnd type="triangle"/>
          </a:ln>
        </p:spPr>
      </p:sp>
      <p:sp>
        <p:nvSpPr>
          <p:cNvPr id="12" name="Text 10"/>
          <p:cNvSpPr/>
          <p:nvPr/>
        </p:nvSpPr>
        <p:spPr>
          <a:xfrm>
            <a:off x="5852160" y="3749040"/>
            <a:ext cx="5882335" cy="566928"/>
          </a:xfrm>
          <a:prstGeom prst="roundRect">
            <a:avLst>
              <a:gd name="adj" fmla="val 12903"/>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AuthenticationManager (ProviderManager)</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DaoAuthenticationProvider: UserDetailsService + PasswordEncoder</a:t>
            </a:r>
            <a:endParaRPr lang="en-US" sz="1200" dirty="0"/>
          </a:p>
        </p:txBody>
      </p:sp>
      <p:sp>
        <p:nvSpPr>
          <p:cNvPr id="13" name="Shape 11"/>
          <p:cNvSpPr/>
          <p:nvPr/>
        </p:nvSpPr>
        <p:spPr>
          <a:xfrm>
            <a:off x="8793328" y="4315968"/>
            <a:ext cx="0" cy="320040"/>
          </a:xfrm>
          <a:prstGeom prst="line">
            <a:avLst/>
          </a:prstGeom>
          <a:noFill/>
          <a:ln w="15875">
            <a:solidFill>
              <a:srgbClr val="6F8276"/>
            </a:solidFill>
            <a:prstDash val="solid"/>
            <a:tailEnd type="triangle"/>
          </a:ln>
        </p:spPr>
      </p:sp>
      <p:sp>
        <p:nvSpPr>
          <p:cNvPr id="14" name="Text 12"/>
          <p:cNvSpPr/>
          <p:nvPr/>
        </p:nvSpPr>
        <p:spPr>
          <a:xfrm>
            <a:off x="5852160" y="4636008"/>
            <a:ext cx="5882335" cy="566928"/>
          </a:xfrm>
          <a:prstGeom prst="roundRect">
            <a:avLst>
              <a:gd name="adj" fmla="val 12903"/>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SecurityContextHolder</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stores the Authentication for this request (thread-bound)</a:t>
            </a:r>
            <a:endParaRPr lang="en-US" sz="1200" dirty="0"/>
          </a:p>
        </p:txBody>
      </p:sp>
      <p:sp>
        <p:nvSpPr>
          <p:cNvPr id="15" name="Shape 13"/>
          <p:cNvSpPr/>
          <p:nvPr/>
        </p:nvSpPr>
        <p:spPr>
          <a:xfrm>
            <a:off x="8793328" y="5202936"/>
            <a:ext cx="0" cy="320040"/>
          </a:xfrm>
          <a:prstGeom prst="line">
            <a:avLst/>
          </a:prstGeom>
          <a:noFill/>
          <a:ln w="15875">
            <a:solidFill>
              <a:srgbClr val="6F8276"/>
            </a:solidFill>
            <a:prstDash val="solid"/>
            <a:tailEnd type="triangle"/>
          </a:ln>
        </p:spPr>
      </p:sp>
      <p:sp>
        <p:nvSpPr>
          <p:cNvPr id="16" name="Text 14"/>
          <p:cNvSpPr/>
          <p:nvPr/>
        </p:nvSpPr>
        <p:spPr>
          <a:xfrm>
            <a:off x="5852160" y="5522976"/>
            <a:ext cx="5882335" cy="566928"/>
          </a:xfrm>
          <a:prstGeom prst="roundRect">
            <a:avLst>
              <a:gd name="adj" fmla="val 12903"/>
            </a:avLst>
          </a:prstGeom>
          <a:solidFill>
            <a:srgbClr val="EEF4F0"/>
          </a:solidFill>
          <a:ln w="12700">
            <a:solidFill>
              <a:srgbClr val="9FB8A8"/>
            </a:solidFill>
          </a:ln>
        </p:spPr>
        <p:txBody>
          <a:bodyPr wrap="square" rtlCol="0" anchor="ctr"/>
          <a:lstStyle/>
          <a:p>
            <a:pPr algn="ctr" indent="0" marL="0">
              <a:buNone/>
            </a:pPr>
            <a:r>
              <a:rPr lang="en-US" sz="1200" b="1" dirty="0">
                <a:solidFill>
                  <a:srgbClr val="1F2A24"/>
                </a:solidFill>
                <a:latin typeface="Calibri" pitchFamily="34" charset="0"/>
                <a:ea typeface="Calibri" pitchFamily="34" charset="-122"/>
                <a:cs typeface="Calibri" pitchFamily="34" charset="-120"/>
              </a:rPr>
              <a:t>DispatcherServlet → controller → @PreAuthorize service</a:t>
            </a:r>
            <a:endParaRPr lang="en-US" sz="1200" dirty="0"/>
          </a:p>
          <a:p>
            <a:pPr algn="ctr" indent="0" marL="0">
              <a:buNone/>
            </a:pPr>
            <a:r>
              <a:rPr lang="en-US" sz="950" dirty="0">
                <a:solidFill>
                  <a:srgbClr val="5B6B60"/>
                </a:solidFill>
                <a:latin typeface="Calibri" pitchFamily="34" charset="0"/>
                <a:ea typeface="Calibri" pitchFamily="34" charset="-122"/>
                <a:cs typeface="Calibri" pitchFamily="34" charset="-120"/>
              </a:rPr>
              <a:t>method security via AOP proxy</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Configuring the SecurityFilterChain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Public registration and health, admin-only admin API, everything else authenticated — stateless, with JSON error bodies.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SecurityConfig.java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com.example.splitwise.security;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org.springframework.context.annotation.Bean;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org.springframework.context.annotation.Configuration;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org.springframework.http.HttpMethod;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org.springframework.security.config.Customizer;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org.springframework.security.config.annotation.method.configuration.EnableMethodSecurity;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org.springframework.security.config.annotation.web.builders.HttpSecurity;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org.springframework.security.config.http.SessionCreationPolicy;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org.springframework.security.crypto.factory.PasswordEncoderFactories;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org.springframework.security.crypto.password.PasswordEncoder;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org.springframework.security.web.SecurityFilterChain;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@Configuration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@EnableMethodSecurity                                   // turns on @PreAuthorize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SecurityConfig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SecurityFilterChain api(HttpSecurity http, ProblemJsonHandlers problems) throws 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.authorizeHttpRequests(auth -&gt; auth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Storing passwords safely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Never store passwords — store a </a:t>
            </a:r>
            <a:pPr indent="0" marL="0">
              <a:buNone/>
            </a:pPr>
            <a:r>
              <a:rPr lang="en-US" sz="1350" b="1" dirty="0">
                <a:solidFill>
                  <a:srgbClr val="5B6B60"/>
                </a:solidFill>
                <a:latin typeface="Calibri" pitchFamily="34" charset="0"/>
                <a:ea typeface="Calibri" pitchFamily="34" charset="-122"/>
                <a:cs typeface="Calibri" pitchFamily="34" charset="-120"/>
              </a:rPr>
              <a:t>slow, salted, adaptive hash</a:t>
            </a:r>
            <a:pPr indent="0" marL="0">
              <a:buNone/>
            </a:pPr>
            <a:r>
              <a:rPr lang="en-US" sz="1350" dirty="0">
                <a:solidFill>
                  <a:srgbClr val="5B6B60"/>
                </a:solidFill>
                <a:latin typeface="Calibri" pitchFamily="34" charset="0"/>
                <a:ea typeface="Calibri" pitchFamily="34" charset="-122"/>
                <a:cs typeface="Calibri" pitchFamily="34" charset="-120"/>
              </a:rPr>
              <a:t> of them, so a stolen database doesn't reveal the passwords.</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encoder.encode(raw)</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creates a new random salt each time;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encoder.matches(raw, stored)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verifies.</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DelegatingPasswordEncoder</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reads the </a:t>
            </a:r>
            <a:endParaRPr lang="en-US" sz="1600" dirty="0"/>
          </a:p>
          <a:p>
            <a:pPr marL="177800" indent="-177800">
              <a:spcAft>
                <a:spcPts val="400"/>
              </a:spcAft>
              <a:buSzPct val="100000"/>
              <a:buChar char="•"/>
            </a:pPr>
            <a:r>
              <a:rPr lang="en-US" sz="1600" dirty="0">
                <a:solidFill>
                  <a:srgbClr val="B4235A"/>
                </a:solidFill>
                <a:latin typeface="Consolas" pitchFamily="34" charset="0"/>
                <a:ea typeface="Consolas" pitchFamily="34" charset="-122"/>
                <a:cs typeface="Consolas" pitchFamily="34" charset="-120"/>
              </a:rPr>
              <a:t>{id}</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 prefix, so you can migrate algorithms without forcing resets.</a:t>
            </a:r>
            <a:endParaRPr lang="en-US" sz="1600" dirty="0"/>
          </a:p>
          <a:p>
            <a:pPr marL="177800" indent="-177800">
              <a:spcAft>
                <a:spcPts val="400"/>
              </a:spcAft>
              <a:buSzPct val="100000"/>
              <a:buChar char="•"/>
            </a:pPr>
            <a:r>
              <a:rPr lang="en-US" sz="1600" dirty="0">
                <a:solidFill>
                  <a:srgbClr val="1F2A24"/>
                </a:solidFill>
                <a:latin typeface="Calibri" pitchFamily="34" charset="0"/>
                <a:ea typeface="Calibri" pitchFamily="34" charset="-122"/>
                <a:cs typeface="Calibri" pitchFamily="34" charset="-120"/>
              </a:rPr>
              <a:t>BCrypt only considers the first 72 bytes of a password — enforce a sensible maximum length.</a:t>
            </a:r>
            <a:endParaRPr lang="en-US" sz="16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Anatomy of a stored hash</a:t>
            </a:r>
            <a:endParaRPr lang="en-US" sz="900" dirty="0"/>
          </a:p>
        </p:txBody>
      </p:sp>
      <p:sp>
        <p:nvSpPr>
          <p:cNvPr id="9" name="Text 7"/>
          <p:cNvSpPr/>
          <p:nvPr/>
        </p:nvSpPr>
        <p:spPr>
          <a:xfrm>
            <a:off x="5852160" y="2157984"/>
            <a:ext cx="588233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003" dirty="0">
                <a:solidFill>
                  <a:srgbClr val="24292F"/>
                </a:solidFill>
                <a:latin typeface="Consolas" pitchFamily="34" charset="0"/>
                <a:ea typeface="Consolas" pitchFamily="34" charset="-122"/>
                <a:cs typeface="Consolas" pitchFamily="34" charset="-120"/>
              </a:rPr>
              <a:t>{bcrypt}$2a$10$N9qo8uLOickgx2ZMRZoMyeIjZAgcfl7p92ldGxad68LJZdL17lhWy</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     │  │            │                         └─ hash (31 chars)</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     │  │            └─ random salt (22 chars), different for every user</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     │  └─ cost 10 = 2^10 rounds (~100 ms per check)</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     └─ BCrypt version</a:t>
            </a:r>
            <a:endParaRPr lang="en-US" sz="1003" dirty="0"/>
          </a:p>
          <a:p>
            <a:pPr indent="0" marL="0">
              <a:buNone/>
            </a:pPr>
            <a:r>
              <a:rPr lang="en-US" sz="1003" dirty="0">
                <a:solidFill>
                  <a:srgbClr val="24292F"/>
                </a:solidFill>
                <a:latin typeface="Consolas" pitchFamily="34" charset="0"/>
                <a:ea typeface="Consolas" pitchFamily="34" charset="-122"/>
                <a:cs typeface="Consolas" pitchFamily="34" charset="-120"/>
              </a:rPr>
              <a:t>   └─ algorithm id used by DelegatingPasswordEncoder (allows future upgrades)</a:t>
            </a:r>
            <a:endParaRPr lang="en-US" sz="1003"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Plain text / encryption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 leak exposes every password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MD5 / SHA-256 (unsalted, fast)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rainbow tables; billions of guesses per second on GPUs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BCrypt (cost 10–12)</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salted, deliberately slow, tunable cost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Argon2id, scrypt, PBKDF2</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memory-hard / standardised alternatives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400" b="1" dirty="0">
                <a:solidFill>
                  <a:srgbClr val="1F2A24"/>
                </a:solidFill>
                <a:latin typeface="Calibri" pitchFamily="34" charset="0"/>
                <a:ea typeface="Calibri" pitchFamily="34" charset="-122"/>
                <a:cs typeface="Calibri" pitchFamily="34" charset="-120"/>
              </a:rPr>
              <a:t>Database-based authentication with a custom UserDetailsService</a:t>
            </a:r>
            <a:endParaRPr lang="en-US" sz="24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Spring Security asks one question — </a:t>
            </a:r>
            <a:pPr indent="0" marL="0">
              <a:buNone/>
            </a:pPr>
            <a:r>
              <a:rPr lang="en-US" sz="1350" i="1" dirty="0">
                <a:solidFill>
                  <a:srgbClr val="5B6B60"/>
                </a:solidFill>
                <a:latin typeface="Calibri" pitchFamily="34" charset="0"/>
                <a:ea typeface="Calibri" pitchFamily="34" charset="-122"/>
                <a:cs typeface="Calibri" pitchFamily="34" charset="-120"/>
              </a:rPr>
              <a:t>load the user called X</a:t>
            </a:r>
            <a:pPr indent="0" marL="0">
              <a:buNone/>
            </a:pPr>
            <a:r>
              <a:rPr lang="en-US" sz="1350" dirty="0">
                <a:solidFill>
                  <a:srgbClr val="5B6B60"/>
                </a:solidFill>
                <a:latin typeface="Calibri" pitchFamily="34" charset="0"/>
                <a:ea typeface="Calibri" pitchFamily="34" charset="-122"/>
                <a:cs typeface="Calibri" pitchFamily="34" charset="-120"/>
              </a:rPr>
              <a:t> — and does the password check itself.</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db/migration/V2__security.sql  (+3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CREATE TABLE user_roles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user_id  BIGINT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role     VARCHAR(20) NOT NULL,                 -- USER | ADMIN (platform-wide)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PRIMARY KEY (user_id, role),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CONSTRAINT fk_roles_user FOREIGN KEY (user_id) REFERENCES users (id) ON DELETE CASCADE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Registration, the current user, and the responses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Hash on the way in, read the principal on the way out.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AuthController.java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com.example.splitwise.security;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jakarta.validation.Valid;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jakarta.validation.constraints.*;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java.net.URI;</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java.util.Set;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org.springframework.http.ResponseEntity;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org.springframework.security.core.annotation.AuthenticationPrincipal;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record RegisterRequest(@NotBlank @Email String email,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@NotBlank @Size(max = 100) String displayName,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@NotBlank @Size(min = 12, max = 72) String password)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record MeResponse(Long id, String email, Set&lt;Role&gt; roles)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@RestController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AuthController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UserService users;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AuthController(UserService users) { this.users = users;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Authorization: URL rules, method security &amp; domain checks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Coarse rules at the URL level, fine-grained rules where the business logic lives.</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hasRole('ADMIN')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checks the authority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ROLE_ADMIN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hasAuthority('expense:write')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checks exact permission strings.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Principle of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least privilege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deny by default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anyRequest().authenticated()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grant explicitly.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Broken object-level authorization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IDOR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changing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/groups/7</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/groups/8</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the #1 API security risk — always check ownership.</a:t>
            </a:r>
            <a:endParaRPr lang="en-US" sz="17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Level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requestMatchers(...).hasRole(...)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/api/v1/admin/ → ADMIN only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@PreAuthorize("hasRole('ADMIN')")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service method for platform admins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Domain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@PreAuthorize("@groupAccess.isAdmin(#groupId, authentication)")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only admins of this group remove members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filter queries by the current user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findGroupsOf(me.id()) — never list others' groups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Method security with a domain permission bean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small bean answers membership questions; </a:t>
            </a:r>
            <a:pPr indent="0" marL="0">
              <a:buNone/>
            </a:pPr>
            <a:r>
              <a:rPr lang="en-US" sz="1350" dirty="0">
                <a:solidFill>
                  <a:srgbClr val="B4235A"/>
                </a:solidFill>
                <a:latin typeface="Consolas" pitchFamily="34" charset="0"/>
                <a:ea typeface="Consolas" pitchFamily="34" charset="-122"/>
                <a:cs typeface="Consolas" pitchFamily="34" charset="-120"/>
              </a:rPr>
              <a:t>@PreAuthorize</a:t>
            </a:r>
            <a:pPr indent="0" marL="0">
              <a:buNone/>
            </a:pPr>
            <a:r>
              <a:rPr lang="en-US" sz="1350" dirty="0">
                <a:solidFill>
                  <a:srgbClr val="5B6B60"/>
                </a:solidFill>
                <a:latin typeface="Calibri" pitchFamily="34" charset="0"/>
                <a:ea typeface="Calibri" pitchFamily="34" charset="-122"/>
                <a:cs typeface="Calibri" pitchFamily="34" charset="-120"/>
              </a:rPr>
              <a:t> calls it before the service method runs.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GroupAccess.java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com.example.splitwise.security;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com.example.splitwise.group.GroupMemberRepository;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com.example.splitwise.group.GroupRole;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org.springframework.security.core.Authentication;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@Component("groupAccess")                     // referenced by name from SpEL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GroupAccess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GroupMemberRepository members;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GroupAccess(GroupMemberRepository members) { this.members = members;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boolean isMember(Long groupId, Authentication auth)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members.existsByGroupIdAndUserId(groupId, userId(auth));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boolean isAdmin(Long groupId, Authentication auth)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members.existsByGroupIdAndUserIdAndRole(groupId, userId(auth), GroupRole.ADMIN);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Sessions vs tokens, CORS &amp; testing security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How the identity travels after login decides which protections you need.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CORS for a browser front-end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CorsConfigurationSource corsConfigurationSource() {      // used by http.cors(withDefaults())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CorsConfiguration cfg = new CorsConfiguration();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cfg.setAllowedOrigins(List.of("https://app.splitwise.local"));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cfg.setAllowedMethods(List.of("GET", "POST", "PUT", "PATCH", "DELETE"));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cfg.setAllowedHeaders(List.of("Authorization", "Content-Type", "Idempotency-Key"));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UrlBasedCorsConfigurationSource source = new UrlBasedCorsConfigurationSource();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source.registerCorsConfiguration("/api/**", cfg);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source;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Server session + cookie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Bearer token (e.g. JWT)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server stores the session (memory/Redis)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stateless — token carries claims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Sent as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Cookie: SESSION… automatically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Authorization: Bearer … explicitly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CSRF risk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yes — keep CSRF protection 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low (no automatic credentials)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Revocation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easy: delete the session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hard: short expiry + refresh tokens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Fits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server-rendered web apps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SPAs, mobile apps, microservices (Session 18)</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secure the Splitwise API</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Real users, hashed passwords, roles, and per-group permissions — with tests proving each rule.</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spring-boot-starter-security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spring-boot-starter-security-test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for tests); note the generated-password behaviour, then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SecurityConfig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V2__security.sql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passwordHash</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roles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fields,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AppUserPrincipal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JpaUserDetailsService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 /api/v1/auth/register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(BCrypt, 409 on duplicate email)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/api/v1/me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@AuthenticationPrincipal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Replace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X-User-Id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header everywhere with the authenticated principal.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GroupAccess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@PreAuthorize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rules: members read/add expenses; only group ADMINs remove members or rename the group.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Make 401 and 403 responses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application/problem+json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security tests: anonymous → 401, USER on admin API → 403, non-member reading a group → 403, admin removing a member → 204.</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store sessions in Redis with Spring Session and switch the chain to form login + CSRF to compare the two models.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Spring Security</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A request with no credentials hits a protected endpoint. Correct status?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403 Forbidden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401 Unauthorized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404 Not Found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400 Bad Request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What does Spring Security need from your code for database authentication?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 login controller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 UserDetailsService (plus a PasswordEncoder)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custom servlet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JWT library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Why is BCrypt preferred over SHA-256 for passwords?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is shorter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 is salted and deliberately slow (adaptive cost)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is reversible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MySQL requires it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Which expression allows only admins of the group in the method argument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groupId</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hasRole('ADMIN')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permitAll()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@groupAccess.isAdmin(#groupId, authentication)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authenticated()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When is disabling CSRF protection reasonable?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Always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For a stateless API authenticated by an Authorization header on every request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For form login with session cookies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Never</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16</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16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AuthN = who you are (401 on failure); AuthZ = what you may do (403 on failure).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Security filter chain → AuthenticationManager → UserDetailsService + PasswordEncoder → SecurityContext.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Configure 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SecurityFilterChain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bean with the lambda DSL: matchers, httpBasic, stateless sessions, problem+json errors.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Store BCrypt hashes (DelegatingPasswordEncoder); load users from MySQL with a custom principal carrying the id.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Authorize at URL, method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@PreAuthorize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domain level; test every rule with MockMvc.</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Principal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The authenticated identity (our AppUserPrincipal).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SecurityFilterChain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Bean defining the ordered security filters and rules for requests.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UserDetailsService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Loads a user by username for authentication.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DelegatingPasswordEncoder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Encoder that stores {id} prefixes so algorithms can evolve.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@PreAuthorize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Method-level authorization with SpEL, evaluated before the call.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IDOR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Insecure direct object reference — accessing others’ objects by changing an id.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CSRF</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Attack abusing automatically sent browser credentials (cookies).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CORS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Browser rules for which origins may read cross-origin responses.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8B6CF0"/>
                </a:solidFill>
                <a:latin typeface="Calibri" pitchFamily="34" charset="0"/>
                <a:ea typeface="Calibri" pitchFamily="34" charset="-122"/>
                <a:cs typeface="Calibri" pitchFamily="34" charset="-120"/>
              </a:rPr>
              <a:t>SESSION 17 OF 24  ·  MODULE 3</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Minor Project — Splitwise Advanced with Cursor AI: JUnit + Redis + Security Integration</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Splitwise with Cursor AI: JUnit + Redis + Security integration</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Integrate testing, Redis caching and Spring Security into one coherent Splitwise release.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role-based access and advanced (cross-field, class-level) validations.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Use Cursor's AI modes (Ask, Agent, inline edit) with project rules to automate repetitive backend work.</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Review AI-generated code critically and prove it with tests before merging.</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Project: Project brief: Splitwise Advanced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AI-assisted development with Cursor</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Project rules: teach the agent your conventions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Prompting for backend tasks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Advanced validation: a class-level @ValidSplit constraint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Role-based access: the permission matrix</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An agent session, step by step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Reviewing AI-generated code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Integration test: security + Redis + MySQL together</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Project milestone 3: Splitwise Advanced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Splitwise Advanced &amp; AI-assisted coding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17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05A72"/>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brief: Splitwise Advanced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“Enhance the Splitwise backend with advanced capabilities — integrate JUnit testing and Redis caching, add Spring Security with role-based access, implement advanced validations, and use AI Agents in Cursor to automate repetitive backend code tasks.” — brochure</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Security: SecurityFilterChain (Basic/Bearer auth, 401/403 problem+json) | @PreAuthorize (group roles)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Web: Controllers (DTOs + @Valid + @ValidSplit)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Domain: Services (@Transactional, strategies) | BalanceService (@Cacheable / @CacheEvict)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 MySQL 8.4 (Flyway, constraints) | Redis 7 (balances cache, rate limits)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Quality: JUnit 5 + Mockito + MockMvc | Testcontainers ITs | JaCoCo ≥ 80%</a:t>
            </a:r>
            <a:endParaRPr lang="en-US" sz="13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Deliverable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Definition of done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Role-based access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platform ADMIN vs USER; group ADMIN vs MEMBER enforced and tested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Advanced validations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class-level @ValidSplit, business rules → 400/422 problem details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Redis caching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balances cached, evicted on every write, TTL safety net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Testing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unit + slice + Testcontainers ITs green in ./mvnw verify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AI-assisted workflow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Cursor rules committed; an AI-usage log in the README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AI-assisted development with Cursor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Cursor is an AI-first code editor (built on VS Code) that can read your codebase, answer questions, and make multi-file changes — with you in control.</a:t>
            </a:r>
            <a:endParaRPr lang="en-US" sz="1350" dirty="0"/>
          </a:p>
        </p:txBody>
      </p:sp>
      <p:sp>
        <p:nvSpPr>
          <p:cNvPr id="7" name="Text 5"/>
          <p:cNvSpPr/>
          <p:nvPr/>
        </p:nvSpPr>
        <p:spPr>
          <a:xfrm>
            <a:off x="457200" y="1883664"/>
            <a:ext cx="11277295" cy="213969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Context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everything: @-mention files, folders and docs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@ExpenseService.java</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@Docs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so the model works from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your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code.</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Project rules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.cursor/rules/*.mdc</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or an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AGENTS.md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file) encode conventions the agent must follow on every request.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Keep the agent on a short leash: plan first, small steps, run the tests, review every diff.</a:t>
            </a:r>
            <a:endParaRPr lang="en-US" sz="17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 it for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Tab (autocomplete)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predicts multi-line edits as you type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boilerplate, repetitive patterns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Inline edit (Ctrl/Cmd + 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rewrites the selected code from an instruction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refactor a method, add logging, convert to a record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answers questions about the code — read-only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understanding a module, planning a change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Agent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plans, edits many files, runs terminal commands (with your approval)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feature + tests, a migration, a cross-cutting refactor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WARN: </a:t>
            </a:r>
            <a:pPr indent="0" marL="0">
              <a:buNone/>
            </a:pPr>
            <a:r>
              <a:rPr lang="en-US" sz="1100" dirty="0">
                <a:solidFill>
                  <a:srgbClr val="1F2A24"/>
                </a:solidFill>
                <a:latin typeface="Calibri" pitchFamily="34" charset="0"/>
                <a:ea typeface="Calibri" pitchFamily="34" charset="-122"/>
                <a:cs typeface="Calibri" pitchFamily="34" charset="-120"/>
              </a:rPr>
              <a:t>Models are trained on years of older code: unguided, they often emit Spring Boot 2/3 patterns (</a:t>
            </a:r>
            <a:pPr indent="0" marL="0">
              <a:buNone/>
            </a:pPr>
            <a:r>
              <a:rPr lang="en-US" sz="1100" dirty="0">
                <a:solidFill>
                  <a:srgbClr val="B4235A"/>
                </a:solidFill>
                <a:latin typeface="Consolas" pitchFamily="34" charset="0"/>
                <a:ea typeface="Consolas" pitchFamily="34" charset="-122"/>
                <a:cs typeface="Consolas" pitchFamily="34" charset="-120"/>
              </a:rPr>
              <a:t>@MockBean</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WebSecurityConfigurerAdapter</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javax.*</a:t>
            </a:r>
            <a:pPr indent="0" marL="0">
              <a:buNone/>
            </a:pPr>
            <a:r>
              <a:rPr lang="en-US" sz="1100" dirty="0">
                <a:solidFill>
                  <a:srgbClr val="1F2A24"/>
                </a:solidFill>
                <a:latin typeface="Calibri" pitchFamily="34" charset="0"/>
                <a:ea typeface="Calibri" pitchFamily="34" charset="-122"/>
                <a:cs typeface="Calibri" pitchFamily="34" charset="-120"/>
              </a:rPr>
              <a:t>, </a:t>
            </a:r>
            <a:pPr indent="0" marL="0">
              <a:buNone/>
            </a:pPr>
            <a:r>
              <a:rPr lang="en-US" sz="1100" dirty="0">
                <a:solidFill>
                  <a:srgbClr val="B4235A"/>
                </a:solidFill>
                <a:latin typeface="Consolas" pitchFamily="34" charset="0"/>
                <a:ea typeface="Consolas" pitchFamily="34" charset="-122"/>
                <a:cs typeface="Consolas" pitchFamily="34" charset="-120"/>
              </a:rPr>
              <a:t>spring-boot-starter-web</a:t>
            </a:r>
            <a:pPr indent="0" marL="0">
              <a:buNone/>
            </a:pPr>
            <a:r>
              <a:rPr lang="en-US" sz="1100" dirty="0">
                <a:solidFill>
                  <a:srgbClr val="1F2A24"/>
                </a:solidFill>
                <a:latin typeface="Calibri" pitchFamily="34" charset="0"/>
                <a:ea typeface="Calibri" pitchFamily="34" charset="-122"/>
                <a:cs typeface="Calibri" pitchFamily="34" charset="-120"/>
              </a:rPr>
              <a:t>). Rules + compiling + tests catch this.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rules: teach the agent your conventions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rules file turns tribal knowledge into instructions the AI sees on every request — and documents conventions for humans too.</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.cursor/rules/spring-boot.mdc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description: Conventions for the Splitwise Spring Boot 4 backend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globs: ["src/**/*.java", "pom.xml", "src/**/*.sql"]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alwaysApply: true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Java 21, Spring Boot 4.1.x, Spring Framework 7, Jakarta EE: jakarta.* imports only.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Starters: spring-boot-starter-webmvc (not -web), spring-boot-starter-aspectj (not -aop),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spring-boot-starter-flyway + flyway-mysql. Tests: spring-boot-starter-webmvc-test.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Tests: JUnit Jupiter + AssertJ + Mockito. Use @MockitoBean (never @MockBean).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MockMvc request bodies as Java text blocks.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Security: a SecurityFilterChain bean with the lambda DSL. No WebSecurityConfigurerAdapter,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 antMatchers, no .and() chaining.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Money: BigDecimal with scale 2 and DECIMAL(12,2) columns; compare with compareTo; never double.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API: request/response DTOs as records; never return entities; errors as ProblemDetail via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GlobalExceptionHandler (400 validation, 404 not found, 409 conflict, 422 business rule).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Persistence: Flyway migrations only (ddl-auto=validate); LAZY associations; avoid N+1 queries.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Caching: @Cacheable on BalanceService only; every write path must @CacheEvict "balances".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Every new public service method needs a unit test; every endpoint a @WebMvcTest.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Ask before adding dependencies. Run ./mvnw -q verify before saying a task is done.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Prompting for backend tasks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Treat the agent like a fast junior developer: precise task, relevant context, constraints, and a way to verify.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Prompt template</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TASK         Implement &lt;feature&gt; in &lt;module&gt;.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CONTEXT      @File1.java @File2.java @.cursor/rules/spring-boot.mdc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REQUIREMENTS - business rule 1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error handling: &lt;exception&gt; -&gt; &lt;status&gt; problem detail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CONSTRAINTS  - no new dependencies; follow existing package structure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keep public APIs unchanged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TESTS        - unit tests for &lt;cases&gt;; @WebMvcTest for &lt;endpoint&gt;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PROCESS      Show a short plan first. Wait for my approval before editing.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After editing, run ./mvnw -q test and report the result.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Ask for a plan before edits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accept a 40-file diff you haven't read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Give examples of existing code to imitate (@EqualSplit.java)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describe conventions vaguely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Ask for tests first, then the implementation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trust "it should work" without running tests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Iterate in small, committed steps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mix three features in one request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Paste the exact error/stack trace when something fails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say "it doesn't work"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Advanced validation: a class-level @ValidSplit constraint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Field annotations can't compare fields with each other. A class-level constraint validates the request as a whole.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ValidSplit.java  (+2 more in the web notes)</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com.example.splitwise.expense.validation;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jakarta.validation.Constraint;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jakarta.validation.Payload;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java.lang.annotation.*;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@Target(ElementType.TYPE)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@Retention(RetentionPolicy.RUNTIME)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@Constraint(validatedBy = ValidSplitValidator.class)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ValidSplit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message() default "split values are inconsistent with the split 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Class&lt;?&gt;[] groups() default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Class&lt;? extends Payload&gt;[] payload() default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PITFALL: </a:t>
            </a:r>
            <a:pPr indent="0" marL="0">
              <a:buNone/>
            </a:pPr>
            <a:r>
              <a:rPr lang="en-US" sz="1100" dirty="0">
                <a:solidFill>
                  <a:srgbClr val="1F2A24"/>
                </a:solidFill>
                <a:latin typeface="Calibri" pitchFamily="34" charset="0"/>
                <a:ea typeface="Calibri" pitchFamily="34" charset="-122"/>
                <a:cs typeface="Calibri" pitchFamily="34" charset="-120"/>
              </a:rPr>
              <a:t>Hibernate Validator interprets </a:t>
            </a:r>
            <a:pPr indent="0" marL="0">
              <a:buNone/>
            </a:pPr>
            <a:r>
              <a:rPr lang="en-US" sz="1100" dirty="0">
                <a:solidFill>
                  <a:srgbClr val="B4235A"/>
                </a:solidFill>
                <a:latin typeface="Consolas" pitchFamily="34" charset="0"/>
                <a:ea typeface="Consolas" pitchFamily="34" charset="-122"/>
                <a:cs typeface="Consolas" pitchFamily="34" charset="-120"/>
              </a:rPr>
              <a:t>{…}</a:t>
            </a:r>
            <a:pPr indent="0" marL="0">
              <a:buNone/>
            </a:pPr>
            <a:r>
              <a:rPr lang="en-US" sz="1100" dirty="0">
                <a:solidFill>
                  <a:srgbClr val="1F2A24"/>
                </a:solidFill>
                <a:latin typeface="Calibri" pitchFamily="34" charset="0"/>
                <a:ea typeface="Calibri" pitchFamily="34" charset="-122"/>
                <a:cs typeface="Calibri" pitchFamily="34" charset="-120"/>
              </a:rPr>
              <a:t> and </a:t>
            </a:r>
            <a:pPr indent="0" marL="0">
              <a:buNone/>
            </a:pPr>
            <a:r>
              <a:rPr lang="en-US" sz="1100" dirty="0">
                <a:solidFill>
                  <a:srgbClr val="B4235A"/>
                </a:solidFill>
                <a:latin typeface="Consolas" pitchFamily="34" charset="0"/>
                <a:ea typeface="Consolas" pitchFamily="34" charset="-122"/>
                <a:cs typeface="Consolas" pitchFamily="34" charset="-120"/>
              </a:rPr>
              <a:t>${…}</a:t>
            </a:r>
            <a:pPr indent="0" marL="0">
              <a:buNone/>
            </a:pPr>
            <a:r>
              <a:rPr lang="en-US" sz="1100" dirty="0">
                <a:solidFill>
                  <a:srgbClr val="1F2A24"/>
                </a:solidFill>
                <a:latin typeface="Calibri" pitchFamily="34" charset="0"/>
                <a:ea typeface="Calibri" pitchFamily="34" charset="-122"/>
                <a:cs typeface="Calibri" pitchFamily="34" charset="-120"/>
              </a:rPr>
              <a:t> in message templates. Building templates from user input enables </a:t>
            </a:r>
            <a:pPr indent="0" marL="0">
              <a:buNone/>
            </a:pPr>
            <a:r>
              <a:rPr lang="en-US" sz="1100" b="1" dirty="0">
                <a:solidFill>
                  <a:srgbClr val="1F2A24"/>
                </a:solidFill>
                <a:latin typeface="Calibri" pitchFamily="34" charset="0"/>
                <a:ea typeface="Calibri" pitchFamily="34" charset="-122"/>
                <a:cs typeface="Calibri" pitchFamily="34" charset="-120"/>
              </a:rPr>
              <a:t>expression-language injection</a:t>
            </a:r>
            <a:pPr indent="0" marL="0">
              <a:buNone/>
            </a:pPr>
            <a:r>
              <a:rPr lang="en-US" sz="1100" dirty="0">
                <a:solidFill>
                  <a:srgbClr val="1F2A24"/>
                </a:solidFill>
                <a:latin typeface="Calibri" pitchFamily="34" charset="0"/>
                <a:ea typeface="Calibri" pitchFamily="34" charset="-122"/>
                <a:cs typeface="Calibri" pitchFamily="34" charset="-120"/>
              </a:rPr>
              <a:t> — only include trusted values (like the numeric amount here).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Role-based access: the permission matrix</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Write the matrix first, then make every cell a test.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Security + caching, layered safely</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@RequiredArgsConstructor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GroupQueries {                       // authorization at the entry point...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BalanceService balances;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@PreAuthorize("@groupAccess.isMember(#groupId, authentication)")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List&lt;MemberBalance&gt; balancesFor(Long groupId)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balances.balances(groupId);       // ...cache in a separate bean (no self-invocation)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255459"/>
                <a:gridCol w="2255459"/>
                <a:gridCol w="2255459"/>
                <a:gridCol w="2255459"/>
                <a:gridCol w="2255459"/>
              </a:tblGrid>
              <a:tr h="235131">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Platform ADMIN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Group ADMIN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Group MEMBER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Non-member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View group, expenses, balances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Add / edit own expense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Edit / delete any expense in the group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Add / remove members, rename group</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Record a settlement (as payer)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List all users, disable accounts (/api/v1/admin/)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 403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An agent session, step by step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What a productive, controlled Agent-mode session looks like.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Agent transcript (abridged)</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YOU    Implement the SHARES split strategy.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Context: @SplitStrategy.java @EqualSplit.java @Allocation.java @.cursor/rules/spring-boot.mdc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shares must be positive, allocate paise with the largest-remainder rule (reuse Allocation)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BusinessRuleException with a clear message on invalid input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SharesSplitTest: 1000.00 with 2:1:1 -&gt; 500/250/250; 100.00 with 1:1:1 -&gt; 33.34/33.33/33.33;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 zero share is rejected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Show a plan first; don't edit until I approve.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AGENT  Plan: 1) SharesSplit implements SplitStrategy, annotated @Component (resolver picks it up)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2) SharesSplitTest as a @ParameterizedTest + one negative 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3) run ./mvnw -q test -Dtest=SharesSplitTest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YOU    Approved.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AGENT  Created SharesSplit.java, SharesSplitTest.java. Running tests...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FAILED: expected 33.34 for user 1 but was 33.33 (leftover paisa went to user 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Cause: tie-break on equal fractions used the HashMap iteration order.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Fix: iterate participants in request order (LinkedHashMap) as EqualSplit does. Re-running...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Tests: 4 passed, 0 failed.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YOU    (reviews the diff: BigDecimal only, no new deps, message wording, test names)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git commit -m "feat: SHARES split strategy with tests"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Reviewing AI-generated code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You own every line you merge — regardless of who (or what) typed it.</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Risks: confident but wrong code, outdated patterns,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prompt injection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via files or issues the agent reads, leaking sensitive data in prompts.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Mitigations: rules, small diffs, mandatory tests/CI, code review, privacy settings, least-privilege terminal access.</a:t>
            </a:r>
            <a:endParaRPr lang="en-US" sz="17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Check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to look for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Compiles &amp; tests pass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run ./mvnw verify yourself; hallucinated APIs fail here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Current APIs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Boot 4 starters, @MockitoBean, jakarta., lambda security DSL</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Correctness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money as BigDecimal, rounding rules, transactions around multi-step writes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authorization on every endpoint, no secrets, parameterised SQL, no EL in messages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Performance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N+1 queries, missing indexes, cache eviction on every write path</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Tests that test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assertions on behaviour, not just executed lines; negative cases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Scope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no unrequested dependencies, renames or "drive-by" refactors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Integration test: security + Redis + MySQL together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One Testcontainers-backed test proves the layers cooperate: a member writes, balances get cached, an outsider is refused.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SecuredFlowIT.java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com.example.splitwise;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org.assertj.core.api.Assertions.assertThat;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org.springframework.security.test.web.servlet.request.SecurityMockMvcRequestPostProcessors.httpBasic;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org.springframework.test.web.servlet.request.MockMvcRequestBuilders.*;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static org.springframework.test.web.servlet.result.MockMvcResultMatchers.*;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org.junit.jupiter.api.Test;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org.springframework.beans.factory.annotation.Autowired;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org.springframework.boot.test.context.SpringBootTest;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org.springframework.boot.testcontainers.service.connection.ServiceConnection;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org.springframework.boot.webmvc.test.autoconfigure.AutoConfigureMockMvc;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org.springframework.cache.CacheManager;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org.springframework.http.MediaType;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org.springframework.test.context.jdbc.Sql;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org.springframework.test.web.servlet.MockMvc;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org.testcontainers.containers.GenericContainer;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org.testcontainers.junit.jupiter.Container;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org.testcontainers.junit.jupiter.Testcontainers;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org.testcontainers.mysql.MySQLContainer;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milestone 3: Splitwise Advanced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Ship the integrated, secured, cached and tested release — using AI where it helps, proving everything with tests.</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Commit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.cursor/rules/spring-boot.mdc</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(and/or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AGENTS.md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the course conventions; verify the agent follows them on a small task.</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Use Agent mode to scaffold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@ValidSplit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validator tests from a precise prompt; review and fix the result.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the permission matrix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@PreAuthorize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GroupAccess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have the agent generate one MockMvc security test per matrix cell.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Ensure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BalanceService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caching sits behind authorization (separate beans) and every write path evicts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balances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rate limiting (429) on expense creation and an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Idempotency-Key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on settlements using Redis.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SecuredFlowIT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MySQL + Redis Testcontainers; make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./mvnw verify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green with ≥ 80% coverage on service packages.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an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AI usage log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to the README: three prompts, what was accepted, what you changed and why.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Open the </a:t>
            </a:r>
            <a:endParaRPr lang="en-US" sz="1500" dirty="0"/>
          </a:p>
          <a:p>
            <a:pPr marL="342900" indent="-342900">
              <a:spcAft>
                <a:spcPts val="400"/>
              </a:spcAft>
              <a:buSzPct val="100000"/>
              <a:buFont typeface="+mj-lt"/>
              <a:buAutoNum type="arabicPeriod" startAt="1"/>
            </a:pPr>
            <a:r>
              <a:rPr lang="en-US" sz="1500" i="1" dirty="0">
                <a:solidFill>
                  <a:srgbClr val="1F2A24"/>
                </a:solidFill>
                <a:latin typeface="Calibri" pitchFamily="34" charset="0"/>
                <a:ea typeface="Calibri" pitchFamily="34" charset="-122"/>
                <a:cs typeface="Calibri" pitchFamily="34" charset="-120"/>
              </a:rPr>
              <a:t>Splitwise Advanced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pull request; review a peer's PR using the AI-code review checklist.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Splitwise Advanced &amp; AI-assisted coding</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Cursor mode is best for a multi-file feature that must also run the test suite?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Tab autocomplete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Ask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Agent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Inline edit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Why commit a rules file such as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.cursor/rules/spring-boot.mdc</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speeds up Maven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 makes the AI follow project conventions (e.g. Boot 4 APIs) on every request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Cursor refuses to run without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It replaces code review</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Cross-field rules like 'percentages must add up to 100' are best implemented as…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Field-level @Min/@Max</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 class-level constraint (custom ConstraintValidator)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database trigger only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frontend check only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Balances are cached by group id. What must happen before the cache is consulted?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Nothing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An authorization check that the caller is a group member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cache flush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database write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The AI generates a test using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@MockBean</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In a Boot 4 project you should…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Keep 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Replace it with @MockitoBean (and tighten your rules file)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Downgrade to Boot 3</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Delete the test</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17</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17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Splitwise Advanced integrates security (RBAC + domain checks), Redis caching, advanced validation and a full test pyramid.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Class-level constraints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@ValidSplit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handle cross-field rules; never build message templates from user input.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Authorize before cache access — keep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@PreAuthorize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@Cacheable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 separate beans.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Cursor: Tab, inline edit, Ask, Agent; @-context and project rules make output fit your stack.</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AI accelerates repetitive work; tests, CI and human review make it trustworthy.</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Class-level constraint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Bean Validation annotation on a type, validating several fields together.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Permission matrix</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Table of roles × actions — each cell becomes a security test.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Agent mode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AI plans and applies multi-file changes, running commands with approval.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Project rules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Persistent instructions (e.g. .cursor/rules/*.mdc, AGENTS.md) for AI assistants.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@-mention context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Pointing the AI at specific files, folders or docs.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Prompt injection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Malicious instructions hidden in content an AI reads.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EL injection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Abusing validator message templates with ${} expressions.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AI usage log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Record of prompts, accepted output and human changes.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8B6CF0"/>
                </a:solidFill>
                <a:latin typeface="Calibri" pitchFamily="34" charset="0"/>
                <a:ea typeface="Calibri" pitchFamily="34" charset="-122"/>
                <a:cs typeface="Calibri" pitchFamily="34" charset="-120"/>
              </a:rPr>
              <a:t>SESSION 18 OF 24  ·  MODULE 3</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OAuth 2.0 Workflow, Scopes &amp; GitHub OAuth2 with Spring Boot</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OAuth 2.0 workflow, scopes &amp; GitHub OAuth2 with Spring Boot</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Bridge to Module 4: securing many services with tokens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OAuth 2.0 roles, the authorization-code flow (with state and PKCE), grant types and tokens.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Choose minimal scopes and distinguish OAuth 2.0 (authorization) from OpenID Connect (authentication).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Implement 'Login with GitHub' in Spring Boot and provision local users from GitHub identities.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Understand JWT access tokens and resource servers — the security model for microservices.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Why OAuth 2.0? Delegated authorization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authorization code flow</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Grant types, tokens &amp; scopes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Register a GitHub OAuth App</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Login with GitHub in Spring Boot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Provisioning local users from GitHub identities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Access tokens for APIs: JWTs &amp; resource servers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How a JWT signature protects claims (pure JDK demo)</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Bridge to microservices: one identity, many services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"Login with GitHub" for Splitwise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OAuth 2.0 &amp; GitHub login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18 recap — Module 3 complete</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Why OAuth 2.0? Delegated authorization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Never give an app your password. OAuth 2.0 lets you grant an app </a:t>
            </a:r>
            <a:pPr indent="0" marL="0">
              <a:buNone/>
            </a:pPr>
            <a:r>
              <a:rPr lang="en-US" sz="1350" b="1" dirty="0">
                <a:solidFill>
                  <a:srgbClr val="5B6B60"/>
                </a:solidFill>
                <a:latin typeface="Calibri" pitchFamily="34" charset="0"/>
                <a:ea typeface="Calibri" pitchFamily="34" charset="-122"/>
                <a:cs typeface="Calibri" pitchFamily="34" charset="-120"/>
              </a:rPr>
              <a:t>limited access</a:t>
            </a:r>
            <a:pPr indent="0" marL="0">
              <a:buNone/>
            </a:pPr>
            <a:r>
              <a:rPr lang="en-US" sz="1350" dirty="0">
                <a:solidFill>
                  <a:srgbClr val="5B6B60"/>
                </a:solidFill>
                <a:latin typeface="Calibri" pitchFamily="34" charset="0"/>
                <a:ea typeface="Calibri" pitchFamily="34" charset="-122"/>
                <a:cs typeface="Calibri" pitchFamily="34" charset="-120"/>
              </a:rPr>
              <a:t> to your data on another service — and revoke it any time.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client receives an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access token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 credential with limited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scope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and lifetime — not the password.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user consents on the authorization server's own page; the client never sees the password.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Tokens can be revoked per app without changing the password.</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Resource owner — the user (you, owner of the GitHub account)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Client — the app wanting access (our Spring Boot app)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Authorization server — authenticates the user, issues tokens (github.com)</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Resource server — API holding the data (api.github.com)</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authorization code flow</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The browser carries a short-lived </a:t>
            </a:r>
            <a:pPr indent="0" marL="0">
              <a:buNone/>
            </a:pPr>
            <a:r>
              <a:rPr lang="en-US" sz="1350" b="1" dirty="0">
                <a:solidFill>
                  <a:srgbClr val="5B6B60"/>
                </a:solidFill>
                <a:latin typeface="Calibri" pitchFamily="34" charset="0"/>
                <a:ea typeface="Calibri" pitchFamily="34" charset="-122"/>
                <a:cs typeface="Calibri" pitchFamily="34" charset="-120"/>
              </a:rPr>
              <a:t>code</a:t>
            </a:r>
            <a:pPr indent="0" marL="0">
              <a:buNone/>
            </a:pPr>
            <a:r>
              <a:rPr lang="en-US" sz="1350" dirty="0">
                <a:solidFill>
                  <a:srgbClr val="5B6B60"/>
                </a:solidFill>
                <a:latin typeface="Calibri" pitchFamily="34" charset="0"/>
                <a:ea typeface="Calibri" pitchFamily="34" charset="-122"/>
                <a:cs typeface="Calibri" pitchFamily="34" charset="-120"/>
              </a:rPr>
              <a:t>; the server exchanges it for tokens over a back channel, authenticating with its client secret.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state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random value round-tripped to stop CSRF on the callback.</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PKCE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(code_verifier/code_challenge) — proves the code is redeemed by the client that started the flow; required for public clients, recommended for all.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access token never touches the browser in this server-side flow.</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User / Browser → Spring Boot app: GET /oauth2/authorization/github</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Spring Boot app → User / Browser: 302 to github.com/login/oauth/authorize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User / Browser → GitHub (auth server): authorize?client_id&amp;scope&amp;state&amp;redirect_uri</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GitHub (auth server): user logs in and consents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GitHub (auth server) → User / Browser: 302 /login/oauth2/code/github?code&amp;state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User / Browser → Spring Boot app: callback with code + state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Spring Boot app → GitHub (auth server): POST /access_token (code + client secret)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8. GitHub (auth server) → Spring Boot app: access_token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9. Spring Boot app → api.github.com: GET /user with Bearer token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10. api.github.com → Spring Boot app: id, login, name, avatar_url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11. Spring Boot app → User / Browser: session created: logged in</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Grant types, tokens &amp; scopes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Pick the grant for the kind of client; request the </a:t>
            </a:r>
            <a:pPr indent="0" marL="0">
              <a:buNone/>
            </a:pPr>
            <a:r>
              <a:rPr lang="en-US" sz="1350" b="1" dirty="0">
                <a:solidFill>
                  <a:srgbClr val="5B6B60"/>
                </a:solidFill>
                <a:latin typeface="Calibri" pitchFamily="34" charset="0"/>
                <a:ea typeface="Calibri" pitchFamily="34" charset="-122"/>
                <a:cs typeface="Calibri" pitchFamily="34" charset="-120"/>
              </a:rPr>
              <a:t>smallest scope</a:t>
            </a:r>
            <a:pPr indent="0" marL="0">
              <a:buNone/>
            </a:pPr>
            <a:r>
              <a:rPr lang="en-US" sz="1350" dirty="0">
                <a:solidFill>
                  <a:srgbClr val="5B6B60"/>
                </a:solidFill>
                <a:latin typeface="Calibri" pitchFamily="34" charset="0"/>
                <a:ea typeface="Calibri" pitchFamily="34" charset="-122"/>
                <a:cs typeface="Calibri" pitchFamily="34" charset="-120"/>
              </a:rPr>
              <a:t> that works.</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GitHub scopes (examples):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(no scope)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public profile, read-only;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read:user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read profile data;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user:email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read email addresses (incl. private);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repo</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full private repo access ⚠️ never for login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OAuth 2.0 vs OpenID Connect: OAuth 2.0: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access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(authorization); OIDC: adds an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ID token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(JWT) + standard user claims = </a:t>
            </a:r>
            <a:endParaRPr lang="en-US" sz="1300" dirty="0"/>
          </a:p>
          <a:p>
            <a:pPr marL="177800" indent="-177800">
              <a:spcAft>
                <a:spcPts val="400"/>
              </a:spcAft>
              <a:buSzPct val="100000"/>
              <a:buChar char="•"/>
            </a:pPr>
            <a:r>
              <a:rPr lang="en-US" sz="1300" i="1" dirty="0">
                <a:solidFill>
                  <a:srgbClr val="1F2A24"/>
                </a:solidFill>
                <a:latin typeface="Calibri" pitchFamily="34" charset="0"/>
                <a:ea typeface="Calibri" pitchFamily="34" charset="-122"/>
                <a:cs typeface="Calibri" pitchFamily="34" charset="-120"/>
              </a:rPr>
              <a:t>login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Google, Microsoft, Keycloak, Okta speak OIDC; GitHub OAuth Apps: OAuth only → login via the </a:t>
            </a:r>
            <a:endParaRPr lang="en-US" sz="1300" dirty="0"/>
          </a:p>
          <a:p>
            <a:pPr marL="177800" indent="-177800">
              <a:spcAft>
                <a:spcPts val="400"/>
              </a:spcAft>
              <a:buSzPct val="100000"/>
              <a:buChar char="•"/>
            </a:pPr>
            <a:r>
              <a:rPr lang="en-US" sz="1300" dirty="0">
                <a:solidFill>
                  <a:srgbClr val="B4235A"/>
                </a:solidFill>
                <a:latin typeface="Consolas" pitchFamily="34" charset="0"/>
                <a:ea typeface="Consolas" pitchFamily="34" charset="-122"/>
                <a:cs typeface="Consolas" pitchFamily="34" charset="-120"/>
              </a:rPr>
              <a:t>/user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API</a:t>
            </a:r>
            <a:endParaRPr lang="en-US" sz="13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Authorization code + PKCE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web apps, SPAs, mobile apps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the default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Client credentials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service-to-service (no user)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microservices (Module 4)</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Device authorization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TVs, CLIs without a browser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Refresh token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 new access tokens without re-login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with rotation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Implicit / Password (ROPC)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legacy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removed in OAuth 2.1 drafts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Register a GitHub OAuth App</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Create the client on GitHub and keep its secret out of Git.</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GitHub →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Settings → Developer settings → OAuth Apps → New OAuth App</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Application name: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 Local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Homepage URL: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http://localhost:8080</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Authorization callback URL: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http://localhost:8080/login/oauth2/code/github</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(Spring Security's default).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Register, then </a:t>
            </a:r>
            <a:endParaRPr lang="en-US" sz="1500" dirty="0"/>
          </a:p>
          <a:p>
            <a:pPr marL="342900" indent="-342900">
              <a:spcAft>
                <a:spcPts val="400"/>
              </a:spcAft>
              <a:buSzPct val="100000"/>
              <a:buFont typeface="+mj-lt"/>
              <a:buAutoNum type="arabicPeriod" startAt="1"/>
            </a:pPr>
            <a:r>
              <a:rPr lang="en-US" sz="1500" b="1" dirty="0">
                <a:solidFill>
                  <a:srgbClr val="1F2A24"/>
                </a:solidFill>
                <a:latin typeface="Calibri" pitchFamily="34" charset="0"/>
                <a:ea typeface="Calibri" pitchFamily="34" charset="-122"/>
                <a:cs typeface="Calibri" pitchFamily="34" charset="-120"/>
              </a:rPr>
              <a:t>Generate a new client secret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copy the Client ID and secret once.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Export them: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export GITHUB_CLIENT_ID=...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export GITHUB_CLIENT_SECRET=...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(or your IDE run configuration). Never commit them.</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Login with GitHub in Spring Boot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One starter, a few properties, and </a:t>
            </a:r>
            <a:pPr indent="0" marL="0">
              <a:buNone/>
            </a:pPr>
            <a:r>
              <a:rPr lang="en-US" sz="1350" dirty="0">
                <a:solidFill>
                  <a:srgbClr val="B4235A"/>
                </a:solidFill>
                <a:latin typeface="Consolas" pitchFamily="34" charset="0"/>
                <a:ea typeface="Consolas" pitchFamily="34" charset="-122"/>
                <a:cs typeface="Consolas" pitchFamily="34" charset="-120"/>
              </a:rPr>
              <a:t>oauth2Login()</a:t>
            </a:r>
            <a:pPr indent="0" marL="0">
              <a:buNone/>
            </a:pPr>
            <a:r>
              <a:rPr lang="en-US" sz="1350" dirty="0">
                <a:solidFill>
                  <a:srgbClr val="5B6B60"/>
                </a:solidFill>
                <a:latin typeface="Calibri" pitchFamily="34" charset="0"/>
                <a:ea typeface="Calibri" pitchFamily="34" charset="-122"/>
                <a:cs typeface="Calibri" pitchFamily="34" charset="-120"/>
              </a:rPr>
              <a:t> in the filter chain. Spring Security knows GitHub's endpoints already.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(+3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&lt;artifactId&gt;spring-boot-starter-security-oauth2-client&lt;/artifactId&gt;   &lt;!-- Boot 4 name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Provisioning local users from GitHub identities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GitHub proves </a:t>
            </a:r>
            <a:pPr indent="0" marL="0">
              <a:buNone/>
            </a:pPr>
            <a:r>
              <a:rPr lang="en-US" sz="1350" i="1" dirty="0">
                <a:solidFill>
                  <a:srgbClr val="5B6B60"/>
                </a:solidFill>
                <a:latin typeface="Calibri" pitchFamily="34" charset="0"/>
                <a:ea typeface="Calibri" pitchFamily="34" charset="-122"/>
                <a:cs typeface="Calibri" pitchFamily="34" charset="-120"/>
              </a:rPr>
              <a:t>who</a:t>
            </a:r>
            <a:pPr indent="0" marL="0">
              <a:buNone/>
            </a:pPr>
            <a:r>
              <a:rPr lang="en-US" sz="1350" dirty="0">
                <a:solidFill>
                  <a:srgbClr val="5B6B60"/>
                </a:solidFill>
                <a:latin typeface="Calibri" pitchFamily="34" charset="0"/>
                <a:ea typeface="Calibri" pitchFamily="34" charset="-122"/>
                <a:cs typeface="Calibri" pitchFamily="34" charset="-120"/>
              </a:rPr>
              <a:t> the user is; your database still decides </a:t>
            </a:r>
            <a:pPr indent="0" marL="0">
              <a:buNone/>
            </a:pPr>
            <a:r>
              <a:rPr lang="en-US" sz="1350" i="1" dirty="0">
                <a:solidFill>
                  <a:srgbClr val="5B6B60"/>
                </a:solidFill>
                <a:latin typeface="Calibri" pitchFamily="34" charset="0"/>
                <a:ea typeface="Calibri" pitchFamily="34" charset="-122"/>
                <a:cs typeface="Calibri" pitchFamily="34" charset="-120"/>
              </a:rPr>
              <a:t>what</a:t>
            </a:r>
            <a:pPr indent="0" marL="0">
              <a:buNone/>
            </a:pPr>
            <a:r>
              <a:rPr lang="en-US" sz="1350" dirty="0">
                <a:solidFill>
                  <a:srgbClr val="5B6B60"/>
                </a:solidFill>
                <a:latin typeface="Calibri" pitchFamily="34" charset="0"/>
                <a:ea typeface="Calibri" pitchFamily="34" charset="-122"/>
                <a:cs typeface="Calibri" pitchFamily="34" charset="-120"/>
              </a:rPr>
              <a:t> they can do in Splitwise.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db/migration/V3__github_login.sql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ALTER TABLE users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ADD COLUMN github_id BIGINT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ADD CONSTRAINT uq_users_github UNIQUE (github_id);</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Access tokens for APIs: JWTs &amp; resource servers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Between services there are no browsers or sessions. Each request carries a </a:t>
            </a:r>
            <a:pPr indent="0" marL="0">
              <a:buNone/>
            </a:pPr>
            <a:r>
              <a:rPr lang="en-US" sz="1350" b="1" dirty="0">
                <a:solidFill>
                  <a:srgbClr val="5B6B60"/>
                </a:solidFill>
                <a:latin typeface="Calibri" pitchFamily="34" charset="0"/>
                <a:ea typeface="Calibri" pitchFamily="34" charset="-122"/>
                <a:cs typeface="Calibri" pitchFamily="34" charset="-120"/>
              </a:rPr>
              <a:t>bearer token</a:t>
            </a:r>
            <a:pPr indent="0" marL="0">
              <a:buNone/>
            </a:pPr>
            <a:r>
              <a:rPr lang="en-US" sz="1350" dirty="0">
                <a:solidFill>
                  <a:srgbClr val="5B6B60"/>
                </a:solidFill>
                <a:latin typeface="Calibri" pitchFamily="34" charset="0"/>
                <a:ea typeface="Calibri" pitchFamily="34" charset="-122"/>
                <a:cs typeface="Calibri" pitchFamily="34" charset="-120"/>
              </a:rPr>
              <a:t>, typically a signed </a:t>
            </a:r>
            <a:pPr indent="0" marL="0">
              <a:buNone/>
            </a:pPr>
            <a:r>
              <a:rPr lang="en-US" sz="1350" b="1" dirty="0">
                <a:solidFill>
                  <a:srgbClr val="5B6B60"/>
                </a:solidFill>
                <a:latin typeface="Calibri" pitchFamily="34" charset="0"/>
                <a:ea typeface="Calibri" pitchFamily="34" charset="-122"/>
                <a:cs typeface="Calibri" pitchFamily="34" charset="-120"/>
              </a:rPr>
              <a:t>JWT</a:t>
            </a:r>
            <a:pPr indent="0" marL="0">
              <a:buNone/>
            </a:pPr>
            <a:r>
              <a:rPr lang="en-US" sz="1350" dirty="0">
                <a:solidFill>
                  <a:srgbClr val="5B6B60"/>
                </a:solidFill>
                <a:latin typeface="Calibri" pitchFamily="34" charset="0"/>
                <a:ea typeface="Calibri" pitchFamily="34" charset="-122"/>
                <a:cs typeface="Calibri" pitchFamily="34" charset="-120"/>
              </a:rPr>
              <a:t> that every service can verify on its own.</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A JWT is </a:t>
            </a:r>
            <a:endParaRPr lang="en-US" sz="1500" dirty="0"/>
          </a:p>
          <a:p>
            <a:pPr marL="177800" indent="-177800">
              <a:spcAft>
                <a:spcPts val="400"/>
              </a:spcAft>
              <a:buSzPct val="100000"/>
              <a:buChar char="•"/>
            </a:pPr>
            <a:r>
              <a:rPr lang="en-US" sz="1500" dirty="0">
                <a:solidFill>
                  <a:srgbClr val="B4235A"/>
                </a:solidFill>
                <a:latin typeface="Consolas" pitchFamily="34" charset="0"/>
                <a:ea typeface="Consolas" pitchFamily="34" charset="-122"/>
                <a:cs typeface="Consolas" pitchFamily="34" charset="-120"/>
              </a:rPr>
              <a:t>base64url(header).base64url(payload).signature</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 </a:t>
            </a:r>
            <a:endParaRPr lang="en-US" sz="1500" dirty="0"/>
          </a:p>
          <a:p>
            <a:pPr marL="177800" indent="-177800">
              <a:spcAft>
                <a:spcPts val="400"/>
              </a:spcAft>
              <a:buSzPct val="100000"/>
              <a:buChar char="•"/>
            </a:pPr>
            <a:r>
              <a:rPr lang="en-US" sz="1500" b="1" dirty="0">
                <a:solidFill>
                  <a:srgbClr val="1F2A24"/>
                </a:solidFill>
                <a:latin typeface="Calibri" pitchFamily="34" charset="0"/>
                <a:ea typeface="Calibri" pitchFamily="34" charset="-122"/>
                <a:cs typeface="Calibri" pitchFamily="34" charset="-120"/>
              </a:rPr>
              <a:t>signed, not encrypted</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 anyone can read it, nobody can change it undetected.</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Services verify signatures with the issuer's public keys (JWKS) — no call to the auth server per request.</a:t>
            </a:r>
            <a:endParaRPr lang="en-US" sz="1500" dirty="0"/>
          </a:p>
          <a:p>
            <a:pPr marL="177800" indent="-177800">
              <a:spcAft>
                <a:spcPts val="400"/>
              </a:spcAft>
              <a:buSzPct val="100000"/>
              <a:buChar char="•"/>
            </a:pPr>
            <a:r>
              <a:rPr lang="en-US" sz="1500" dirty="0">
                <a:solidFill>
                  <a:srgbClr val="1F2A24"/>
                </a:solidFill>
                <a:latin typeface="Calibri" pitchFamily="34" charset="0"/>
                <a:ea typeface="Calibri" pitchFamily="34" charset="-122"/>
                <a:cs typeface="Calibri" pitchFamily="34" charset="-120"/>
              </a:rPr>
              <a:t>Identity providers: Keycloak, Auth0, Okta, AWS Cognito, or your own with Spring Authorization Server.</a:t>
            </a:r>
            <a:endParaRPr lang="en-US" sz="1500" dirty="0"/>
          </a:p>
        </p:txBody>
      </p:sp>
      <p:sp>
        <p:nvSpPr>
          <p:cNvPr id="8" name="Text 6"/>
          <p:cNvSpPr/>
          <p:nvPr/>
        </p:nvSpPr>
        <p:spPr>
          <a:xfrm>
            <a:off x="5852160" y="1883664"/>
            <a:ext cx="588233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application.yml (an API service)</a:t>
            </a:r>
            <a:endParaRPr lang="en-US" sz="900" dirty="0"/>
          </a:p>
        </p:txBody>
      </p:sp>
      <p:sp>
        <p:nvSpPr>
          <p:cNvPr id="9" name="Text 7"/>
          <p:cNvSpPr/>
          <p:nvPr/>
        </p:nvSpPr>
        <p:spPr>
          <a:xfrm>
            <a:off x="5852160" y="2157984"/>
            <a:ext cx="588233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764" dirty="0">
                <a:solidFill>
                  <a:srgbClr val="24292F"/>
                </a:solidFill>
                <a:latin typeface="Consolas" pitchFamily="34" charset="0"/>
                <a:ea typeface="Consolas" pitchFamily="34" charset="-122"/>
                <a:cs typeface="Consolas" pitchFamily="34" charset="-120"/>
              </a:rPr>
              <a:t>spring:</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security:</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oauth2:</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resourceserver:</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jwt:</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issuer-uri: http://localhost:8180/realms/splitwise   # e.g. Keycloak; keys fetched via JWKS</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pom: spring-boot-starter-security-oauth2-resource-server</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chain: http.oauth2ResourceServer(oauth -&gt; oauth.jwt(Customizer.withDefaults()))</a:t>
            </a:r>
            <a:endParaRPr lang="en-US" sz="764" dirty="0"/>
          </a:p>
          <a:p>
            <a:pPr indent="0" marL="0">
              <a:buNone/>
            </a:pPr>
            <a:r>
              <a:rPr lang="en-US" sz="764" dirty="0">
                <a:solidFill>
                  <a:srgbClr val="24292F"/>
                </a:solidFill>
                <a:latin typeface="Consolas" pitchFamily="34" charset="0"/>
                <a:ea typeface="Consolas" pitchFamily="34" charset="-122"/>
                <a:cs typeface="Consolas" pitchFamily="34" charset="-120"/>
              </a:rPr>
              <a:t># rules: .requestMatchers(HttpMethod.GET, "/api/**").hasAuthority("SCOPE_expenses:read")</a:t>
            </a:r>
            <a:endParaRPr lang="en-US" sz="764"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Claim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Checked by the resource server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iss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issuer (which authorization server)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must match the configured issuer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sub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subject (user id)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used as the principal name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aud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intended audience (which API)</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recommended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exp / iat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expiry / issued-at (Unix seconds)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 expired tokens rejected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granted permissions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mapped to SCOPE_ authorities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How a JWT signature protects claims (pure JDK demo)</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Sign with HMAC-SHA256, decode the parts, then watch verification fail after tampering.</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JwtDemo.java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java.nio.charset.StandardCharsets;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java.security.MessageDigest;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java.util.Base64;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javax.crypto.Mac;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javax.crypto.spec.SecretKeySpec;</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JwtDemo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Base64.Encoder B64 = Base64.getUrlEncoder().withoutPadding();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Base64.Decoder D64 = Base64.getUrlDecoder();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String hmacSha256(String data, byte[] key) throws 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Mac mac = Mac.getInstance("HmacSHA256");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mac.init(new SecretKeySpec(key, "HmacSHA256"));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B64.encodeToString(mac.doFinal(data.getBytes(StandardCharsets.UTF_8)));</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String sign(String headerJson, String payloadJson, byte[] key) throws Exception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String unsigned = B64.encodeToString(headerJson.getBytes(StandardCharsets.UTF_8)) +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WARN: </a:t>
            </a:r>
            <a:pPr indent="0" marL="0">
              <a:buNone/>
            </a:pPr>
            <a:r>
              <a:rPr lang="en-US" sz="1100" dirty="0">
                <a:solidFill>
                  <a:srgbClr val="1F2A24"/>
                </a:solidFill>
                <a:latin typeface="Calibri" pitchFamily="34" charset="0"/>
                <a:ea typeface="Calibri" pitchFamily="34" charset="-122"/>
                <a:cs typeface="Calibri" pitchFamily="34" charset="-120"/>
              </a:rPr>
              <a:t>This demo is for understanding only. In real services let Spring Security (Nimbus JOSE) validate tokens: it checks the algorithm, expiry, issuer, audience and key rotation — hand-rolled JWT code is a classic source of vulnerabilities.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Bridge to microservices: one identity, many services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Module 4 splits a system into services. OAuth 2.0 tokens are how they share identity and permissions safely.</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 service validates tokens itself (zero trust) — no shared session store needed.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User context travels with the token; machine-to-machine calls use the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client credentials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grant.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Why split at all? Independent deployment and scaling, team autonomy, fault isolation — at the cost of distributed complexity. That trade-off opens Session 19.</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Clients: Web / mobile app (auth code + PKCE)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Edge: API Gateway (validates/relays tokens (Session 23)) | Authorization server (Keycloak / Spring Authorization Server)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Services: user-service (resource server) | booking-service (resource server) | payment-service (resource server)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Service ↔ service: client credentials (machine identity, no user)</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"Login with GitHub" for Splitwise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Wire up GitHub OAuth2 login end to end and map GitHub identities to Splitwise accounts.</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Register a GitHub OAuth App with callback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http://localhost:8080/login/oauth2/code/github</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export the client id and secret.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spring-boot-starter-security-oauth2-client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github</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registration with scope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read:user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WebSecurityConfig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chain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oauth2Login()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open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http://localhost:8080/me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complete the login.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V3__github_login.sql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GitHubUserService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confirm a local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row is created on first login and reused afterwards.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Show the granted authorities on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(OAUTH2_USER, SCOPE_read:user, ROLE_USER);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user:email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observe the new consent screen.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Run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JwtDemo</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explain each output line to a partner.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Keep the API chain from Session 16 for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/api/**</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(stateless) and the login chain for browser pages — use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securityMatcher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@Order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for two chains.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run Keycloak in Docker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start-dev</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create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splitwise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realm and client, and protect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/api/**</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as a JWT resource server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SCOPE_expenses:read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OAuth 2.0 &amp; GitHub login</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In 'Login with GitHub' for our app, which role does GitHub's github.com play?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Client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Resource owner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Authorization server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API gateway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What is the purpose of the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state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parameter?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Store the access token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Protect the callback against CSRF by round-tripping a random value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Select scopes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Encrypt the code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Which grant suits a booking-service calling payment-service with no user involved?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Authorization code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Implicit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Client credentials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Device code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A JWT's payload 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encrypted and unreadable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base64url-encoded and readable; protected against tampering by the signature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database id only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always opaque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Minimal GitHub scope for a simple login that reads the public profile?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repo</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admin:org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read:user (or no scope)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delete_repo</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8B6CF0"/>
          </a:solidFill>
          <a:ln w="12700">
            <a:solidFill>
              <a:srgbClr val="8B6CF0"/>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18</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18 recap — Module 3 complete</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OAuth 2.0 = delegated, scoped, revocable access via tokens; four roles: owner, client, authorization server, resource server.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Authorization code flow (+ state, PKCE): code in the browser, token exchange on the back channel.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Scopes = least privilege; OIDC adds login (ID token) — GitHub OAuth Apps use the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/user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API instead.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Boot: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spring-boot-starter-security-oauth2-client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oauth2Login()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a custom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OAuth2UserService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to provision local users.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APIs and microservices use bearer JWTs verified by resource servers; services use client credentials.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Access token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Short-lived credential with limited scope used to call an API.</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Authorization code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One-time code exchanged for tokens over the back channel.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PKCE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Proof Key for Code Exchange — binds the code to the client that requested it.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Scope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Named permission requested by the client and consented by the user.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OIDC</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OpenID Connect: identity layer on OAuth 2.0 with ID tokens.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JWT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Signed token: header.payload.signature (base64url).</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Resource server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API that validates bearer tokens before serving requests.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Client credentials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Grant for service-to-service calls without a user.</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Testing, Security &amp; Microservices Intro</dc:title>
  <dc:subject>Java Backend Development Course With IBM Certification</dc:subject>
  <dc:creator>Java Backend Interactive Course Notes</dc:creator>
  <cp:lastModifiedBy>Java Backend Interactive Course Notes</cp:lastModifiedBy>
  <cp:revision>1</cp:revision>
  <dcterms:created xsi:type="dcterms:W3CDTF">2026-10-25T08:00:51Z</dcterms:created>
  <dcterms:modified xsi:type="dcterms:W3CDTF">2026-10-25T08:00:51Z</dcterms:modified>
</cp:coreProperties>
</file>