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Lst>
  <p:notesMasterIdLst>
    <p:notesMasterId r:id="rId8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notesMaster" Target="notesMasters/notesMaster1.xml"/><Relationship Id="rId90" Type="http://schemas.openxmlformats.org/officeDocument/2006/relationships/presProps" Target="presProps.xml"/><Relationship Id="rId91" Type="http://schemas.openxmlformats.org/officeDocument/2006/relationships/viewProps" Target="viewProps.xml"/><Relationship Id="rId92" Type="http://schemas.openxmlformats.org/officeDocument/2006/relationships/theme" Target="theme/theme1.xml"/><Relationship Id="rId9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1: Core Java &amp; OOP Fundamentals. Build a rock-solid Java foundation covering everything from JVM internals and OOP principles to concurrency and build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of the module: each brochure topic and where it is taught.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1: Java Architecture, JVM Internals &amp; Core OOP Principles.
Before you start: No prior Java needed. Install JDK 21+ (e.g. Eclipse Temurin) and an IDE (IntelliJ IDEA Community or VS Code + Java extension). Check with java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course by connecting Java to what students will build: REST APIs, payment systems, booking platforms. Companies such as Amazon, Netflix, LinkedIn, Flipkart and most banks run large Java backends.
Stress the LTS idea: production teams upgrade from LTS to LTS (8 → 11 → 17 → 21 → 25). Features from non-LTS releases arrive in the next LTS. Everything we write in this course compiles on Java 21.
• Portability comes from the JVM abstraction, not from Java syntax.
• Performance comes from the JIT: Java starts interpreted, then compiles hot methods to native code.
• Productivity comes from the ecosystem — we will rarely write infrastructure code ourselves.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pipeline live: write Hello.java, run javac, show the generated Hello.class, then run java Hello. Then show javap -c so students see that bytecode is a set of stack-based instructions (getstatic, ldc, invokevirtual).
Key interview line: Java is platform independent; the JVM is platform dependent. You ship the same JAR everywhere, but you install a different JVM per OS/CPU.
The JIT (HotSpot uses tiered compilation: C1 for fast warm-up, C2 for peak performance) is why long-running Java servers get faster after warm-up. Constant-pool numbers such as #7 vary between compilers — don't memorise them.
Expected output:
Hello, JVM!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classic first interview question. Draw three nested boxes on the board: JDK ⊃ JRE ⊃ JVM.
The JVM is a specification (the JVM Spec) with several implementations; HotSpot is by far the most common. OpenJDK is the open-source reference implementation, and vendors ship builds of it (Eclipse Temurin, Amazon Corretto, Microsoft Build of OpenJDK, Oracle JDK).
In this course you install a JDK on your laptop. In Session 23 our Docker images will use a slimmer JRE base image for production, because a server does not need the compiler.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mental model we reuse all course long. When we discuss multithreading in Session 6, remember: heap shared needs synchronization; stack private thread-safe by default.
Linking has three steps: verify (bytecode is well-formed and type-safe), prepare (allocate static fields with default values) and resolve (turn symbolic references into direct ones, often lazily). Initialization then runs static initialisers and assigns static field values — exactly once per class.
Since Java 8, class metadata lives in Metaspace (native memory) instead of the old fixed-size PermGen, so OutOfMemoryError: PermGen space is a thing of the past (you can still hit Metaspace OOM with class-loader leaks).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the program line by line, drawing the stack frames and the heap. When price() returns, its frame is popped; the Order object survives because main still references it. When main ends, the object becomes unreachable and is eligible for GC.
Static fields: since Java 8 they are stored with the class's java.lang.Class object on the heap; the class metadata is in Metaspace. Interned strings have lived on the heap since Java 7.
Common bug to demonstrate: reassigning a parameter (o new Order(...)) inside a method has no effect on the caller — proof of pass-by-value.
Expected output:
ORD-1 total = 1497.0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bootstrap loader is implemented natively, which is why getClassLoader() returns null for core classes. The hash codes after @ will differ on your machine.
Frameworks rely on class loaders: Spring Boot's executable JAR uses a custom loader to read nested JARs, and application servers isolate web apps with separate loaders.
Debugging tip: java -verbose:class -cp . Hello prints every class as it is loaded — a great way to show students that loading is lazy.
Expected output:
null
jdk.internal.loader.ClassLoaders$PlatformClassLoader@5ca881b5
jdk.internal.loader.ClassLoaders$AppClassLoader@76ed5528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reachability with a picture: roots on the left, arrows to objects; anything not connected is garbage. The programmer never calls free(); System.gc() is only a hint and should not be used in application code.
Minor GCs (young generation) are frequent and short. Major/mixed collections that include the old generation are rarer. G1 splits the heap into regions and aims for a pause-time goal (default 200 ms).
Real-world leak story: a static HashMap used as a cache without eviction grows until OutOfMemoryError. In Session 15 we will use Redis with TTLs to avoid exactly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 domain students know — a food-delivery app: Order, Restaurant, DeliveryPartner. Encapsulation keeps an Order from having a negative total; inheritance lets ExpressDelivery specialise Delivery; polymorphism lets the dispatcher call estimateTime() on any delivery type.
Mention the SOLID principles briefly as the 'grammar' of good OOP; we will meet them repeatedly (e.g. dependency inversion is the heart of Spring in Session 8).
Composition over inheritance: a Car has an Engine rather than being one. Inheritance couples subclasses tightly to parent implementation details.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what goes wrong without encapsulation: with a public double balance, any code can set a negative balance and the class can no longer guarantee correctness.
Note that private is class-level access: code inside BankAccount could touch balance directly. That is why main lives in a separate Main class — uncomment the last line there to show the compile error.
Getters are fine; setters for everything are not encapsulation. Expose intention-revealing methods (deposit, withdraw) instead of setBalance.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loop variable has static type Notification, but each call runs the subclass version: that is runtime polymorphism. Point to the last line: the inherited overload send(msg, priority) calls send(...), which is dispatched to EmailNotification's override — a lovely demonstration of dynamic dispatch inside the parent class.
@Override makes the compiler verify that you really override something; a typo such as sendd would otherwise silently create a new method.
Rules worth memorising: an override cannot reduce visibility, cannot throw broader checked exceptions, and may return a subtype (covariant return). static and private methods are not overridden.
Expected output:
EMAIL to asha@example.com: Booking BK-42 confirmed
SMS to +91-9800000001: Booking BK-42 confirmed
Notice to ops-team: Booking BK-42 confirmed
EMAIL to asha@example.com: [P1] Payment failed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equals/hashCode contract: equal objects must have equal hash codes. Break it and HashMap/HashSet misbehave (we will see why in Session 5 when we open up HashMap's buckets).
o instanceof Product p is pattern matching for instanceof (Java 16): it tests and casts in one step.
Records are perfect for DTOs and value objects — we will use them for REST request/response bodies from Session 8 onwards. They are shallowly immutable: fields are final, but a record holding a List should copy it defensively (List.copyOf).
Expected output:
false
true
Product[SKU-1, Unnamed]
created = 2
Money[paise=49900, currency=INR] equal?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25–30 minutes. Encourage them to type the code instead of copying — compiler errors are part of the learning.
Discussion after the lab: why is LibraryItem instantiable at all? A generic "item" should not exist on its own — that is exactly the motivation for abstract classes in Session 2.
If javap is not on the PATH, it lives in the JDK's bin folder. Point out invokevirtual in callers: that instruction is what makes dynamic dispatch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quiz live: let students answer individually first, then discuss. Questions 3 and 4 are frequent interview questions.
If many students miss Q2, redraw the stack/heap picture from the MemoryDemo slide with one more example that has two references to the same object.
Q1 answer: B — The JIT (just-in-time) compiler in the execution engine compiles hot methods at runtime. javac only produces bytecode.
Q2 answer: B — All objects live on the heap. The reference variable holding it lives in the current stack frame.
Q3 answer: B — Class loaders delegate to their parent first; the bootstrap loader finds the real java.lang.String before the application loader is consulted.
Q4 answer: B — Overriding uses dynamic dispatch (invokevirtual): the JVM chooses the implementation of the object's runtime class. Overloading is resolved at compile time.
Q5 answer: C — Public mutable fields let any code break the object's invariants; encapsulation hides state behind validated methods.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in two minutes, then preview Session 2: abstract classes and interfaces (the abstraction pillar in depth) plus how Java models errors with its exception hierarchy.
Homework: finish the lab stretch goal and write three sentences explaining the difference between and equals in your own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2: Abstract Classes, Interfaces &amp; the Exception Hierarchy.
Before you start: Session 1: classes, inheritance, overriding and polymorphism.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from the end of the Session 1 lab: a plain LibraryItem could be instantiated even though a 'generic item' makes no sense. Marking it abstract fixes the model.
An abstract class is still a class: it has constructors (called via super(...)), can keep private state and can enforce invariants. That is the main thing interfaces cannot do.
Real frameworks use this everywhere: Spring's OncePerRequestFilter (Session 16) is an abstract class whose doFilter template calls your doFilterInternal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the three kinds of methods: the final template (process), the abstract steps (fee, prefix) and an optional hook with a default (name).
Making the template final protects the algorithm: no subclass can skip validation or reference generation. This is the Open/Closed principle — open for extension (new processors), closed for modification (the flow).
Ask students to add a WalletProcessor with a 1% fee: they only write two small methods and never touch PaymentProcessor.
Expected output:
UPI-1001 | Upi    | amount=2500.00 fee=0.00 total=2500.00
CRD-1002 | Card   | amount=2500.00 fee=45.00 total=2545.00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Interfaces model capabilities (Comparable, Runnable, AutoCloseable) or roles (PaymentGateway, NotificationSender). Abstract classes model a family of related things that share code and state.
Default methods were added so the JDK could evolve old interfaces — Collection.stream() and Iterable.forEach() are defaults added in Java 8 without breaking millions of existing implementations.
Spring is built on interfaces: JpaRepository, UserDetailsService, HandlerInterceptor … your code depends on the contract, and Spring supplies or discovers the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Remove the track() override live and show the compile error: types Trackable and Insurable are incompatible; class Parcel inherits unrelated defaults for track(). This is Java's answer to the C++ diamond problem — ambiguity is never resolved silently.
Static interface methods are not inherited: you call Trackable.carrier(), never p.carrier().
Records can implement interfaces, which makes them great DTOs that still participate in polymorphism.
Expected output:
Tracking PCL-77 via GPS (insured)
premium = 240.0
carrier = IndiaPost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 of thumb for design discussions: start with an interface. If you notice several implementations duplicating the same fields and logic, extract an abstract base class that implements the interface.
Interfaces are also what makes testing easy: in Session 14 Mockito will create fake implementations of interfaces (and classes) so we can test services in isolation.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OrderService never mentions EmailSender or SmsSender. Adding WhatsApp notifications means writing one new class — zero changes to OrderService. This is exactly how Spring applications are structured.
Constructor injection makes dependencies explicit and lets fields be final. In Session 8 Spring will find all NotificationSender beans and inject them as a List automatically.
The bonus tab shows a sealed hierarchy with pattern matching for switch (Java 21): because the compiler knows every permitted subtype, it rejects a switch that forgets a case — no default branch needed.
Expected output:
Order placed for ravi
EMAIL -&gt; ravi: Your order is confirmed
SMS   -&gt; ravi: Your order is confirmed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 tree from the top and colour the branches as on the slide. Students should be able to place any common exception on it.
Checked exceptions represent recoverable conditions outside the program's control (file missing, network down, DB unavailable). Unchecked exceptions represent bugs or invalid input (null where it should not be, negative quantity).
Modern frameworks lean towards unchecked exceptions: Spring wraps checked SQLException into its unchecked DataAccessException hierarchy (Session 10), so your service code is not littered with throws SQLException.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predict the output before clicking Show output — the order close B, close A, caught … surprises most people.
Before Java 7 we closed JDBC connections manually in finally blocks with nested try/catch — verbose and error-prone. Try-with-resources is the standard today: you will use it for JDBC in Session 10.
If both the body and close() throw, the body's exception is propagated and the close exception is attached as a suppressed exception (e.getSuppressed()), so nothing is lost.
Never return from a finally block: it silently discards any exception thrown in the try.
Expected output:
open  A
open  B
query A: SELECT 1
close B
close A
caught empty SQL
finally always runs
parsed 42
bad number: 4x2
parsed 4x2
42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Naming: end with Exception, describe the problem (InsufficientBalanceException), and carry useful data (shortfall) rather than only a string.
A small hierarchy (WalletException as base) lets callers catch broadly or precisely. Always pass the original exception as the cause when wrapping — losing the stack trace makes production debugging miserable.
Checked or unchecked? For business-rule violations in Spring applications, unchecked is the norm. Use checked exceptions when the caller can realistically recover and you want the compiler to remind them.
Expected output:
OK    w1 -20000
FAIL  Insufficient balance, short by 10000 paise (shortfall=10000)
FAIL  WalletNotFoundException: Wallet not found: w9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trace the four operations on paper before running: the second fails the limit check (30,000 &gt; 25,000) before the balance is even looked at, the third fails the balance check, and the fourth succeeds exactly at the boundary (20,000 is not greater than 20,000). Boundary values like this are where real bugs hide — they become unit tests in Session 14.
Notice the order of the checks inside withdraw(): validation first, state change last, audit after success. If an exception is thrown, the balance is never touched — the object stays consistent.
Encourage students to print e.getClass().getName() while experimenting, and to deliberately remove a catch block to see the full stack trace and how an exception propagates up to main — the topic of Session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Q2 and Q4 are favourites in interviews. For Q4 ask a student to explain why resources close before catch: the catch block may need to report the failure, and holding a DB connection open while doing so would be wasteful.
Q1 answer: B — Interfaces cannot have constructors or per-instance state. Since Java 8/9 they can have default, static and private methods.
Q2 answer: C — Java never resolves the diamond silently. The class must override log() and can delegate with A.super.log().
Q3 answer: B — IOException extends Exception but not RuntimeException, so callers must catch it or declare throws IOException.
Q4 answer: C — Resources are closed in reverse order of declaration, and this happens before the catch block executes.
Q5 answer: B — A domain-specific unchecked exception keeps the service clean; a @RestControllerAdvice translates it to an HTTP status in one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Session 3: how an exception travels up the call stack (propagation), the Singleton pattern, and lambdas — which work only because of the functional interfaces we just met.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3: Singleton Pattern, Exception Propagation, Lambdas &amp; Functional Interfaces.
Before you start: Session 2: interfaces (incl. default methods) and the exception hierarchy.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Patterns are vocabulary: saying 'use a Strategy here' communicates a whole design in two words. We already met Template Method in Session 2; we will use Strategy for Splitwise split types (Session 13) and Proxy is how Spring implements AOP and @Transactional (Session 9).
Singleton is the most famous and the most misused pattern. A global mutable singleton is effectively a global variable — it hides dependencies and makes testing hard. Teach it well, then explain why dependency injection usually replaces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holder idiom relies on the JVM's class-initialisation guarantees (Session 1): the nested Holder class is initialised only when getInstance() first touches it, and class initialisation is thread-safe by specification. Lazy and lock-free.
Why volatile in DCL? Without it, the JIT/CPU may reorder 'allocate memory → assign reference → run constructor', so another thread could see a non-null reference to a half-constructed object. volatile forbids that reordering (a happens-before edge — Session 6).
Joshua Bloch (Effective Java): a single-element enum is often the best way to implement a singleton.
Expected output:
before first use
HolderConfig created
same holder instance? true
same eager instance?  true
same DCL instance?    true
registry currency = INR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it several times — the count changes every run. That non-determinism is the signature of a race condition and a preview of Session 6.
Spring note: a Spring singleton bean means one instance per application context, created and injected by the container — not a class with a static getInstance(). Prefer DI: the dependency becomes visible in the constructor and is trivial to replace with a mock in tests.
Interview follow-up: 'Is a singleton's state thread-safe?' Not automatically! One instance shared by many threads must use immutable or thread-safe fields — that is why AppRegistry uses a ConcurrentHashMap.
Expected output:
instances created: 11 (expected 1)      &lt;- varies on every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diagram top to bottom. The key idea: each layer chooses to handle, wrap &amp; rethrow (translate to its own abstraction), or let it propagate.
In a Spring web app the 'top of the stack' is the framework's DispatcherServlet. If your controller lets an exception escape, Spring turns it into an error response — and in Session 9 we customise that with @RestControllerAdvice.
Reading a stack trace: the first at line is where it was thrown; Caused by: sections show the wrapped original — always read down to the last Caused by, that is usually the real root cause.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that charge() has a try/finally with no catch: it cleans up but lets the exception continue — a very common pattern.
The stack trace is captured when the exception object is created, which is why the cause's trace starts at debit. Wrapping without passing e as the cause would lose this information forever.
Anti-patterns to call out: catch (Exception e) {} (swallowing), e.printStackTrace() in production code (use a logger, Session 9), and using exceptions for normal control flow (they are expensive because they capture the stack).
Expected output:
debited 500
charge(): finally block ran
charge(): finally block ran
main caught: order failed for amount 5000
root cause: GatewayTimeoutException - bank did not respond in 3s
thrown at: debit &lt;- charge &lt;- placeOrder &lt;- 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evolution in three steps on the same sort call: anonymous class (6 lines) → lambda (1 line) → Comparator.comparing (reads like English). This is the 'Functional Programming with Java 8' skill listed in the brochure.
Why effectively final? A lambda may run later or on another thread; copying a value that can no longer change avoids a whole class of concurrency bugs.
Unlike anonymous classes, a lambda does not introduce a new scope: this inside a lambda refers to the enclosing instance.
Expected output:
Eng Zoya 150
Eng Meera 120
Ops Arjun 90
bonus =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memory trick: Predicate tests, Function transforms, Consumer eats, Supplier gives.
Older JDK interfaces are functional too — Runnable, Callable, Comparator — which is why lambdas worked with existing APIs from day one.
Default and static methods do not count towards the single abstract method; neither do methods inherited from Object such as equals (that is why Comparator declaring equals is still functional).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festive.then(coupon) returns a new function; nothing is computed until apply(2000) — functions are values you build and pass around.
Order matters with composition: f.andThen(g) means g(f(x)); f.compose(g) means f(g(x)). Ask students what happens if the coupon is applied before the festive discount (answer: 1665.0).
Custom functional interfaces are worth it when a domain name (DiscountRule) explains more than UnaryOperator&lt;Double&gt;.
Expected output:
true false
ravi@example.com
logged: LOGIN ravi
max=700 withGst=1180
final price = 1650.0
[LOGIN ravi]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ties the two halves of the session together: exception propagation still works through lambdas — the exception thrown inside map propagates out of forEach to our catch block.
Streams are lazy and process one element at a time, which is why 200 and 300 are printed before the failure on X9.
In real projects prefer specific exception types over Exception, and consider whether the stream should skip bad elements (return Optional) instead of failing the whole pipeline.
Expected output:
200
300
failed for input X9 &lt;- caused by: SKU X9 discontinued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often try to declare discount as a field they mutate later; the compiler then rejects the lambda capture — a good teachable moment about effectively-final variables.
For the stretch goal, reuse the CountDownLatch trick from the RaceDemo slide. With the holder idiom the counter must always be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a student to rewrite each method reference in Q5's options as an equivalent lambda — a quick way to check real understanding.
Q1 answer: B — volatile prevents reordering of the constructor's writes and the reference assignment, establishing a happens-before relationship between threads.
Q2 answer: C — The JVM guarantees enum constants are instantiated exactly once; reflection cannot create enum instances and deserialization returns the existing constant.
Q3 answer: B — Checked exceptions must be caught or declared at every level they pass through — that is the 'catch or specify' rule.
Q4 answer: C — It takes a String and returns a boolean: Predicate&lt;String&gt;.test.
Q5 answer: C — The receiver is the function's argument: s -&gt; s.toUpperCase(). A bound reference fixes the receiver up front, e.g. myList::add.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session: the Collections Framework — List, Set, Map, Queue/Deque — and Generics, which make all of those collections type-safe. Lambdas will immediately pay off with removeIf, forEach and Comparator.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4: Collections Framework, Queues &amp; Generics.
Before you start: Sessions 1–3, especially equals/hashCode, interfaces and lambdas.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Backend code is mostly collection manipulation: a REST endpoint loads a List of entities, groups them into a Map, de-duplicates with a Set, and a background worker drains a Queue. Choosing well affects both correctness and performance.
Mention that ConcurrentHashMap and the blocking queues live in java.util.concurrent — we use them in Session 6.
Ask: why is Map separate from Collection? Because its elements are pairs; add(E) makes no sense for a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Big-O is not the whole story: modern CPUs love contiguous memory, so even 'O(n) shifting' in an ArrayList is often faster than chasing LinkedList pointers. Joshua Bloch, who wrote LinkedList, has joked that he never uses it.
Amortised O(1): most appends are a simple array write; occasionally the array is full and is copied into a 1.5× larger one. Averaged over many appends the cost per append is constant.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ConcurrentModificationException has nothing to do with threads here: the iterator keeps a modCount snapshot and fails fast when the list changes underneath it. That 'fail-fast' behaviour protects you from silently skipping elements.
remove(Object) vs remove(int index) is a famous trap with List&lt;Integer&gt;: list.remove(1) removes the element at index 1, list.remove(Integer.valueOf(1)) removes the value 1.
Returning List.of(...) or List.copyOf(...) from methods protects internal state — callers cannot modify your object's list.
Expected output:
[milk, butter, bread, eggs, bread] size=5
get(2)=bread indexOf(bread)=2 contains(jam)=false
[oat milk, butter, bread]
sorted: [bread, butter, oat milk]
after iterator remove: [bread, butter]
ConcurrentModificationException!
List.of is immutable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HashSet printed [goa, agra, delhi] — neither insertion nor sorted order. That order comes from hash buckets, and goa and agra actually land in the same bucket. We open up exactly this in Session 5 (HashMap &amp; hashing).
merge and computeIfAbsent (Java 8) replace the old 'get, check null, put' dance and are the idiomatic way to count and group. Streams' groupingBy (Session 5) does the same declaratively.
The LRU cache is a classic interview question; with LinkedHashMap it is ten lines. In Session 15 we will see Redis applying the same eviction idea (allkeys-lru) at server scale.
Expected output:
[goa, agra, delhi]
[goa, delhi, agra]
[agra, delhi, goa]
{agra=1, delhi=2, goa=3}
{a=[agra], d=[delhi, delhi], g=[goa, goa, goa]}
0 true
delhi=2 goa=3
tax slab for 750000: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Real-life mapping: a support ticket system is a FIFO queue; browser back/undo is a stack (LIFO); a hospital triage or a job scheduler is a priority queue.
java.util.Stack extends Vector, whose methods are all synchronized — slow and a design mistake kept for compatibility. Use Deque&lt;T&gt; stack new ArrayDeque&lt;&gt;() with push/pop/peek.
Neither ArrayDeque nor PriorityQueue allows null elements, because null is the special 'empty' return value of poll()/peek().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seq tie-breaker matters: without it, two tasks with priority 5 could come out in any order, because heaps are not stable. Production schedulers always add a sequence number or timestamp.
The top-K trick (keep a min-heap of size K, drop the smallest) is a standard interview pattern: 'top 10 trending hashtags', 'K most expensive orders'. It uses O(K) memory instead of sorting everything.
In Session 13 we will use two priority queues to simplify debts in the Splitwise project — the largest creditor settles with the largest debtor first.
Expected output:
serving T1, next T2, waiting [T2, T3]
undo -&gt; delete line | then bold
processing order: charge-card refund gen-invoice send-email
top 3: [1500, 980, 730]
T2 T3 null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erasure explains several restrictions: you cannot write new T(), T[] creation, instanceof List&lt;String&gt;, or overload m(List&lt;String&gt;) with m(List&lt;Integer&gt;) — both erase to m(List).
Primitives are not allowed as type arguments (List&lt;int&gt; is illegal), so Java autoboxes int to Integer. Beware of on boxed integers outside the cached range −128..127.
Spring Data's JpaRepository&lt;User, Long&gt; (Session 11) is a generic interface — understanding &lt;T, ID&gt; today makes that code obvious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Page&lt;T&gt;.map shows a generic method inside a generic type: it converts a Page&lt;String&gt; into a Page&lt;Integer&gt; without casts. Spring Data's Page&lt;T&gt; has exactly this method, used to turn entities into DTOs.
Why Comparable&lt;? super T&gt; in maxOf? So that a subclass whose comparison is inherited from its parent still qualifies — the same signature the JDK uses for Collections.max.
Try changing addDefaults(List&lt;? super Integer&gt;) to List&lt;? extends Number&gt;: the add calls stop compiling, because the compiler cannot know which subtype of Number the list really holds.
Expected output:
Page[items=[asha, bala], page=1, totalPages=5] -&gt; Page[items=[4, 4], page=1, totalPages=5]
17 mango
6.5
[0, 100]
ClassCastException: never use raw types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equals/hashCode, PlainUser inherits identity semantics from Object, so two users with the same email are 'different'. Records generate both methods from all components.
Keep compareTo consistent with equals when you can; when you cannot (as with byName here), remember that sorted collections use the comparator for equality.
Use Comparator.comparing(...).thenComparing(...).reversed() instead of hand-written subtraction (a.age - b.age), which can overflow for large values.
Expected output:
PlainUser set size: 2
User record set size: 1
[Asha, Bala, Chen]
[Bala(25), Chen(25), Asha(31)]
first by name: Asha, last: Chen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Encourage students to justify every collection choice in code reviews with one of these reasons. 'I always use ArrayList and HashMap' is fine as a default, but they should know when to switch.
Also mention capacity hints: new HashMap&lt;&gt;(expected) doesn't size the map for expected entries without resizing because of the load factor; Java 19 added HashMap.newHashMap(expected) for exactly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repository signature InMemoryRepository&lt;T extends Identifiable&lt;ID&gt;, ID&gt; is the hardest part for beginners; draw how Book binds T and String binds ID.
Optional makes 'not found' explicit instead of returning null — Spring Data's findById returns Optional&lt;T&gt; for the same reason. We will use .orElseThrow(() -&gt; new NotFoundException(...)) in REST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time permits, ask students to explain the [goa, agra, delhi] HashSet order — it's the perfect teaser for the next session on hashing.
Q1 answer: B — ArrayList gives O(1) index access and amortised O(1) appends with compact, cache-friendly memory.
Q2 answer: C — TreeMap is a red-black tree: sorted keys plus floorKey, ceilingEntry, headMap, subMap…
Q3 answer: B — Stack extends the synchronized legacy Vector. ArrayDeque is faster and implements the Deque stack operations.
Q4 answer: B — A List&lt;String&gt; is not a List&lt;Object&gt; — otherwise you could add an Integer to a list of Strings. Use List&lt;? extends Object&gt; to read.
Q5 answer: C — PECS — Producer Extends: List&lt;? extends Number&gt; accepts List&lt;Integer&gt;, List&lt;Double&gt;, … for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session: Streams API for declarative data processing, and a deep dive into HashMap internals and hashing algorithms.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5: Streams API, HashMap Internals &amp; Hashing Algorithms.
Before you start: Session 3 (lambdas, functional interfaces) and Session 4 (collections, equals/hashCode).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with the imperative loop students know: a for loop with if, a temporary list and Collections.sort. The stream version reads top-to-bottom like the business requirement: 'delivered orders over ₹1,000, biggest first, give me the ids'.
Streams came in Java 8 together with lambdas — the brochure's 'Functional Programming with Java 8' skill. In backend code they are everywhere: mapping entities to DTOs, building reports, validating inputs.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mapToDouble/mapToInt switch to primitive streams that offer sum, average, max without boxing.
findFirst returns an Optional because the stream may be empty — never call .get() blindly; use orElse, orElseThrow, map, ifPresent.
Stream.toList() (Java 16) returns an unmodifiable list; collect(Collectors.toList()) returns a mutable ArrayList in practice. Prefer toList() unless you must modify the result.
Expected output:
big delivered: [O3, O5, O1]
revenue = 7350.0
customers: [asha, meera, ravi, zoya]
any &gt; 2500? true
first Chennai order: O4
average = 1300.00
reduce 1..5 = 15
[b, a,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Passing TreeMap::new as the map factory makes the output sorted and deterministic — the default groupingBy uses a HashMap.
toMap throws IllegalStateException on duplicate keys unless you provide a merge function (Math::max here). This is a very common production bug.
Rule of thumb: aggregate in the database when the data is large (Session 10–11). Use collectors for data already in memory — e.g. building API responses or in-memory reports.
Expected output:
orders per city: {Chennai=2, Delhi=2, Pune=2}
spend per customer: {asha=4200.0, meera=800.0, ravi=2200.0, zoya=150.0}
ids by status: {CANCELLED=[O2], DELIVERED=[O1, O3, O5, O6], SHIPPED=[O4]}
big vs small: {false=3, true=3}
max per city: {Chennai=800.0, Delhi=2200.0, Pune=3000.0}
top customer: asha
min=150 max=3000 avg=1300 count=6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Predict-the-output exercise: many students expect all 'saw' lines first, then all 'kept' lines (horizontal processing). Streams process vertically, element by element — that is what makes short-circuiting and infinite streams (Stream.iterate + limit) possible.
peek exists mainly for debugging; don't put business logic in it.
Parallel streams in a request-handling server compete with every other request for the same common pool — usually a bad trade. We'll discuss proper concurrency tools in Session 6.
Expected output:
  saw asha
  kept asha
  saw bala
  kept bala
  saw chen
  kept chen
result = CHEN
count = 3
IllegalStateException: stream has already been operated upon or closed
[4, 4, 4]
1 2 4 8 16 32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31 in String.hashCode? It's an odd prime, so multiplication spreads bits well, and 31 h can be computed as (h &lt;&lt; 5) - h.
Why does HashMap 'spread' the hash with h ^ (h &gt;&gt;&gt; 16)? The index uses only the low bits (hash &amp; (n - 1)). Mixing the high 16 bits into the low bits means keys that differ only in high bits still land in different buckets.
Hashing appears far beyond HashMap in this course: Kafka chooses a partition by hashing the message key (Session 20), Redis Cluster uses hash slots, and BCrypt hashes passwords. Same idea, different goals.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layout on the slide is real: goa, agra and pune all have spread hashes whose low 4 bits are 1000, so they share bucket 8. That is also why the HashSet in Session 4 printed [goa, agra, delhi].
Why a power-of-two capacity? (n - 1) &amp; hash is a cheap bitmask instead of a slow modulo, and on resize a node's new index depends on just one extra bit.
Treeification protects against pathological inputs, including hash-flooding attacks where an attacker sends many keys with colliding hash codes. Tree bins convert back to lists when they shrink to 6 nodes.
If you know the size up front, pre-size the map: HashMap.newHashMap(1_000) (Java 19+) avoids repeated resizes.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"Aa" and "BB" have the same hash code (65·31 + 97 66·31 + 66 2112). Collisions are legal; the map stays correct because it falls back to equals.
Equal objects must have equal hash codes, but unequal objects may share a hash code. A hashCode() that returns a constant is legal but turns every lookup into a linear (or tree) search.
Discussion: if attackers can choose keys (e.g. JSON field names or query params), many colliding keys could slow a server down. Treeified bins cap the damage at O(log n).
Expected output:
goa    hashCode=102521    bucket(16)=8
agra   hashCode=2992341   bucket(16)=8
delhi  hashCode=95468108  bucket(16)=12
Aa     hashCode=2112      bucket(16)=0
BB     hashCode=2112      bucket(16)=0
1 2 size=2
"Aa".equals("BB") = false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mutation the entry sits in the bucket for the old hash. Looking up with the mutated key goes to the new bucket (miss); looking up with an equal-to-old key finds the right bucket but equals now fails (miss). The value is unreachable but still uses memory — a memory leak.
Without hashCode, two 'equal' objects get different identity hash codes, land in different buckets, and equals is never even called.
ConcurrentHashMap forbids null keys and values because get returning null must unambiguously mean 'absent' in a concurrent setting.
Expected output:
get(key) = null
get(new SKU-1) = null
size = 1 -&gt; the entry is stranded
NoHashCode set size = 2 (expected 1)
null key is allowed in HashMap
ConcurrentHashMap rejects null keys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Hashtable and Collections.synchronizedMap lock the whole map for every call. ConcurrentHashMap uses CAS operations and per-bin locking, so many threads can read and write simultaneously — we look at it again in Session 6.
Interview staple: HashMap vs ConcurrentHashMap vs Hashtable. Answer with ordering, nulls, thread-safety mechanism and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only 4 buckets, goa, agra and delhi all land in bucket 0 — a long chain. After resizing to 8 buckets, delhi moves to bucket 4 ( 0 + old capacity), exactly the 'stay or move by oldCapacity' rule.
Our resize reverses chain order because we insert at the head; Java 8's HashMap preserves order by splitting each chain into a 'lo' and a 'hi' list. Ask strong students to implement that improvement.
This exercise is a frequent machine-coding interview task. The key insight to articulate: average O(1) depends on a good hash function and keeping the load factor bounded by resizing.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Q4 and Q5 are high-frequency interview questions; ask students to explain the answer aloud using the bucket diagram.
For Q6, have students write the full pipeline on the board, then change it to sum of amounts per city (summingDouble) and list of ids per city (mapping(Order::id, toList())) — the same collector shape with a different downstream.
Q1 answer: B — map returns a new stream and does nothing until a terminal operation such as collect, forEach or count runs.
Q2 answer: C — A stream can be consumed only once: 'stream has already been operated upon or closed'.
Q3 answer: B — 16 buckets, load factor 0.75 → the first resize happens when the 13th entry is added.
Q4 answer: C — Treeification bounds lookups in a crowded bucket to O(log n).
Q5 answer: B — The element stays in the bucket of its old hash; lookups now search a different bucket. Keys must be immutable.
Q6 answer: B — groupingBy(classifier, downstream) with counting() produces a Map&lt;String, Long&gt;.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session: multithreading — threads, thread pools, synchronization and ExecutorService — plus Maven's POM and build lifecycle, the bridge to Spring Boot.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6: Multithreading, Thread Pools, Synchronization, ExecutorService &amp; Maven Lifecycle.
Before you start: Sessions 3–5: lambdas, collections, and the stack/heap model from Session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to Session 1: each thread gets its own stack (locals are private), but all threads share the heap — any object reachable from two threads is shared state that needs protection.
Thread.getState() returns exactly the states on the diagram. In a thread dump (jcmd &lt;pid&gt; Thread.print), threads stuck in BLOCKED usually point to lock contention; many threads in WAITING on a pool's queue means the pool is idle.
Spring Boot's embedded Tomcat uses a pool of 200 worker threads by default; from Session 24 we will also enable virtual threads with one property.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Prefer passing a Runnable (or lambda) over extending Thread: it separates the task from the mechanism, and the same task can later be submitted to an executor.
Why is reading partial[0] after join() safe? join() creates a happens-before edge: everything the thread wrote is visible to the thread that joined it.
Virtual threads (Java 21) are scheduled by the JVM onto a few carrier threads. Creating a million of them is fine; they shine for blocking I/O such as HTTP and JDBC calls.
Expected output:
worker-1 state before start: NEW
worker-1 state after join: TERMINATED
total = 5000000050000000
running on: main
running on: worker-3
running on: virtual-1
virtual?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 interleaving on the board exactly like the sequence diagram. The bug is invisible in code review and rare in testing — and then appears in production under load.
Immutability is the cheapest form of thread safety: records with immutable fields can be shared freely. That's one reason Spring beans are usually stateless singletons.
Compare-and-set (CAS): atomics read a value, compute the new one, and write it only if nobody changed it meanwhile — retrying otherwise. No locks, no blocking.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it a few times: the unsafe number changes every run (and is occasionally correct, which is what makes these bugs so treacherous).
synchronized (LOCK) uses an intrinsic monitor: only one thread at a time can run the block, and leaving it publishes the writes to the next thread that enters.
LongAdder keeps several internal cells and sums them on read, so threads rarely contend — ideal for metrics counters. Use AtomicInteger when you need the exact current value atomically (e.g. ID generation).
Expected output:
expected = 400000
unsafe   = 271843   &lt;- lost updates, varies per run
sync     = 400000
atomic   = 400000
adder    = 400000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bank-transfer deadlock is the canonical example and a common interview question. In a thread dump the JVM even reports it: Found one Java-level deadlock.
In real backends we mostly avoid in-memory locks across requests: the database provides transactions and row locks (Session 11), and distributed systems use optimistic locking with version columns (Session 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blocks when the queue is full and take blocks when it is empty — no busy-waiting, no manual wait/notify. This is exactly how a thread pool's work queue operates.
Restoring the interrupt flag (Thread.currentThread().interrupt()) in a catch block is the polite way to let the owner of the thread know a shutdown was requested.
Keep this picture in mind for Session 20: Kafka is a distributed, persistent producer–consumer queue.
Expected output:
processed 10 orders: [O1, O2, O3, O4, O5, O6, O7, O8, O9, O10]
queue empty?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Sizing rule of thumb: CPU-bound work ≈ number of cores; I/O-bound work can use more threads because they spend time waiting — or simply use virtual threads.
Always shut executors down. Since Java 19 ExecutorService is AutoCloseable: try-with-resources calls close(), which waits for submitted tasks to finish.
Spring offers the same concepts declaratively: @Async, TaskExecutor, @Scheduled — all backed by executors.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Callable&lt;V&gt; is like Runnable but returns a value and may throw checked exceptions. Future.get() blocks until the result is ready and wraps task failures in ExecutionException (use getCause()).
Timeouts are not optional in backend code: every remote call needs one, otherwise a slow dependency exhausts your threads. We'll see the same idea as Feign/HTTP timeouts and circuit breakers in Module 4.
cancel(true) interrupts the worker, which wakes up Thread.sleep with an InterruptedException.
Expected output:
AirIndia -&gt; 5400
IndiGo -&gt; 4900
Vistara -&gt; 6100
cheapest: IndiGo
timed out -&gt; cancelled: true
faster than sequential (750 ms)?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thenCombine waits for two independent futures; thenApply transforms a result; thenCompose chains a call that itself returns a future; exceptionally/handle provide fallbacks; allOf waits for many.
Exceptions from supplyAsync arrive wrapped in a CompletionException, hence ex.getCause().
10,000 tasks that each block for 10 ms finish in a fraction of a second on virtual threads. With a fixed pool of 10 platform threads the same work would take ~10 seconds. Virtual threads make the simple blocking style scale — Spring Boot can run every request on one (Session 24).
Expected output:
final price = 800.0
fallback because: inventory service down
stock = 0
completed 10000 tasks, checksum 49995000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Maven, teams copied JARs into lib/ folders and wrote long Ant scripts. Maven's convention over configuration means any Java developer can open any Maven project and know where everything is — exactly what Spring Initializr generates in Session 7.
SNAPSHOT versions (1.0.0-SNAPSHOT) are work in progress and may be re-downloaded; release versions are immutable.
Gradle is the other major build tool (Kotlin/Groovy DSL, incremental builds). The concepts — coordinates, repositories, scopes, lifecycle-like tasks — transfer directly. This course uses Maven, as the brochure specifies.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maven.compiler.release21 compiles against the Java 21 API even if you build with a newer JDK — safer than separate source/target settings.
A BOM (bill of materials) is a POM that only manages versions. Spring Boot's parent POM is essentially a huge BOM — that's why Spring Boot dependencies never need a &lt;version&gt; (Session 7).
Pin plugin versions: without them Maven falls back to defaults baked into your Maven version, and builds stop being reproducible across machines.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Phases are abstract steps; plugins make them concrete. compile is bound to maven-compiler-plugin:compile because our packaging is jar. A war packaging binds package to war:war instead.
Common flags: -DskipTests (compile tests but don't run them), -Dmaven.test.skiptrue (don't even compile them — avoid), -U (force SNAPSHOT updates), -o (offline), -pl module -am (build one module of a multi-module project).
CI pipelines (Session 23) usually run ./mvnw -B verify: batch mode, full test suite, no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Maven output top-down: each --- line names plugin:version:goal (execution id). When a build fails, the plugin named just above the error tells you which phase broke.
dependency:tree is the first tool to reach for when you see NoSuchMethodError or ClassNotFoundException at runtime — usually two versions of the same library are fighting. (The tree above is abbreviated; exact transitive versions may differ.)
In IntelliJ the Maven tool window runs the same lifecycle phases with a double-click; the terminal skills still matter for CI and Docker builds.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deliberately break it: replace LongAdder with a plain long[] total {0} and total[0] + .... With 8 threads the revenue becomes wrong and the JUnit test catches it — a perfect demonstration of why concurrency code needs tests.
If java -jar reports no main manifest attribute, the maven-jar-plugin mainClass is missing or wrong — a classic first Maven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Q4 is a real production incident pattern: a fixed pool with an unbounded queue hides overload until memory runs out. Ask students how they would size the queue and which rejection policy they would choose for an API server (often caller-runs or fail fast with HTTP 503).
Q1 answer: B — run() is just a method call. Only start() creates a new thread of execution.
Q2 answer: B — Two threads can read the same old value and both write old+1. Use synchronized, AtomicInteger or LongAdder.
Q3 answer: B — A volatile write is visible to subsequent reads, but x++ on a volatile is still three separate steps.
Q4 answer: B — The fixed pool uses an unbounded LinkedBlockingQueue. Production code should bound the queue and choose a rejection policy.
Q5 answer: C — Invoking a phase runs all earlier phases of the default lifecycle. clean belongs to a different lifecycle.
Q6 answer: D — test scope keeps it off the main classpath and out of the packaged artifact.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Congratulate the class on finishing Module 1. Next session opens Module 2: Maven plugins and archetypes, then project setup with Spring Initializr — the first step towards our Spring Boot REST APIs and the Splitwise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ODY">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6446520"/>
            <a:ext cx="11277295" cy="0"/>
          </a:xfrm>
          <a:prstGeom prst="line">
            <a:avLst/>
          </a:prstGeom>
          <a:noFill/>
          <a:ln w="9525">
            <a:solidFill>
              <a:srgbClr val="D5DDD7"/>
            </a:solidFill>
            <a:prstDash val="solid"/>
          </a:ln>
        </p:spPr>
      </p:sp>
      <p:sp>
        <p:nvSpPr>
          <p:cNvPr id="3" name="Text 1"/>
          <p:cNvSpPr/>
          <p:nvPr/>
        </p:nvSpPr>
        <p:spPr>
          <a:xfrm>
            <a:off x="457200" y="6473952"/>
            <a:ext cx="10362895" cy="274320"/>
          </a:xfrm>
          <a:prstGeom prst="rect">
            <a:avLst/>
          </a:prstGeom>
          <a:noFill/>
          <a:ln/>
        </p:spPr>
        <p:txBody>
          <a:bodyPr wrap="square" rtlCol="0" anchor="ctr"/>
          <a:lstStyle/>
          <a:p>
            <a:pPr indent="0" marL="0">
              <a:buNone/>
            </a:pPr>
            <a:r>
              <a:rPr lang="en-US" sz="900" dirty="0">
                <a:solidFill>
                  <a:srgbClr val="5B6B60"/>
                </a:solidFill>
                <a:latin typeface="Calibri" pitchFamily="34" charset="0"/>
                <a:ea typeface="Calibri" pitchFamily="34" charset="-122"/>
                <a:cs typeface="Calibri" pitchFamily="34" charset="-120"/>
              </a:rPr>
              <a:t>Module 1 · Core Java &amp; OOP Fundamentals  —  based on the GeeksforGeeks “Java Backend Development Course With IBM Certification” syllabus</a:t>
            </a:r>
            <a:endParaRPr lang="en-US" sz="9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51A"/>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C9C43D"/>
          </a:solidFill>
          <a:ln w="12700">
            <a:solidFill>
              <a:srgbClr val="C9C43D"/>
            </a:solidFill>
            <a:prstDash val="solid"/>
          </a:ln>
        </p:spPr>
      </p:sp>
      <p:sp>
        <p:nvSpPr>
          <p:cNvPr id="3" name="Text 1"/>
          <p:cNvSpPr/>
          <p:nvPr/>
        </p:nvSpPr>
        <p:spPr>
          <a:xfrm>
            <a:off x="731520" y="1188720"/>
            <a:ext cx="10058400" cy="457200"/>
          </a:xfrm>
          <a:prstGeom prst="rect">
            <a:avLst/>
          </a:prstGeom>
          <a:noFill/>
          <a:ln/>
        </p:spPr>
        <p:txBody>
          <a:bodyPr wrap="square" rtlCol="0" anchor="ctr"/>
          <a:lstStyle/>
          <a:p>
            <a:pPr indent="0" marL="0">
              <a:buNone/>
            </a:pPr>
            <a:r>
              <a:rPr lang="en-US" sz="1600" b="1" dirty="0">
                <a:solidFill>
                  <a:srgbClr val="C9C43D"/>
                </a:solidFill>
                <a:latin typeface="Calibri" pitchFamily="34" charset="0"/>
                <a:ea typeface="Calibri" pitchFamily="34" charset="-122"/>
                <a:cs typeface="Calibri" pitchFamily="34" charset="-120"/>
              </a:rPr>
              <a:t>MODULE 1  ·  SESSIONS 1–6</a:t>
            </a:r>
            <a:endParaRPr lang="en-US" sz="1600" dirty="0"/>
          </a:p>
        </p:txBody>
      </p:sp>
      <p:sp>
        <p:nvSpPr>
          <p:cNvPr id="4" name="Text 2"/>
          <p:cNvSpPr/>
          <p:nvPr/>
        </p:nvSpPr>
        <p:spPr>
          <a:xfrm>
            <a:off x="731520" y="1691640"/>
            <a:ext cx="10515600" cy="1280160"/>
          </a:xfrm>
          <a:prstGeom prst="rect">
            <a:avLst/>
          </a:prstGeom>
          <a:noFill/>
          <a:ln/>
        </p:spPr>
        <p:txBody>
          <a:bodyPr wrap="square" rtlCol="0" anchor="t"/>
          <a:lstStyle/>
          <a:p>
            <a:pPr indent="0" marL="0">
              <a:buNone/>
            </a:pPr>
            <a:r>
              <a:rPr lang="en-US" sz="4400" b="1" dirty="0">
                <a:solidFill>
                  <a:srgbClr val="FFFFFF"/>
                </a:solidFill>
                <a:latin typeface="Calibri" pitchFamily="34" charset="0"/>
                <a:ea typeface="Calibri" pitchFamily="34" charset="-122"/>
                <a:cs typeface="Calibri" pitchFamily="34" charset="-120"/>
              </a:rPr>
              <a:t>Core Java &amp; OOP Fundamentals</a:t>
            </a:r>
            <a:endParaRPr lang="en-US" sz="4400" dirty="0"/>
          </a:p>
        </p:txBody>
      </p:sp>
      <p:sp>
        <p:nvSpPr>
          <p:cNvPr id="5" name="Text 3"/>
          <p:cNvSpPr/>
          <p:nvPr/>
        </p:nvSpPr>
        <p:spPr>
          <a:xfrm>
            <a:off x="731520" y="3108960"/>
            <a:ext cx="10058400" cy="1005840"/>
          </a:xfrm>
          <a:prstGeom prst="rect">
            <a:avLst/>
          </a:prstGeom>
          <a:noFill/>
          <a:ln/>
        </p:spPr>
        <p:txBody>
          <a:bodyPr wrap="square" rtlCol="0" anchor="t"/>
          <a:lstStyle/>
          <a:p>
            <a:pPr indent="0" marL="0">
              <a:buNone/>
            </a:pPr>
            <a:r>
              <a:rPr lang="en-US" sz="1800" dirty="0">
                <a:solidFill>
                  <a:srgbClr val="C9D8CE"/>
                </a:solidFill>
                <a:latin typeface="Calibri" pitchFamily="34" charset="0"/>
                <a:ea typeface="Calibri" pitchFamily="34" charset="-122"/>
                <a:cs typeface="Calibri" pitchFamily="34" charset="-120"/>
              </a:rPr>
              <a:t>Build a rock-solid Java foundation covering everything from JVM internals and OOP principles to concurrency and build tools.</a:t>
            </a:r>
            <a:endParaRPr lang="en-US" sz="1800" dirty="0"/>
          </a:p>
        </p:txBody>
      </p:sp>
      <p:sp>
        <p:nvSpPr>
          <p:cNvPr id="6" name="Text 4"/>
          <p:cNvSpPr/>
          <p:nvPr/>
        </p:nvSpPr>
        <p:spPr>
          <a:xfrm>
            <a:off x="731520" y="4937760"/>
            <a:ext cx="10058400" cy="365760"/>
          </a:xfrm>
          <a:prstGeom prst="rect">
            <a:avLst/>
          </a:prstGeom>
          <a:noFill/>
          <a:ln/>
        </p:spPr>
        <p:txBody>
          <a:bodyPr wrap="square" rtlCol="0" anchor="ctr"/>
          <a:lstStyle/>
          <a:p>
            <a:pPr indent="0" marL="0">
              <a:buNone/>
            </a:pPr>
            <a:r>
              <a:rPr lang="en-US" sz="1400" b="1" dirty="0">
                <a:solidFill>
                  <a:srgbClr val="F3EF6B"/>
                </a:solidFill>
                <a:latin typeface="Calibri" pitchFamily="34" charset="0"/>
                <a:ea typeface="Calibri" pitchFamily="34" charset="-122"/>
                <a:cs typeface="Calibri" pitchFamily="34" charset="-120"/>
              </a:rPr>
              <a:t>Java Backend Development — Interactive Course Notes</a:t>
            </a:r>
            <a:endParaRPr lang="en-US" sz="1400" dirty="0"/>
          </a:p>
        </p:txBody>
      </p:sp>
      <p:sp>
        <p:nvSpPr>
          <p:cNvPr id="7" name="Text 5"/>
          <p:cNvSpPr/>
          <p:nvPr/>
        </p:nvSpPr>
        <p:spPr>
          <a:xfrm>
            <a:off x="731520" y="5349240"/>
            <a:ext cx="10515600" cy="548640"/>
          </a:xfrm>
          <a:prstGeom prst="rect">
            <a:avLst/>
          </a:prstGeom>
          <a:noFill/>
          <a:ln/>
        </p:spPr>
        <p:txBody>
          <a:bodyPr wrap="square" rtlCol="0" anchor="ctr"/>
          <a:lstStyle/>
          <a:p>
            <a:pPr indent="0" marL="0">
              <a:buNone/>
            </a:pPr>
            <a:r>
              <a:rPr lang="en-US" sz="1100" dirty="0">
                <a:solidFill>
                  <a:srgbClr val="9FB3A6"/>
                </a:solidFill>
                <a:latin typeface="Calibri" pitchFamily="34" charset="0"/>
                <a:ea typeface="Calibri" pitchFamily="34" charset="-122"/>
                <a:cs typeface="Calibri" pitchFamily="34" charset="-120"/>
              </a:rPr>
              <a:t>Independent study companion based on the GeeksforGeeks “Java Backend Development Course With IBM Certification” brochure. Code targets Java 21 LTS (Java 25 LTS also works), Spring Boot 4.1.x (Spring Framework 7).</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C9C43D"/>
          </a:solidFill>
          <a:ln w="12700">
            <a:solidFill>
              <a:srgbClr val="C9C43D"/>
            </a:solidFill>
            <a:prstDash val="solid"/>
          </a:ln>
        </p:spPr>
      </p:sp>
      <p:sp>
        <p:nvSpPr>
          <p:cNvPr id="3" name="Text 1"/>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Module roadmap</a:t>
            </a:r>
            <a:endParaRPr lang="en-US" sz="2800" dirty="0"/>
          </a:p>
        </p:txBody>
      </p:sp>
      <p:sp>
        <p:nvSpPr>
          <p:cNvPr id="4" name="Text 2"/>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Brochure topics in order, and the session that teaches each one.</a:t>
            </a:r>
            <a:endParaRPr lang="en-US" sz="13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1920240"/>
          <a:ext cx="11277295" cy="914400"/>
        </p:xfrm>
        <a:graphic>
          <a:graphicData uri="http://schemas.openxmlformats.org/drawingml/2006/table">
            <a:tbl>
              <a:tblPr/>
              <a:tblGrid>
                <a:gridCol w="548640"/>
                <a:gridCol w="8778240"/>
                <a:gridCol w="1947672"/>
              </a:tblGrid>
              <a:tr h="438912">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Brochure topic (verbatim)</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Session(s)</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r>
              <a:tr h="438912">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Java architecture, JVM internals &amp; core OOP principles</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S1</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r>
              <a:tr h="438912">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Abstract classes, interfaces &amp; exception hierarchy</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S2</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r>
              <a:tr h="438912">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Singleton design pattern &amp; exception propagation</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S3</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r>
              <a:tr h="438912">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Lambda expressions &amp; functional interfaces</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S3</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r>
              <a:tr h="438912">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Collections framework, Queues &amp; Generics</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S4</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r>
              <a:tr h="438912">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6</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Streams API, HashMap &amp; hashing algorithms</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S5</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r>
              <a:tr h="438912">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7</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Multithreading, thread pools &amp; synchronization</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S6</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r>
              <a:tr h="438912">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8</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ExecutorService, Maven POM.xml &amp; lifecycle management</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S6</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C9C43D"/>
          </a:solidFill>
          <a:ln w="12700">
            <a:solidFill>
              <a:srgbClr val="C9C43D"/>
            </a:solidFill>
            <a:prstDash val="solid"/>
          </a:ln>
        </p:spPr>
      </p:sp>
      <p:sp>
        <p:nvSpPr>
          <p:cNvPr id="3" name="Text 1"/>
          <p:cNvSpPr/>
          <p:nvPr/>
        </p:nvSpPr>
        <p:spPr>
          <a:xfrm>
            <a:off x="457200" y="411480"/>
            <a:ext cx="7315200" cy="320040"/>
          </a:xfrm>
          <a:prstGeom prst="rect">
            <a:avLst/>
          </a:prstGeom>
          <a:noFill/>
          <a:ln/>
        </p:spPr>
        <p:txBody>
          <a:bodyPr wrap="square" rtlCol="0" anchor="ctr"/>
          <a:lstStyle/>
          <a:p>
            <a:pPr indent="0" marL="0">
              <a:buNone/>
            </a:pPr>
            <a:r>
              <a:rPr lang="en-US" sz="1200" b="1" dirty="0">
                <a:solidFill>
                  <a:srgbClr val="C9C43D"/>
                </a:solidFill>
                <a:latin typeface="Calibri" pitchFamily="34" charset="0"/>
                <a:ea typeface="Calibri" pitchFamily="34" charset="-122"/>
                <a:cs typeface="Calibri" pitchFamily="34" charset="-120"/>
              </a:rPr>
              <a:t>SESSION 1 OF 24  ·  MODULE 1</a:t>
            </a:r>
            <a:endParaRPr lang="en-US" sz="1200" dirty="0"/>
          </a:p>
        </p:txBody>
      </p:sp>
      <p:sp>
        <p:nvSpPr>
          <p:cNvPr id="4" name="Text 2"/>
          <p:cNvSpPr/>
          <p:nvPr/>
        </p:nvSpPr>
        <p:spPr>
          <a:xfrm>
            <a:off x="457200" y="777240"/>
            <a:ext cx="11277295" cy="1005840"/>
          </a:xfrm>
          <a:prstGeom prst="rect">
            <a:avLst/>
          </a:prstGeom>
          <a:noFill/>
          <a:ln/>
        </p:spPr>
        <p:txBody>
          <a:bodyPr wrap="square" rtlCol="0" anchor="t"/>
          <a:lstStyle/>
          <a:p>
            <a:pPr indent="0" marL="0">
              <a:buNone/>
            </a:pPr>
            <a:r>
              <a:rPr lang="en-US" sz="3000" b="1" dirty="0">
                <a:solidFill>
                  <a:srgbClr val="1F2A24"/>
                </a:solidFill>
                <a:latin typeface="Calibri" pitchFamily="34" charset="0"/>
                <a:ea typeface="Calibri" pitchFamily="34" charset="-122"/>
                <a:cs typeface="Calibri" pitchFamily="34" charset="-120"/>
              </a:rPr>
              <a:t>Java Architecture, JVM Internals &amp; Core OOP Principles</a:t>
            </a:r>
            <a:endParaRPr lang="en-US" sz="3000" dirty="0"/>
          </a:p>
        </p:txBody>
      </p:sp>
      <p:sp>
        <p:nvSpPr>
          <p:cNvPr id="5" name="Text 3"/>
          <p:cNvSpPr/>
          <p:nvPr/>
        </p:nvSpPr>
        <p:spPr>
          <a:xfrm>
            <a:off x="457200" y="1920240"/>
            <a:ext cx="5486400" cy="320040"/>
          </a:xfrm>
          <a:prstGeom prst="rect">
            <a:avLst/>
          </a:prstGeom>
          <a:noFill/>
          <a:ln/>
        </p:spPr>
        <p:txBody>
          <a:bodyPr wrap="square" rtlCol="0" anchor="ctr"/>
          <a:lstStyle/>
          <a:p>
            <a:pPr indent="0" marL="0">
              <a:buNone/>
            </a:pPr>
            <a:r>
              <a:rPr lang="en-US" sz="1300" b="1" dirty="0">
                <a:solidFill>
                  <a:srgbClr val="5B6B60"/>
                </a:solidFill>
                <a:latin typeface="Calibri" pitchFamily="34" charset="0"/>
                <a:ea typeface="Calibri" pitchFamily="34" charset="-122"/>
                <a:cs typeface="Calibri" pitchFamily="34" charset="-120"/>
              </a:rPr>
              <a:t>Brochure topics covered</a:t>
            </a:r>
            <a:endParaRPr lang="en-US" sz="1300" dirty="0"/>
          </a:p>
        </p:txBody>
      </p:sp>
      <p:sp>
        <p:nvSpPr>
          <p:cNvPr id="6" name="Text 4"/>
          <p:cNvSpPr/>
          <p:nvPr/>
        </p:nvSpPr>
        <p:spPr>
          <a:xfrm>
            <a:off x="457200" y="2240280"/>
            <a:ext cx="5577840" cy="1463040"/>
          </a:xfrm>
          <a:prstGeom prst="rect">
            <a:avLst/>
          </a:prstGeom>
          <a:noFill/>
          <a:ln/>
        </p:spPr>
        <p:txBody>
          <a:bodyPr wrap="square" rtlCol="0" anchor="t"/>
          <a:lstStyle/>
          <a:p>
            <a:pPr indent="0" marL="0">
              <a:spcAft>
                <a:spcPts val="400"/>
              </a:spcAft>
              <a:buNone/>
            </a:pPr>
            <a:r>
              <a:rPr lang="en-US" sz="1400" dirty="0">
                <a:solidFill>
                  <a:srgbClr val="1F2A24"/>
                </a:solidFill>
                <a:latin typeface="Calibri" pitchFamily="34" charset="0"/>
                <a:ea typeface="Calibri" pitchFamily="34" charset="-122"/>
                <a:cs typeface="Calibri" pitchFamily="34" charset="-120"/>
              </a:rPr>
              <a:t>✓ Java architecture, JVM internals &amp; core OOP principles</a:t>
            </a:r>
            <a:endParaRPr lang="en-US" sz="1400" dirty="0"/>
          </a:p>
        </p:txBody>
      </p:sp>
      <p:sp>
        <p:nvSpPr>
          <p:cNvPr id="7" name="Text 5"/>
          <p:cNvSpPr/>
          <p:nvPr/>
        </p:nvSpPr>
        <p:spPr>
          <a:xfrm>
            <a:off x="457200" y="3749040"/>
            <a:ext cx="5486400" cy="320040"/>
          </a:xfrm>
          <a:prstGeom prst="rect">
            <a:avLst/>
          </a:prstGeom>
          <a:noFill/>
          <a:ln/>
        </p:spPr>
        <p:txBody>
          <a:bodyPr wrap="square" rtlCol="0" anchor="ctr"/>
          <a:lstStyle/>
          <a:p>
            <a:pPr indent="0" marL="0">
              <a:buNone/>
            </a:pPr>
            <a:r>
              <a:rPr lang="en-US" sz="1300" b="1" dirty="0">
                <a:solidFill>
                  <a:srgbClr val="5B6B60"/>
                </a:solidFill>
                <a:latin typeface="Calibri" pitchFamily="34" charset="0"/>
                <a:ea typeface="Calibri" pitchFamily="34" charset="-122"/>
                <a:cs typeface="Calibri" pitchFamily="34" charset="-120"/>
              </a:rPr>
              <a:t>Learning objectives</a:t>
            </a:r>
            <a:endParaRPr lang="en-US" sz="1300" dirty="0"/>
          </a:p>
        </p:txBody>
      </p:sp>
      <p:sp>
        <p:nvSpPr>
          <p:cNvPr id="8" name="Text 6"/>
          <p:cNvSpPr/>
          <p:nvPr/>
        </p:nvSpPr>
        <p:spPr>
          <a:xfrm>
            <a:off x="457200" y="4069080"/>
            <a:ext cx="5577840" cy="2286000"/>
          </a:xfrm>
          <a:prstGeom prst="rect">
            <a:avLst/>
          </a:prstGeom>
          <a:noFill/>
          <a:ln/>
        </p:spPr>
        <p:txBody>
          <a:bodyPr wrap="square" rtlCol="0" anchor="t"/>
          <a:lstStyle/>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Explain how a </a:t>
            </a:r>
            <a:endParaRPr lang="en-US" sz="1250" dirty="0"/>
          </a:p>
          <a:p>
            <a:pPr marL="177800" indent="-177800">
              <a:spcAft>
                <a:spcPts val="400"/>
              </a:spcAft>
              <a:buSzPct val="100000"/>
              <a:buChar char="•"/>
            </a:pPr>
            <a:r>
              <a:rPr lang="en-US" sz="1250" dirty="0">
                <a:solidFill>
                  <a:srgbClr val="B4235A"/>
                </a:solidFill>
                <a:latin typeface="Consolas" pitchFamily="34" charset="0"/>
                <a:ea typeface="Consolas" pitchFamily="34" charset="-122"/>
                <a:cs typeface="Consolas" pitchFamily="34" charset="-120"/>
              </a:rPr>
              <a:t>.java</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 file becomes running machine code (javac → bytecode → JVM → JIT).</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Distinguish JDK, JRE and JVM and name the JVM's runtime memory areas.</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Describe class loading (delegation model) and the basics of garbage collection.</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Apply the four OOP pillars — encapsulation, inheritance, polymorphism, abstraction — in Java code.</a:t>
            </a:r>
            <a:endParaRPr lang="en-US" sz="1250" dirty="0"/>
          </a:p>
        </p:txBody>
      </p:sp>
      <p:sp>
        <p:nvSpPr>
          <p:cNvPr id="9" name="Text 7"/>
          <p:cNvSpPr/>
          <p:nvPr/>
        </p:nvSpPr>
        <p:spPr>
          <a:xfrm>
            <a:off x="6400800" y="1920240"/>
            <a:ext cx="5303520" cy="320040"/>
          </a:xfrm>
          <a:prstGeom prst="rect">
            <a:avLst/>
          </a:prstGeom>
          <a:noFill/>
          <a:ln/>
        </p:spPr>
        <p:txBody>
          <a:bodyPr wrap="square" rtlCol="0" anchor="ctr"/>
          <a:lstStyle/>
          <a:p>
            <a:pPr indent="0" marL="0">
              <a:buNone/>
            </a:pPr>
            <a:r>
              <a:rPr lang="en-US" sz="1300" b="1" dirty="0">
                <a:solidFill>
                  <a:srgbClr val="5B6B60"/>
                </a:solidFill>
                <a:latin typeface="Calibri" pitchFamily="34" charset="0"/>
                <a:ea typeface="Calibri" pitchFamily="34" charset="-122"/>
                <a:cs typeface="Calibri" pitchFamily="34" charset="-120"/>
              </a:rPr>
              <a:t>Agenda</a:t>
            </a:r>
            <a:endParaRPr lang="en-US" sz="1300" dirty="0"/>
          </a:p>
        </p:txBody>
      </p:sp>
      <p:sp>
        <p:nvSpPr>
          <p:cNvPr id="10" name="Text 8"/>
          <p:cNvSpPr/>
          <p:nvPr/>
        </p:nvSpPr>
        <p:spPr>
          <a:xfrm>
            <a:off x="6400800" y="2240280"/>
            <a:ext cx="5303520" cy="4114800"/>
          </a:xfrm>
          <a:prstGeom prst="rect">
            <a:avLst/>
          </a:prstGeom>
          <a:noFill/>
          <a:ln/>
        </p:spPr>
        <p:txBody>
          <a:bodyPr wrap="square" rtlCol="0" anchor="t"/>
          <a:lstStyle/>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Why Java for backend development?</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From source code to running program</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JDK vs JRE vs JVM</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Inside the JVM: architecture</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Practical: Stack vs heap: where does each variable live?</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Class loading &amp; the delegation model</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Garbage collection basics</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Object-oriented programming: the 4 pillars</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Practical: Encapsulation: an account that protects its invariants</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Practical: Inheritance &amp; polymorphism in action</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Practical: Constructors, static, equals/hashCode &amp; records</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Hands-on Lab: Lab: model a library and inspect it on the JVM</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Quiz: Quiz: JVM &amp; OOP fundamentals</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Summary: Session 1 recap</a:t>
            </a:r>
            <a:endParaRPr lang="en-US" sz="125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C9C43D"/>
          </a:solidFill>
          <a:ln w="12700">
            <a:solidFill>
              <a:srgbClr val="C9C43D"/>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Why Java for backend development?</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Java has powered server-side systems for decades because it combines portability, performance and a huge, mature ecosystem.</a:t>
            </a:r>
            <a:endParaRPr lang="en-US" sz="1350" dirty="0"/>
          </a:p>
        </p:txBody>
      </p:sp>
      <p:sp>
        <p:nvSpPr>
          <p:cNvPr id="7" name="Text 5"/>
          <p:cNvSpPr/>
          <p:nvPr/>
        </p:nvSpPr>
        <p:spPr>
          <a:xfrm>
            <a:off x="457200" y="1883664"/>
            <a:ext cx="5120640" cy="3877056"/>
          </a:xfrm>
          <a:prstGeom prst="rect">
            <a:avLst/>
          </a:prstGeom>
          <a:noFill/>
          <a:ln/>
        </p:spPr>
        <p:txBody>
          <a:bodyPr wrap="square" rtlCol="0" anchor="t"/>
          <a:lstStyle/>
          <a:p>
            <a:pPr marL="177800" indent="-177800">
              <a:spcAft>
                <a:spcPts val="400"/>
              </a:spcAft>
              <a:buSzPct val="100000"/>
              <a:buChar char="•"/>
            </a:pPr>
            <a:r>
              <a:rPr lang="en-US" sz="1600" b="1" dirty="0">
                <a:solidFill>
                  <a:srgbClr val="1F2A24"/>
                </a:solidFill>
                <a:latin typeface="Calibri" pitchFamily="34" charset="0"/>
                <a:ea typeface="Calibri" pitchFamily="34" charset="-122"/>
                <a:cs typeface="Calibri" pitchFamily="34" charset="-120"/>
              </a:rPr>
              <a:t>Write once, run anywhere</a:t>
            </a:r>
            <a:endParaRPr lang="en-US" sz="1600" dirty="0"/>
          </a:p>
          <a:p>
            <a:pPr marL="177800" indent="-177800">
              <a:spcAft>
                <a:spcPts val="400"/>
              </a:spcAft>
              <a:buSzPct val="100000"/>
              <a:buChar char="•"/>
            </a:pPr>
            <a:r>
              <a:rPr lang="en-US" sz="1600" dirty="0">
                <a:solidFill>
                  <a:srgbClr val="1F2A24"/>
                </a:solidFill>
                <a:latin typeface="Calibri" pitchFamily="34" charset="0"/>
                <a:ea typeface="Calibri" pitchFamily="34" charset="-122"/>
                <a:cs typeface="Calibri" pitchFamily="34" charset="-120"/>
              </a:rPr>
              <a:t> — source compiles to platform-neutral </a:t>
            </a:r>
            <a:endParaRPr lang="en-US" sz="1600" dirty="0"/>
          </a:p>
          <a:p>
            <a:pPr marL="177800" indent="-177800">
              <a:spcAft>
                <a:spcPts val="400"/>
              </a:spcAft>
              <a:buSzPct val="100000"/>
              <a:buChar char="•"/>
            </a:pPr>
            <a:r>
              <a:rPr lang="en-US" sz="1600" i="1" dirty="0">
                <a:solidFill>
                  <a:srgbClr val="1F2A24"/>
                </a:solidFill>
                <a:latin typeface="Calibri" pitchFamily="34" charset="0"/>
                <a:ea typeface="Calibri" pitchFamily="34" charset="-122"/>
                <a:cs typeface="Calibri" pitchFamily="34" charset="-120"/>
              </a:rPr>
              <a:t>bytecode</a:t>
            </a:r>
            <a:endParaRPr lang="en-US" sz="1600" dirty="0"/>
          </a:p>
          <a:p>
            <a:pPr marL="177800" indent="-177800">
              <a:spcAft>
                <a:spcPts val="400"/>
              </a:spcAft>
              <a:buSzPct val="100000"/>
              <a:buChar char="•"/>
            </a:pPr>
            <a:r>
              <a:rPr lang="en-US" sz="1600" dirty="0">
                <a:solidFill>
                  <a:srgbClr val="1F2A24"/>
                </a:solidFill>
                <a:latin typeface="Calibri" pitchFamily="34" charset="0"/>
                <a:ea typeface="Calibri" pitchFamily="34" charset="-122"/>
                <a:cs typeface="Calibri" pitchFamily="34" charset="-120"/>
              </a:rPr>
              <a:t> that any JVM can execute.</a:t>
            </a:r>
            <a:endParaRPr lang="en-US" sz="1600" dirty="0"/>
          </a:p>
          <a:p>
            <a:pPr marL="177800" indent="-177800">
              <a:spcAft>
                <a:spcPts val="400"/>
              </a:spcAft>
              <a:buSzPct val="100000"/>
              <a:buChar char="•"/>
            </a:pPr>
            <a:r>
              <a:rPr lang="en-US" sz="1600" b="1" dirty="0">
                <a:solidFill>
                  <a:srgbClr val="1F2A24"/>
                </a:solidFill>
                <a:latin typeface="Calibri" pitchFamily="34" charset="0"/>
                <a:ea typeface="Calibri" pitchFamily="34" charset="-122"/>
                <a:cs typeface="Calibri" pitchFamily="34" charset="-120"/>
              </a:rPr>
              <a:t>Fast</a:t>
            </a:r>
            <a:endParaRPr lang="en-US" sz="1600" dirty="0"/>
          </a:p>
          <a:p>
            <a:pPr marL="177800" indent="-177800">
              <a:spcAft>
                <a:spcPts val="400"/>
              </a:spcAft>
              <a:buSzPct val="100000"/>
              <a:buChar char="•"/>
            </a:pPr>
            <a:r>
              <a:rPr lang="en-US" sz="1600" dirty="0">
                <a:solidFill>
                  <a:srgbClr val="1F2A24"/>
                </a:solidFill>
                <a:latin typeface="Calibri" pitchFamily="34" charset="0"/>
                <a:ea typeface="Calibri" pitchFamily="34" charset="-122"/>
                <a:cs typeface="Calibri" pitchFamily="34" charset="-120"/>
              </a:rPr>
              <a:t> — the JIT compiler turns hot code paths into optimised native machine code at runtime.</a:t>
            </a:r>
            <a:endParaRPr lang="en-US" sz="1600" dirty="0"/>
          </a:p>
          <a:p>
            <a:pPr marL="177800" indent="-177800">
              <a:spcAft>
                <a:spcPts val="400"/>
              </a:spcAft>
              <a:buSzPct val="100000"/>
              <a:buChar char="•"/>
            </a:pPr>
            <a:r>
              <a:rPr lang="en-US" sz="1600" b="1" dirty="0">
                <a:solidFill>
                  <a:srgbClr val="1F2A24"/>
                </a:solidFill>
                <a:latin typeface="Calibri" pitchFamily="34" charset="0"/>
                <a:ea typeface="Calibri" pitchFamily="34" charset="-122"/>
                <a:cs typeface="Calibri" pitchFamily="34" charset="-120"/>
              </a:rPr>
              <a:t>Safe &amp; robust</a:t>
            </a:r>
            <a:endParaRPr lang="en-US" sz="1600" dirty="0"/>
          </a:p>
          <a:p>
            <a:pPr marL="177800" indent="-177800">
              <a:spcAft>
                <a:spcPts val="400"/>
              </a:spcAft>
              <a:buSzPct val="100000"/>
              <a:buChar char="•"/>
            </a:pPr>
            <a:r>
              <a:rPr lang="en-US" sz="1600" dirty="0">
                <a:solidFill>
                  <a:srgbClr val="1F2A24"/>
                </a:solidFill>
                <a:latin typeface="Calibri" pitchFamily="34" charset="0"/>
                <a:ea typeface="Calibri" pitchFamily="34" charset="-122"/>
                <a:cs typeface="Calibri" pitchFamily="34" charset="-120"/>
              </a:rPr>
              <a:t> — static typing, automatic memory management (GC), exceptions instead of crashes.</a:t>
            </a:r>
            <a:endParaRPr lang="en-US" sz="1600" dirty="0"/>
          </a:p>
          <a:p>
            <a:pPr marL="177800" indent="-177800">
              <a:spcAft>
                <a:spcPts val="400"/>
              </a:spcAft>
              <a:buSzPct val="100000"/>
              <a:buChar char="•"/>
            </a:pPr>
            <a:r>
              <a:rPr lang="en-US" sz="1600" b="1" dirty="0">
                <a:solidFill>
                  <a:srgbClr val="1F2A24"/>
                </a:solidFill>
                <a:latin typeface="Calibri" pitchFamily="34" charset="0"/>
                <a:ea typeface="Calibri" pitchFamily="34" charset="-122"/>
                <a:cs typeface="Calibri" pitchFamily="34" charset="-120"/>
              </a:rPr>
              <a:t>Ecosystem</a:t>
            </a:r>
            <a:endParaRPr lang="en-US" sz="1600" dirty="0"/>
          </a:p>
          <a:p>
            <a:pPr marL="177800" indent="-177800">
              <a:spcAft>
                <a:spcPts val="400"/>
              </a:spcAft>
              <a:buSzPct val="100000"/>
              <a:buChar char="•"/>
            </a:pPr>
            <a:r>
              <a:rPr lang="en-US" sz="1600" dirty="0">
                <a:solidFill>
                  <a:srgbClr val="1F2A24"/>
                </a:solidFill>
                <a:latin typeface="Calibri" pitchFamily="34" charset="0"/>
                <a:ea typeface="Calibri" pitchFamily="34" charset="-122"/>
                <a:cs typeface="Calibri" pitchFamily="34" charset="-120"/>
              </a:rPr>
              <a:t> — Spring Boot, Hibernate, Kafka clients, Maven Central with millions of libraries.</a:t>
            </a:r>
            <a:endParaRPr lang="en-US" sz="1600" dirty="0"/>
          </a:p>
          <a:p>
            <a:pPr marL="177800" indent="-177800">
              <a:spcAft>
                <a:spcPts val="400"/>
              </a:spcAft>
              <a:buSzPct val="100000"/>
              <a:buChar char="•"/>
            </a:pPr>
            <a:r>
              <a:rPr lang="en-US" sz="1600" b="1" dirty="0">
                <a:solidFill>
                  <a:srgbClr val="1F2A24"/>
                </a:solidFill>
                <a:latin typeface="Calibri" pitchFamily="34" charset="0"/>
                <a:ea typeface="Calibri" pitchFamily="34" charset="-122"/>
                <a:cs typeface="Calibri" pitchFamily="34" charset="-120"/>
              </a:rPr>
              <a:t>Predictable releases</a:t>
            </a:r>
            <a:endParaRPr lang="en-US" sz="1600" dirty="0"/>
          </a:p>
          <a:p>
            <a:pPr marL="177800" indent="-177800">
              <a:spcAft>
                <a:spcPts val="400"/>
              </a:spcAft>
              <a:buSzPct val="100000"/>
              <a:buChar char="•"/>
            </a:pPr>
            <a:r>
              <a:rPr lang="en-US" sz="1600" dirty="0">
                <a:solidFill>
                  <a:srgbClr val="1F2A24"/>
                </a:solidFill>
                <a:latin typeface="Calibri" pitchFamily="34" charset="0"/>
                <a:ea typeface="Calibri" pitchFamily="34" charset="-122"/>
                <a:cs typeface="Calibri" pitchFamily="34" charset="-120"/>
              </a:rPr>
              <a:t> — a feature release every 6 months, a Long-Term-Support (LTS) release every 2 years.</a:t>
            </a:r>
            <a:endParaRPr lang="en-US" sz="1600" dirty="0"/>
          </a:p>
        </p:txBody>
      </p:sp>
      <p:sp>
        <p:nvSpPr>
          <p:cNvPr id="8" name="Text 6"/>
          <p:cNvSpPr/>
          <p:nvPr/>
        </p:nvSpPr>
        <p:spPr>
          <a:xfrm>
            <a:off x="5852160" y="1975104"/>
            <a:ext cx="920435" cy="914400"/>
          </a:xfrm>
          <a:prstGeom prst="roundRect">
            <a:avLst>
              <a:gd name="adj" fmla="val 8000"/>
            </a:avLst>
          </a:prstGeom>
          <a:solidFill>
            <a:srgbClr val="EEF4F0"/>
          </a:solidFill>
          <a:ln w="12700">
            <a:solidFill>
              <a:srgbClr val="9FB8A8"/>
            </a:solidFill>
          </a:ln>
        </p:spPr>
        <p:txBody>
          <a:bodyPr wrap="square" rtlCol="0" anchor="ctr"/>
          <a:lstStyle/>
          <a:p>
            <a:pPr algn="ctr" indent="0" marL="0">
              <a:buNone/>
            </a:pPr>
            <a:r>
              <a:rPr lang="en-US" sz="1150" b="1" dirty="0">
                <a:solidFill>
                  <a:srgbClr val="1F2A24"/>
                </a:solidFill>
                <a:latin typeface="Calibri" pitchFamily="34" charset="0"/>
                <a:ea typeface="Calibri" pitchFamily="34" charset="-122"/>
                <a:cs typeface="Calibri" pitchFamily="34" charset="-120"/>
              </a:rPr>
              <a:t>Java 8</a:t>
            </a:r>
            <a:endParaRPr lang="en-US" sz="1150" dirty="0"/>
          </a:p>
          <a:p>
            <a:pPr algn="ctr" indent="0" marL="0">
              <a:buNone/>
            </a:pPr>
            <a:r>
              <a:rPr lang="en-US" sz="900" dirty="0">
                <a:solidFill>
                  <a:srgbClr val="5B6B60"/>
                </a:solidFill>
                <a:latin typeface="Calibri" pitchFamily="34" charset="0"/>
                <a:ea typeface="Calibri" pitchFamily="34" charset="-122"/>
                <a:cs typeface="Calibri" pitchFamily="34" charset="-120"/>
              </a:rPr>
              <a:t>2014 · lambdas, streams</a:t>
            </a:r>
            <a:endParaRPr lang="en-US" sz="1150" dirty="0"/>
          </a:p>
        </p:txBody>
      </p:sp>
      <p:sp>
        <p:nvSpPr>
          <p:cNvPr id="9" name="Shape 7"/>
          <p:cNvSpPr/>
          <p:nvPr/>
        </p:nvSpPr>
        <p:spPr>
          <a:xfrm>
            <a:off x="6772595" y="2432304"/>
            <a:ext cx="320040" cy="0"/>
          </a:xfrm>
          <a:prstGeom prst="line">
            <a:avLst/>
          </a:prstGeom>
          <a:noFill/>
          <a:ln w="15875">
            <a:solidFill>
              <a:srgbClr val="6F8276"/>
            </a:solidFill>
            <a:prstDash val="solid"/>
            <a:tailEnd type="triangle"/>
          </a:ln>
        </p:spPr>
      </p:sp>
      <p:sp>
        <p:nvSpPr>
          <p:cNvPr id="10" name="Text 8"/>
          <p:cNvSpPr/>
          <p:nvPr/>
        </p:nvSpPr>
        <p:spPr>
          <a:xfrm>
            <a:off x="7092635" y="1975104"/>
            <a:ext cx="920435" cy="914400"/>
          </a:xfrm>
          <a:prstGeom prst="roundRect">
            <a:avLst>
              <a:gd name="adj" fmla="val 8000"/>
            </a:avLst>
          </a:prstGeom>
          <a:solidFill>
            <a:srgbClr val="EEF4F0"/>
          </a:solidFill>
          <a:ln w="12700">
            <a:solidFill>
              <a:srgbClr val="9FB8A8"/>
            </a:solidFill>
          </a:ln>
        </p:spPr>
        <p:txBody>
          <a:bodyPr wrap="square" rtlCol="0" anchor="ctr"/>
          <a:lstStyle/>
          <a:p>
            <a:pPr algn="ctr" indent="0" marL="0">
              <a:buNone/>
            </a:pPr>
            <a:r>
              <a:rPr lang="en-US" sz="1150" b="1" dirty="0">
                <a:solidFill>
                  <a:srgbClr val="1F2A24"/>
                </a:solidFill>
                <a:latin typeface="Calibri" pitchFamily="34" charset="0"/>
                <a:ea typeface="Calibri" pitchFamily="34" charset="-122"/>
                <a:cs typeface="Calibri" pitchFamily="34" charset="-120"/>
              </a:rPr>
              <a:t>Java 11</a:t>
            </a:r>
            <a:endParaRPr lang="en-US" sz="1150" dirty="0"/>
          </a:p>
          <a:p>
            <a:pPr algn="ctr" indent="0" marL="0">
              <a:buNone/>
            </a:pPr>
            <a:r>
              <a:rPr lang="en-US" sz="900" dirty="0">
                <a:solidFill>
                  <a:srgbClr val="5B6B60"/>
                </a:solidFill>
                <a:latin typeface="Calibri" pitchFamily="34" charset="0"/>
                <a:ea typeface="Calibri" pitchFamily="34" charset="-122"/>
                <a:cs typeface="Calibri" pitchFamily="34" charset="-120"/>
              </a:rPr>
              <a:t>2018 · HttpClient</a:t>
            </a:r>
            <a:endParaRPr lang="en-US" sz="1150" dirty="0"/>
          </a:p>
        </p:txBody>
      </p:sp>
      <p:sp>
        <p:nvSpPr>
          <p:cNvPr id="11" name="Shape 9"/>
          <p:cNvSpPr/>
          <p:nvPr/>
        </p:nvSpPr>
        <p:spPr>
          <a:xfrm>
            <a:off x="8013070" y="2432304"/>
            <a:ext cx="320040" cy="0"/>
          </a:xfrm>
          <a:prstGeom prst="line">
            <a:avLst/>
          </a:prstGeom>
          <a:noFill/>
          <a:ln w="15875">
            <a:solidFill>
              <a:srgbClr val="6F8276"/>
            </a:solidFill>
            <a:prstDash val="solid"/>
            <a:tailEnd type="triangle"/>
          </a:ln>
        </p:spPr>
      </p:sp>
      <p:sp>
        <p:nvSpPr>
          <p:cNvPr id="12" name="Text 10"/>
          <p:cNvSpPr/>
          <p:nvPr/>
        </p:nvSpPr>
        <p:spPr>
          <a:xfrm>
            <a:off x="8333110" y="1975104"/>
            <a:ext cx="920435" cy="914400"/>
          </a:xfrm>
          <a:prstGeom prst="roundRect">
            <a:avLst>
              <a:gd name="adj" fmla="val 8000"/>
            </a:avLst>
          </a:prstGeom>
          <a:solidFill>
            <a:srgbClr val="EEF4F0"/>
          </a:solidFill>
          <a:ln w="12700">
            <a:solidFill>
              <a:srgbClr val="9FB8A8"/>
            </a:solidFill>
          </a:ln>
        </p:spPr>
        <p:txBody>
          <a:bodyPr wrap="square" rtlCol="0" anchor="ctr"/>
          <a:lstStyle/>
          <a:p>
            <a:pPr algn="ctr" indent="0" marL="0">
              <a:buNone/>
            </a:pPr>
            <a:r>
              <a:rPr lang="en-US" sz="1150" b="1" dirty="0">
                <a:solidFill>
                  <a:srgbClr val="1F2A24"/>
                </a:solidFill>
                <a:latin typeface="Calibri" pitchFamily="34" charset="0"/>
                <a:ea typeface="Calibri" pitchFamily="34" charset="-122"/>
                <a:cs typeface="Calibri" pitchFamily="34" charset="-120"/>
              </a:rPr>
              <a:t>Java 17</a:t>
            </a:r>
            <a:endParaRPr lang="en-US" sz="1150" dirty="0"/>
          </a:p>
          <a:p>
            <a:pPr algn="ctr" indent="0" marL="0">
              <a:buNone/>
            </a:pPr>
            <a:r>
              <a:rPr lang="en-US" sz="900" dirty="0">
                <a:solidFill>
                  <a:srgbClr val="5B6B60"/>
                </a:solidFill>
                <a:latin typeface="Calibri" pitchFamily="34" charset="0"/>
                <a:ea typeface="Calibri" pitchFamily="34" charset="-122"/>
                <a:cs typeface="Calibri" pitchFamily="34" charset="-120"/>
              </a:rPr>
              <a:t>2021 · records, sealed</a:t>
            </a:r>
            <a:endParaRPr lang="en-US" sz="1150" dirty="0"/>
          </a:p>
        </p:txBody>
      </p:sp>
      <p:sp>
        <p:nvSpPr>
          <p:cNvPr id="13" name="Shape 11"/>
          <p:cNvSpPr/>
          <p:nvPr/>
        </p:nvSpPr>
        <p:spPr>
          <a:xfrm>
            <a:off x="9253545" y="2432304"/>
            <a:ext cx="320040" cy="0"/>
          </a:xfrm>
          <a:prstGeom prst="line">
            <a:avLst/>
          </a:prstGeom>
          <a:noFill/>
          <a:ln w="15875">
            <a:solidFill>
              <a:srgbClr val="6F8276"/>
            </a:solidFill>
            <a:prstDash val="solid"/>
            <a:tailEnd type="triangle"/>
          </a:ln>
        </p:spPr>
      </p:sp>
      <p:sp>
        <p:nvSpPr>
          <p:cNvPr id="14" name="Text 12"/>
          <p:cNvSpPr/>
          <p:nvPr/>
        </p:nvSpPr>
        <p:spPr>
          <a:xfrm>
            <a:off x="9573585" y="1975104"/>
            <a:ext cx="920435" cy="914400"/>
          </a:xfrm>
          <a:prstGeom prst="roundRect">
            <a:avLst>
              <a:gd name="adj" fmla="val 8000"/>
            </a:avLst>
          </a:prstGeom>
          <a:solidFill>
            <a:srgbClr val="EEF4F0"/>
          </a:solidFill>
          <a:ln w="12700">
            <a:solidFill>
              <a:srgbClr val="9FB8A8"/>
            </a:solidFill>
          </a:ln>
        </p:spPr>
        <p:txBody>
          <a:bodyPr wrap="square" rtlCol="0" anchor="ctr"/>
          <a:lstStyle/>
          <a:p>
            <a:pPr algn="ctr" indent="0" marL="0">
              <a:buNone/>
            </a:pPr>
            <a:r>
              <a:rPr lang="en-US" sz="1150" b="1" dirty="0">
                <a:solidFill>
                  <a:srgbClr val="1F2A24"/>
                </a:solidFill>
                <a:latin typeface="Calibri" pitchFamily="34" charset="0"/>
                <a:ea typeface="Calibri" pitchFamily="34" charset="-122"/>
                <a:cs typeface="Calibri" pitchFamily="34" charset="-120"/>
              </a:rPr>
              <a:t>Java 21</a:t>
            </a:r>
            <a:endParaRPr lang="en-US" sz="1150" dirty="0"/>
          </a:p>
          <a:p>
            <a:pPr algn="ctr" indent="0" marL="0">
              <a:buNone/>
            </a:pPr>
            <a:r>
              <a:rPr lang="en-US" sz="900" dirty="0">
                <a:solidFill>
                  <a:srgbClr val="5B6B60"/>
                </a:solidFill>
                <a:latin typeface="Calibri" pitchFamily="34" charset="0"/>
                <a:ea typeface="Calibri" pitchFamily="34" charset="-122"/>
                <a:cs typeface="Calibri" pitchFamily="34" charset="-120"/>
              </a:rPr>
              <a:t>2023 · virtual threads</a:t>
            </a:r>
            <a:endParaRPr lang="en-US" sz="1150" dirty="0"/>
          </a:p>
        </p:txBody>
      </p:sp>
      <p:sp>
        <p:nvSpPr>
          <p:cNvPr id="15" name="Shape 13"/>
          <p:cNvSpPr/>
          <p:nvPr/>
        </p:nvSpPr>
        <p:spPr>
          <a:xfrm>
            <a:off x="10494020" y="2432304"/>
            <a:ext cx="320040" cy="0"/>
          </a:xfrm>
          <a:prstGeom prst="line">
            <a:avLst/>
          </a:prstGeom>
          <a:noFill/>
          <a:ln w="15875">
            <a:solidFill>
              <a:srgbClr val="6F8276"/>
            </a:solidFill>
            <a:prstDash val="solid"/>
            <a:tailEnd type="triangle"/>
          </a:ln>
        </p:spPr>
      </p:sp>
      <p:sp>
        <p:nvSpPr>
          <p:cNvPr id="16" name="Text 14"/>
          <p:cNvSpPr/>
          <p:nvPr/>
        </p:nvSpPr>
        <p:spPr>
          <a:xfrm>
            <a:off x="10814060" y="1975104"/>
            <a:ext cx="920435" cy="914400"/>
          </a:xfrm>
          <a:prstGeom prst="roundRect">
            <a:avLst>
              <a:gd name="adj" fmla="val 8000"/>
            </a:avLst>
          </a:prstGeom>
          <a:solidFill>
            <a:srgbClr val="EEF4F0"/>
          </a:solidFill>
          <a:ln w="12700">
            <a:solidFill>
              <a:srgbClr val="9FB8A8"/>
            </a:solidFill>
          </a:ln>
        </p:spPr>
        <p:txBody>
          <a:bodyPr wrap="square" rtlCol="0" anchor="ctr"/>
          <a:lstStyle/>
          <a:p>
            <a:pPr algn="ctr" indent="0" marL="0">
              <a:buNone/>
            </a:pPr>
            <a:r>
              <a:rPr lang="en-US" sz="1150" b="1" dirty="0">
                <a:solidFill>
                  <a:srgbClr val="1F2A24"/>
                </a:solidFill>
                <a:latin typeface="Calibri" pitchFamily="34" charset="0"/>
                <a:ea typeface="Calibri" pitchFamily="34" charset="-122"/>
                <a:cs typeface="Calibri" pitchFamily="34" charset="-120"/>
              </a:rPr>
              <a:t>Java 25</a:t>
            </a:r>
            <a:endParaRPr lang="en-US" sz="1150" dirty="0"/>
          </a:p>
          <a:p>
            <a:pPr algn="ctr" indent="0" marL="0">
              <a:buNone/>
            </a:pPr>
            <a:r>
              <a:rPr lang="en-US" sz="900" dirty="0">
                <a:solidFill>
                  <a:srgbClr val="5B6B60"/>
                </a:solidFill>
                <a:latin typeface="Calibri" pitchFamily="34" charset="0"/>
                <a:ea typeface="Calibri" pitchFamily="34" charset="-122"/>
                <a:cs typeface="Calibri" pitchFamily="34" charset="-120"/>
              </a:rPr>
              <a:t>2025 · newest LTS</a:t>
            </a:r>
            <a:endParaRPr lang="en-US" sz="1150" dirty="0"/>
          </a:p>
        </p:txBody>
      </p:sp>
      <p:sp>
        <p:nvSpPr>
          <p:cNvPr id="17" name="Text 15"/>
          <p:cNvSpPr/>
          <p:nvPr/>
        </p:nvSpPr>
        <p:spPr>
          <a:xfrm>
            <a:off x="457200" y="5806440"/>
            <a:ext cx="11277295" cy="530352"/>
          </a:xfrm>
          <a:prstGeom prst="rect">
            <a:avLst/>
          </a:prstGeom>
          <a:solidFill>
            <a:srgbClr val="FFF8E1"/>
          </a:solidFill>
          <a:ln w="9525">
            <a:solidFill>
              <a:srgbClr val="E9C46A"/>
            </a:solidFill>
          </a:ln>
        </p:spPr>
        <p:txBody>
          <a:bodyPr wrap="square" lIns="1016" tIns="1016" rIns="1016" bIns="1016" rtlCol="0" anchor="ctr"/>
          <a:lstStyle/>
          <a:p>
            <a:pPr indent="0" marL="0">
              <a:buNone/>
            </a:pPr>
            <a:r>
              <a:rPr lang="en-US" sz="1100" b="1" dirty="0">
                <a:solidFill>
                  <a:srgbClr val="1F2A24"/>
                </a:solidFill>
                <a:latin typeface="Calibri" pitchFamily="34" charset="0"/>
                <a:ea typeface="Calibri" pitchFamily="34" charset="-122"/>
                <a:cs typeface="Calibri" pitchFamily="34" charset="-120"/>
              </a:rPr>
              <a:t>VERSION: </a:t>
            </a:r>
            <a:pPr indent="0" marL="0">
              <a:buNone/>
            </a:pPr>
            <a:r>
              <a:rPr lang="en-US" sz="1100" dirty="0">
                <a:solidFill>
                  <a:srgbClr val="1F2A24"/>
                </a:solidFill>
                <a:latin typeface="Calibri" pitchFamily="34" charset="0"/>
                <a:ea typeface="Calibri" pitchFamily="34" charset="-122"/>
                <a:cs typeface="Calibri" pitchFamily="34" charset="-120"/>
              </a:rPr>
              <a:t>Examples target </a:t>
            </a:r>
            <a:pPr indent="0" marL="0">
              <a:buNone/>
            </a:pPr>
            <a:r>
              <a:rPr lang="en-US" sz="1100" b="1" dirty="0">
                <a:solidFill>
                  <a:srgbClr val="1F2A24"/>
                </a:solidFill>
                <a:latin typeface="Calibri" pitchFamily="34" charset="0"/>
                <a:ea typeface="Calibri" pitchFamily="34" charset="-122"/>
                <a:cs typeface="Calibri" pitchFamily="34" charset="-120"/>
              </a:rPr>
              <a:t>Java 21 LTS</a:t>
            </a:r>
            <a:pPr indent="0" marL="0">
              <a:buNone/>
            </a:pPr>
            <a:r>
              <a:rPr lang="en-US" sz="1100" dirty="0">
                <a:solidFill>
                  <a:srgbClr val="1F2A24"/>
                </a:solidFill>
                <a:latin typeface="Calibri" pitchFamily="34" charset="0"/>
                <a:ea typeface="Calibri" pitchFamily="34" charset="-122"/>
                <a:cs typeface="Calibri" pitchFamily="34" charset="-120"/>
              </a:rPr>
              <a:t> and also run on </a:t>
            </a:r>
            <a:pPr indent="0" marL="0">
              <a:buNone/>
            </a:pPr>
            <a:r>
              <a:rPr lang="en-US" sz="1100" b="1" dirty="0">
                <a:solidFill>
                  <a:srgbClr val="1F2A24"/>
                </a:solidFill>
                <a:latin typeface="Calibri" pitchFamily="34" charset="0"/>
                <a:ea typeface="Calibri" pitchFamily="34" charset="-122"/>
                <a:cs typeface="Calibri" pitchFamily="34" charset="-120"/>
              </a:rPr>
              <a:t>Java 25 LTS</a:t>
            </a:r>
            <a:pPr indent="0" marL="0">
              <a:buNone/>
            </a:pPr>
            <a:r>
              <a:rPr lang="en-US" sz="1100" dirty="0">
                <a:solidFill>
                  <a:srgbClr val="1F2A24"/>
                </a:solidFill>
                <a:latin typeface="Calibri" pitchFamily="34" charset="0"/>
                <a:ea typeface="Calibri" pitchFamily="34" charset="-122"/>
                <a:cs typeface="Calibri" pitchFamily="34" charset="-120"/>
              </a:rPr>
              <a:t>. Spring Boot 4 (used from Session 7) needs Java 17 or newer.</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C9C43D"/>
          </a:solidFill>
          <a:ln w="12700">
            <a:solidFill>
              <a:srgbClr val="C9C43D"/>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From source code to running program</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Java is compiled </a:t>
            </a:r>
            <a:pPr indent="0" marL="0">
              <a:buNone/>
            </a:pPr>
            <a:r>
              <a:rPr lang="en-US" sz="1350" i="1" dirty="0">
                <a:solidFill>
                  <a:srgbClr val="5B6B60"/>
                </a:solidFill>
                <a:latin typeface="Calibri" pitchFamily="34" charset="0"/>
                <a:ea typeface="Calibri" pitchFamily="34" charset="-122"/>
                <a:cs typeface="Calibri" pitchFamily="34" charset="-120"/>
              </a:rPr>
              <a:t>and</a:t>
            </a:r>
            <a:pPr indent="0" marL="0">
              <a:buNone/>
            </a:pPr>
            <a:r>
              <a:rPr lang="en-US" sz="1350" dirty="0">
                <a:solidFill>
                  <a:srgbClr val="5B6B60"/>
                </a:solidFill>
                <a:latin typeface="Calibri" pitchFamily="34" charset="0"/>
                <a:ea typeface="Calibri" pitchFamily="34" charset="-122"/>
                <a:cs typeface="Calibri" pitchFamily="34" charset="-120"/>
              </a:rPr>
              <a:t> interpreted: </a:t>
            </a:r>
            <a:pPr indent="0" marL="0">
              <a:buNone/>
            </a:pPr>
            <a:r>
              <a:rPr lang="en-US" sz="1350" dirty="0">
                <a:solidFill>
                  <a:srgbClr val="B4235A"/>
                </a:solidFill>
                <a:latin typeface="Consolas" pitchFamily="34" charset="0"/>
                <a:ea typeface="Consolas" pitchFamily="34" charset="-122"/>
                <a:cs typeface="Consolas" pitchFamily="34" charset="-120"/>
              </a:rPr>
              <a:t>javac</a:t>
            </a:r>
            <a:pPr indent="0" marL="0">
              <a:buNone/>
            </a:pPr>
            <a:r>
              <a:rPr lang="en-US" sz="1350" dirty="0">
                <a:solidFill>
                  <a:srgbClr val="5B6B60"/>
                </a:solidFill>
                <a:latin typeface="Calibri" pitchFamily="34" charset="0"/>
                <a:ea typeface="Calibri" pitchFamily="34" charset="-122"/>
                <a:cs typeface="Calibri" pitchFamily="34" charset="-120"/>
              </a:rPr>
              <a:t> produces bytecode once, and the JVM on each platform executes it.</a:t>
            </a:r>
            <a:endParaRPr lang="en-US" sz="1350" dirty="0"/>
          </a:p>
        </p:txBody>
      </p:sp>
      <p:sp>
        <p:nvSpPr>
          <p:cNvPr id="7" name="Text 5"/>
          <p:cNvSpPr/>
          <p:nvPr/>
        </p:nvSpPr>
        <p:spPr>
          <a:xfrm>
            <a:off x="457200" y="1883664"/>
            <a:ext cx="5120640" cy="4471416"/>
          </a:xfrm>
          <a:prstGeom prst="rect">
            <a:avLst/>
          </a:prstGeom>
          <a:noFill/>
          <a:ln/>
        </p:spPr>
        <p:txBody>
          <a:bodyPr wrap="square" rtlCol="0" anchor="t"/>
          <a:lstStyle/>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javac</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checks types and compiles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Hello.java</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into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bytecode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Hello.class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 not machine code.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The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class loader</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loads the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.class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file; the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bytecode verifier</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checks it is safe.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The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interpreter</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starts executing immediately; the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JIT compiler</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compiles </a:t>
            </a:r>
            <a:endParaRPr lang="en-US" sz="1700" dirty="0"/>
          </a:p>
          <a:p>
            <a:pPr marL="177800" indent="-177800">
              <a:spcAft>
                <a:spcPts val="400"/>
              </a:spcAft>
              <a:buSzPct val="100000"/>
              <a:buChar char="•"/>
            </a:pPr>
            <a:r>
              <a:rPr lang="en-US" sz="1700" i="1" dirty="0">
                <a:solidFill>
                  <a:srgbClr val="1F2A24"/>
                </a:solidFill>
                <a:latin typeface="Calibri" pitchFamily="34" charset="0"/>
                <a:ea typeface="Calibri" pitchFamily="34" charset="-122"/>
                <a:cs typeface="Calibri" pitchFamily="34" charset="-120"/>
              </a:rPr>
              <a:t>hot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methods to native code.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The same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.class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file runs on Windows, Linux and macOS — only the JVM differs.</a:t>
            </a:r>
            <a:endParaRPr lang="en-US" sz="1700" dirty="0"/>
          </a:p>
        </p:txBody>
      </p:sp>
      <p:sp>
        <p:nvSpPr>
          <p:cNvPr id="8" name="Text 6"/>
          <p:cNvSpPr/>
          <p:nvPr/>
        </p:nvSpPr>
        <p:spPr>
          <a:xfrm>
            <a:off x="5852160" y="1883664"/>
            <a:ext cx="588233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Hello.java  (+1 more in the web notes)</a:t>
            </a:r>
            <a:endParaRPr lang="en-US" sz="900" dirty="0"/>
          </a:p>
        </p:txBody>
      </p:sp>
      <p:sp>
        <p:nvSpPr>
          <p:cNvPr id="9" name="Text 7"/>
          <p:cNvSpPr/>
          <p:nvPr/>
        </p:nvSpPr>
        <p:spPr>
          <a:xfrm>
            <a:off x="5852160" y="2157984"/>
            <a:ext cx="5882335" cy="419709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public class Hello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public static void main(String[] args)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System.out.println("Hello, JVM!");</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C9C43D"/>
          </a:solidFill>
          <a:ln w="12700">
            <a:solidFill>
              <a:srgbClr val="C9C43D"/>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JDK vs JRE vs JVM</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Three nested layers: you </a:t>
            </a:r>
            <a:pPr indent="0" marL="0">
              <a:buNone/>
            </a:pPr>
            <a:r>
              <a:rPr lang="en-US" sz="1350" b="1" dirty="0">
                <a:solidFill>
                  <a:srgbClr val="5B6B60"/>
                </a:solidFill>
                <a:latin typeface="Calibri" pitchFamily="34" charset="0"/>
                <a:ea typeface="Calibri" pitchFamily="34" charset="-122"/>
                <a:cs typeface="Calibri" pitchFamily="34" charset="-120"/>
              </a:rPr>
              <a:t>develop</a:t>
            </a:r>
            <a:pPr indent="0" marL="0">
              <a:buNone/>
            </a:pPr>
            <a:r>
              <a:rPr lang="en-US" sz="1350" dirty="0">
                <a:solidFill>
                  <a:srgbClr val="5B6B60"/>
                </a:solidFill>
                <a:latin typeface="Calibri" pitchFamily="34" charset="0"/>
                <a:ea typeface="Calibri" pitchFamily="34" charset="-122"/>
                <a:cs typeface="Calibri" pitchFamily="34" charset="-120"/>
              </a:rPr>
              <a:t> with the JDK, you </a:t>
            </a:r>
            <a:pPr indent="0" marL="0">
              <a:buNone/>
            </a:pPr>
            <a:r>
              <a:rPr lang="en-US" sz="1350" b="1" dirty="0">
                <a:solidFill>
                  <a:srgbClr val="5B6B60"/>
                </a:solidFill>
                <a:latin typeface="Calibri" pitchFamily="34" charset="0"/>
                <a:ea typeface="Calibri" pitchFamily="34" charset="-122"/>
                <a:cs typeface="Calibri" pitchFamily="34" charset="-120"/>
              </a:rPr>
              <a:t>run</a:t>
            </a:r>
            <a:pPr indent="0" marL="0">
              <a:buNone/>
            </a:pPr>
            <a:r>
              <a:rPr lang="en-US" sz="1350" dirty="0">
                <a:solidFill>
                  <a:srgbClr val="5B6B60"/>
                </a:solidFill>
                <a:latin typeface="Calibri" pitchFamily="34" charset="0"/>
                <a:ea typeface="Calibri" pitchFamily="34" charset="-122"/>
                <a:cs typeface="Calibri" pitchFamily="34" charset="-120"/>
              </a:rPr>
              <a:t> with a runtime, and the JVM </a:t>
            </a:r>
            <a:pPr indent="0" marL="0">
              <a:buNone/>
            </a:pPr>
            <a:r>
              <a:rPr lang="en-US" sz="1350" b="1" dirty="0">
                <a:solidFill>
                  <a:srgbClr val="5B6B60"/>
                </a:solidFill>
                <a:latin typeface="Calibri" pitchFamily="34" charset="0"/>
                <a:ea typeface="Calibri" pitchFamily="34" charset="-122"/>
                <a:cs typeface="Calibri" pitchFamily="34" charset="-120"/>
              </a:rPr>
              <a:t>executes</a:t>
            </a:r>
            <a:pPr indent="0" marL="0">
              <a:buNone/>
            </a:pPr>
            <a:r>
              <a:rPr lang="en-US" sz="1350" dirty="0">
                <a:solidFill>
                  <a:srgbClr val="5B6B60"/>
                </a:solidFill>
                <a:latin typeface="Calibri" pitchFamily="34" charset="0"/>
                <a:ea typeface="Calibri" pitchFamily="34" charset="-122"/>
                <a:cs typeface="Calibri" pitchFamily="34" charset="-120"/>
              </a:rPr>
              <a:t> bytecode.</a:t>
            </a:r>
            <a:endParaRPr lang="en-US" sz="1350" dirty="0"/>
          </a:p>
        </p:txBody>
      </p:sp>
      <p:sp>
        <p:nvSpPr>
          <p:cNvPr id="7" name="Text 5"/>
          <p:cNvSpPr/>
          <p:nvPr/>
        </p:nvSpPr>
        <p:spPr>
          <a:xfrm>
            <a:off x="457200" y="1883664"/>
            <a:ext cx="11277295" cy="2139696"/>
          </a:xfrm>
          <a:prstGeom prst="rect">
            <a:avLst/>
          </a:prstGeom>
          <a:solidFill>
            <a:srgbClr val="F7F9F8"/>
          </a:solidFill>
          <a:ln w="9525">
            <a:solidFill>
              <a:srgbClr val="D5DDD7"/>
            </a:solidFill>
          </a:ln>
        </p:spPr>
        <p:txBody>
          <a:bodyPr wrap="square" lIns="1524" tIns="1524" rIns="1524" bIns="1524" rtlCol="0" anchor="t"/>
          <a:lstStyle/>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JDK — Java Development Kit: everything to build Java apps [javac, java, jar, jshell, javadoc, jdb, jcmd, jlink]</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JRE — Java Runtime Environment: what is needed to run [java.base, java.sql, java.net.http, java.logging, + the JVM]</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JVM — Java Virtual Machine: executes bytecode [Class loader, Runtime data areas, Execution engine (interpreter, JIT, GC)]</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4069080"/>
          <a:ext cx="11277295" cy="914400"/>
        </p:xfrm>
        <a:graphic>
          <a:graphicData uri="http://schemas.openxmlformats.org/drawingml/2006/table">
            <a:tbl>
              <a:tblPr/>
              <a:tblGrid>
                <a:gridCol w="3759098"/>
                <a:gridCol w="3759098"/>
                <a:gridCol w="3759098"/>
              </a:tblGrid>
              <a:tr h="384048">
                <a:tc>
                  <a:txBody>
                    <a:bodyPr/>
                    <a:lstStyle/>
                    <a:p>
                      <a:pPr indent="0" marL="0">
                        <a:buNone/>
                      </a:pP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Contains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Who uses it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r>
              <a:tr h="384048">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JDK</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Compiler + tools + runtime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Developers, CI build servers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384048">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JRE / runtime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Class libraries + JVM</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Production servers, Docker images (eclipse-temurin:21-jre)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384048">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JVM</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The engine that runs bytecode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Everyone — it is inside both</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bl>
          </a:graphicData>
        </a:graphic>
      </p:graphicFrame>
      <p:sp>
        <p:nvSpPr>
          <p:cNvPr id="9" name="Text 6"/>
          <p:cNvSpPr/>
          <p:nvPr/>
        </p:nvSpPr>
        <p:spPr>
          <a:xfrm>
            <a:off x="457200" y="5806440"/>
            <a:ext cx="11277295" cy="530352"/>
          </a:xfrm>
          <a:prstGeom prst="rect">
            <a:avLst/>
          </a:prstGeom>
          <a:solidFill>
            <a:srgbClr val="FFF8E1"/>
          </a:solidFill>
          <a:ln w="9525">
            <a:solidFill>
              <a:srgbClr val="E9C46A"/>
            </a:solidFill>
          </a:ln>
        </p:spPr>
        <p:txBody>
          <a:bodyPr wrap="square" lIns="1016" tIns="1016" rIns="1016" bIns="1016" rtlCol="0" anchor="ctr"/>
          <a:lstStyle/>
          <a:p>
            <a:pPr indent="0" marL="0">
              <a:buNone/>
            </a:pPr>
            <a:r>
              <a:rPr lang="en-US" sz="1100" b="1" dirty="0">
                <a:solidFill>
                  <a:srgbClr val="1F2A24"/>
                </a:solidFill>
                <a:latin typeface="Calibri" pitchFamily="34" charset="0"/>
                <a:ea typeface="Calibri" pitchFamily="34" charset="-122"/>
                <a:cs typeface="Calibri" pitchFamily="34" charset="-120"/>
              </a:rPr>
              <a:t>INFO: </a:t>
            </a:r>
            <a:pPr indent="0" marL="0">
              <a:buNone/>
            </a:pPr>
            <a:r>
              <a:rPr lang="en-US" sz="1100" dirty="0">
                <a:solidFill>
                  <a:srgbClr val="1F2A24"/>
                </a:solidFill>
                <a:latin typeface="Calibri" pitchFamily="34" charset="0"/>
                <a:ea typeface="Calibri" pitchFamily="34" charset="-122"/>
                <a:cs typeface="Calibri" pitchFamily="34" charset="-120"/>
              </a:rPr>
              <a:t>Since Java 11 there is no separate JRE download from OpenJDK; use </a:t>
            </a:r>
            <a:pPr indent="0" marL="0">
              <a:buNone/>
            </a:pPr>
            <a:r>
              <a:rPr lang="en-US" sz="1100" dirty="0">
                <a:solidFill>
                  <a:srgbClr val="B4235A"/>
                </a:solidFill>
                <a:latin typeface="Consolas" pitchFamily="34" charset="0"/>
                <a:ea typeface="Consolas" pitchFamily="34" charset="-122"/>
                <a:cs typeface="Consolas" pitchFamily="34" charset="-120"/>
              </a:rPr>
              <a:t>jlink</a:t>
            </a:r>
            <a:pPr indent="0" marL="0">
              <a:buNone/>
            </a:pPr>
            <a:r>
              <a:rPr lang="en-US" sz="1100" dirty="0">
                <a:solidFill>
                  <a:srgbClr val="1F2A24"/>
                </a:solidFill>
                <a:latin typeface="Calibri" pitchFamily="34" charset="0"/>
                <a:ea typeface="Calibri" pitchFamily="34" charset="-122"/>
                <a:cs typeface="Calibri" pitchFamily="34" charset="-120"/>
              </a:rPr>
              <a:t> to build a trimmed runtime, or a vendor JRE image. </a:t>
            </a:r>
            <a:pPr indent="0" marL="0">
              <a:buNone/>
            </a:pPr>
            <a:r>
              <a:rPr lang="en-US" sz="1100" i="1" dirty="0">
                <a:solidFill>
                  <a:srgbClr val="1F2A24"/>
                </a:solidFill>
                <a:latin typeface="Calibri" pitchFamily="34" charset="0"/>
                <a:ea typeface="Calibri" pitchFamily="34" charset="-122"/>
                <a:cs typeface="Calibri" pitchFamily="34" charset="-120"/>
              </a:rPr>
              <a:t>HotSpot</a:t>
            </a:r>
            <a:pPr indent="0" marL="0">
              <a:buNone/>
            </a:pPr>
            <a:r>
              <a:rPr lang="en-US" sz="1100" dirty="0">
                <a:solidFill>
                  <a:srgbClr val="1F2A24"/>
                </a:solidFill>
                <a:latin typeface="Calibri" pitchFamily="34" charset="0"/>
                <a:ea typeface="Calibri" pitchFamily="34" charset="-122"/>
                <a:cs typeface="Calibri" pitchFamily="34" charset="-120"/>
              </a:rPr>
              <a:t> is the JVM implementation inside OpenJDK builds such as Temurin, Corretto and Oracle JDK.</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C9C43D"/>
          </a:solidFill>
          <a:ln w="12700">
            <a:solidFill>
              <a:srgbClr val="C9C43D"/>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Inside the JVM: architecture</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The JVM has three subsystems: it </a:t>
            </a:r>
            <a:pPr indent="0" marL="0">
              <a:buNone/>
            </a:pPr>
            <a:r>
              <a:rPr lang="en-US" sz="1350" b="1" dirty="0">
                <a:solidFill>
                  <a:srgbClr val="5B6B60"/>
                </a:solidFill>
                <a:latin typeface="Calibri" pitchFamily="34" charset="0"/>
                <a:ea typeface="Calibri" pitchFamily="34" charset="-122"/>
                <a:cs typeface="Calibri" pitchFamily="34" charset="-120"/>
              </a:rPr>
              <a:t>loads</a:t>
            </a:r>
            <a:pPr indent="0" marL="0">
              <a:buNone/>
            </a:pPr>
            <a:r>
              <a:rPr lang="en-US" sz="1350" dirty="0">
                <a:solidFill>
                  <a:srgbClr val="5B6B60"/>
                </a:solidFill>
                <a:latin typeface="Calibri" pitchFamily="34" charset="0"/>
                <a:ea typeface="Calibri" pitchFamily="34" charset="-122"/>
                <a:cs typeface="Calibri" pitchFamily="34" charset="-120"/>
              </a:rPr>
              <a:t> classes, keeps them in </a:t>
            </a:r>
            <a:pPr indent="0" marL="0">
              <a:buNone/>
            </a:pPr>
            <a:r>
              <a:rPr lang="en-US" sz="1350" b="1" dirty="0">
                <a:solidFill>
                  <a:srgbClr val="5B6B60"/>
                </a:solidFill>
                <a:latin typeface="Calibri" pitchFamily="34" charset="0"/>
                <a:ea typeface="Calibri" pitchFamily="34" charset="-122"/>
                <a:cs typeface="Calibri" pitchFamily="34" charset="-120"/>
              </a:rPr>
              <a:t>runtime data areas</a:t>
            </a:r>
            <a:pPr indent="0" marL="0">
              <a:buNone/>
            </a:pPr>
            <a:r>
              <a:rPr lang="en-US" sz="1350" dirty="0">
                <a:solidFill>
                  <a:srgbClr val="5B6B60"/>
                </a:solidFill>
                <a:latin typeface="Calibri" pitchFamily="34" charset="0"/>
                <a:ea typeface="Calibri" pitchFamily="34" charset="-122"/>
                <a:cs typeface="Calibri" pitchFamily="34" charset="-120"/>
              </a:rPr>
              <a:t>, and </a:t>
            </a:r>
            <a:pPr indent="0" marL="0">
              <a:buNone/>
            </a:pPr>
            <a:r>
              <a:rPr lang="en-US" sz="1350" b="1" dirty="0">
                <a:solidFill>
                  <a:srgbClr val="5B6B60"/>
                </a:solidFill>
                <a:latin typeface="Calibri" pitchFamily="34" charset="0"/>
                <a:ea typeface="Calibri" pitchFamily="34" charset="-122"/>
                <a:cs typeface="Calibri" pitchFamily="34" charset="-120"/>
              </a:rPr>
              <a:t>executes</a:t>
            </a:r>
            <a:pPr indent="0" marL="0">
              <a:buNone/>
            </a:pPr>
            <a:r>
              <a:rPr lang="en-US" sz="1350" dirty="0">
                <a:solidFill>
                  <a:srgbClr val="5B6B60"/>
                </a:solidFill>
                <a:latin typeface="Calibri" pitchFamily="34" charset="0"/>
                <a:ea typeface="Calibri" pitchFamily="34" charset="-122"/>
                <a:cs typeface="Calibri" pitchFamily="34" charset="-120"/>
              </a:rPr>
              <a:t> them.</a:t>
            </a:r>
            <a:endParaRPr lang="en-US" sz="1350" dirty="0"/>
          </a:p>
        </p:txBody>
      </p:sp>
      <p:sp>
        <p:nvSpPr>
          <p:cNvPr id="7" name="Text 5"/>
          <p:cNvSpPr/>
          <p:nvPr/>
        </p:nvSpPr>
        <p:spPr>
          <a:xfrm>
            <a:off x="457200" y="1883664"/>
            <a:ext cx="5120640" cy="4471416"/>
          </a:xfrm>
          <a:prstGeom prst="rect">
            <a:avLst/>
          </a:prstGeom>
          <a:noFill/>
          <a:ln/>
        </p:spPr>
        <p:txBody>
          <a:bodyPr wrap="square" rtlCol="0" anchor="t"/>
          <a:lstStyle/>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Shared by all threads: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heap (objects) and method area/Metaspace (class metadata, method bytecode).</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Private to each thread:</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its stack of frames, its program counter and its native stack.</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The execution engine interprets bytecode, JIT-compiles hot spots and reclaims unreachable objects.</a:t>
            </a:r>
            <a:endParaRPr lang="en-US" sz="1700" dirty="0"/>
          </a:p>
        </p:txBody>
      </p:sp>
      <p:sp>
        <p:nvSpPr>
          <p:cNvPr id="8" name="Text 6"/>
          <p:cNvSpPr/>
          <p:nvPr/>
        </p:nvSpPr>
        <p:spPr>
          <a:xfrm>
            <a:off x="5852160" y="1883664"/>
            <a:ext cx="5882335" cy="4471416"/>
          </a:xfrm>
          <a:prstGeom prst="rect">
            <a:avLst/>
          </a:prstGeom>
          <a:solidFill>
            <a:srgbClr val="F7F9F8"/>
          </a:solidFill>
          <a:ln w="9525">
            <a:solidFill>
              <a:srgbClr val="D5DDD7"/>
            </a:solidFill>
          </a:ln>
        </p:spPr>
        <p:txBody>
          <a:bodyPr wrap="square" lIns="1524" tIns="1524" rIns="1524" bIns="1524" rtlCol="0" anchor="t"/>
          <a:lstStyle/>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1. Class Loader Subsystem [Loading, Linking: verify → prepare → resolve, Initialization (static blocks)]</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2. Runtime Data Areas [Method area / Metaspace (shared), Heap (shared), JVM stack (per thread), PC register (per thread), Native method stack (per thread)]</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3. Execution Engine [Interpreter, JIT compiler (C1 / C2), Garbage collector]</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Native interface (JNI) ↔ native libraries</a:t>
            </a:r>
            <a:endParaRPr lang="en-US" sz="13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C9C43D"/>
          </a:solidFill>
          <a:ln w="12700">
            <a:solidFill>
              <a:srgbClr val="C9C43D"/>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Stack vs heap: where does each variable live?</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Primitives and references in methods live on the thread’s </a:t>
            </a:r>
            <a:pPr indent="0" marL="0">
              <a:buNone/>
            </a:pPr>
            <a:r>
              <a:rPr lang="en-US" sz="1350" b="1" dirty="0">
                <a:solidFill>
                  <a:srgbClr val="5B6B60"/>
                </a:solidFill>
                <a:latin typeface="Calibri" pitchFamily="34" charset="0"/>
                <a:ea typeface="Calibri" pitchFamily="34" charset="-122"/>
                <a:cs typeface="Calibri" pitchFamily="34" charset="-120"/>
              </a:rPr>
              <a:t>stack</a:t>
            </a:r>
            <a:pPr indent="0" marL="0">
              <a:buNone/>
            </a:pPr>
            <a:r>
              <a:rPr lang="en-US" sz="1350" dirty="0">
                <a:solidFill>
                  <a:srgbClr val="5B6B60"/>
                </a:solidFill>
                <a:latin typeface="Calibri" pitchFamily="34" charset="0"/>
                <a:ea typeface="Calibri" pitchFamily="34" charset="-122"/>
                <a:cs typeface="Calibri" pitchFamily="34" charset="-120"/>
              </a:rPr>
              <a:t>; every object created with </a:t>
            </a:r>
            <a:pPr indent="0" marL="0">
              <a:buNone/>
            </a:pPr>
            <a:r>
              <a:rPr lang="en-US" sz="1350" dirty="0">
                <a:solidFill>
                  <a:srgbClr val="B4235A"/>
                </a:solidFill>
                <a:latin typeface="Consolas" pitchFamily="34" charset="0"/>
                <a:ea typeface="Consolas" pitchFamily="34" charset="-122"/>
                <a:cs typeface="Consolas" pitchFamily="34" charset="-120"/>
              </a:rPr>
              <a:t>new</a:t>
            </a:r>
            <a:pPr indent="0" marL="0">
              <a:buNone/>
            </a:pPr>
            <a:r>
              <a:rPr lang="en-US" sz="1350" dirty="0">
                <a:solidFill>
                  <a:srgbClr val="5B6B60"/>
                </a:solidFill>
                <a:latin typeface="Calibri" pitchFamily="34" charset="0"/>
                <a:ea typeface="Calibri" pitchFamily="34" charset="-122"/>
                <a:cs typeface="Calibri" pitchFamily="34" charset="-120"/>
              </a:rPr>
              <a:t> lives on the </a:t>
            </a:r>
            <a:pPr indent="0" marL="0">
              <a:buNone/>
            </a:pPr>
            <a:r>
              <a:rPr lang="en-US" sz="1350" b="1" dirty="0">
                <a:solidFill>
                  <a:srgbClr val="5B6B60"/>
                </a:solidFill>
                <a:latin typeface="Calibri" pitchFamily="34" charset="0"/>
                <a:ea typeface="Calibri" pitchFamily="34" charset="-122"/>
                <a:cs typeface="Calibri" pitchFamily="34" charset="-120"/>
              </a:rPr>
              <a:t>heap</a:t>
            </a:r>
            <a:pPr indent="0" marL="0">
              <a:buNone/>
            </a:pPr>
            <a:r>
              <a:rPr lang="en-US" sz="1350" dirty="0">
                <a:solidFill>
                  <a:srgbClr val="5B6B60"/>
                </a:solidFill>
                <a:latin typeface="Calibri" pitchFamily="34" charset="0"/>
                <a:ea typeface="Calibri" pitchFamily="34" charset="-122"/>
                <a:cs typeface="Calibri" pitchFamily="34" charset="-120"/>
              </a:rPr>
              <a:t>.</a:t>
            </a:r>
            <a:endParaRPr lang="en-US" sz="1350" dirty="0"/>
          </a:p>
        </p:txBody>
      </p:sp>
      <p:sp>
        <p:nvSpPr>
          <p:cNvPr id="7" name="Text 5"/>
          <p:cNvSpPr/>
          <p:nvPr/>
        </p:nvSpPr>
        <p:spPr>
          <a:xfrm>
            <a:off x="457200" y="1883664"/>
            <a:ext cx="5120640" cy="2139696"/>
          </a:xfrm>
          <a:prstGeom prst="rect">
            <a:avLst/>
          </a:prstGeom>
          <a:noFill/>
          <a:ln/>
        </p:spPr>
        <p:txBody>
          <a:bodyPr wrap="square" rtlCol="0" anchor="t"/>
          <a:lstStyle/>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Each method call pushes a </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frame</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(local variables + operand stack) and pops it on return.</a:t>
            </a:r>
            <a:endParaRPr lang="en-US" sz="1300" dirty="0"/>
          </a:p>
          <a:p>
            <a:pPr marL="177800" indent="-177800">
              <a:spcAft>
                <a:spcPts val="400"/>
              </a:spcAft>
              <a:buSzPct val="100000"/>
              <a:buChar char="•"/>
            </a:pPr>
            <a:r>
              <a:rPr lang="en-US" sz="1300" dirty="0">
                <a:solidFill>
                  <a:srgbClr val="B4235A"/>
                </a:solidFill>
                <a:latin typeface="Consolas" pitchFamily="34" charset="0"/>
                <a:ea typeface="Consolas" pitchFamily="34" charset="-122"/>
                <a:cs typeface="Consolas" pitchFamily="34" charset="-120"/>
              </a:rPr>
              <a:t>order</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(a reference) is on the stack; the </a:t>
            </a:r>
            <a:endParaRPr lang="en-US" sz="1300" dirty="0"/>
          </a:p>
          <a:p>
            <a:pPr marL="177800" indent="-177800">
              <a:spcAft>
                <a:spcPts val="400"/>
              </a:spcAft>
              <a:buSzPct val="100000"/>
              <a:buChar char="•"/>
            </a:pPr>
            <a:r>
              <a:rPr lang="en-US" sz="1300" dirty="0">
                <a:solidFill>
                  <a:srgbClr val="B4235A"/>
                </a:solidFill>
                <a:latin typeface="Consolas" pitchFamily="34" charset="0"/>
                <a:ea typeface="Consolas" pitchFamily="34" charset="-122"/>
                <a:cs typeface="Consolas" pitchFamily="34" charset="-120"/>
              </a:rPr>
              <a:t>Order</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object it points to is on the heap.</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Passing </a:t>
            </a:r>
            <a:endParaRPr lang="en-US" sz="1300" dirty="0"/>
          </a:p>
          <a:p>
            <a:pPr marL="177800" indent="-177800">
              <a:spcAft>
                <a:spcPts val="400"/>
              </a:spcAft>
              <a:buSzPct val="100000"/>
              <a:buChar char="•"/>
            </a:pPr>
            <a:r>
              <a:rPr lang="en-US" sz="1300" dirty="0">
                <a:solidFill>
                  <a:srgbClr val="B4235A"/>
                </a:solidFill>
                <a:latin typeface="Consolas" pitchFamily="34" charset="0"/>
                <a:ea typeface="Consolas" pitchFamily="34" charset="-122"/>
                <a:cs typeface="Consolas" pitchFamily="34" charset="-120"/>
              </a:rPr>
              <a:t>order</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to </a:t>
            </a:r>
            <a:endParaRPr lang="en-US" sz="1300" dirty="0"/>
          </a:p>
          <a:p>
            <a:pPr marL="177800" indent="-177800">
              <a:spcAft>
                <a:spcPts val="400"/>
              </a:spcAft>
              <a:buSzPct val="100000"/>
              <a:buChar char="•"/>
            </a:pPr>
            <a:r>
              <a:rPr lang="en-US" sz="1300" dirty="0">
                <a:solidFill>
                  <a:srgbClr val="B4235A"/>
                </a:solidFill>
                <a:latin typeface="Consolas" pitchFamily="34" charset="0"/>
                <a:ea typeface="Consolas" pitchFamily="34" charset="-122"/>
                <a:cs typeface="Consolas" pitchFamily="34" charset="-120"/>
              </a:rPr>
              <a:t>price()</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copies the </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reference</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Java is always </a:t>
            </a:r>
            <a:endParaRPr lang="en-US" sz="1300" dirty="0"/>
          </a:p>
          <a:p>
            <a:pPr marL="177800" indent="-177800">
              <a:spcAft>
                <a:spcPts val="400"/>
              </a:spcAft>
              <a:buSzPct val="100000"/>
              <a:buChar char="•"/>
            </a:pPr>
            <a:r>
              <a:rPr lang="en-US" sz="1300" i="1" dirty="0">
                <a:solidFill>
                  <a:srgbClr val="1F2A24"/>
                </a:solidFill>
                <a:latin typeface="Calibri" pitchFamily="34" charset="0"/>
                <a:ea typeface="Calibri" pitchFamily="34" charset="-122"/>
                <a:cs typeface="Calibri" pitchFamily="34" charset="-120"/>
              </a:rPr>
              <a:t>pass-by-value</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Deep recursion fills the stack → </a:t>
            </a:r>
            <a:endParaRPr lang="en-US" sz="1300" dirty="0"/>
          </a:p>
          <a:p>
            <a:pPr marL="177800" indent="-177800">
              <a:spcAft>
                <a:spcPts val="400"/>
              </a:spcAft>
              <a:buSzPct val="100000"/>
              <a:buChar char="•"/>
            </a:pPr>
            <a:r>
              <a:rPr lang="en-US" sz="1300" dirty="0">
                <a:solidFill>
                  <a:srgbClr val="B4235A"/>
                </a:solidFill>
                <a:latin typeface="Consolas" pitchFamily="34" charset="0"/>
                <a:ea typeface="Consolas" pitchFamily="34" charset="-122"/>
                <a:cs typeface="Consolas" pitchFamily="34" charset="-120"/>
              </a:rPr>
              <a:t>StackOverflowError</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too many live objects fill the heap → </a:t>
            </a:r>
            <a:endParaRPr lang="en-US" sz="1300" dirty="0"/>
          </a:p>
          <a:p>
            <a:pPr marL="177800" indent="-177800">
              <a:spcAft>
                <a:spcPts val="400"/>
              </a:spcAft>
              <a:buSzPct val="100000"/>
              <a:buChar char="•"/>
            </a:pPr>
            <a:r>
              <a:rPr lang="en-US" sz="1300" dirty="0">
                <a:solidFill>
                  <a:srgbClr val="B4235A"/>
                </a:solidFill>
                <a:latin typeface="Consolas" pitchFamily="34" charset="0"/>
                <a:ea typeface="Consolas" pitchFamily="34" charset="-122"/>
                <a:cs typeface="Consolas" pitchFamily="34" charset="-120"/>
              </a:rPr>
              <a:t>OutOfMemoryError</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a:t>
            </a:r>
            <a:endParaRPr lang="en-US" sz="1300" dirty="0"/>
          </a:p>
        </p:txBody>
      </p:sp>
      <p:sp>
        <p:nvSpPr>
          <p:cNvPr id="8" name="Text 6"/>
          <p:cNvSpPr/>
          <p:nvPr/>
        </p:nvSpPr>
        <p:spPr>
          <a:xfrm>
            <a:off x="5852160" y="1883664"/>
            <a:ext cx="588233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MemoryDemo.java</a:t>
            </a:r>
            <a:endParaRPr lang="en-US" sz="900" dirty="0"/>
          </a:p>
        </p:txBody>
      </p:sp>
      <p:sp>
        <p:nvSpPr>
          <p:cNvPr id="9" name="Text 7"/>
          <p:cNvSpPr/>
          <p:nvPr/>
        </p:nvSpPr>
        <p:spPr>
          <a:xfrm>
            <a:off x="5852160" y="2157984"/>
            <a:ext cx="5882335" cy="186537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867" dirty="0">
                <a:solidFill>
                  <a:srgbClr val="24292F"/>
                </a:solidFill>
                <a:latin typeface="Consolas" pitchFamily="34" charset="0"/>
                <a:ea typeface="Consolas" pitchFamily="34" charset="-122"/>
                <a:cs typeface="Consolas" pitchFamily="34" charset="-120"/>
              </a:rPr>
              <a:t>public class MemoryDemo {</a:t>
            </a:r>
            <a:endParaRPr lang="en-US" sz="867" dirty="0"/>
          </a:p>
          <a:p>
            <a:pPr indent="0" marL="0">
              <a:buNone/>
            </a:pPr>
            <a:endParaRPr lang="en-US" sz="867" dirty="0"/>
          </a:p>
          <a:p>
            <a:pPr indent="0" marL="0">
              <a:buNone/>
            </a:pPr>
            <a:r>
              <a:rPr lang="en-US" sz="867" dirty="0">
                <a:solidFill>
                  <a:srgbClr val="24292F"/>
                </a:solidFill>
                <a:latin typeface="Consolas" pitchFamily="34" charset="0"/>
                <a:ea typeface="Consolas" pitchFamily="34" charset="-122"/>
                <a:cs typeface="Consolas" pitchFamily="34" charset="-120"/>
              </a:rPr>
              <a:t>    record Order(String id, int qty) {}            // objects of this type go on the heap</a:t>
            </a:r>
            <a:endParaRPr lang="en-US" sz="867" dirty="0"/>
          </a:p>
          <a:p>
            <a:pPr indent="0" marL="0">
              <a:buNone/>
            </a:pPr>
            <a:endParaRPr lang="en-US" sz="867" dirty="0"/>
          </a:p>
          <a:p>
            <a:pPr indent="0" marL="0">
              <a:buNone/>
            </a:pPr>
            <a:r>
              <a:rPr lang="en-US" sz="867" dirty="0">
                <a:solidFill>
                  <a:srgbClr val="24292F"/>
                </a:solidFill>
                <a:latin typeface="Consolas" pitchFamily="34" charset="0"/>
                <a:ea typeface="Consolas" pitchFamily="34" charset="-122"/>
                <a:cs typeface="Consolas" pitchFamily="34" charset="-120"/>
              </a:rPr>
              <a:t>    public static void main(String[] args) {      // frame for main() pushed on the stack</a:t>
            </a:r>
            <a:endParaRPr lang="en-US" sz="867" dirty="0"/>
          </a:p>
          <a:p>
            <a:pPr indent="0" marL="0">
              <a:buNone/>
            </a:pPr>
            <a:r>
              <a:rPr lang="en-US" sz="867" dirty="0">
                <a:solidFill>
                  <a:srgbClr val="24292F"/>
                </a:solidFill>
                <a:latin typeface="Consolas" pitchFamily="34" charset="0"/>
                <a:ea typeface="Consolas" pitchFamily="34" charset="-122"/>
                <a:cs typeface="Consolas" pitchFamily="34" charset="-120"/>
              </a:rPr>
              <a:t>        int qty = 3;                               // primitive local -&gt; stack</a:t>
            </a:r>
            <a:endParaRPr lang="en-US" sz="867" dirty="0"/>
          </a:p>
          <a:p>
            <a:pPr indent="0" marL="0">
              <a:buNone/>
            </a:pPr>
            <a:r>
              <a:rPr lang="en-US" sz="867" dirty="0">
                <a:solidFill>
                  <a:srgbClr val="24292F"/>
                </a:solidFill>
                <a:latin typeface="Consolas" pitchFamily="34" charset="0"/>
                <a:ea typeface="Consolas" pitchFamily="34" charset="-122"/>
                <a:cs typeface="Consolas" pitchFamily="34" charset="-120"/>
              </a:rPr>
              <a:t>        Order order = new Order("ORD-1", qty);     // reference on stack, object on heap</a:t>
            </a:r>
            <a:endParaRPr lang="en-US" sz="867" dirty="0"/>
          </a:p>
          <a:p>
            <a:pPr indent="0" marL="0">
              <a:buNone/>
            </a:pPr>
            <a:r>
              <a:rPr lang="en-US" sz="867" dirty="0">
                <a:solidFill>
                  <a:srgbClr val="24292F"/>
                </a:solidFill>
                <a:latin typeface="Consolas" pitchFamily="34" charset="0"/>
                <a:ea typeface="Consolas" pitchFamily="34" charset="-122"/>
                <a:cs typeface="Consolas" pitchFamily="34" charset="-120"/>
              </a:rPr>
              <a:t>        double total = price(order);               // new frame for price()</a:t>
            </a:r>
            <a:endParaRPr lang="en-US" sz="867" dirty="0"/>
          </a:p>
          <a:p>
            <a:pPr indent="0" marL="0">
              <a:buNone/>
            </a:pPr>
            <a:r>
              <a:rPr lang="en-US" sz="867" dirty="0">
                <a:solidFill>
                  <a:srgbClr val="24292F"/>
                </a:solidFill>
                <a:latin typeface="Consolas" pitchFamily="34" charset="0"/>
                <a:ea typeface="Consolas" pitchFamily="34" charset="-122"/>
                <a:cs typeface="Consolas" pitchFamily="34" charset="-120"/>
              </a:rPr>
              <a:t>// … full listing in the web notes</a:t>
            </a:r>
            <a:endParaRPr lang="en-US" sz="867"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4069080"/>
          <a:ext cx="11277295" cy="914400"/>
        </p:xfrm>
        <a:graphic>
          <a:graphicData uri="http://schemas.openxmlformats.org/drawingml/2006/table">
            <a:tbl>
              <a:tblPr/>
              <a:tblGrid>
                <a:gridCol w="2819324"/>
                <a:gridCol w="2819324"/>
                <a:gridCol w="2819324"/>
                <a:gridCol w="2819324"/>
              </a:tblGrid>
              <a:tr h="38404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Area</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Stores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Shared?</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Error when exhausted</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r>
              <a:tr h="384048">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Stack</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Frames: locals, partial results, return addresses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No — one per thread</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StackOverflowError</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384048">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Heap</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All objects and arrays (incl. the String pool)</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Yes — all threads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OutOfMemoryError: Java heap space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384048">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Metaspace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Class metadata, method bytecode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OutOfMemoryError: Metaspace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bl>
          </a:graphicData>
        </a:graphic>
      </p:graphicFrame>
      <p:sp>
        <p:nvSpPr>
          <p:cNvPr id="11" name="Text 8"/>
          <p:cNvSpPr/>
          <p:nvPr/>
        </p:nvSpPr>
        <p:spPr>
          <a:xfrm>
            <a:off x="457200" y="5806440"/>
            <a:ext cx="11277295" cy="530352"/>
          </a:xfrm>
          <a:prstGeom prst="rect">
            <a:avLst/>
          </a:prstGeom>
          <a:solidFill>
            <a:srgbClr val="FFF8E1"/>
          </a:solidFill>
          <a:ln w="9525">
            <a:solidFill>
              <a:srgbClr val="E9C46A"/>
            </a:solidFill>
          </a:ln>
        </p:spPr>
        <p:txBody>
          <a:bodyPr wrap="square" lIns="1016" tIns="1016" rIns="1016" bIns="1016" rtlCol="0" anchor="ctr"/>
          <a:lstStyle/>
          <a:p>
            <a:pPr indent="0" marL="0">
              <a:buNone/>
            </a:pPr>
            <a:r>
              <a:rPr lang="en-US" sz="1100" b="1" dirty="0">
                <a:solidFill>
                  <a:srgbClr val="1F2A24"/>
                </a:solidFill>
                <a:latin typeface="Calibri" pitchFamily="34" charset="0"/>
                <a:ea typeface="Calibri" pitchFamily="34" charset="-122"/>
                <a:cs typeface="Calibri" pitchFamily="34" charset="-120"/>
              </a:rPr>
              <a:t>INTERVIEW: </a:t>
            </a:r>
            <a:pPr indent="0" marL="0">
              <a:buNone/>
            </a:pPr>
            <a:r>
              <a:rPr lang="en-US" sz="1100" i="1" dirty="0">
                <a:solidFill>
                  <a:srgbClr val="1F2A24"/>
                </a:solidFill>
                <a:latin typeface="Calibri" pitchFamily="34" charset="0"/>
                <a:ea typeface="Calibri" pitchFamily="34" charset="-122"/>
                <a:cs typeface="Calibri" pitchFamily="34" charset="-120"/>
              </a:rPr>
              <a:t>Is Java pass-by-value or pass-by-reference?</a:t>
            </a:r>
            <a:pPr indent="0" marL="0">
              <a:buNone/>
            </a:pPr>
            <a:r>
              <a:rPr lang="en-US" sz="1100" dirty="0">
                <a:solidFill>
                  <a:srgbClr val="1F2A24"/>
                </a:solidFill>
                <a:latin typeface="Calibri" pitchFamily="34" charset="0"/>
                <a:ea typeface="Calibri" pitchFamily="34" charset="-122"/>
                <a:cs typeface="Calibri" pitchFamily="34" charset="-120"/>
              </a:rPr>
              <a:t> — </a:t>
            </a:r>
            <a:pPr indent="0" marL="0">
              <a:buNone/>
            </a:pPr>
            <a:r>
              <a:rPr lang="en-US" sz="1100" b="1" dirty="0">
                <a:solidFill>
                  <a:srgbClr val="1F2A24"/>
                </a:solidFill>
                <a:latin typeface="Calibri" pitchFamily="34" charset="0"/>
                <a:ea typeface="Calibri" pitchFamily="34" charset="-122"/>
                <a:cs typeface="Calibri" pitchFamily="34" charset="-120"/>
              </a:rPr>
              <a:t>Always pass-by-value.</a:t>
            </a:r>
            <a:pPr indent="0" marL="0">
              <a:buNone/>
            </a:pPr>
            <a:r>
              <a:rPr lang="en-US" sz="1100" dirty="0">
                <a:solidFill>
                  <a:srgbClr val="1F2A24"/>
                </a:solidFill>
                <a:latin typeface="Calibri" pitchFamily="34" charset="0"/>
                <a:ea typeface="Calibri" pitchFamily="34" charset="-122"/>
                <a:cs typeface="Calibri" pitchFamily="34" charset="-120"/>
              </a:rPr>
              <a:t> For objects, the value copied is the reference, so a method can mutate the object but cannot make the caller's variable point elsewhere.</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C9C43D"/>
          </a:solidFill>
          <a:ln w="12700">
            <a:solidFill>
              <a:srgbClr val="C9C43D"/>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Class loading &amp; the delegation model</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Classes are loaded lazily, on first use, by a hierarchy of class loaders that always ask their </a:t>
            </a:r>
            <a:pPr indent="0" marL="0">
              <a:buNone/>
            </a:pPr>
            <a:r>
              <a:rPr lang="en-US" sz="1350" b="1" dirty="0">
                <a:solidFill>
                  <a:srgbClr val="5B6B60"/>
                </a:solidFill>
                <a:latin typeface="Calibri" pitchFamily="34" charset="0"/>
                <a:ea typeface="Calibri" pitchFamily="34" charset="-122"/>
                <a:cs typeface="Calibri" pitchFamily="34" charset="-120"/>
              </a:rPr>
              <a:t>parent first</a:t>
            </a:r>
            <a:pPr indent="0" marL="0">
              <a:buNone/>
            </a:pPr>
            <a:r>
              <a:rPr lang="en-US" sz="1350" dirty="0">
                <a:solidFill>
                  <a:srgbClr val="5B6B60"/>
                </a:solidFill>
                <a:latin typeface="Calibri" pitchFamily="34" charset="0"/>
                <a:ea typeface="Calibri" pitchFamily="34" charset="-122"/>
                <a:cs typeface="Calibri" pitchFamily="34" charset="-120"/>
              </a:rPr>
              <a:t>.</a:t>
            </a:r>
            <a:endParaRPr lang="en-US" sz="1350" dirty="0"/>
          </a:p>
        </p:txBody>
      </p:sp>
      <p:sp>
        <p:nvSpPr>
          <p:cNvPr id="7" name="Text 5"/>
          <p:cNvSpPr/>
          <p:nvPr/>
        </p:nvSpPr>
        <p:spPr>
          <a:xfrm>
            <a:off x="457200" y="1883664"/>
            <a:ext cx="5120640" cy="4471416"/>
          </a:xfrm>
          <a:prstGeom prst="rect">
            <a:avLst/>
          </a:prstGeom>
          <a:noFill/>
          <a:ln/>
        </p:spPr>
        <p:txBody>
          <a:bodyPr wrap="square" rtlCol="0" anchor="t"/>
          <a:lstStyle/>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Parent-first delegation:</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 loader delegates to its parent before trying itself, so nobody can replace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java.lang.String</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ClassNotFoundException</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 a class requested by name (e.g.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Class.forName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is not found.</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NoClassDefFoundError</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 a class present at compile time is missing (or failed to initialise) at runtime.</a:t>
            </a:r>
            <a:endParaRPr lang="en-US" sz="1700" dirty="0"/>
          </a:p>
        </p:txBody>
      </p:sp>
      <p:sp>
        <p:nvSpPr>
          <p:cNvPr id="8" name="Text 6"/>
          <p:cNvSpPr/>
          <p:nvPr/>
        </p:nvSpPr>
        <p:spPr>
          <a:xfrm>
            <a:off x="5852160" y="1883664"/>
            <a:ext cx="588233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Loaders.java</a:t>
            </a:r>
            <a:endParaRPr lang="en-US" sz="900" dirty="0"/>
          </a:p>
        </p:txBody>
      </p:sp>
      <p:sp>
        <p:nvSpPr>
          <p:cNvPr id="9" name="Text 7"/>
          <p:cNvSpPr/>
          <p:nvPr/>
        </p:nvSpPr>
        <p:spPr>
          <a:xfrm>
            <a:off x="5852160" y="2157984"/>
            <a:ext cx="5882335" cy="419709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898" dirty="0">
                <a:solidFill>
                  <a:srgbClr val="24292F"/>
                </a:solidFill>
                <a:latin typeface="Consolas" pitchFamily="34" charset="0"/>
                <a:ea typeface="Consolas" pitchFamily="34" charset="-122"/>
                <a:cs typeface="Consolas" pitchFamily="34" charset="-120"/>
              </a:rPr>
              <a:t>public class Loaders {</a:t>
            </a:r>
            <a:endParaRPr lang="en-US" sz="898" dirty="0"/>
          </a:p>
          <a:p>
            <a:pPr indent="0" marL="0">
              <a:buNone/>
            </a:pPr>
            <a:r>
              <a:rPr lang="en-US" sz="898" dirty="0">
                <a:solidFill>
                  <a:srgbClr val="24292F"/>
                </a:solidFill>
                <a:latin typeface="Consolas" pitchFamily="34" charset="0"/>
                <a:ea typeface="Consolas" pitchFamily="34" charset="-122"/>
                <a:cs typeface="Consolas" pitchFamily="34" charset="-120"/>
              </a:rPr>
              <a:t>    public static void main(String[] args) {</a:t>
            </a:r>
            <a:endParaRPr lang="en-US" sz="898" dirty="0"/>
          </a:p>
          <a:p>
            <a:pPr indent="0" marL="0">
              <a:buNone/>
            </a:pPr>
            <a:r>
              <a:rPr lang="en-US" sz="898" dirty="0">
                <a:solidFill>
                  <a:srgbClr val="24292F"/>
                </a:solidFill>
                <a:latin typeface="Consolas" pitchFamily="34" charset="0"/>
                <a:ea typeface="Consolas" pitchFamily="34" charset="-122"/>
                <a:cs typeface="Consolas" pitchFamily="34" charset="-120"/>
              </a:rPr>
              <a:t>        System.out.println(String.class.getClassLoader());              // bootstrap</a:t>
            </a:r>
            <a:endParaRPr lang="en-US" sz="898" dirty="0"/>
          </a:p>
          <a:p>
            <a:pPr indent="0" marL="0">
              <a:buNone/>
            </a:pPr>
            <a:r>
              <a:rPr lang="en-US" sz="898" dirty="0">
                <a:solidFill>
                  <a:srgbClr val="24292F"/>
                </a:solidFill>
                <a:latin typeface="Consolas" pitchFamily="34" charset="0"/>
                <a:ea typeface="Consolas" pitchFamily="34" charset="-122"/>
                <a:cs typeface="Consolas" pitchFamily="34" charset="-120"/>
              </a:rPr>
              <a:t>        System.out.println(java.sql.Connection.class.getClassLoader()); // platform</a:t>
            </a:r>
            <a:endParaRPr lang="en-US" sz="898" dirty="0"/>
          </a:p>
          <a:p>
            <a:pPr indent="0" marL="0">
              <a:buNone/>
            </a:pPr>
            <a:r>
              <a:rPr lang="en-US" sz="898" dirty="0">
                <a:solidFill>
                  <a:srgbClr val="24292F"/>
                </a:solidFill>
                <a:latin typeface="Consolas" pitchFamily="34" charset="0"/>
                <a:ea typeface="Consolas" pitchFamily="34" charset="-122"/>
                <a:cs typeface="Consolas" pitchFamily="34" charset="-120"/>
              </a:rPr>
              <a:t>        System.out.println(Loaders.class.getClassLoader());             // application</a:t>
            </a:r>
            <a:endParaRPr lang="en-US" sz="898" dirty="0"/>
          </a:p>
          <a:p>
            <a:pPr indent="0" marL="0">
              <a:buNone/>
            </a:pPr>
            <a:r>
              <a:rPr lang="en-US" sz="898" dirty="0">
                <a:solidFill>
                  <a:srgbClr val="24292F"/>
                </a:solidFill>
                <a:latin typeface="Consolas" pitchFamily="34" charset="0"/>
                <a:ea typeface="Consolas" pitchFamily="34" charset="-122"/>
                <a:cs typeface="Consolas" pitchFamily="34" charset="-120"/>
              </a:rPr>
              <a:t>    }</a:t>
            </a:r>
            <a:endParaRPr lang="en-US" sz="898" dirty="0"/>
          </a:p>
          <a:p>
            <a:pPr indent="0" marL="0">
              <a:buNone/>
            </a:pPr>
            <a:r>
              <a:rPr lang="en-US" sz="898" dirty="0">
                <a:solidFill>
                  <a:srgbClr val="24292F"/>
                </a:solidFill>
                <a:latin typeface="Consolas" pitchFamily="34" charset="0"/>
                <a:ea typeface="Consolas" pitchFamily="34" charset="-122"/>
                <a:cs typeface="Consolas" pitchFamily="34" charset="-120"/>
              </a:rPr>
              <a:t>}</a:t>
            </a:r>
            <a:endParaRPr lang="en-US" sz="898"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C9C43D"/>
          </a:solidFill>
          <a:ln w="12700">
            <a:solidFill>
              <a:srgbClr val="C9C43D"/>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Garbage collection basics</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The JVM frees memory automatically: any object no longer </a:t>
            </a:r>
            <a:pPr indent="0" marL="0">
              <a:buNone/>
            </a:pPr>
            <a:r>
              <a:rPr lang="en-US" sz="1350" b="1" dirty="0">
                <a:solidFill>
                  <a:srgbClr val="5B6B60"/>
                </a:solidFill>
                <a:latin typeface="Calibri" pitchFamily="34" charset="0"/>
                <a:ea typeface="Calibri" pitchFamily="34" charset="-122"/>
                <a:cs typeface="Calibri" pitchFamily="34" charset="-120"/>
              </a:rPr>
              <a:t>reachable</a:t>
            </a:r>
            <a:pPr indent="0" marL="0">
              <a:buNone/>
            </a:pPr>
            <a:r>
              <a:rPr lang="en-US" sz="1350" dirty="0">
                <a:solidFill>
                  <a:srgbClr val="5B6B60"/>
                </a:solidFill>
                <a:latin typeface="Calibri" pitchFamily="34" charset="0"/>
                <a:ea typeface="Calibri" pitchFamily="34" charset="-122"/>
                <a:cs typeface="Calibri" pitchFamily="34" charset="-120"/>
              </a:rPr>
              <a:t> from a GC root can be collected.</a:t>
            </a:r>
            <a:endParaRPr lang="en-US" sz="1350" dirty="0"/>
          </a:p>
        </p:txBody>
      </p:sp>
      <p:sp>
        <p:nvSpPr>
          <p:cNvPr id="7" name="Text 5"/>
          <p:cNvSpPr/>
          <p:nvPr/>
        </p:nvSpPr>
        <p:spPr>
          <a:xfrm>
            <a:off x="457200" y="1883664"/>
            <a:ext cx="5120640" cy="3877056"/>
          </a:xfrm>
          <a:prstGeom prst="rect">
            <a:avLst/>
          </a:prstGeom>
          <a:noFill/>
          <a:ln/>
        </p:spPr>
        <p:txBody>
          <a:bodyPr wrap="square" rtlCol="0" anchor="t"/>
          <a:lstStyle/>
          <a:p>
            <a:pPr marL="177800" indent="-177800">
              <a:spcAft>
                <a:spcPts val="400"/>
              </a:spcAft>
              <a:buSzPct val="100000"/>
              <a:buChar char="•"/>
            </a:pPr>
            <a:r>
              <a:rPr lang="en-US" sz="1600" b="1" dirty="0">
                <a:solidFill>
                  <a:srgbClr val="1F2A24"/>
                </a:solidFill>
                <a:latin typeface="Calibri" pitchFamily="34" charset="0"/>
                <a:ea typeface="Calibri" pitchFamily="34" charset="-122"/>
                <a:cs typeface="Calibri" pitchFamily="34" charset="-120"/>
              </a:rPr>
              <a:t>GC roots:</a:t>
            </a:r>
            <a:endParaRPr lang="en-US" sz="1600" dirty="0"/>
          </a:p>
          <a:p>
            <a:pPr marL="177800" indent="-177800">
              <a:spcAft>
                <a:spcPts val="400"/>
              </a:spcAft>
              <a:buSzPct val="100000"/>
              <a:buChar char="•"/>
            </a:pPr>
            <a:r>
              <a:rPr lang="en-US" sz="1600" dirty="0">
                <a:solidFill>
                  <a:srgbClr val="1F2A24"/>
                </a:solidFill>
                <a:latin typeface="Calibri" pitchFamily="34" charset="0"/>
                <a:ea typeface="Calibri" pitchFamily="34" charset="-122"/>
                <a:cs typeface="Calibri" pitchFamily="34" charset="-120"/>
              </a:rPr>
              <a:t> local variables on thread stacks, static fields, active threads, JNI references.</a:t>
            </a:r>
            <a:endParaRPr lang="en-US" sz="1600" dirty="0"/>
          </a:p>
          <a:p>
            <a:pPr marL="177800" indent="-177800">
              <a:spcAft>
                <a:spcPts val="400"/>
              </a:spcAft>
              <a:buSzPct val="100000"/>
              <a:buChar char="•"/>
            </a:pPr>
            <a:r>
              <a:rPr lang="en-US" sz="1600" b="1" dirty="0">
                <a:solidFill>
                  <a:srgbClr val="1F2A24"/>
                </a:solidFill>
                <a:latin typeface="Calibri" pitchFamily="34" charset="0"/>
                <a:ea typeface="Calibri" pitchFamily="34" charset="-122"/>
                <a:cs typeface="Calibri" pitchFamily="34" charset="-120"/>
              </a:rPr>
              <a:t>Generational hypothesis:</a:t>
            </a:r>
            <a:endParaRPr lang="en-US" sz="1600" dirty="0"/>
          </a:p>
          <a:p>
            <a:pPr marL="177800" indent="-177800">
              <a:spcAft>
                <a:spcPts val="400"/>
              </a:spcAft>
              <a:buSzPct val="100000"/>
              <a:buChar char="•"/>
            </a:pPr>
            <a:r>
              <a:rPr lang="en-US" sz="1600" dirty="0">
                <a:solidFill>
                  <a:srgbClr val="1F2A24"/>
                </a:solidFill>
                <a:latin typeface="Calibri" pitchFamily="34" charset="0"/>
                <a:ea typeface="Calibri" pitchFamily="34" charset="-122"/>
                <a:cs typeface="Calibri" pitchFamily="34" charset="-120"/>
              </a:rPr>
              <a:t> most objects die young → collect the young generation often and cheaply.</a:t>
            </a:r>
            <a:endParaRPr lang="en-US" sz="1600" dirty="0"/>
          </a:p>
          <a:p>
            <a:pPr marL="177800" indent="-177800">
              <a:spcAft>
                <a:spcPts val="400"/>
              </a:spcAft>
              <a:buSzPct val="100000"/>
              <a:buChar char="•"/>
            </a:pPr>
            <a:r>
              <a:rPr lang="en-US" sz="1600" dirty="0">
                <a:solidFill>
                  <a:srgbClr val="1F2A24"/>
                </a:solidFill>
                <a:latin typeface="Calibri" pitchFamily="34" charset="0"/>
                <a:ea typeface="Calibri" pitchFamily="34" charset="-122"/>
                <a:cs typeface="Calibri" pitchFamily="34" charset="-120"/>
              </a:rPr>
              <a:t>New objects go to </a:t>
            </a:r>
            <a:endParaRPr lang="en-US" sz="1600" dirty="0"/>
          </a:p>
          <a:p>
            <a:pPr marL="177800" indent="-177800">
              <a:spcAft>
                <a:spcPts val="400"/>
              </a:spcAft>
              <a:buSzPct val="100000"/>
              <a:buChar char="•"/>
            </a:pPr>
            <a:r>
              <a:rPr lang="en-US" sz="1600" b="1" dirty="0">
                <a:solidFill>
                  <a:srgbClr val="1F2A24"/>
                </a:solidFill>
                <a:latin typeface="Calibri" pitchFamily="34" charset="0"/>
                <a:ea typeface="Calibri" pitchFamily="34" charset="-122"/>
                <a:cs typeface="Calibri" pitchFamily="34" charset="-120"/>
              </a:rPr>
              <a:t>Eden</a:t>
            </a:r>
            <a:endParaRPr lang="en-US" sz="1600" dirty="0"/>
          </a:p>
          <a:p>
            <a:pPr marL="177800" indent="-177800">
              <a:spcAft>
                <a:spcPts val="400"/>
              </a:spcAft>
              <a:buSzPct val="100000"/>
              <a:buChar char="•"/>
            </a:pPr>
            <a:r>
              <a:rPr lang="en-US" sz="1600" dirty="0">
                <a:solidFill>
                  <a:srgbClr val="1F2A24"/>
                </a:solidFill>
                <a:latin typeface="Calibri" pitchFamily="34" charset="0"/>
                <a:ea typeface="Calibri" pitchFamily="34" charset="-122"/>
                <a:cs typeface="Calibri" pitchFamily="34" charset="-120"/>
              </a:rPr>
              <a:t>; survivors are copied between </a:t>
            </a:r>
            <a:endParaRPr lang="en-US" sz="1600" dirty="0"/>
          </a:p>
          <a:p>
            <a:pPr marL="177800" indent="-177800">
              <a:spcAft>
                <a:spcPts val="400"/>
              </a:spcAft>
              <a:buSzPct val="100000"/>
              <a:buChar char="•"/>
            </a:pPr>
            <a:r>
              <a:rPr lang="en-US" sz="1600" b="1" dirty="0">
                <a:solidFill>
                  <a:srgbClr val="1F2A24"/>
                </a:solidFill>
                <a:latin typeface="Calibri" pitchFamily="34" charset="0"/>
                <a:ea typeface="Calibri" pitchFamily="34" charset="-122"/>
                <a:cs typeface="Calibri" pitchFamily="34" charset="-120"/>
              </a:rPr>
              <a:t>Survivor</a:t>
            </a:r>
            <a:endParaRPr lang="en-US" sz="1600" dirty="0"/>
          </a:p>
          <a:p>
            <a:pPr marL="177800" indent="-177800">
              <a:spcAft>
                <a:spcPts val="400"/>
              </a:spcAft>
              <a:buSzPct val="100000"/>
              <a:buChar char="•"/>
            </a:pPr>
            <a:r>
              <a:rPr lang="en-US" sz="1600" dirty="0">
                <a:solidFill>
                  <a:srgbClr val="1F2A24"/>
                </a:solidFill>
                <a:latin typeface="Calibri" pitchFamily="34" charset="0"/>
                <a:ea typeface="Calibri" pitchFamily="34" charset="-122"/>
                <a:cs typeface="Calibri" pitchFamily="34" charset="-120"/>
              </a:rPr>
              <a:t> spaces, then </a:t>
            </a:r>
            <a:endParaRPr lang="en-US" sz="1600" dirty="0"/>
          </a:p>
          <a:p>
            <a:pPr marL="177800" indent="-177800">
              <a:spcAft>
                <a:spcPts val="400"/>
              </a:spcAft>
              <a:buSzPct val="100000"/>
              <a:buChar char="•"/>
            </a:pPr>
            <a:r>
              <a:rPr lang="en-US" sz="1600" i="1" dirty="0">
                <a:solidFill>
                  <a:srgbClr val="1F2A24"/>
                </a:solidFill>
                <a:latin typeface="Calibri" pitchFamily="34" charset="0"/>
                <a:ea typeface="Calibri" pitchFamily="34" charset="-122"/>
                <a:cs typeface="Calibri" pitchFamily="34" charset="-120"/>
              </a:rPr>
              <a:t>promoted</a:t>
            </a:r>
            <a:endParaRPr lang="en-US" sz="1600" dirty="0"/>
          </a:p>
          <a:p>
            <a:pPr marL="177800" indent="-177800">
              <a:spcAft>
                <a:spcPts val="400"/>
              </a:spcAft>
              <a:buSzPct val="100000"/>
              <a:buChar char="•"/>
            </a:pPr>
            <a:r>
              <a:rPr lang="en-US" sz="1600" dirty="0">
                <a:solidFill>
                  <a:srgbClr val="1F2A24"/>
                </a:solidFill>
                <a:latin typeface="Calibri" pitchFamily="34" charset="0"/>
                <a:ea typeface="Calibri" pitchFamily="34" charset="-122"/>
                <a:cs typeface="Calibri" pitchFamily="34" charset="-120"/>
              </a:rPr>
              <a:t> to the </a:t>
            </a:r>
            <a:endParaRPr lang="en-US" sz="1600" dirty="0"/>
          </a:p>
          <a:p>
            <a:pPr marL="177800" indent="-177800">
              <a:spcAft>
                <a:spcPts val="400"/>
              </a:spcAft>
              <a:buSzPct val="100000"/>
              <a:buChar char="•"/>
            </a:pPr>
            <a:r>
              <a:rPr lang="en-US" sz="1600" b="1" dirty="0">
                <a:solidFill>
                  <a:srgbClr val="1F2A24"/>
                </a:solidFill>
                <a:latin typeface="Calibri" pitchFamily="34" charset="0"/>
                <a:ea typeface="Calibri" pitchFamily="34" charset="-122"/>
                <a:cs typeface="Calibri" pitchFamily="34" charset="-120"/>
              </a:rPr>
              <a:t>Old</a:t>
            </a:r>
            <a:endParaRPr lang="en-US" sz="1600" dirty="0"/>
          </a:p>
          <a:p>
            <a:pPr marL="177800" indent="-177800">
              <a:spcAft>
                <a:spcPts val="400"/>
              </a:spcAft>
              <a:buSzPct val="100000"/>
              <a:buChar char="•"/>
            </a:pPr>
            <a:r>
              <a:rPr lang="en-US" sz="1600" dirty="0">
                <a:solidFill>
                  <a:srgbClr val="1F2A24"/>
                </a:solidFill>
                <a:latin typeface="Calibri" pitchFamily="34" charset="0"/>
                <a:ea typeface="Calibri" pitchFamily="34" charset="-122"/>
                <a:cs typeface="Calibri" pitchFamily="34" charset="-120"/>
              </a:rPr>
              <a:t> generation.</a:t>
            </a:r>
            <a:endParaRPr lang="en-US" sz="1600" dirty="0"/>
          </a:p>
          <a:p>
            <a:pPr marL="177800" indent="-177800">
              <a:spcAft>
                <a:spcPts val="400"/>
              </a:spcAft>
              <a:buSzPct val="100000"/>
              <a:buChar char="•"/>
            </a:pPr>
            <a:r>
              <a:rPr lang="en-US" sz="1600" b="1" dirty="0">
                <a:solidFill>
                  <a:srgbClr val="1F2A24"/>
                </a:solidFill>
                <a:latin typeface="Calibri" pitchFamily="34" charset="0"/>
                <a:ea typeface="Calibri" pitchFamily="34" charset="-122"/>
                <a:cs typeface="Calibri" pitchFamily="34" charset="-120"/>
              </a:rPr>
              <a:t>G1</a:t>
            </a:r>
            <a:endParaRPr lang="en-US" sz="1600" dirty="0"/>
          </a:p>
          <a:p>
            <a:pPr marL="177800" indent="-177800">
              <a:spcAft>
                <a:spcPts val="400"/>
              </a:spcAft>
              <a:buSzPct val="100000"/>
              <a:buChar char="•"/>
            </a:pPr>
            <a:r>
              <a:rPr lang="en-US" sz="1600" dirty="0">
                <a:solidFill>
                  <a:srgbClr val="1F2A24"/>
                </a:solidFill>
                <a:latin typeface="Calibri" pitchFamily="34" charset="0"/>
                <a:ea typeface="Calibri" pitchFamily="34" charset="-122"/>
                <a:cs typeface="Calibri" pitchFamily="34" charset="-120"/>
              </a:rPr>
              <a:t> is the default collector; </a:t>
            </a:r>
            <a:endParaRPr lang="en-US" sz="1600" dirty="0"/>
          </a:p>
          <a:p>
            <a:pPr marL="177800" indent="-177800">
              <a:spcAft>
                <a:spcPts val="400"/>
              </a:spcAft>
              <a:buSzPct val="100000"/>
              <a:buChar char="•"/>
            </a:pPr>
            <a:r>
              <a:rPr lang="en-US" sz="1600" b="1" dirty="0">
                <a:solidFill>
                  <a:srgbClr val="1F2A24"/>
                </a:solidFill>
                <a:latin typeface="Calibri" pitchFamily="34" charset="0"/>
                <a:ea typeface="Calibri" pitchFamily="34" charset="-122"/>
                <a:cs typeface="Calibri" pitchFamily="34" charset="-120"/>
              </a:rPr>
              <a:t>ZGC</a:t>
            </a:r>
            <a:endParaRPr lang="en-US" sz="1600" dirty="0"/>
          </a:p>
          <a:p>
            <a:pPr marL="177800" indent="-177800">
              <a:spcAft>
                <a:spcPts val="400"/>
              </a:spcAft>
              <a:buSzPct val="100000"/>
              <a:buChar char="•"/>
            </a:pPr>
            <a:r>
              <a:rPr lang="en-US" sz="1600" dirty="0">
                <a:solidFill>
                  <a:srgbClr val="1F2A24"/>
                </a:solidFill>
                <a:latin typeface="Calibri" pitchFamily="34" charset="0"/>
                <a:ea typeface="Calibri" pitchFamily="34" charset="-122"/>
                <a:cs typeface="Calibri" pitchFamily="34" charset="-120"/>
              </a:rPr>
              <a:t> offers sub-millisecond pauses for large heaps.</a:t>
            </a:r>
            <a:endParaRPr lang="en-US" sz="1600" dirty="0"/>
          </a:p>
          <a:p>
            <a:pPr marL="177800" indent="-177800">
              <a:spcAft>
                <a:spcPts val="400"/>
              </a:spcAft>
              <a:buSzPct val="100000"/>
              <a:buChar char="•"/>
            </a:pPr>
            <a:r>
              <a:rPr lang="en-US" sz="1600" dirty="0">
                <a:solidFill>
                  <a:srgbClr val="1F2A24"/>
                </a:solidFill>
                <a:latin typeface="Calibri" pitchFamily="34" charset="0"/>
                <a:ea typeface="Calibri" pitchFamily="34" charset="-122"/>
                <a:cs typeface="Calibri" pitchFamily="34" charset="-120"/>
              </a:rPr>
              <a:t>GC does not prevent leaks: objects kept in a growing </a:t>
            </a:r>
            <a:endParaRPr lang="en-US" sz="1600" dirty="0"/>
          </a:p>
          <a:p>
            <a:pPr marL="177800" indent="-177800">
              <a:spcAft>
                <a:spcPts val="400"/>
              </a:spcAft>
              <a:buSzPct val="100000"/>
              <a:buChar char="•"/>
            </a:pPr>
            <a:r>
              <a:rPr lang="en-US" sz="1600" dirty="0">
                <a:solidFill>
                  <a:srgbClr val="B4235A"/>
                </a:solidFill>
                <a:latin typeface="Consolas" pitchFamily="34" charset="0"/>
                <a:ea typeface="Consolas" pitchFamily="34" charset="-122"/>
                <a:cs typeface="Consolas" pitchFamily="34" charset="-120"/>
              </a:rPr>
              <a:t>static</a:t>
            </a:r>
            <a:endParaRPr lang="en-US" sz="1600" dirty="0"/>
          </a:p>
          <a:p>
            <a:pPr marL="177800" indent="-177800">
              <a:spcAft>
                <a:spcPts val="400"/>
              </a:spcAft>
              <a:buSzPct val="100000"/>
              <a:buChar char="•"/>
            </a:pPr>
            <a:r>
              <a:rPr lang="en-US" sz="1600" dirty="0">
                <a:solidFill>
                  <a:srgbClr val="1F2A24"/>
                </a:solidFill>
                <a:latin typeface="Calibri" pitchFamily="34" charset="0"/>
                <a:ea typeface="Calibri" pitchFamily="34" charset="-122"/>
                <a:cs typeface="Calibri" pitchFamily="34" charset="-120"/>
              </a:rPr>
              <a:t> map or cache stay reachable forever.</a:t>
            </a:r>
            <a:endParaRPr lang="en-US" sz="1600" dirty="0"/>
          </a:p>
        </p:txBody>
      </p:sp>
      <p:sp>
        <p:nvSpPr>
          <p:cNvPr id="8" name="Text 6"/>
          <p:cNvSpPr/>
          <p:nvPr/>
        </p:nvSpPr>
        <p:spPr>
          <a:xfrm>
            <a:off x="5852160" y="1883664"/>
            <a:ext cx="588233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Terminal</a:t>
            </a:r>
            <a:endParaRPr lang="en-US" sz="900" dirty="0"/>
          </a:p>
        </p:txBody>
      </p:sp>
      <p:sp>
        <p:nvSpPr>
          <p:cNvPr id="9" name="Text 7"/>
          <p:cNvSpPr/>
          <p:nvPr/>
        </p:nvSpPr>
        <p:spPr>
          <a:xfrm>
            <a:off x="5852160" y="2157984"/>
            <a:ext cx="5882335" cy="360273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867" dirty="0">
                <a:solidFill>
                  <a:srgbClr val="24292F"/>
                </a:solidFill>
                <a:latin typeface="Consolas" pitchFamily="34" charset="0"/>
                <a:ea typeface="Consolas" pitchFamily="34" charset="-122"/>
                <a:cs typeface="Consolas" pitchFamily="34" charset="-120"/>
              </a:rPr>
              <a:t>$ java -Xms256m -Xmx512m -Xlog:gc -jar app.jar</a:t>
            </a:r>
            <a:endParaRPr lang="en-US" sz="867" dirty="0"/>
          </a:p>
          <a:p>
            <a:pPr indent="0" marL="0">
              <a:buNone/>
            </a:pPr>
            <a:r>
              <a:rPr lang="en-US" sz="867" dirty="0">
                <a:solidFill>
                  <a:srgbClr val="24292F"/>
                </a:solidFill>
                <a:latin typeface="Consolas" pitchFamily="34" charset="0"/>
                <a:ea typeface="Consolas" pitchFamily="34" charset="-122"/>
                <a:cs typeface="Consolas" pitchFamily="34" charset="-120"/>
              </a:rPr>
              <a:t>[0.008s][info][gc] Using G1</a:t>
            </a:r>
            <a:endParaRPr lang="en-US" sz="867" dirty="0"/>
          </a:p>
          <a:p>
            <a:pPr indent="0" marL="0">
              <a:buNone/>
            </a:pPr>
            <a:r>
              <a:rPr lang="en-US" sz="867" dirty="0">
                <a:solidFill>
                  <a:srgbClr val="24292F"/>
                </a:solidFill>
                <a:latin typeface="Consolas" pitchFamily="34" charset="0"/>
                <a:ea typeface="Consolas" pitchFamily="34" charset="-122"/>
                <a:cs typeface="Consolas" pitchFamily="34" charset="-120"/>
              </a:rPr>
              <a:t>[1.912s][info][gc] GC(0) Pause Young (Normal) (G1 Evacuation Pause) 24M-&gt;3M(256M) 2.104ms</a:t>
            </a:r>
            <a:endParaRPr lang="en-US" sz="867" dirty="0"/>
          </a:p>
          <a:p>
            <a:pPr indent="0" marL="0">
              <a:buNone/>
            </a:pPr>
            <a:endParaRPr lang="en-US" sz="867" dirty="0"/>
          </a:p>
          <a:p>
            <a:pPr indent="0" marL="0">
              <a:buNone/>
            </a:pPr>
            <a:r>
              <a:rPr lang="en-US" sz="867" dirty="0">
                <a:solidFill>
                  <a:srgbClr val="24292F"/>
                </a:solidFill>
                <a:latin typeface="Consolas" pitchFamily="34" charset="0"/>
                <a:ea typeface="Consolas" pitchFamily="34" charset="-122"/>
                <a:cs typeface="Consolas" pitchFamily="34" charset="-120"/>
              </a:rPr>
              <a:t>$ java -XX:+UseZGC -Xmx4g -jar app.jar      # low-latency collector</a:t>
            </a:r>
            <a:endParaRPr lang="en-US" sz="867" dirty="0"/>
          </a:p>
        </p:txBody>
      </p:sp>
      <p:sp>
        <p:nvSpPr>
          <p:cNvPr id="10" name="Text 8"/>
          <p:cNvSpPr/>
          <p:nvPr/>
        </p:nvSpPr>
        <p:spPr>
          <a:xfrm>
            <a:off x="457200" y="5806440"/>
            <a:ext cx="11277295" cy="530352"/>
          </a:xfrm>
          <a:prstGeom prst="rect">
            <a:avLst/>
          </a:prstGeom>
          <a:solidFill>
            <a:srgbClr val="FFF8E1"/>
          </a:solidFill>
          <a:ln w="9525">
            <a:solidFill>
              <a:srgbClr val="E9C46A"/>
            </a:solidFill>
          </a:ln>
        </p:spPr>
        <p:txBody>
          <a:bodyPr wrap="square" lIns="1016" tIns="1016" rIns="1016" bIns="1016" rtlCol="0" anchor="ctr"/>
          <a:lstStyle/>
          <a:p>
            <a:pPr indent="0" marL="0">
              <a:buNone/>
            </a:pPr>
            <a:r>
              <a:rPr lang="en-US" sz="1100" b="1" dirty="0">
                <a:solidFill>
                  <a:srgbClr val="1F2A24"/>
                </a:solidFill>
                <a:latin typeface="Calibri" pitchFamily="34" charset="0"/>
                <a:ea typeface="Calibri" pitchFamily="34" charset="-122"/>
                <a:cs typeface="Calibri" pitchFamily="34" charset="-120"/>
              </a:rPr>
              <a:t>VERSION: </a:t>
            </a:r>
            <a:pPr indent="0" marL="0">
              <a:buNone/>
            </a:pPr>
            <a:r>
              <a:rPr lang="en-US" sz="1100" dirty="0">
                <a:solidFill>
                  <a:srgbClr val="1F2A24"/>
                </a:solidFill>
                <a:latin typeface="Calibri" pitchFamily="34" charset="0"/>
                <a:ea typeface="Calibri" pitchFamily="34" charset="-122"/>
                <a:cs typeface="Calibri" pitchFamily="34" charset="-120"/>
              </a:rPr>
              <a:t>Generational ZGC arrived in Java 21 and became ZGC's only mode in Java 24. You rarely tune GC early on — first set sensible </a:t>
            </a:r>
            <a:pPr indent="0" marL="0">
              <a:buNone/>
            </a:pPr>
            <a:r>
              <a:rPr lang="en-US" sz="1100" dirty="0">
                <a:solidFill>
                  <a:srgbClr val="B4235A"/>
                </a:solidFill>
                <a:latin typeface="Consolas" pitchFamily="34" charset="0"/>
                <a:ea typeface="Consolas" pitchFamily="34" charset="-122"/>
                <a:cs typeface="Consolas" pitchFamily="34" charset="-120"/>
              </a:rPr>
              <a:t>-Xms/-Xmx</a:t>
            </a:r>
            <a:pPr indent="0" marL="0">
              <a:buNone/>
            </a:pPr>
            <a:r>
              <a:rPr lang="en-US" sz="1100" dirty="0">
                <a:solidFill>
                  <a:srgbClr val="1F2A24"/>
                </a:solidFill>
                <a:latin typeface="Calibri" pitchFamily="34" charset="0"/>
                <a:ea typeface="Calibri" pitchFamily="34" charset="-122"/>
                <a:cs typeface="Calibri" pitchFamily="34" charset="-120"/>
              </a:rPr>
              <a:t> (or container memory limits) and measure.</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C9C43D"/>
          </a:solidFill>
          <a:ln w="12700">
            <a:solidFill>
              <a:srgbClr val="C9C43D"/>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Object-oriented programming: the 4 pillars</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A </a:t>
            </a:r>
            <a:pPr indent="0" marL="0">
              <a:buNone/>
            </a:pPr>
            <a:r>
              <a:rPr lang="en-US" sz="1350" b="1" dirty="0">
                <a:solidFill>
                  <a:srgbClr val="5B6B60"/>
                </a:solidFill>
                <a:latin typeface="Calibri" pitchFamily="34" charset="0"/>
                <a:ea typeface="Calibri" pitchFamily="34" charset="-122"/>
                <a:cs typeface="Calibri" pitchFamily="34" charset="-120"/>
              </a:rPr>
              <a:t>class</a:t>
            </a:r>
            <a:pPr indent="0" marL="0">
              <a:buNone/>
            </a:pPr>
            <a:r>
              <a:rPr lang="en-US" sz="1350" dirty="0">
                <a:solidFill>
                  <a:srgbClr val="5B6B60"/>
                </a:solidFill>
                <a:latin typeface="Calibri" pitchFamily="34" charset="0"/>
                <a:ea typeface="Calibri" pitchFamily="34" charset="-122"/>
                <a:cs typeface="Calibri" pitchFamily="34" charset="-120"/>
              </a:rPr>
              <a:t> is a blueprint; an </a:t>
            </a:r>
            <a:pPr indent="0" marL="0">
              <a:buNone/>
            </a:pPr>
            <a:r>
              <a:rPr lang="en-US" sz="1350" b="1" dirty="0">
                <a:solidFill>
                  <a:srgbClr val="5B6B60"/>
                </a:solidFill>
                <a:latin typeface="Calibri" pitchFamily="34" charset="0"/>
                <a:ea typeface="Calibri" pitchFamily="34" charset="-122"/>
                <a:cs typeface="Calibri" pitchFamily="34" charset="-120"/>
              </a:rPr>
              <a:t>object</a:t>
            </a:r>
            <a:pPr indent="0" marL="0">
              <a:buNone/>
            </a:pPr>
            <a:r>
              <a:rPr lang="en-US" sz="1350" dirty="0">
                <a:solidFill>
                  <a:srgbClr val="5B6B60"/>
                </a:solidFill>
                <a:latin typeface="Calibri" pitchFamily="34" charset="0"/>
                <a:ea typeface="Calibri" pitchFamily="34" charset="-122"/>
                <a:cs typeface="Calibri" pitchFamily="34" charset="-120"/>
              </a:rPr>
              <a:t> is an instance with </a:t>
            </a:r>
            <a:pPr indent="0" marL="0">
              <a:buNone/>
            </a:pPr>
            <a:r>
              <a:rPr lang="en-US" sz="1350" i="1" dirty="0">
                <a:solidFill>
                  <a:srgbClr val="5B6B60"/>
                </a:solidFill>
                <a:latin typeface="Calibri" pitchFamily="34" charset="0"/>
                <a:ea typeface="Calibri" pitchFamily="34" charset="-122"/>
                <a:cs typeface="Calibri" pitchFamily="34" charset="-120"/>
              </a:rPr>
              <a:t>state</a:t>
            </a:r>
            <a:pPr indent="0" marL="0">
              <a:buNone/>
            </a:pPr>
            <a:r>
              <a:rPr lang="en-US" sz="1350" dirty="0">
                <a:solidFill>
                  <a:srgbClr val="5B6B60"/>
                </a:solidFill>
                <a:latin typeface="Calibri" pitchFamily="34" charset="0"/>
                <a:ea typeface="Calibri" pitchFamily="34" charset="-122"/>
                <a:cs typeface="Calibri" pitchFamily="34" charset="-120"/>
              </a:rPr>
              <a:t> (fields), </a:t>
            </a:r>
            <a:pPr indent="0" marL="0">
              <a:buNone/>
            </a:pPr>
            <a:r>
              <a:rPr lang="en-US" sz="1350" i="1" dirty="0">
                <a:solidFill>
                  <a:srgbClr val="5B6B60"/>
                </a:solidFill>
                <a:latin typeface="Calibri" pitchFamily="34" charset="0"/>
                <a:ea typeface="Calibri" pitchFamily="34" charset="-122"/>
                <a:cs typeface="Calibri" pitchFamily="34" charset="-120"/>
              </a:rPr>
              <a:t>behaviour</a:t>
            </a:r>
            <a:pPr indent="0" marL="0">
              <a:buNone/>
            </a:pPr>
            <a:r>
              <a:rPr lang="en-US" sz="1350" dirty="0">
                <a:solidFill>
                  <a:srgbClr val="5B6B60"/>
                </a:solidFill>
                <a:latin typeface="Calibri" pitchFamily="34" charset="0"/>
                <a:ea typeface="Calibri" pitchFamily="34" charset="-122"/>
                <a:cs typeface="Calibri" pitchFamily="34" charset="-120"/>
              </a:rPr>
              <a:t> (methods) and </a:t>
            </a:r>
            <a:pPr indent="0" marL="0">
              <a:buNone/>
            </a:pPr>
            <a:r>
              <a:rPr lang="en-US" sz="1350" i="1" dirty="0">
                <a:solidFill>
                  <a:srgbClr val="5B6B60"/>
                </a:solidFill>
                <a:latin typeface="Calibri" pitchFamily="34" charset="0"/>
                <a:ea typeface="Calibri" pitchFamily="34" charset="-122"/>
                <a:cs typeface="Calibri" pitchFamily="34" charset="-120"/>
              </a:rPr>
              <a:t>identity</a:t>
            </a:r>
            <a:pPr indent="0" marL="0">
              <a:buNone/>
            </a:pPr>
            <a:r>
              <a:rPr lang="en-US" sz="1350" dirty="0">
                <a:solidFill>
                  <a:srgbClr val="5B6B60"/>
                </a:solidFill>
                <a:latin typeface="Calibri" pitchFamily="34" charset="0"/>
                <a:ea typeface="Calibri" pitchFamily="34" charset="-122"/>
                <a:cs typeface="Calibri" pitchFamily="34" charset="-120"/>
              </a:rPr>
              <a:t>.</a:t>
            </a:r>
            <a:endParaRPr lang="en-US" sz="1350" dirty="0"/>
          </a:p>
        </p:txBody>
      </p:sp>
      <p:sp>
        <p:nvSpPr>
          <p:cNvPr id="7" name="Text 5"/>
          <p:cNvSpPr/>
          <p:nvPr/>
        </p:nvSpPr>
        <p:spPr>
          <a:xfrm>
            <a:off x="457200" y="1883664"/>
            <a:ext cx="5120640" cy="4471416"/>
          </a:xfrm>
          <a:prstGeom prst="rect">
            <a:avLst/>
          </a:prstGeom>
          <a:noFill/>
          <a:ln/>
        </p:spPr>
        <p:txBody>
          <a:bodyPr wrap="square" rtlCol="0" anchor="t"/>
          <a:lstStyle/>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Prefer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composition</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t>
            </a:r>
            <a:endParaRPr lang="en-US" sz="1700" dirty="0"/>
          </a:p>
          <a:p>
            <a:pPr marL="177800" indent="-177800">
              <a:spcAft>
                <a:spcPts val="400"/>
              </a:spcAft>
              <a:buSzPct val="100000"/>
              <a:buChar char="•"/>
            </a:pPr>
            <a:r>
              <a:rPr lang="en-US" sz="1700" i="1" dirty="0">
                <a:solidFill>
                  <a:srgbClr val="1F2A24"/>
                </a:solidFill>
                <a:latin typeface="Calibri" pitchFamily="34" charset="0"/>
                <a:ea typeface="Calibri" pitchFamily="34" charset="-122"/>
                <a:cs typeface="Calibri" pitchFamily="34" charset="-120"/>
              </a:rPr>
              <a:t>has-a</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over deep inheritance trees.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Access modifiers: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private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&lt; package-private (default) &lt;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protected</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&lt;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public</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a:t>
            </a:r>
            <a:endParaRPr lang="en-US" sz="1700" dirty="0"/>
          </a:p>
        </p:txBody>
      </p:sp>
      <p:sp>
        <p:nvSpPr>
          <p:cNvPr id="8" name="Text 6"/>
          <p:cNvSpPr/>
          <p:nvPr/>
        </p:nvSpPr>
        <p:spPr>
          <a:xfrm>
            <a:off x="5852160" y="1883664"/>
            <a:ext cx="5882335" cy="4471416"/>
          </a:xfrm>
          <a:prstGeom prst="rect">
            <a:avLst/>
          </a:prstGeom>
          <a:solidFill>
            <a:srgbClr val="F7F9F8"/>
          </a:solidFill>
          <a:ln w="9525">
            <a:solidFill>
              <a:srgbClr val="D5DDD7"/>
            </a:solidFill>
          </a:ln>
        </p:spPr>
        <p:txBody>
          <a:bodyPr wrap="square" lIns="1524" tIns="1524" rIns="1524" bIns="1524" rtlCol="0" anchor="t"/>
          <a:lstStyle/>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Encapsulation — Hide state behind methods; keep objects valid (private fields, public behaviour).</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Inheritance — Reuse and specialise: </a:t>
            </a:r>
            <a:endParaRPr lang="en-US" sz="1300" dirty="0"/>
          </a:p>
          <a:p>
            <a:pPr marL="177800" indent="-177800">
              <a:spcAft>
                <a:spcPts val="400"/>
              </a:spcAft>
              <a:buSzPct val="100000"/>
              <a:buChar char="•"/>
            </a:pPr>
            <a:r>
              <a:rPr lang="en-US" sz="1300" dirty="0">
                <a:solidFill>
                  <a:srgbClr val="B4235A"/>
                </a:solidFill>
                <a:latin typeface="Consolas" pitchFamily="34" charset="0"/>
                <a:ea typeface="Consolas" pitchFamily="34" charset="-122"/>
                <a:cs typeface="Consolas" pitchFamily="34" charset="-120"/>
              </a:rPr>
              <a:t>class Car extends Vehicle</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models an </a:t>
            </a:r>
            <a:endParaRPr lang="en-US" sz="1300" dirty="0"/>
          </a:p>
          <a:p>
            <a:pPr marL="177800" indent="-177800">
              <a:spcAft>
                <a:spcPts val="400"/>
              </a:spcAft>
              <a:buSzPct val="100000"/>
              <a:buChar char="•"/>
            </a:pPr>
            <a:r>
              <a:rPr lang="en-US" sz="1300" i="1" dirty="0">
                <a:solidFill>
                  <a:srgbClr val="1F2A24"/>
                </a:solidFill>
                <a:latin typeface="Calibri" pitchFamily="34" charset="0"/>
                <a:ea typeface="Calibri" pitchFamily="34" charset="-122"/>
                <a:cs typeface="Calibri" pitchFamily="34" charset="-120"/>
              </a:rPr>
              <a:t>is-a</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relationship.</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Polymorphism — One interface, many forms: the overriding method is chosen at runtime.</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Abstraction — Expose </a:t>
            </a:r>
            <a:endParaRPr lang="en-US" sz="1300" dirty="0"/>
          </a:p>
          <a:p>
            <a:pPr marL="177800" indent="-177800">
              <a:spcAft>
                <a:spcPts val="400"/>
              </a:spcAft>
              <a:buSzPct val="100000"/>
              <a:buChar char="•"/>
            </a:pPr>
            <a:r>
              <a:rPr lang="en-US" sz="1300" i="1" dirty="0">
                <a:solidFill>
                  <a:srgbClr val="1F2A24"/>
                </a:solidFill>
                <a:latin typeface="Calibri" pitchFamily="34" charset="0"/>
                <a:ea typeface="Calibri" pitchFamily="34" charset="-122"/>
                <a:cs typeface="Calibri" pitchFamily="34" charset="-120"/>
              </a:rPr>
              <a:t>what</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an object does, hide </a:t>
            </a:r>
            <a:endParaRPr lang="en-US" sz="1300" dirty="0"/>
          </a:p>
          <a:p>
            <a:pPr marL="177800" indent="-177800">
              <a:spcAft>
                <a:spcPts val="400"/>
              </a:spcAft>
              <a:buSzPct val="100000"/>
              <a:buChar char="•"/>
            </a:pPr>
            <a:r>
              <a:rPr lang="en-US" sz="1300" i="1" dirty="0">
                <a:solidFill>
                  <a:srgbClr val="1F2A24"/>
                </a:solidFill>
                <a:latin typeface="Calibri" pitchFamily="34" charset="0"/>
                <a:ea typeface="Calibri" pitchFamily="34" charset="-122"/>
                <a:cs typeface="Calibri" pitchFamily="34" charset="-120"/>
              </a:rPr>
              <a:t>how</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(abstract classes &amp; interfaces — Session 2).</a:t>
            </a:r>
            <a:endParaRPr lang="en-US" sz="13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C9C43D"/>
          </a:solidFill>
          <a:ln w="12700">
            <a:solidFill>
              <a:srgbClr val="C9C43D"/>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Encapsulation: an account that protects its invariants</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Make fields </a:t>
            </a:r>
            <a:pPr indent="0" marL="0">
              <a:buNone/>
            </a:pPr>
            <a:r>
              <a:rPr lang="en-US" sz="1350" dirty="0">
                <a:solidFill>
                  <a:srgbClr val="B4235A"/>
                </a:solidFill>
                <a:latin typeface="Consolas" pitchFamily="34" charset="0"/>
                <a:ea typeface="Consolas" pitchFamily="34" charset="-122"/>
                <a:cs typeface="Consolas" pitchFamily="34" charset="-120"/>
              </a:rPr>
              <a:t>private</a:t>
            </a:r>
            <a:pPr indent="0" marL="0">
              <a:buNone/>
            </a:pPr>
            <a:r>
              <a:rPr lang="en-US" sz="1350" dirty="0">
                <a:solidFill>
                  <a:srgbClr val="5B6B60"/>
                </a:solidFill>
                <a:latin typeface="Calibri" pitchFamily="34" charset="0"/>
                <a:ea typeface="Calibri" pitchFamily="34" charset="-122"/>
                <a:cs typeface="Calibri" pitchFamily="34" charset="-120"/>
              </a:rPr>
              <a:t>, validate in constructors and methods, and expose only the operations that keep the object valid.</a:t>
            </a:r>
            <a:endParaRPr lang="en-US" sz="1350" dirty="0"/>
          </a:p>
        </p:txBody>
      </p:sp>
      <p:sp>
        <p:nvSpPr>
          <p:cNvPr id="7" name="Text 5"/>
          <p:cNvSpPr/>
          <p:nvPr/>
        </p:nvSpPr>
        <p:spPr>
          <a:xfrm>
            <a:off x="457200" y="1883664"/>
            <a:ext cx="5120640" cy="3877056"/>
          </a:xfrm>
          <a:prstGeom prst="rect">
            <a:avLst/>
          </a:prstGeom>
          <a:noFill/>
          <a:ln/>
        </p:spPr>
        <p:txBody>
          <a:bodyPr wrap="square" rtlCol="0" anchor="t"/>
          <a:lstStyle/>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balance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can only change through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deposit()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withdraw()</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which enforce the rules.</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final</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field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accountNo</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is assigned once and never changes.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Invalid operations fail fast with an exception instead of corrupting state.</a:t>
            </a:r>
            <a:endParaRPr lang="en-US" sz="1700" dirty="0"/>
          </a:p>
        </p:txBody>
      </p:sp>
      <p:sp>
        <p:nvSpPr>
          <p:cNvPr id="8" name="Text 6"/>
          <p:cNvSpPr/>
          <p:nvPr/>
        </p:nvSpPr>
        <p:spPr>
          <a:xfrm>
            <a:off x="5852160" y="1883664"/>
            <a:ext cx="588233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BankAccount.java  (+1 more in the web notes)</a:t>
            </a:r>
            <a:endParaRPr lang="en-US" sz="900" dirty="0"/>
          </a:p>
        </p:txBody>
      </p:sp>
      <p:sp>
        <p:nvSpPr>
          <p:cNvPr id="9" name="Text 7"/>
          <p:cNvSpPr/>
          <p:nvPr/>
        </p:nvSpPr>
        <p:spPr>
          <a:xfrm>
            <a:off x="5852160" y="2157984"/>
            <a:ext cx="5882335" cy="360273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877" dirty="0">
                <a:solidFill>
                  <a:srgbClr val="24292F"/>
                </a:solidFill>
                <a:latin typeface="Consolas" pitchFamily="34" charset="0"/>
                <a:ea typeface="Consolas" pitchFamily="34" charset="-122"/>
                <a:cs typeface="Consolas" pitchFamily="34" charset="-120"/>
              </a:rPr>
              <a:t>public class BankAccount {</a:t>
            </a:r>
            <a:endParaRPr lang="en-US" sz="877" dirty="0"/>
          </a:p>
          <a:p>
            <a:pPr indent="0" marL="0">
              <a:buNone/>
            </a:pPr>
            <a:r>
              <a:rPr lang="en-US" sz="877" dirty="0">
                <a:solidFill>
                  <a:srgbClr val="24292F"/>
                </a:solidFill>
                <a:latin typeface="Consolas" pitchFamily="34" charset="0"/>
                <a:ea typeface="Consolas" pitchFamily="34" charset="-122"/>
                <a:cs typeface="Consolas" pitchFamily="34" charset="-120"/>
              </a:rPr>
              <a:t>    private final String accountNo;</a:t>
            </a:r>
            <a:endParaRPr lang="en-US" sz="877" dirty="0"/>
          </a:p>
          <a:p>
            <a:pPr indent="0" marL="0">
              <a:buNone/>
            </a:pPr>
            <a:r>
              <a:rPr lang="en-US" sz="877" dirty="0">
                <a:solidFill>
                  <a:srgbClr val="24292F"/>
                </a:solidFill>
                <a:latin typeface="Consolas" pitchFamily="34" charset="0"/>
                <a:ea typeface="Consolas" pitchFamily="34" charset="-122"/>
                <a:cs typeface="Consolas" pitchFamily="34" charset="-120"/>
              </a:rPr>
              <a:t>    private double balance;                       // hidden state</a:t>
            </a:r>
            <a:endParaRPr lang="en-US" sz="877" dirty="0"/>
          </a:p>
          <a:p>
            <a:pPr indent="0" marL="0">
              <a:buNone/>
            </a:pPr>
            <a:endParaRPr lang="en-US" sz="877" dirty="0"/>
          </a:p>
          <a:p>
            <a:pPr indent="0" marL="0">
              <a:buNone/>
            </a:pPr>
            <a:r>
              <a:rPr lang="en-US" sz="877" dirty="0">
                <a:solidFill>
                  <a:srgbClr val="24292F"/>
                </a:solidFill>
                <a:latin typeface="Consolas" pitchFamily="34" charset="0"/>
                <a:ea typeface="Consolas" pitchFamily="34" charset="-122"/>
                <a:cs typeface="Consolas" pitchFamily="34" charset="-120"/>
              </a:rPr>
              <a:t>    public BankAccount(String accountNo, double openingBalance) {</a:t>
            </a:r>
            <a:endParaRPr lang="en-US" sz="877" dirty="0"/>
          </a:p>
          <a:p>
            <a:pPr indent="0" marL="0">
              <a:buNone/>
            </a:pPr>
            <a:r>
              <a:rPr lang="en-US" sz="877" dirty="0">
                <a:solidFill>
                  <a:srgbClr val="24292F"/>
                </a:solidFill>
                <a:latin typeface="Consolas" pitchFamily="34" charset="0"/>
                <a:ea typeface="Consolas" pitchFamily="34" charset="-122"/>
                <a:cs typeface="Consolas" pitchFamily="34" charset="-120"/>
              </a:rPr>
              <a:t>        if (openingBalance &lt; 0) {</a:t>
            </a:r>
            <a:endParaRPr lang="en-US" sz="877" dirty="0"/>
          </a:p>
          <a:p>
            <a:pPr indent="0" marL="0">
              <a:buNone/>
            </a:pPr>
            <a:r>
              <a:rPr lang="en-US" sz="877" dirty="0">
                <a:solidFill>
                  <a:srgbClr val="24292F"/>
                </a:solidFill>
                <a:latin typeface="Consolas" pitchFamily="34" charset="0"/>
                <a:ea typeface="Consolas" pitchFamily="34" charset="-122"/>
                <a:cs typeface="Consolas" pitchFamily="34" charset="-120"/>
              </a:rPr>
              <a:t>            throw new IllegalArgumentException("Opening balance cannot be negative");</a:t>
            </a:r>
            <a:endParaRPr lang="en-US" sz="877" dirty="0"/>
          </a:p>
          <a:p>
            <a:pPr indent="0" marL="0">
              <a:buNone/>
            </a:pPr>
            <a:r>
              <a:rPr lang="en-US" sz="877" dirty="0">
                <a:solidFill>
                  <a:srgbClr val="24292F"/>
                </a:solidFill>
                <a:latin typeface="Consolas" pitchFamily="34" charset="0"/>
                <a:ea typeface="Consolas" pitchFamily="34" charset="-122"/>
                <a:cs typeface="Consolas" pitchFamily="34" charset="-120"/>
              </a:rPr>
              <a:t>        }</a:t>
            </a:r>
            <a:endParaRPr lang="en-US" sz="877" dirty="0"/>
          </a:p>
          <a:p>
            <a:pPr indent="0" marL="0">
              <a:buNone/>
            </a:pPr>
            <a:r>
              <a:rPr lang="en-US" sz="877" dirty="0">
                <a:solidFill>
                  <a:srgbClr val="24292F"/>
                </a:solidFill>
                <a:latin typeface="Consolas" pitchFamily="34" charset="0"/>
                <a:ea typeface="Consolas" pitchFamily="34" charset="-122"/>
                <a:cs typeface="Consolas" pitchFamily="34" charset="-120"/>
              </a:rPr>
              <a:t>        this.accountNo = accountNo;</a:t>
            </a:r>
            <a:endParaRPr lang="en-US" sz="877" dirty="0"/>
          </a:p>
          <a:p>
            <a:pPr indent="0" marL="0">
              <a:buNone/>
            </a:pPr>
            <a:r>
              <a:rPr lang="en-US" sz="877" dirty="0">
                <a:solidFill>
                  <a:srgbClr val="24292F"/>
                </a:solidFill>
                <a:latin typeface="Consolas" pitchFamily="34" charset="0"/>
                <a:ea typeface="Consolas" pitchFamily="34" charset="-122"/>
                <a:cs typeface="Consolas" pitchFamily="34" charset="-120"/>
              </a:rPr>
              <a:t>        this.balance = openingBalance;</a:t>
            </a:r>
            <a:endParaRPr lang="en-US" sz="877" dirty="0"/>
          </a:p>
          <a:p>
            <a:pPr indent="0" marL="0">
              <a:buNone/>
            </a:pPr>
            <a:r>
              <a:rPr lang="en-US" sz="877" dirty="0">
                <a:solidFill>
                  <a:srgbClr val="24292F"/>
                </a:solidFill>
                <a:latin typeface="Consolas" pitchFamily="34" charset="0"/>
                <a:ea typeface="Consolas" pitchFamily="34" charset="-122"/>
                <a:cs typeface="Consolas" pitchFamily="34" charset="-120"/>
              </a:rPr>
              <a:t>    }</a:t>
            </a:r>
            <a:endParaRPr lang="en-US" sz="877" dirty="0"/>
          </a:p>
          <a:p>
            <a:pPr indent="0" marL="0">
              <a:buNone/>
            </a:pPr>
            <a:endParaRPr lang="en-US" sz="877" dirty="0"/>
          </a:p>
          <a:p>
            <a:pPr indent="0" marL="0">
              <a:buNone/>
            </a:pPr>
            <a:r>
              <a:rPr lang="en-US" sz="877" dirty="0">
                <a:solidFill>
                  <a:srgbClr val="24292F"/>
                </a:solidFill>
                <a:latin typeface="Consolas" pitchFamily="34" charset="0"/>
                <a:ea typeface="Consolas" pitchFamily="34" charset="-122"/>
                <a:cs typeface="Consolas" pitchFamily="34" charset="-120"/>
              </a:rPr>
              <a:t>    public void deposit(double amount) {</a:t>
            </a:r>
            <a:endParaRPr lang="en-US" sz="877" dirty="0"/>
          </a:p>
          <a:p>
            <a:pPr indent="0" marL="0">
              <a:buNone/>
            </a:pPr>
            <a:r>
              <a:rPr lang="en-US" sz="877" dirty="0">
                <a:solidFill>
                  <a:srgbClr val="24292F"/>
                </a:solidFill>
                <a:latin typeface="Consolas" pitchFamily="34" charset="0"/>
                <a:ea typeface="Consolas" pitchFamily="34" charset="-122"/>
                <a:cs typeface="Consolas" pitchFamily="34" charset="-120"/>
              </a:rPr>
              <a:t>        if (amount &lt;= 0) throw new IllegalArgumentException("Deposit must be positive");</a:t>
            </a:r>
            <a:endParaRPr lang="en-US" sz="877" dirty="0"/>
          </a:p>
          <a:p>
            <a:pPr indent="0" marL="0">
              <a:buNone/>
            </a:pPr>
            <a:r>
              <a:rPr lang="en-US" sz="877" dirty="0">
                <a:solidFill>
                  <a:srgbClr val="24292F"/>
                </a:solidFill>
                <a:latin typeface="Consolas" pitchFamily="34" charset="0"/>
                <a:ea typeface="Consolas" pitchFamily="34" charset="-122"/>
                <a:cs typeface="Consolas" pitchFamily="34" charset="-120"/>
              </a:rPr>
              <a:t>        balance += amount;</a:t>
            </a:r>
            <a:endParaRPr lang="en-US" sz="877" dirty="0"/>
          </a:p>
          <a:p>
            <a:pPr indent="0" marL="0">
              <a:buNone/>
            </a:pPr>
            <a:r>
              <a:rPr lang="en-US" sz="877" dirty="0">
                <a:solidFill>
                  <a:srgbClr val="24292F"/>
                </a:solidFill>
                <a:latin typeface="Consolas" pitchFamily="34" charset="0"/>
                <a:ea typeface="Consolas" pitchFamily="34" charset="-122"/>
                <a:cs typeface="Consolas" pitchFamily="34" charset="-120"/>
              </a:rPr>
              <a:t>    }</a:t>
            </a:r>
            <a:endParaRPr lang="en-US" sz="877" dirty="0"/>
          </a:p>
          <a:p>
            <a:pPr indent="0" marL="0">
              <a:buNone/>
            </a:pPr>
            <a:endParaRPr lang="en-US" sz="877" dirty="0"/>
          </a:p>
          <a:p>
            <a:pPr indent="0" marL="0">
              <a:buNone/>
            </a:pPr>
            <a:r>
              <a:rPr lang="en-US" sz="877" dirty="0">
                <a:solidFill>
                  <a:srgbClr val="24292F"/>
                </a:solidFill>
                <a:latin typeface="Consolas" pitchFamily="34" charset="0"/>
                <a:ea typeface="Consolas" pitchFamily="34" charset="-122"/>
                <a:cs typeface="Consolas" pitchFamily="34" charset="-120"/>
              </a:rPr>
              <a:t>    public void withdraw(double amount) {</a:t>
            </a:r>
            <a:endParaRPr lang="en-US" sz="877" dirty="0"/>
          </a:p>
          <a:p>
            <a:pPr indent="0" marL="0">
              <a:buNone/>
            </a:pPr>
            <a:r>
              <a:rPr lang="en-US" sz="877" dirty="0">
                <a:solidFill>
                  <a:srgbClr val="24292F"/>
                </a:solidFill>
                <a:latin typeface="Consolas" pitchFamily="34" charset="0"/>
                <a:ea typeface="Consolas" pitchFamily="34" charset="-122"/>
                <a:cs typeface="Consolas" pitchFamily="34" charset="-120"/>
              </a:rPr>
              <a:t>// … full listing in the web notes</a:t>
            </a:r>
            <a:endParaRPr lang="en-US" sz="877" dirty="0"/>
          </a:p>
        </p:txBody>
      </p:sp>
      <p:sp>
        <p:nvSpPr>
          <p:cNvPr id="10" name="Text 8"/>
          <p:cNvSpPr/>
          <p:nvPr/>
        </p:nvSpPr>
        <p:spPr>
          <a:xfrm>
            <a:off x="457200" y="5806440"/>
            <a:ext cx="11277295" cy="530352"/>
          </a:xfrm>
          <a:prstGeom prst="rect">
            <a:avLst/>
          </a:prstGeom>
          <a:solidFill>
            <a:srgbClr val="FFF8E1"/>
          </a:solidFill>
          <a:ln w="9525">
            <a:solidFill>
              <a:srgbClr val="E9C46A"/>
            </a:solidFill>
          </a:ln>
        </p:spPr>
        <p:txBody>
          <a:bodyPr wrap="square" lIns="1016" tIns="1016" rIns="1016" bIns="1016" rtlCol="0" anchor="ctr"/>
          <a:lstStyle/>
          <a:p>
            <a:pPr indent="0" marL="0">
              <a:buNone/>
            </a:pPr>
            <a:r>
              <a:rPr lang="en-US" sz="1100" b="1" dirty="0">
                <a:solidFill>
                  <a:srgbClr val="1F2A24"/>
                </a:solidFill>
                <a:latin typeface="Calibri" pitchFamily="34" charset="0"/>
                <a:ea typeface="Calibri" pitchFamily="34" charset="-122"/>
                <a:cs typeface="Calibri" pitchFamily="34" charset="-120"/>
              </a:rPr>
              <a:t>WARN: </a:t>
            </a:r>
            <a:pPr indent="0" marL="0">
              <a:buNone/>
            </a:pPr>
            <a:r>
              <a:rPr lang="en-US" sz="1100" dirty="0">
                <a:solidFill>
                  <a:srgbClr val="B4235A"/>
                </a:solidFill>
                <a:latin typeface="Consolas" pitchFamily="34" charset="0"/>
                <a:ea typeface="Consolas" pitchFamily="34" charset="-122"/>
                <a:cs typeface="Consolas" pitchFamily="34" charset="-120"/>
              </a:rPr>
              <a:t>double</a:t>
            </a:r>
            <a:pPr indent="0" marL="0">
              <a:buNone/>
            </a:pPr>
            <a:r>
              <a:rPr lang="en-US" sz="1100" dirty="0">
                <a:solidFill>
                  <a:srgbClr val="1F2A24"/>
                </a:solidFill>
                <a:latin typeface="Calibri" pitchFamily="34" charset="0"/>
                <a:ea typeface="Calibri" pitchFamily="34" charset="-122"/>
                <a:cs typeface="Calibri" pitchFamily="34" charset="-120"/>
              </a:rPr>
              <a:t> is used here only to keep the first example simple. Real money code uses </a:t>
            </a:r>
            <a:pPr indent="0" marL="0">
              <a:buNone/>
            </a:pPr>
            <a:r>
              <a:rPr lang="en-US" sz="1100" dirty="0">
                <a:solidFill>
                  <a:srgbClr val="B4235A"/>
                </a:solidFill>
                <a:latin typeface="Consolas" pitchFamily="34" charset="0"/>
                <a:ea typeface="Consolas" pitchFamily="34" charset="-122"/>
                <a:cs typeface="Consolas" pitchFamily="34" charset="-120"/>
              </a:rPr>
              <a:t>BigDecimal</a:t>
            </a:r>
            <a:pPr indent="0" marL="0">
              <a:buNone/>
            </a:pPr>
            <a:r>
              <a:rPr lang="en-US" sz="1100" dirty="0">
                <a:solidFill>
                  <a:srgbClr val="1F2A24"/>
                </a:solidFill>
                <a:latin typeface="Calibri" pitchFamily="34" charset="0"/>
                <a:ea typeface="Calibri" pitchFamily="34" charset="-122"/>
                <a:cs typeface="Calibri" pitchFamily="34" charset="-120"/>
              </a:rPr>
              <a:t> (or integer paise) — we do exactly that in the Splitwise project (Session 12).</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C9C43D"/>
          </a:solidFill>
          <a:ln w="12700">
            <a:solidFill>
              <a:srgbClr val="C9C43D"/>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Inheritance &amp; polymorphism in action</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Subclasses override behaviour; the JVM picks the right method at runtime based on the </a:t>
            </a:r>
            <a:pPr indent="0" marL="0">
              <a:buNone/>
            </a:pPr>
            <a:r>
              <a:rPr lang="en-US" sz="1350" i="1" dirty="0">
                <a:solidFill>
                  <a:srgbClr val="5B6B60"/>
                </a:solidFill>
                <a:latin typeface="Calibri" pitchFamily="34" charset="0"/>
                <a:ea typeface="Calibri" pitchFamily="34" charset="-122"/>
                <a:cs typeface="Calibri" pitchFamily="34" charset="-120"/>
              </a:rPr>
              <a:t>actual</a:t>
            </a:r>
            <a:pPr indent="0" marL="0">
              <a:buNone/>
            </a:pPr>
            <a:r>
              <a:rPr lang="en-US" sz="1350" dirty="0">
                <a:solidFill>
                  <a:srgbClr val="5B6B60"/>
                </a:solidFill>
                <a:latin typeface="Calibri" pitchFamily="34" charset="0"/>
                <a:ea typeface="Calibri" pitchFamily="34" charset="-122"/>
                <a:cs typeface="Calibri" pitchFamily="34" charset="-120"/>
              </a:rPr>
              <a:t> object type (dynamic dispatch).</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NotifyDemo.java</a:t>
            </a:r>
            <a:endParaRPr lang="en-US" sz="900" dirty="0"/>
          </a:p>
        </p:txBody>
      </p:sp>
      <p:sp>
        <p:nvSpPr>
          <p:cNvPr id="8" name="Text 6"/>
          <p:cNvSpPr/>
          <p:nvPr/>
        </p:nvSpPr>
        <p:spPr>
          <a:xfrm>
            <a:off x="457200" y="2157984"/>
            <a:ext cx="11277295" cy="245973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import java.util.List;</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class Notification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protected final String to;</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Notification(String to) { this.to = to; }</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String send(String msg) { return "Notice to " + to + ": " + msg;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String send(String msg, int priority) {                 // OVERLOAD: compile-time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return send("[P" + priority + "] " + msg);</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full listing in the web notes</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4663440"/>
          <a:ext cx="11277295" cy="914400"/>
        </p:xfrm>
        <a:graphic>
          <a:graphicData uri="http://schemas.openxmlformats.org/drawingml/2006/table">
            <a:tbl>
              <a:tblPr/>
              <a:tblGrid>
                <a:gridCol w="3759098"/>
                <a:gridCol w="3759098"/>
                <a:gridCol w="3759098"/>
              </a:tblGrid>
              <a:tr h="329184">
                <a:tc>
                  <a:txBody>
                    <a:bodyPr/>
                    <a:lstStyle/>
                    <a:p>
                      <a:pPr indent="0" marL="0">
                        <a:buNone/>
                      </a:pP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Overloading</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Overriding</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Where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Same class (or subclass)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Subclass redefines a parent method</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Signature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Same name, different parameters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Same name and parameters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Resolved</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Compile time (static binding)</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Runtime (dynamic dispatch)</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Annotation</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@Override (always use it)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C9C43D"/>
          </a:solidFill>
          <a:ln w="12700">
            <a:solidFill>
              <a:srgbClr val="C9C43D"/>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Constructors, static, equals/hashCode &amp; records</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Constructors build valid objects, </a:t>
            </a:r>
            <a:pPr indent="0" marL="0">
              <a:buNone/>
            </a:pPr>
            <a:r>
              <a:rPr lang="en-US" sz="1350" dirty="0">
                <a:solidFill>
                  <a:srgbClr val="B4235A"/>
                </a:solidFill>
                <a:latin typeface="Consolas" pitchFamily="34" charset="0"/>
                <a:ea typeface="Consolas" pitchFamily="34" charset="-122"/>
                <a:cs typeface="Consolas" pitchFamily="34" charset="-120"/>
              </a:rPr>
              <a:t>static</a:t>
            </a:r>
            <a:pPr indent="0" marL="0">
              <a:buNone/>
            </a:pPr>
            <a:r>
              <a:rPr lang="en-US" sz="1350" dirty="0">
                <a:solidFill>
                  <a:srgbClr val="5B6B60"/>
                </a:solidFill>
                <a:latin typeface="Calibri" pitchFamily="34" charset="0"/>
                <a:ea typeface="Calibri" pitchFamily="34" charset="-122"/>
                <a:cs typeface="Calibri" pitchFamily="34" charset="-120"/>
              </a:rPr>
              <a:t> members belong to the class, and </a:t>
            </a:r>
            <a:pPr indent="0" marL="0">
              <a:buNone/>
            </a:pPr>
            <a:r>
              <a:rPr lang="en-US" sz="1350" dirty="0">
                <a:solidFill>
                  <a:srgbClr val="B4235A"/>
                </a:solidFill>
                <a:latin typeface="Consolas" pitchFamily="34" charset="0"/>
                <a:ea typeface="Consolas" pitchFamily="34" charset="-122"/>
                <a:cs typeface="Consolas" pitchFamily="34" charset="-120"/>
              </a:rPr>
              <a:t>equals</a:t>
            </a:r>
            <a:pPr indent="0" marL="0">
              <a:buNone/>
            </a:pPr>
            <a:r>
              <a:rPr lang="en-US" sz="1350" dirty="0">
                <a:solidFill>
                  <a:srgbClr val="5B6B60"/>
                </a:solidFill>
                <a:latin typeface="Calibri" pitchFamily="34" charset="0"/>
                <a:ea typeface="Calibri" pitchFamily="34" charset="-122"/>
                <a:cs typeface="Calibri" pitchFamily="34" charset="-120"/>
              </a:rPr>
              <a:t>/</a:t>
            </a:r>
            <a:pPr indent="0" marL="0">
              <a:buNone/>
            </a:pPr>
            <a:r>
              <a:rPr lang="en-US" sz="1350" dirty="0">
                <a:solidFill>
                  <a:srgbClr val="B4235A"/>
                </a:solidFill>
                <a:latin typeface="Consolas" pitchFamily="34" charset="0"/>
                <a:ea typeface="Consolas" pitchFamily="34" charset="-122"/>
                <a:cs typeface="Consolas" pitchFamily="34" charset="-120"/>
              </a:rPr>
              <a:t>hashCode</a:t>
            </a:r>
            <a:pPr indent="0" marL="0">
              <a:buNone/>
            </a:pPr>
            <a:r>
              <a:rPr lang="en-US" sz="1350" dirty="0">
                <a:solidFill>
                  <a:srgbClr val="5B6B60"/>
                </a:solidFill>
                <a:latin typeface="Calibri" pitchFamily="34" charset="0"/>
                <a:ea typeface="Calibri" pitchFamily="34" charset="-122"/>
                <a:cs typeface="Calibri" pitchFamily="34" charset="-120"/>
              </a:rPr>
              <a:t> define </a:t>
            </a:r>
            <a:pPr indent="0" marL="0">
              <a:buNone/>
            </a:pPr>
            <a:r>
              <a:rPr lang="en-US" sz="1350" i="1" dirty="0">
                <a:solidFill>
                  <a:srgbClr val="5B6B60"/>
                </a:solidFill>
                <a:latin typeface="Calibri" pitchFamily="34" charset="0"/>
                <a:ea typeface="Calibri" pitchFamily="34" charset="-122"/>
                <a:cs typeface="Calibri" pitchFamily="34" charset="-120"/>
              </a:rPr>
              <a:t>logical</a:t>
            </a:r>
            <a:pPr indent="0" marL="0">
              <a:buNone/>
            </a:pPr>
            <a:r>
              <a:rPr lang="en-US" sz="1350" dirty="0">
                <a:solidFill>
                  <a:srgbClr val="5B6B60"/>
                </a:solidFill>
                <a:latin typeface="Calibri" pitchFamily="34" charset="0"/>
                <a:ea typeface="Calibri" pitchFamily="34" charset="-122"/>
                <a:cs typeface="Calibri" pitchFamily="34" charset="-120"/>
              </a:rPr>
              <a:t> identity.</a:t>
            </a:r>
            <a:endParaRPr lang="en-US" sz="1350" dirty="0"/>
          </a:p>
        </p:txBody>
      </p:sp>
      <p:sp>
        <p:nvSpPr>
          <p:cNvPr id="7" name="Text 5"/>
          <p:cNvSpPr/>
          <p:nvPr/>
        </p:nvSpPr>
        <p:spPr>
          <a:xfrm>
            <a:off x="457200" y="1883664"/>
            <a:ext cx="5120640" cy="4471416"/>
          </a:xfrm>
          <a:prstGeom prst="rect">
            <a:avLst/>
          </a:prstGeom>
          <a:noFill/>
          <a:ln/>
        </p:spPr>
        <p:txBody>
          <a:bodyPr wrap="square" rtlCol="0" anchor="t"/>
          <a:lstStyle/>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this(...)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chains constructors;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super(...)</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calls the parent constructor (must be the first statement).</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compares references;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equals()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compares meaning — override it together with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hashCode()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Records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(Java 16+) generate constructor, accessors,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equals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hashCode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toString</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for immutable data.</a:t>
            </a:r>
            <a:endParaRPr lang="en-US" sz="1700" dirty="0"/>
          </a:p>
        </p:txBody>
      </p:sp>
      <p:sp>
        <p:nvSpPr>
          <p:cNvPr id="8" name="Text 6"/>
          <p:cNvSpPr/>
          <p:nvPr/>
        </p:nvSpPr>
        <p:spPr>
          <a:xfrm>
            <a:off x="5852160" y="1883664"/>
            <a:ext cx="588233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ObjectsDemo.java</a:t>
            </a:r>
            <a:endParaRPr lang="en-US" sz="900" dirty="0"/>
          </a:p>
        </p:txBody>
      </p:sp>
      <p:sp>
        <p:nvSpPr>
          <p:cNvPr id="9" name="Text 7"/>
          <p:cNvSpPr/>
          <p:nvPr/>
        </p:nvSpPr>
        <p:spPr>
          <a:xfrm>
            <a:off x="5852160" y="2157984"/>
            <a:ext cx="5882335" cy="419709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848" dirty="0">
                <a:solidFill>
                  <a:srgbClr val="24292F"/>
                </a:solidFill>
                <a:latin typeface="Consolas" pitchFamily="34" charset="0"/>
                <a:ea typeface="Consolas" pitchFamily="34" charset="-122"/>
                <a:cs typeface="Consolas" pitchFamily="34" charset="-120"/>
              </a:rPr>
              <a:t>import java.util.Objects;</a:t>
            </a:r>
            <a:endParaRPr lang="en-US" sz="848" dirty="0"/>
          </a:p>
          <a:p>
            <a:pPr indent="0" marL="0">
              <a:buNone/>
            </a:pPr>
            <a:endParaRPr lang="en-US" sz="848" dirty="0"/>
          </a:p>
          <a:p>
            <a:pPr indent="0" marL="0">
              <a:buNone/>
            </a:pPr>
            <a:r>
              <a:rPr lang="en-US" sz="848" dirty="0">
                <a:solidFill>
                  <a:srgbClr val="24292F"/>
                </a:solidFill>
                <a:latin typeface="Consolas" pitchFamily="34" charset="0"/>
                <a:ea typeface="Consolas" pitchFamily="34" charset="-122"/>
                <a:cs typeface="Consolas" pitchFamily="34" charset="-120"/>
              </a:rPr>
              <a:t>public class ObjectsDemo {</a:t>
            </a:r>
            <a:endParaRPr lang="en-US" sz="848" dirty="0"/>
          </a:p>
          <a:p>
            <a:pPr indent="0" marL="0">
              <a:buNone/>
            </a:pPr>
            <a:endParaRPr lang="en-US" sz="848" dirty="0"/>
          </a:p>
          <a:p>
            <a:pPr indent="0" marL="0">
              <a:buNone/>
            </a:pPr>
            <a:r>
              <a:rPr lang="en-US" sz="848" dirty="0">
                <a:solidFill>
                  <a:srgbClr val="24292F"/>
                </a:solidFill>
                <a:latin typeface="Consolas" pitchFamily="34" charset="0"/>
                <a:ea typeface="Consolas" pitchFamily="34" charset="-122"/>
                <a:cs typeface="Consolas" pitchFamily="34" charset="-120"/>
              </a:rPr>
              <a:t>    static class Product {</a:t>
            </a:r>
            <a:endParaRPr lang="en-US" sz="848" dirty="0"/>
          </a:p>
          <a:p>
            <a:pPr indent="0" marL="0">
              <a:buNone/>
            </a:pPr>
            <a:r>
              <a:rPr lang="en-US" sz="848" dirty="0">
                <a:solidFill>
                  <a:srgbClr val="24292F"/>
                </a:solidFill>
                <a:latin typeface="Consolas" pitchFamily="34" charset="0"/>
                <a:ea typeface="Consolas" pitchFamily="34" charset="-122"/>
                <a:cs typeface="Consolas" pitchFamily="34" charset="-120"/>
              </a:rPr>
              <a:t>        private static int created = 0;              // one copy per class</a:t>
            </a:r>
            <a:endParaRPr lang="en-US" sz="848" dirty="0"/>
          </a:p>
          <a:p>
            <a:pPr indent="0" marL="0">
              <a:buNone/>
            </a:pPr>
            <a:r>
              <a:rPr lang="en-US" sz="848" dirty="0">
                <a:solidFill>
                  <a:srgbClr val="24292F"/>
                </a:solidFill>
                <a:latin typeface="Consolas" pitchFamily="34" charset="0"/>
                <a:ea typeface="Consolas" pitchFamily="34" charset="-122"/>
                <a:cs typeface="Consolas" pitchFamily="34" charset="-120"/>
              </a:rPr>
              <a:t>        private final String sku;</a:t>
            </a:r>
            <a:endParaRPr lang="en-US" sz="848" dirty="0"/>
          </a:p>
          <a:p>
            <a:pPr indent="0" marL="0">
              <a:buNone/>
            </a:pPr>
            <a:r>
              <a:rPr lang="en-US" sz="848" dirty="0">
                <a:solidFill>
                  <a:srgbClr val="24292F"/>
                </a:solidFill>
                <a:latin typeface="Consolas" pitchFamily="34" charset="0"/>
                <a:ea typeface="Consolas" pitchFamily="34" charset="-122"/>
                <a:cs typeface="Consolas" pitchFamily="34" charset="-120"/>
              </a:rPr>
              <a:t>        private final String name;</a:t>
            </a:r>
            <a:endParaRPr lang="en-US" sz="848" dirty="0"/>
          </a:p>
          <a:p>
            <a:pPr indent="0" marL="0">
              <a:buNone/>
            </a:pPr>
            <a:endParaRPr lang="en-US" sz="848" dirty="0"/>
          </a:p>
          <a:p>
            <a:pPr indent="0" marL="0">
              <a:buNone/>
            </a:pPr>
            <a:r>
              <a:rPr lang="en-US" sz="848" dirty="0">
                <a:solidFill>
                  <a:srgbClr val="24292F"/>
                </a:solidFill>
                <a:latin typeface="Consolas" pitchFamily="34" charset="0"/>
                <a:ea typeface="Consolas" pitchFamily="34" charset="-122"/>
                <a:cs typeface="Consolas" pitchFamily="34" charset="-120"/>
              </a:rPr>
              <a:t>        Product(String sku, String name) {</a:t>
            </a:r>
            <a:endParaRPr lang="en-US" sz="848" dirty="0"/>
          </a:p>
          <a:p>
            <a:pPr indent="0" marL="0">
              <a:buNone/>
            </a:pPr>
            <a:r>
              <a:rPr lang="en-US" sz="848" dirty="0">
                <a:solidFill>
                  <a:srgbClr val="24292F"/>
                </a:solidFill>
                <a:latin typeface="Consolas" pitchFamily="34" charset="0"/>
                <a:ea typeface="Consolas" pitchFamily="34" charset="-122"/>
                <a:cs typeface="Consolas" pitchFamily="34" charset="-120"/>
              </a:rPr>
              <a:t>            this.sku = sku;</a:t>
            </a:r>
            <a:endParaRPr lang="en-US" sz="848" dirty="0"/>
          </a:p>
          <a:p>
            <a:pPr indent="0" marL="0">
              <a:buNone/>
            </a:pPr>
            <a:r>
              <a:rPr lang="en-US" sz="848" dirty="0">
                <a:solidFill>
                  <a:srgbClr val="24292F"/>
                </a:solidFill>
                <a:latin typeface="Consolas" pitchFamily="34" charset="0"/>
                <a:ea typeface="Consolas" pitchFamily="34" charset="-122"/>
                <a:cs typeface="Consolas" pitchFamily="34" charset="-120"/>
              </a:rPr>
              <a:t>            this.name = name;</a:t>
            </a:r>
            <a:endParaRPr lang="en-US" sz="848" dirty="0"/>
          </a:p>
          <a:p>
            <a:pPr indent="0" marL="0">
              <a:buNone/>
            </a:pPr>
            <a:r>
              <a:rPr lang="en-US" sz="848" dirty="0">
                <a:solidFill>
                  <a:srgbClr val="24292F"/>
                </a:solidFill>
                <a:latin typeface="Consolas" pitchFamily="34" charset="0"/>
                <a:ea typeface="Consolas" pitchFamily="34" charset="-122"/>
                <a:cs typeface="Consolas" pitchFamily="34" charset="-120"/>
              </a:rPr>
              <a:t>            created++;</a:t>
            </a:r>
            <a:endParaRPr lang="en-US" sz="848" dirty="0"/>
          </a:p>
          <a:p>
            <a:pPr indent="0" marL="0">
              <a:buNone/>
            </a:pPr>
            <a:r>
              <a:rPr lang="en-US" sz="848" dirty="0">
                <a:solidFill>
                  <a:srgbClr val="24292F"/>
                </a:solidFill>
                <a:latin typeface="Consolas" pitchFamily="34" charset="0"/>
                <a:ea typeface="Consolas" pitchFamily="34" charset="-122"/>
                <a:cs typeface="Consolas" pitchFamily="34" charset="-120"/>
              </a:rPr>
              <a:t>        }</a:t>
            </a:r>
            <a:endParaRPr lang="en-US" sz="848" dirty="0"/>
          </a:p>
          <a:p>
            <a:pPr indent="0" marL="0">
              <a:buNone/>
            </a:pPr>
            <a:r>
              <a:rPr lang="en-US" sz="848" dirty="0">
                <a:solidFill>
                  <a:srgbClr val="24292F"/>
                </a:solidFill>
                <a:latin typeface="Consolas" pitchFamily="34" charset="0"/>
                <a:ea typeface="Consolas" pitchFamily="34" charset="-122"/>
                <a:cs typeface="Consolas" pitchFamily="34" charset="-120"/>
              </a:rPr>
              <a:t>        Product(String sku) { this(sku, "Unnamed"); } // constructor chaining</a:t>
            </a:r>
            <a:endParaRPr lang="en-US" sz="848" dirty="0"/>
          </a:p>
          <a:p>
            <a:pPr indent="0" marL="0">
              <a:buNone/>
            </a:pPr>
            <a:endParaRPr lang="en-US" sz="848" dirty="0"/>
          </a:p>
          <a:p>
            <a:pPr indent="0" marL="0">
              <a:buNone/>
            </a:pPr>
            <a:r>
              <a:rPr lang="en-US" sz="848" dirty="0">
                <a:solidFill>
                  <a:srgbClr val="24292F"/>
                </a:solidFill>
                <a:latin typeface="Consolas" pitchFamily="34" charset="0"/>
                <a:ea typeface="Consolas" pitchFamily="34" charset="-122"/>
                <a:cs typeface="Consolas" pitchFamily="34" charset="-120"/>
              </a:rPr>
              <a:t>        @Override public boolean equals(Object o) {</a:t>
            </a:r>
            <a:endParaRPr lang="en-US" sz="848" dirty="0"/>
          </a:p>
          <a:p>
            <a:pPr indent="0" marL="0">
              <a:buNone/>
            </a:pPr>
            <a:r>
              <a:rPr lang="en-US" sz="848" dirty="0">
                <a:solidFill>
                  <a:srgbClr val="24292F"/>
                </a:solidFill>
                <a:latin typeface="Consolas" pitchFamily="34" charset="0"/>
                <a:ea typeface="Consolas" pitchFamily="34" charset="-122"/>
                <a:cs typeface="Consolas" pitchFamily="34" charset="-120"/>
              </a:rPr>
              <a:t>            return o instanceof Product p &amp;&amp; sku.equals(p.sku);   // pattern matching</a:t>
            </a:r>
            <a:endParaRPr lang="en-US" sz="848" dirty="0"/>
          </a:p>
          <a:p>
            <a:pPr indent="0" marL="0">
              <a:buNone/>
            </a:pPr>
            <a:r>
              <a:rPr lang="en-US" sz="848" dirty="0">
                <a:solidFill>
                  <a:srgbClr val="24292F"/>
                </a:solidFill>
                <a:latin typeface="Consolas" pitchFamily="34" charset="0"/>
                <a:ea typeface="Consolas" pitchFamily="34" charset="-122"/>
                <a:cs typeface="Consolas" pitchFamily="34" charset="-120"/>
              </a:rPr>
              <a:t>        }</a:t>
            </a:r>
            <a:endParaRPr lang="en-US" sz="848" dirty="0"/>
          </a:p>
          <a:p>
            <a:pPr indent="0" marL="0">
              <a:buNone/>
            </a:pPr>
            <a:r>
              <a:rPr lang="en-US" sz="848" dirty="0">
                <a:solidFill>
                  <a:srgbClr val="24292F"/>
                </a:solidFill>
                <a:latin typeface="Consolas" pitchFamily="34" charset="0"/>
                <a:ea typeface="Consolas" pitchFamily="34" charset="-122"/>
                <a:cs typeface="Consolas" pitchFamily="34" charset="-120"/>
              </a:rPr>
              <a:t>        @Override public int hashCode() { return Objects.hash(sku); }</a:t>
            </a:r>
            <a:endParaRPr lang="en-US" sz="848" dirty="0"/>
          </a:p>
          <a:p>
            <a:pPr indent="0" marL="0">
              <a:buNone/>
            </a:pPr>
            <a:r>
              <a:rPr lang="en-US" sz="848" dirty="0">
                <a:solidFill>
                  <a:srgbClr val="24292F"/>
                </a:solidFill>
                <a:latin typeface="Consolas" pitchFamily="34" charset="0"/>
                <a:ea typeface="Consolas" pitchFamily="34" charset="-122"/>
                <a:cs typeface="Consolas" pitchFamily="34" charset="-120"/>
              </a:rPr>
              <a:t>        @Override public String toString() { return "Product[" + sku + ", " + name + "]"; }</a:t>
            </a:r>
            <a:endParaRPr lang="en-US" sz="848" dirty="0"/>
          </a:p>
          <a:p>
            <a:pPr indent="0" marL="0">
              <a:buNone/>
            </a:pPr>
            <a:r>
              <a:rPr lang="en-US" sz="848" dirty="0">
                <a:solidFill>
                  <a:srgbClr val="24292F"/>
                </a:solidFill>
                <a:latin typeface="Consolas" pitchFamily="34" charset="0"/>
                <a:ea typeface="Consolas" pitchFamily="34" charset="-122"/>
                <a:cs typeface="Consolas" pitchFamily="34" charset="-120"/>
              </a:rPr>
              <a:t>// … full listing in the web notes</a:t>
            </a:r>
            <a:endParaRPr lang="en-US" sz="848"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C9C43D"/>
          </a:solidFill>
          <a:ln w="12700">
            <a:solidFill>
              <a:srgbClr val="C9C43D"/>
            </a:solidFill>
            <a:prstDash val="solid"/>
          </a:ln>
        </p:spPr>
      </p:sp>
      <p:sp>
        <p:nvSpPr>
          <p:cNvPr id="3" name="Text 1"/>
          <p:cNvSpPr/>
          <p:nvPr/>
        </p:nvSpPr>
        <p:spPr>
          <a:xfrm>
            <a:off x="457200" y="256032"/>
            <a:ext cx="1463040" cy="292608"/>
          </a:xfrm>
          <a:prstGeom prst="roundRect">
            <a:avLst>
              <a:gd name="adj" fmla="val 18750"/>
            </a:avLst>
          </a:prstGeom>
          <a:solidFill>
            <a:srgbClr val="E8892E"/>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HANDS-ON LAB</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Lab: model a library and inspect it on the JVM</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Practise the four pillars, then look under the hood with the JDK tools.</a:t>
            </a:r>
            <a:endParaRPr lang="en-US" sz="1350" dirty="0"/>
          </a:p>
        </p:txBody>
      </p:sp>
      <p:sp>
        <p:nvSpPr>
          <p:cNvPr id="7" name="Text 5"/>
          <p:cNvSpPr/>
          <p:nvPr/>
        </p:nvSpPr>
        <p:spPr>
          <a:xfrm>
            <a:off x="457200" y="1883664"/>
            <a:ext cx="5577840" cy="4471416"/>
          </a:xfrm>
          <a:prstGeom prst="rect">
            <a:avLst/>
          </a:prstGeom>
          <a:noFill/>
          <a:ln/>
        </p:spPr>
        <p:txBody>
          <a:bodyPr wrap="square" rtlCol="0" anchor="t"/>
          <a:lstStyle/>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Install JDK 21 (Temurin) and confirm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java -version</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 and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javac -version</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 both print 21 or newer.</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Create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LibraryApp.java</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 with a base class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LibraryItem</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 (private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title</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 method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double lateFee(int days)</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 returning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days * 1.0</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Add subclasses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Book</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 (₹2/day) and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Dvd</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 (₹10/day, max ₹100) that </a:t>
            </a:r>
            <a:endParaRPr lang="en-US" sz="1300" dirty="0"/>
          </a:p>
          <a:p>
            <a:pPr marL="342900" indent="-342900">
              <a:spcAft>
                <a:spcPts val="400"/>
              </a:spcAft>
              <a:buSzPct val="100000"/>
              <a:buFont typeface="+mj-lt"/>
              <a:buAutoNum type="arabicPeriod" startAt="1"/>
            </a:pPr>
            <a:r>
              <a:rPr lang="en-US" sz="1300" b="1" dirty="0">
                <a:solidFill>
                  <a:srgbClr val="1F2A24"/>
                </a:solidFill>
                <a:latin typeface="Calibri" pitchFamily="34" charset="0"/>
                <a:ea typeface="Calibri" pitchFamily="34" charset="-122"/>
                <a:cs typeface="Calibri" pitchFamily="34" charset="-120"/>
              </a:rPr>
              <a:t>override</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lateFee</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 and call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super(title)</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Validate input in constructors (blank title →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IllegalArgumentException</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 and add a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toString()</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In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main</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 put items in a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List&lt;LibraryItem&gt;</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 and print the fee for a 12-day delay for each item.</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Compile and run: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javac LibraryApp.java</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 then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java LibraryApp</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 Also try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java LibraryApp.java</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 (single-file launch).</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Run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javap -c Book</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 and find the bytecode of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lateFee</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 run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java -Xlog:gc -Xmx64m LibraryApp</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 and read the GC line.</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Stretch: open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jshell</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 declare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record Point(int x, int y) {}</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 and compare two points with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 and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equals</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a:t>
            </a:r>
            <a:endParaRPr lang="en-US" sz="1300" dirty="0"/>
          </a:p>
        </p:txBody>
      </p:sp>
      <p:sp>
        <p:nvSpPr>
          <p:cNvPr id="8" name="Text 6"/>
          <p:cNvSpPr/>
          <p:nvPr/>
        </p:nvSpPr>
        <p:spPr>
          <a:xfrm>
            <a:off x="6217920" y="1883664"/>
            <a:ext cx="551657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LibraryApp.java</a:t>
            </a:r>
            <a:endParaRPr lang="en-US" sz="900" dirty="0"/>
          </a:p>
        </p:txBody>
      </p:sp>
      <p:sp>
        <p:nvSpPr>
          <p:cNvPr id="9" name="Text 7"/>
          <p:cNvSpPr/>
          <p:nvPr/>
        </p:nvSpPr>
        <p:spPr>
          <a:xfrm>
            <a:off x="6217920" y="2157984"/>
            <a:ext cx="5516575" cy="419709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750" dirty="0">
                <a:solidFill>
                  <a:srgbClr val="24292F"/>
                </a:solidFill>
                <a:latin typeface="Consolas" pitchFamily="34" charset="0"/>
                <a:ea typeface="Consolas" pitchFamily="34" charset="-122"/>
                <a:cs typeface="Consolas" pitchFamily="34" charset="-120"/>
              </a:rPr>
              <a:t>import java.util.List;</a:t>
            </a:r>
            <a:endParaRPr lang="en-US" sz="750" dirty="0"/>
          </a:p>
          <a:p>
            <a:pPr indent="0" marL="0">
              <a:buNone/>
            </a:pPr>
            <a:endParaRPr lang="en-US" sz="750" dirty="0"/>
          </a:p>
          <a:p>
            <a:pPr indent="0" marL="0">
              <a:buNone/>
            </a:pPr>
            <a:r>
              <a:rPr lang="en-US" sz="750" dirty="0">
                <a:solidFill>
                  <a:srgbClr val="24292F"/>
                </a:solidFill>
                <a:latin typeface="Consolas" pitchFamily="34" charset="0"/>
                <a:ea typeface="Consolas" pitchFamily="34" charset="-122"/>
                <a:cs typeface="Consolas" pitchFamily="34" charset="-120"/>
              </a:rPr>
              <a:t>class LibraryItem {</a:t>
            </a:r>
            <a:endParaRPr lang="en-US" sz="750" dirty="0"/>
          </a:p>
          <a:p>
            <a:pPr indent="0" marL="0">
              <a:buNone/>
            </a:pPr>
            <a:r>
              <a:rPr lang="en-US" sz="750" dirty="0">
                <a:solidFill>
                  <a:srgbClr val="24292F"/>
                </a:solidFill>
                <a:latin typeface="Consolas" pitchFamily="34" charset="0"/>
                <a:ea typeface="Consolas" pitchFamily="34" charset="-122"/>
                <a:cs typeface="Consolas" pitchFamily="34" charset="-120"/>
              </a:rPr>
              <a:t>    private final String title;</a:t>
            </a:r>
            <a:endParaRPr lang="en-US" sz="750" dirty="0"/>
          </a:p>
          <a:p>
            <a:pPr indent="0" marL="0">
              <a:buNone/>
            </a:pPr>
            <a:r>
              <a:rPr lang="en-US" sz="750" dirty="0">
                <a:solidFill>
                  <a:srgbClr val="24292F"/>
                </a:solidFill>
                <a:latin typeface="Consolas" pitchFamily="34" charset="0"/>
                <a:ea typeface="Consolas" pitchFamily="34" charset="-122"/>
                <a:cs typeface="Consolas" pitchFamily="34" charset="-120"/>
              </a:rPr>
              <a:t>    LibraryItem(String title) {</a:t>
            </a:r>
            <a:endParaRPr lang="en-US" sz="750" dirty="0"/>
          </a:p>
          <a:p>
            <a:pPr indent="0" marL="0">
              <a:buNone/>
            </a:pPr>
            <a:r>
              <a:rPr lang="en-US" sz="750" dirty="0">
                <a:solidFill>
                  <a:srgbClr val="24292F"/>
                </a:solidFill>
                <a:latin typeface="Consolas" pitchFamily="34" charset="0"/>
                <a:ea typeface="Consolas" pitchFamily="34" charset="-122"/>
                <a:cs typeface="Consolas" pitchFamily="34" charset="-120"/>
              </a:rPr>
              <a:t>        if (title == null || title.isBlank()) throw new IllegalArgumentException("title required");</a:t>
            </a:r>
            <a:endParaRPr lang="en-US" sz="750" dirty="0"/>
          </a:p>
          <a:p>
            <a:pPr indent="0" marL="0">
              <a:buNone/>
            </a:pPr>
            <a:r>
              <a:rPr lang="en-US" sz="750" dirty="0">
                <a:solidFill>
                  <a:srgbClr val="24292F"/>
                </a:solidFill>
                <a:latin typeface="Consolas" pitchFamily="34" charset="0"/>
                <a:ea typeface="Consolas" pitchFamily="34" charset="-122"/>
                <a:cs typeface="Consolas" pitchFamily="34" charset="-120"/>
              </a:rPr>
              <a:t>        this.title = title;</a:t>
            </a:r>
            <a:endParaRPr lang="en-US" sz="750" dirty="0"/>
          </a:p>
          <a:p>
            <a:pPr indent="0" marL="0">
              <a:buNone/>
            </a:pPr>
            <a:r>
              <a:rPr lang="en-US" sz="750" dirty="0">
                <a:solidFill>
                  <a:srgbClr val="24292F"/>
                </a:solidFill>
                <a:latin typeface="Consolas" pitchFamily="34" charset="0"/>
                <a:ea typeface="Consolas" pitchFamily="34" charset="-122"/>
                <a:cs typeface="Consolas" pitchFamily="34" charset="-120"/>
              </a:rPr>
              <a:t>    }</a:t>
            </a:r>
            <a:endParaRPr lang="en-US" sz="750" dirty="0"/>
          </a:p>
          <a:p>
            <a:pPr indent="0" marL="0">
              <a:buNone/>
            </a:pPr>
            <a:r>
              <a:rPr lang="en-US" sz="750" dirty="0">
                <a:solidFill>
                  <a:srgbClr val="24292F"/>
                </a:solidFill>
                <a:latin typeface="Consolas" pitchFamily="34" charset="0"/>
                <a:ea typeface="Consolas" pitchFamily="34" charset="-122"/>
                <a:cs typeface="Consolas" pitchFamily="34" charset="-120"/>
              </a:rPr>
              <a:t>    String title() { return title; }</a:t>
            </a:r>
            <a:endParaRPr lang="en-US" sz="750" dirty="0"/>
          </a:p>
          <a:p>
            <a:pPr indent="0" marL="0">
              <a:buNone/>
            </a:pPr>
            <a:r>
              <a:rPr lang="en-US" sz="750" dirty="0">
                <a:solidFill>
                  <a:srgbClr val="24292F"/>
                </a:solidFill>
                <a:latin typeface="Consolas" pitchFamily="34" charset="0"/>
                <a:ea typeface="Consolas" pitchFamily="34" charset="-122"/>
                <a:cs typeface="Consolas" pitchFamily="34" charset="-120"/>
              </a:rPr>
              <a:t>    double lateFee(int days) { return days * 1.0; }</a:t>
            </a:r>
            <a:endParaRPr lang="en-US" sz="750" dirty="0"/>
          </a:p>
          <a:p>
            <a:pPr indent="0" marL="0">
              <a:buNone/>
            </a:pPr>
            <a:r>
              <a:rPr lang="en-US" sz="750" dirty="0">
                <a:solidFill>
                  <a:srgbClr val="24292F"/>
                </a:solidFill>
                <a:latin typeface="Consolas" pitchFamily="34" charset="0"/>
                <a:ea typeface="Consolas" pitchFamily="34" charset="-122"/>
                <a:cs typeface="Consolas" pitchFamily="34" charset="-120"/>
              </a:rPr>
              <a:t>    @Override public String toString() { return getClass().getSimpleName() + "(" + title + ")"; }</a:t>
            </a:r>
            <a:endParaRPr lang="en-US" sz="750" dirty="0"/>
          </a:p>
          <a:p>
            <a:pPr indent="0" marL="0">
              <a:buNone/>
            </a:pPr>
            <a:r>
              <a:rPr lang="en-US" sz="750" dirty="0">
                <a:solidFill>
                  <a:srgbClr val="24292F"/>
                </a:solidFill>
                <a:latin typeface="Consolas" pitchFamily="34" charset="0"/>
                <a:ea typeface="Consolas" pitchFamily="34" charset="-122"/>
                <a:cs typeface="Consolas" pitchFamily="34" charset="-120"/>
              </a:rPr>
              <a:t>}</a:t>
            </a:r>
            <a:endParaRPr lang="en-US" sz="750" dirty="0"/>
          </a:p>
          <a:p>
            <a:pPr indent="0" marL="0">
              <a:buNone/>
            </a:pPr>
            <a:endParaRPr lang="en-US" sz="750" dirty="0"/>
          </a:p>
          <a:p>
            <a:pPr indent="0" marL="0">
              <a:buNone/>
            </a:pPr>
            <a:r>
              <a:rPr lang="en-US" sz="750" dirty="0">
                <a:solidFill>
                  <a:srgbClr val="24292F"/>
                </a:solidFill>
                <a:latin typeface="Consolas" pitchFamily="34" charset="0"/>
                <a:ea typeface="Consolas" pitchFamily="34" charset="-122"/>
                <a:cs typeface="Consolas" pitchFamily="34" charset="-120"/>
              </a:rPr>
              <a:t>class Book extends LibraryItem {</a:t>
            </a:r>
            <a:endParaRPr lang="en-US" sz="750" dirty="0"/>
          </a:p>
          <a:p>
            <a:pPr indent="0" marL="0">
              <a:buNone/>
            </a:pPr>
            <a:r>
              <a:rPr lang="en-US" sz="750" dirty="0">
                <a:solidFill>
                  <a:srgbClr val="24292F"/>
                </a:solidFill>
                <a:latin typeface="Consolas" pitchFamily="34" charset="0"/>
                <a:ea typeface="Consolas" pitchFamily="34" charset="-122"/>
                <a:cs typeface="Consolas" pitchFamily="34" charset="-120"/>
              </a:rPr>
              <a:t>    Book(String title) { super(title); }</a:t>
            </a:r>
            <a:endParaRPr lang="en-US" sz="750" dirty="0"/>
          </a:p>
          <a:p>
            <a:pPr indent="0" marL="0">
              <a:buNone/>
            </a:pPr>
            <a:r>
              <a:rPr lang="en-US" sz="750" dirty="0">
                <a:solidFill>
                  <a:srgbClr val="24292F"/>
                </a:solidFill>
                <a:latin typeface="Consolas" pitchFamily="34" charset="0"/>
                <a:ea typeface="Consolas" pitchFamily="34" charset="-122"/>
                <a:cs typeface="Consolas" pitchFamily="34" charset="-120"/>
              </a:rPr>
              <a:t>    @Override double lateFee(int days) { return days * 2.0; }</a:t>
            </a:r>
            <a:endParaRPr lang="en-US" sz="750" dirty="0"/>
          </a:p>
          <a:p>
            <a:pPr indent="0" marL="0">
              <a:buNone/>
            </a:pPr>
            <a:r>
              <a:rPr lang="en-US" sz="750" dirty="0">
                <a:solidFill>
                  <a:srgbClr val="24292F"/>
                </a:solidFill>
                <a:latin typeface="Consolas" pitchFamily="34" charset="0"/>
                <a:ea typeface="Consolas" pitchFamily="34" charset="-122"/>
                <a:cs typeface="Consolas" pitchFamily="34" charset="-120"/>
              </a:rPr>
              <a:t>}</a:t>
            </a:r>
            <a:endParaRPr lang="en-US" sz="750" dirty="0"/>
          </a:p>
          <a:p>
            <a:pPr indent="0" marL="0">
              <a:buNone/>
            </a:pPr>
            <a:endParaRPr lang="en-US" sz="750" dirty="0"/>
          </a:p>
          <a:p>
            <a:pPr indent="0" marL="0">
              <a:buNone/>
            </a:pPr>
            <a:r>
              <a:rPr lang="en-US" sz="750" dirty="0">
                <a:solidFill>
                  <a:srgbClr val="24292F"/>
                </a:solidFill>
                <a:latin typeface="Consolas" pitchFamily="34" charset="0"/>
                <a:ea typeface="Consolas" pitchFamily="34" charset="-122"/>
                <a:cs typeface="Consolas" pitchFamily="34" charset="-120"/>
              </a:rPr>
              <a:t>class Dvd extends LibraryItem {</a:t>
            </a:r>
            <a:endParaRPr lang="en-US" sz="750" dirty="0"/>
          </a:p>
          <a:p>
            <a:pPr indent="0" marL="0">
              <a:buNone/>
            </a:pPr>
            <a:r>
              <a:rPr lang="en-US" sz="750" dirty="0">
                <a:solidFill>
                  <a:srgbClr val="24292F"/>
                </a:solidFill>
                <a:latin typeface="Consolas" pitchFamily="34" charset="0"/>
                <a:ea typeface="Consolas" pitchFamily="34" charset="-122"/>
                <a:cs typeface="Consolas" pitchFamily="34" charset="-120"/>
              </a:rPr>
              <a:t>    Dvd(String title) { super(title); }</a:t>
            </a:r>
            <a:endParaRPr lang="en-US" sz="750" dirty="0"/>
          </a:p>
          <a:p>
            <a:pPr indent="0" marL="0">
              <a:buNone/>
            </a:pPr>
            <a:r>
              <a:rPr lang="en-US" sz="750" dirty="0">
                <a:solidFill>
                  <a:srgbClr val="24292F"/>
                </a:solidFill>
                <a:latin typeface="Consolas" pitchFamily="34" charset="0"/>
                <a:ea typeface="Consolas" pitchFamily="34" charset="-122"/>
                <a:cs typeface="Consolas" pitchFamily="34" charset="-120"/>
              </a:rPr>
              <a:t>    @Override double lateFee(int days) { return Math.min(days * 10.0, 100.0); }</a:t>
            </a:r>
            <a:endParaRPr lang="en-US" sz="750" dirty="0"/>
          </a:p>
          <a:p>
            <a:pPr indent="0" marL="0">
              <a:buNone/>
            </a:pPr>
            <a:r>
              <a:rPr lang="en-US" sz="750" dirty="0">
                <a:solidFill>
                  <a:srgbClr val="24292F"/>
                </a:solidFill>
                <a:latin typeface="Consolas" pitchFamily="34" charset="0"/>
                <a:ea typeface="Consolas" pitchFamily="34" charset="-122"/>
                <a:cs typeface="Consolas" pitchFamily="34" charset="-120"/>
              </a:rPr>
              <a:t>// … full listing in the web notes</a:t>
            </a:r>
            <a:endParaRPr lang="en-US" sz="75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C9C43D"/>
          </a:solidFill>
          <a:ln w="12700">
            <a:solidFill>
              <a:srgbClr val="C9C43D"/>
            </a:solidFill>
            <a:prstDash val="solid"/>
          </a:ln>
        </p:spPr>
      </p:sp>
      <p:sp>
        <p:nvSpPr>
          <p:cNvPr id="3" name="Text 1"/>
          <p:cNvSpPr/>
          <p:nvPr/>
        </p:nvSpPr>
        <p:spPr>
          <a:xfrm>
            <a:off x="457200" y="256032"/>
            <a:ext cx="1463040" cy="292608"/>
          </a:xfrm>
          <a:prstGeom prst="roundRect">
            <a:avLst>
              <a:gd name="adj" fmla="val 18750"/>
            </a:avLst>
          </a:prstGeom>
          <a:solidFill>
            <a:srgbClr val="9B6BF0"/>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QUIZ</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Quiz: JVM &amp; OOP fundamentals</a:t>
            </a:r>
            <a:endParaRPr lang="en-US" sz="2800" dirty="0"/>
          </a:p>
        </p:txBody>
      </p:sp>
      <p:sp>
        <p:nvSpPr>
          <p:cNvPr id="6" name="Text 4"/>
          <p:cNvSpPr/>
          <p:nvPr/>
        </p:nvSpPr>
        <p:spPr>
          <a:xfrm>
            <a:off x="457200" y="1261872"/>
            <a:ext cx="11277295" cy="5093208"/>
          </a:xfrm>
          <a:prstGeom prst="rect">
            <a:avLst/>
          </a:prstGeom>
          <a:noFill/>
          <a:ln/>
        </p:spPr>
        <p:txBody>
          <a:bodyPr wrap="square" rtlCol="0" anchor="t"/>
          <a:lstStyle/>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Q1. Which component turns frequently executed bytecode into native machine code?</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Class loader</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JIT compiler</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javac</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Garbage collector</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Q2. Where is the object created by </a:t>
            </a:r>
            <a:pPr indent="0" marL="0">
              <a:spcAft>
                <a:spcPts val="400"/>
              </a:spcAft>
              <a:buNone/>
            </a:pPr>
            <a:r>
              <a:rPr lang="en-US" sz="850" dirty="0">
                <a:solidFill>
                  <a:srgbClr val="B4235A"/>
                </a:solidFill>
                <a:latin typeface="Consolas" pitchFamily="34" charset="0"/>
                <a:ea typeface="Consolas" pitchFamily="34" charset="-122"/>
                <a:cs typeface="Consolas" pitchFamily="34" charset="-120"/>
              </a:rPr>
              <a:t>new Order("ORD-1", 3)</a:t>
            </a:r>
            <a:pPr indent="0" marL="0">
              <a:spcAft>
                <a:spcPts val="400"/>
              </a:spcAft>
              <a:buNone/>
            </a:pPr>
            <a:r>
              <a:rPr lang="en-US" sz="850" dirty="0">
                <a:solidFill>
                  <a:srgbClr val="1F2A24"/>
                </a:solidFill>
                <a:latin typeface="Calibri" pitchFamily="34" charset="0"/>
                <a:ea typeface="Calibri" pitchFamily="34" charset="-122"/>
                <a:cs typeface="Calibri" pitchFamily="34" charset="-120"/>
              </a:rPr>
              <a:t> stored?</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Thread stack</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Heap</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Metaspace</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PC register</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Q3. Why can't you replace </a:t>
            </a:r>
            <a:pPr indent="0" marL="0">
              <a:spcAft>
                <a:spcPts val="400"/>
              </a:spcAft>
              <a:buNone/>
            </a:pPr>
            <a:r>
              <a:rPr lang="en-US" sz="850" dirty="0">
                <a:solidFill>
                  <a:srgbClr val="B4235A"/>
                </a:solidFill>
                <a:latin typeface="Consolas" pitchFamily="34" charset="0"/>
                <a:ea typeface="Consolas" pitchFamily="34" charset="-122"/>
                <a:cs typeface="Consolas" pitchFamily="34" charset="-120"/>
              </a:rPr>
              <a:t>java.lang.String</a:t>
            </a:r>
            <a:pPr indent="0" marL="0">
              <a:spcAft>
                <a:spcPts val="400"/>
              </a:spcAft>
              <a:buNone/>
            </a:pPr>
            <a:r>
              <a:rPr lang="en-US" sz="850" dirty="0">
                <a:solidFill>
                  <a:srgbClr val="1F2A24"/>
                </a:solidFill>
                <a:latin typeface="Calibri" pitchFamily="34" charset="0"/>
                <a:ea typeface="Calibri" pitchFamily="34" charset="-122"/>
                <a:cs typeface="Calibri" pitchFamily="34" charset="-120"/>
              </a:rPr>
              <a:t> by putting your own </a:t>
            </a:r>
            <a:pPr indent="0" marL="0">
              <a:spcAft>
                <a:spcPts val="400"/>
              </a:spcAft>
              <a:buNone/>
            </a:pPr>
            <a:r>
              <a:rPr lang="en-US" sz="850" dirty="0">
                <a:solidFill>
                  <a:srgbClr val="B4235A"/>
                </a:solidFill>
                <a:latin typeface="Consolas" pitchFamily="34" charset="0"/>
                <a:ea typeface="Consolas" pitchFamily="34" charset="-122"/>
                <a:cs typeface="Consolas" pitchFamily="34" charset="-120"/>
              </a:rPr>
              <a:t>String.class</a:t>
            </a:r>
            <a:pPr indent="0" marL="0">
              <a:spcAft>
                <a:spcPts val="400"/>
              </a:spcAft>
              <a:buNone/>
            </a:pPr>
            <a:r>
              <a:rPr lang="en-US" sz="850" dirty="0">
                <a:solidFill>
                  <a:srgbClr val="1F2A24"/>
                </a:solidFill>
                <a:latin typeface="Calibri" pitchFamily="34" charset="0"/>
                <a:ea typeface="Calibri" pitchFamily="34" charset="-122"/>
                <a:cs typeface="Calibri" pitchFamily="34" charset="-120"/>
              </a:rPr>
              <a:t> on the class path?</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Strings are final</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Parent-first delegation loads the bootstrap version first</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The JIT ignores it</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javac forbids the package name</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Q4. Method </a:t>
            </a:r>
            <a:pPr indent="0" marL="0">
              <a:spcAft>
                <a:spcPts val="400"/>
              </a:spcAft>
              <a:buNone/>
            </a:pPr>
            <a:r>
              <a:rPr lang="en-US" sz="850" i="1" dirty="0">
                <a:solidFill>
                  <a:srgbClr val="1F2A24"/>
                </a:solidFill>
                <a:latin typeface="Calibri" pitchFamily="34" charset="0"/>
                <a:ea typeface="Calibri" pitchFamily="34" charset="-122"/>
                <a:cs typeface="Calibri" pitchFamily="34" charset="-120"/>
              </a:rPr>
              <a:t>overriding</a:t>
            </a:r>
            <a:pPr indent="0" marL="0">
              <a:spcAft>
                <a:spcPts val="400"/>
              </a:spcAft>
              <a:buNone/>
            </a:pPr>
            <a:r>
              <a:rPr lang="en-US" sz="850" dirty="0">
                <a:solidFill>
                  <a:srgbClr val="1F2A24"/>
                </a:solidFill>
                <a:latin typeface="Calibri" pitchFamily="34" charset="0"/>
                <a:ea typeface="Calibri" pitchFamily="34" charset="-122"/>
                <a:cs typeface="Calibri" pitchFamily="34" charset="-120"/>
              </a:rPr>
              <a:t> is resolved…</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At compile time</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At runtime, based on the actual object type</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By the class loader</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Only for static methods</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Q5. A class exposes </a:t>
            </a:r>
            <a:pPr indent="0" marL="0">
              <a:spcAft>
                <a:spcPts val="400"/>
              </a:spcAft>
              <a:buNone/>
            </a:pPr>
            <a:r>
              <a:rPr lang="en-US" sz="850" dirty="0">
                <a:solidFill>
                  <a:srgbClr val="B4235A"/>
                </a:solidFill>
                <a:latin typeface="Consolas" pitchFamily="34" charset="0"/>
                <a:ea typeface="Consolas" pitchFamily="34" charset="-122"/>
                <a:cs typeface="Consolas" pitchFamily="34" charset="-120"/>
              </a:rPr>
              <a:t>public double balance;</a:t>
            </a:r>
            <a:pPr indent="0" marL="0">
              <a:spcAft>
                <a:spcPts val="400"/>
              </a:spcAft>
              <a:buNone/>
            </a:pPr>
            <a:r>
              <a:rPr lang="en-US" sz="850" dirty="0">
                <a:solidFill>
                  <a:srgbClr val="1F2A24"/>
                </a:solidFill>
                <a:latin typeface="Calibri" pitchFamily="34" charset="0"/>
                <a:ea typeface="Calibri" pitchFamily="34" charset="-122"/>
                <a:cs typeface="Calibri" pitchFamily="34" charset="-120"/>
              </a:rPr>
              <a:t>. Which pillar does this violate?</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Inheritance</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Polymorphism</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Encapsulation</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Abstraction</a:t>
            </a:r>
            <a:endParaRPr lang="en-US" sz="85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C9C43D"/>
          </a:solidFill>
          <a:ln w="12700">
            <a:solidFill>
              <a:srgbClr val="C9C43D"/>
            </a:solidFill>
            <a:prstDash val="solid"/>
          </a:ln>
        </p:spPr>
      </p:sp>
      <p:sp>
        <p:nvSpPr>
          <p:cNvPr id="3" name="Text 1"/>
          <p:cNvSpPr/>
          <p:nvPr/>
        </p:nvSpPr>
        <p:spPr>
          <a:xfrm>
            <a:off x="457200" y="256032"/>
            <a:ext cx="1463040" cy="292608"/>
          </a:xfrm>
          <a:prstGeom prst="roundRect">
            <a:avLst>
              <a:gd name="adj" fmla="val 18750"/>
            </a:avLst>
          </a:prstGeom>
          <a:solidFill>
            <a:srgbClr val="C99A2E"/>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SUMMARY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Session 1 recap</a:t>
            </a:r>
            <a:endParaRPr lang="en-US" sz="2800" dirty="0"/>
          </a:p>
        </p:txBody>
      </p:sp>
      <p:sp>
        <p:nvSpPr>
          <p:cNvPr id="6" name="Text 4"/>
          <p:cNvSpPr/>
          <p:nvPr/>
        </p:nvSpPr>
        <p:spPr>
          <a:xfrm>
            <a:off x="457200" y="1261872"/>
            <a:ext cx="11277295" cy="5093208"/>
          </a:xfrm>
          <a:prstGeom prst="rect">
            <a:avLst/>
          </a:prstGeom>
          <a:noFill/>
          <a:ln/>
        </p:spPr>
        <p:txBody>
          <a:bodyPr wrap="square" rtlCol="0" anchor="t"/>
          <a:lstStyle/>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javac</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compiles to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bytecode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the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JVM</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loads, verifies, interprets and JIT-compiles it → write once, run anywhere.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JDK (tools) ⊃ runtime (libraries) ⊃ JVM (engine).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Heap &amp; Metaspace are shared; each thread has its own stack → the root of thread-safety questions.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Class loaders delegate parent-first; GC frees unreachable objects using generations.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OOP pillars: encapsulation, inheritance, polymorphism, abstraction. Use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@Override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override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equals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hashCode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together, prefer records for data.</a:t>
            </a:r>
            <a:endParaRPr lang="en-US" sz="1700" dirty="0"/>
          </a:p>
        </p:txBody>
      </p:sp>
      <p:sp>
        <p:nvSpPr>
          <p:cNvPr id="7" name="Text 5"/>
          <p:cNvSpPr/>
          <p:nvPr/>
        </p:nvSpPr>
        <p:spPr>
          <a:xfrm>
            <a:off x="457200" y="3867912"/>
            <a:ext cx="11277295" cy="2487168"/>
          </a:xfrm>
          <a:prstGeom prst="rect">
            <a:avLst/>
          </a:prstGeom>
          <a:noFill/>
          <a:ln/>
        </p:spPr>
        <p:txBody>
          <a:bodyPr wrap="square" rtlCol="0" anchor="t"/>
          <a:lstStyle/>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Bytecode</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Platform-neutral instructions in </a:t>
            </a:r>
            <a:endParaRPr lang="en-US" sz="1300" dirty="0"/>
          </a:p>
          <a:p>
            <a:pPr marL="177800" indent="-177800">
              <a:spcAft>
                <a:spcPts val="400"/>
              </a:spcAft>
              <a:buSzPct val="100000"/>
              <a:buChar char="•"/>
            </a:pPr>
            <a:r>
              <a:rPr lang="en-US" sz="1300" dirty="0">
                <a:solidFill>
                  <a:srgbClr val="B4235A"/>
                </a:solidFill>
                <a:latin typeface="Consolas" pitchFamily="34" charset="0"/>
                <a:ea typeface="Consolas" pitchFamily="34" charset="-122"/>
                <a:cs typeface="Consolas" pitchFamily="34" charset="-120"/>
              </a:rPr>
              <a:t>.class</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files, executed by the JVM.</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JIT</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Just-in-time compiler: turns hot bytecode into optimised native code at runtime.</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Metaspace</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Native memory area for class metadata (replaced PermGen in Java 8).</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GC root</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A starting point for reachability: stack locals, static fields, live threads.</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Pass-by-value</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Java copies arguments; for objects the copied value is the reference.</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Dynamic dispatch</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Choosing the overriding method at runtime from the object’s actual class.</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Record</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Concise immutable data class with generated equals/hashCode/toString.</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Delegation model</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A class loader asks its parent before loading a class itself.</a:t>
            </a:r>
            <a:endParaRPr lang="en-US" sz="13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C9C43D"/>
          </a:solidFill>
          <a:ln w="12700">
            <a:solidFill>
              <a:srgbClr val="C9C43D"/>
            </a:solidFill>
            <a:prstDash val="solid"/>
          </a:ln>
        </p:spPr>
      </p:sp>
      <p:sp>
        <p:nvSpPr>
          <p:cNvPr id="3" name="Text 1"/>
          <p:cNvSpPr/>
          <p:nvPr/>
        </p:nvSpPr>
        <p:spPr>
          <a:xfrm>
            <a:off x="457200" y="411480"/>
            <a:ext cx="7315200" cy="320040"/>
          </a:xfrm>
          <a:prstGeom prst="rect">
            <a:avLst/>
          </a:prstGeom>
          <a:noFill/>
          <a:ln/>
        </p:spPr>
        <p:txBody>
          <a:bodyPr wrap="square" rtlCol="0" anchor="ctr"/>
          <a:lstStyle/>
          <a:p>
            <a:pPr indent="0" marL="0">
              <a:buNone/>
            </a:pPr>
            <a:r>
              <a:rPr lang="en-US" sz="1200" b="1" dirty="0">
                <a:solidFill>
                  <a:srgbClr val="C9C43D"/>
                </a:solidFill>
                <a:latin typeface="Calibri" pitchFamily="34" charset="0"/>
                <a:ea typeface="Calibri" pitchFamily="34" charset="-122"/>
                <a:cs typeface="Calibri" pitchFamily="34" charset="-120"/>
              </a:rPr>
              <a:t>SESSION 2 OF 24  ·  MODULE 1</a:t>
            </a:r>
            <a:endParaRPr lang="en-US" sz="1200" dirty="0"/>
          </a:p>
        </p:txBody>
      </p:sp>
      <p:sp>
        <p:nvSpPr>
          <p:cNvPr id="4" name="Text 2"/>
          <p:cNvSpPr/>
          <p:nvPr/>
        </p:nvSpPr>
        <p:spPr>
          <a:xfrm>
            <a:off x="457200" y="777240"/>
            <a:ext cx="11277295" cy="1005840"/>
          </a:xfrm>
          <a:prstGeom prst="rect">
            <a:avLst/>
          </a:prstGeom>
          <a:noFill/>
          <a:ln/>
        </p:spPr>
        <p:txBody>
          <a:bodyPr wrap="square" rtlCol="0" anchor="t"/>
          <a:lstStyle/>
          <a:p>
            <a:pPr indent="0" marL="0">
              <a:buNone/>
            </a:pPr>
            <a:r>
              <a:rPr lang="en-US" sz="3000" b="1" dirty="0">
                <a:solidFill>
                  <a:srgbClr val="1F2A24"/>
                </a:solidFill>
                <a:latin typeface="Calibri" pitchFamily="34" charset="0"/>
                <a:ea typeface="Calibri" pitchFamily="34" charset="-122"/>
                <a:cs typeface="Calibri" pitchFamily="34" charset="-120"/>
              </a:rPr>
              <a:t>Abstract Classes, Interfaces &amp; the Exception Hierarchy</a:t>
            </a:r>
            <a:endParaRPr lang="en-US" sz="3000" dirty="0"/>
          </a:p>
        </p:txBody>
      </p:sp>
      <p:sp>
        <p:nvSpPr>
          <p:cNvPr id="5" name="Text 3"/>
          <p:cNvSpPr/>
          <p:nvPr/>
        </p:nvSpPr>
        <p:spPr>
          <a:xfrm>
            <a:off x="457200" y="1920240"/>
            <a:ext cx="5486400" cy="320040"/>
          </a:xfrm>
          <a:prstGeom prst="rect">
            <a:avLst/>
          </a:prstGeom>
          <a:noFill/>
          <a:ln/>
        </p:spPr>
        <p:txBody>
          <a:bodyPr wrap="square" rtlCol="0" anchor="ctr"/>
          <a:lstStyle/>
          <a:p>
            <a:pPr indent="0" marL="0">
              <a:buNone/>
            </a:pPr>
            <a:r>
              <a:rPr lang="en-US" sz="1300" b="1" dirty="0">
                <a:solidFill>
                  <a:srgbClr val="5B6B60"/>
                </a:solidFill>
                <a:latin typeface="Calibri" pitchFamily="34" charset="0"/>
                <a:ea typeface="Calibri" pitchFamily="34" charset="-122"/>
                <a:cs typeface="Calibri" pitchFamily="34" charset="-120"/>
              </a:rPr>
              <a:t>Brochure topics covered</a:t>
            </a:r>
            <a:endParaRPr lang="en-US" sz="1300" dirty="0"/>
          </a:p>
        </p:txBody>
      </p:sp>
      <p:sp>
        <p:nvSpPr>
          <p:cNvPr id="6" name="Text 4"/>
          <p:cNvSpPr/>
          <p:nvPr/>
        </p:nvSpPr>
        <p:spPr>
          <a:xfrm>
            <a:off x="457200" y="2240280"/>
            <a:ext cx="5577840" cy="1463040"/>
          </a:xfrm>
          <a:prstGeom prst="rect">
            <a:avLst/>
          </a:prstGeom>
          <a:noFill/>
          <a:ln/>
        </p:spPr>
        <p:txBody>
          <a:bodyPr wrap="square" rtlCol="0" anchor="t"/>
          <a:lstStyle/>
          <a:p>
            <a:pPr indent="0" marL="0">
              <a:spcAft>
                <a:spcPts val="400"/>
              </a:spcAft>
              <a:buNone/>
            </a:pPr>
            <a:r>
              <a:rPr lang="en-US" sz="1400" dirty="0">
                <a:solidFill>
                  <a:srgbClr val="1F2A24"/>
                </a:solidFill>
                <a:latin typeface="Calibri" pitchFamily="34" charset="0"/>
                <a:ea typeface="Calibri" pitchFamily="34" charset="-122"/>
                <a:cs typeface="Calibri" pitchFamily="34" charset="-120"/>
              </a:rPr>
              <a:t>✓ Abstract classes, interfaces &amp; exception hierarchy</a:t>
            </a:r>
            <a:endParaRPr lang="en-US" sz="1400" dirty="0"/>
          </a:p>
        </p:txBody>
      </p:sp>
      <p:sp>
        <p:nvSpPr>
          <p:cNvPr id="7" name="Text 5"/>
          <p:cNvSpPr/>
          <p:nvPr/>
        </p:nvSpPr>
        <p:spPr>
          <a:xfrm>
            <a:off x="457200" y="3749040"/>
            <a:ext cx="5486400" cy="320040"/>
          </a:xfrm>
          <a:prstGeom prst="rect">
            <a:avLst/>
          </a:prstGeom>
          <a:noFill/>
          <a:ln/>
        </p:spPr>
        <p:txBody>
          <a:bodyPr wrap="square" rtlCol="0" anchor="ctr"/>
          <a:lstStyle/>
          <a:p>
            <a:pPr indent="0" marL="0">
              <a:buNone/>
            </a:pPr>
            <a:r>
              <a:rPr lang="en-US" sz="1300" b="1" dirty="0">
                <a:solidFill>
                  <a:srgbClr val="5B6B60"/>
                </a:solidFill>
                <a:latin typeface="Calibri" pitchFamily="34" charset="0"/>
                <a:ea typeface="Calibri" pitchFamily="34" charset="-122"/>
                <a:cs typeface="Calibri" pitchFamily="34" charset="-120"/>
              </a:rPr>
              <a:t>Learning objectives</a:t>
            </a:r>
            <a:endParaRPr lang="en-US" sz="1300" dirty="0"/>
          </a:p>
        </p:txBody>
      </p:sp>
      <p:sp>
        <p:nvSpPr>
          <p:cNvPr id="8" name="Text 6"/>
          <p:cNvSpPr/>
          <p:nvPr/>
        </p:nvSpPr>
        <p:spPr>
          <a:xfrm>
            <a:off x="457200" y="4069080"/>
            <a:ext cx="5577840" cy="2286000"/>
          </a:xfrm>
          <a:prstGeom prst="rect">
            <a:avLst/>
          </a:prstGeom>
          <a:noFill/>
          <a:ln/>
        </p:spPr>
        <p:txBody>
          <a:bodyPr wrap="square" rtlCol="0" anchor="t"/>
          <a:lstStyle/>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Design with abstract classes (template method) and interfaces (contracts, default methods).</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Choose between an abstract class and an interface, and resolve the default-method diamond.</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Navigate Java's exception hierarchy and explain checked vs unchecked exceptions.</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Handle errors with try/catch/finally, multi-catch and try-with-resources, and create custom exceptions.</a:t>
            </a:r>
            <a:endParaRPr lang="en-US" sz="1250" dirty="0"/>
          </a:p>
        </p:txBody>
      </p:sp>
      <p:sp>
        <p:nvSpPr>
          <p:cNvPr id="9" name="Text 7"/>
          <p:cNvSpPr/>
          <p:nvPr/>
        </p:nvSpPr>
        <p:spPr>
          <a:xfrm>
            <a:off x="6400800" y="1920240"/>
            <a:ext cx="5303520" cy="320040"/>
          </a:xfrm>
          <a:prstGeom prst="rect">
            <a:avLst/>
          </a:prstGeom>
          <a:noFill/>
          <a:ln/>
        </p:spPr>
        <p:txBody>
          <a:bodyPr wrap="square" rtlCol="0" anchor="ctr"/>
          <a:lstStyle/>
          <a:p>
            <a:pPr indent="0" marL="0">
              <a:buNone/>
            </a:pPr>
            <a:r>
              <a:rPr lang="en-US" sz="1300" b="1" dirty="0">
                <a:solidFill>
                  <a:srgbClr val="5B6B60"/>
                </a:solidFill>
                <a:latin typeface="Calibri" pitchFamily="34" charset="0"/>
                <a:ea typeface="Calibri" pitchFamily="34" charset="-122"/>
                <a:cs typeface="Calibri" pitchFamily="34" charset="-120"/>
              </a:rPr>
              <a:t>Agenda</a:t>
            </a:r>
            <a:endParaRPr lang="en-US" sz="1300" dirty="0"/>
          </a:p>
        </p:txBody>
      </p:sp>
      <p:sp>
        <p:nvSpPr>
          <p:cNvPr id="10" name="Text 8"/>
          <p:cNvSpPr/>
          <p:nvPr/>
        </p:nvSpPr>
        <p:spPr>
          <a:xfrm>
            <a:off x="6400800" y="2240280"/>
            <a:ext cx="5303520" cy="4114800"/>
          </a:xfrm>
          <a:prstGeom prst="rect">
            <a:avLst/>
          </a:prstGeom>
          <a:noFill/>
          <a:ln/>
        </p:spPr>
        <p:txBody>
          <a:bodyPr wrap="square" rtlCol="0" anchor="t"/>
          <a:lstStyle/>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Abstract classes: partially built blueprints</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Practical: Template method with an abstract class</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Interfaces: contracts a class promises to fulfil</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Practical: Default methods &amp; the diamond problem</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Abstract class vs interface — when to use which?</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Practical: Program to an interface (a preview of Spring DI)</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The exception hierarchy</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Practical: try / catch / finally &amp; try-with-resources</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Practical: Custom exceptions for your domain</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Hands-on Lab: Lab: banking core with abstraction &amp; robust error handling</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Quiz: Quiz: abstraction &amp; exceptions</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Summary: Session 2 recap</a:t>
            </a:r>
            <a:endParaRPr lang="en-US" sz="125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C9C43D"/>
          </a:solidFill>
          <a:ln w="12700">
            <a:solidFill>
              <a:srgbClr val="C9C43D"/>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2</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Abstract classes: partially built blueprints</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An </a:t>
            </a:r>
            <a:pPr indent="0" marL="0">
              <a:buNone/>
            </a:pPr>
            <a:r>
              <a:rPr lang="en-US" sz="1350" dirty="0">
                <a:solidFill>
                  <a:srgbClr val="B4235A"/>
                </a:solidFill>
                <a:latin typeface="Consolas" pitchFamily="34" charset="0"/>
                <a:ea typeface="Consolas" pitchFamily="34" charset="-122"/>
                <a:cs typeface="Consolas" pitchFamily="34" charset="-120"/>
              </a:rPr>
              <a:t>abstract</a:t>
            </a:r>
            <a:pPr indent="0" marL="0">
              <a:buNone/>
            </a:pPr>
            <a:r>
              <a:rPr lang="en-US" sz="1350" dirty="0">
                <a:solidFill>
                  <a:srgbClr val="5B6B60"/>
                </a:solidFill>
                <a:latin typeface="Calibri" pitchFamily="34" charset="0"/>
                <a:ea typeface="Calibri" pitchFamily="34" charset="-122"/>
                <a:cs typeface="Calibri" pitchFamily="34" charset="-120"/>
              </a:rPr>
              <a:t> class captures what related classes </a:t>
            </a:r>
            <a:pPr indent="0" marL="0">
              <a:buNone/>
            </a:pPr>
            <a:r>
              <a:rPr lang="en-US" sz="1350" b="1" dirty="0">
                <a:solidFill>
                  <a:srgbClr val="5B6B60"/>
                </a:solidFill>
                <a:latin typeface="Calibri" pitchFamily="34" charset="0"/>
                <a:ea typeface="Calibri" pitchFamily="34" charset="-122"/>
                <a:cs typeface="Calibri" pitchFamily="34" charset="-120"/>
              </a:rPr>
              <a:t>share</a:t>
            </a:r>
            <a:pPr indent="0" marL="0">
              <a:buNone/>
            </a:pPr>
            <a:r>
              <a:rPr lang="en-US" sz="1350" dirty="0">
                <a:solidFill>
                  <a:srgbClr val="5B6B60"/>
                </a:solidFill>
                <a:latin typeface="Calibri" pitchFamily="34" charset="0"/>
                <a:ea typeface="Calibri" pitchFamily="34" charset="-122"/>
                <a:cs typeface="Calibri" pitchFamily="34" charset="-120"/>
              </a:rPr>
              <a:t> and forces subclasses to fill in what </a:t>
            </a:r>
            <a:pPr indent="0" marL="0">
              <a:buNone/>
            </a:pPr>
            <a:r>
              <a:rPr lang="en-US" sz="1350" b="1" dirty="0">
                <a:solidFill>
                  <a:srgbClr val="5B6B60"/>
                </a:solidFill>
                <a:latin typeface="Calibri" pitchFamily="34" charset="0"/>
                <a:ea typeface="Calibri" pitchFamily="34" charset="-122"/>
                <a:cs typeface="Calibri" pitchFamily="34" charset="-120"/>
              </a:rPr>
              <a:t>varies</a:t>
            </a:r>
            <a:pPr indent="0" marL="0">
              <a:buNone/>
            </a:pPr>
            <a:r>
              <a:rPr lang="en-US" sz="1350" dirty="0">
                <a:solidFill>
                  <a:srgbClr val="5B6B60"/>
                </a:solidFill>
                <a:latin typeface="Calibri" pitchFamily="34" charset="0"/>
                <a:ea typeface="Calibri" pitchFamily="34" charset="-122"/>
                <a:cs typeface="Calibri" pitchFamily="34" charset="-120"/>
              </a:rPr>
              <a:t>.</a:t>
            </a:r>
            <a:endParaRPr lang="en-US" sz="1350" dirty="0"/>
          </a:p>
        </p:txBody>
      </p:sp>
      <p:sp>
        <p:nvSpPr>
          <p:cNvPr id="7" name="Text 5"/>
          <p:cNvSpPr/>
          <p:nvPr/>
        </p:nvSpPr>
        <p:spPr>
          <a:xfrm>
            <a:off x="457200" y="1883664"/>
            <a:ext cx="5120640" cy="4471416"/>
          </a:xfrm>
          <a:prstGeom prst="rect">
            <a:avLst/>
          </a:prstGeom>
          <a:noFill/>
          <a:ln/>
        </p:spPr>
        <p:txBody>
          <a:bodyPr wrap="square" rtlCol="0" anchor="t"/>
          <a:lstStyle/>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Cannot be instantiated —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new Payment()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is a compile error.</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Can hold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state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(fields),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constructors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concrete methods </a:t>
            </a:r>
            <a:endParaRPr lang="en-US" sz="1700" dirty="0"/>
          </a:p>
          <a:p>
            <a:pPr marL="177800" indent="-177800">
              <a:spcAft>
                <a:spcPts val="400"/>
              </a:spcAft>
              <a:buSzPct val="100000"/>
              <a:buChar char="•"/>
            </a:pPr>
            <a:r>
              <a:rPr lang="en-US" sz="1700" i="1" dirty="0">
                <a:solidFill>
                  <a:srgbClr val="1F2A24"/>
                </a:solidFill>
                <a:latin typeface="Calibri" pitchFamily="34" charset="0"/>
                <a:ea typeface="Calibri" pitchFamily="34" charset="-122"/>
                <a:cs typeface="Calibri" pitchFamily="34" charset="-120"/>
              </a:rPr>
              <a:t>and</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abstract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methods (no body).</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A concrete subclass must implement every abstract method (or be abstract itself).</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Classic use: the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Template Method</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pattern — a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final</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algorithm with overridable steps.</a:t>
            </a:r>
            <a:endParaRPr lang="en-US" sz="1700" dirty="0"/>
          </a:p>
        </p:txBody>
      </p:sp>
      <p:sp>
        <p:nvSpPr>
          <p:cNvPr id="8" name="Text 6"/>
          <p:cNvSpPr/>
          <p:nvPr/>
        </p:nvSpPr>
        <p:spPr>
          <a:xfrm>
            <a:off x="5852160" y="1883664"/>
            <a:ext cx="5882335" cy="4471416"/>
          </a:xfrm>
          <a:prstGeom prst="rect">
            <a:avLst/>
          </a:prstGeom>
          <a:solidFill>
            <a:srgbClr val="F7F9F8"/>
          </a:solidFill>
          <a:ln w="9525">
            <a:solidFill>
              <a:srgbClr val="D5DDD7"/>
            </a:solidFill>
          </a:ln>
        </p:spPr>
        <p:txBody>
          <a:bodyPr wrap="square" lIns="1524" tIns="1524" rIns="1524" bIns="1524" rtlCol="0" anchor="t"/>
          <a:lstStyle/>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PaymentProcessor</a:t>
            </a:r>
            <a:endParaRPr lang="en-US" sz="1300" dirty="0"/>
          </a:p>
          <a:p>
            <a:pPr lvl="1" marL="3556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UpiProcessor</a:t>
            </a:r>
            <a:endParaRPr lang="en-US" sz="1300" dirty="0"/>
          </a:p>
          <a:p>
            <a:pPr lvl="1" marL="3556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CardProcessor</a:t>
            </a:r>
            <a:endParaRPr lang="en-US" sz="1300" dirty="0"/>
          </a:p>
          <a:p>
            <a:pPr lvl="1" marL="3556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WalletProcessor</a:t>
            </a:r>
            <a:endParaRPr lang="en-US" sz="13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C9C43D"/>
          </a:solidFill>
          <a:ln w="12700">
            <a:solidFill>
              <a:srgbClr val="C9C43D"/>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2</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Template method with an abstract class</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B4235A"/>
                </a:solidFill>
                <a:latin typeface="Consolas" pitchFamily="34" charset="0"/>
                <a:ea typeface="Consolas" pitchFamily="34" charset="-122"/>
                <a:cs typeface="Consolas" pitchFamily="34" charset="-120"/>
              </a:rPr>
              <a:t>process()</a:t>
            </a:r>
            <a:pPr indent="0" marL="0">
              <a:buNone/>
            </a:pPr>
            <a:r>
              <a:rPr lang="en-US" sz="1350" dirty="0">
                <a:solidFill>
                  <a:srgbClr val="5B6B60"/>
                </a:solidFill>
                <a:latin typeface="Calibri" pitchFamily="34" charset="0"/>
                <a:ea typeface="Calibri" pitchFamily="34" charset="-122"/>
                <a:cs typeface="Calibri" pitchFamily="34" charset="-120"/>
              </a:rPr>
              <a:t> fixes the algorithm; each subclass only supplies the steps that differ.</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TemplateDemo.java</a:t>
            </a:r>
            <a:endParaRPr lang="en-US" sz="900" dirty="0"/>
          </a:p>
        </p:txBody>
      </p:sp>
      <p:sp>
        <p:nvSpPr>
          <p:cNvPr id="8" name="Text 6"/>
          <p:cNvSpPr/>
          <p:nvPr/>
        </p:nvSpPr>
        <p:spPr>
          <a:xfrm>
            <a:off x="457200" y="2157984"/>
            <a:ext cx="11277295" cy="419709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import java.util.List;</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abstract class PaymentProcessor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private static int counter = 1000;</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Template method: fixed algorithm, customisable steps. final = cannot be overridden.</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public final String process(double amount)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if (amount &lt;= 0) throw new IllegalArgumentException("Amount must be positive");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double fee = fee(amount);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String ref = prefix() + "-" + (++counter);</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return String.format("%s | %-6s | amount=%.2f fee=%.2f total=%.2f",</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ref, name(), amount, fee, amount + fee);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protected abstract double fee(double amount);   // step each subclass must provide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protected abstract String prefix();</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protected String name() {                        // hook with a default implementation</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return getClass().getSimpleName().replace("Processor",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full listing in the web notes</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C9C43D"/>
          </a:solidFill>
          <a:ln w="12700">
            <a:solidFill>
              <a:srgbClr val="C9C43D"/>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2</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Interfaces: contracts a class promises to fulfil</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An interface says </a:t>
            </a:r>
            <a:pPr indent="0" marL="0">
              <a:buNone/>
            </a:pPr>
            <a:r>
              <a:rPr lang="en-US" sz="1350" b="1" dirty="0">
                <a:solidFill>
                  <a:srgbClr val="5B6B60"/>
                </a:solidFill>
                <a:latin typeface="Calibri" pitchFamily="34" charset="0"/>
                <a:ea typeface="Calibri" pitchFamily="34" charset="-122"/>
                <a:cs typeface="Calibri" pitchFamily="34" charset="-120"/>
              </a:rPr>
              <a:t>what</a:t>
            </a:r>
            <a:pPr indent="0" marL="0">
              <a:buNone/>
            </a:pPr>
            <a:r>
              <a:rPr lang="en-US" sz="1350" dirty="0">
                <a:solidFill>
                  <a:srgbClr val="5B6B60"/>
                </a:solidFill>
                <a:latin typeface="Calibri" pitchFamily="34" charset="0"/>
                <a:ea typeface="Calibri" pitchFamily="34" charset="-122"/>
                <a:cs typeface="Calibri" pitchFamily="34" charset="-120"/>
              </a:rPr>
              <a:t> a type can do. A class can implement </a:t>
            </a:r>
            <a:pPr indent="0" marL="0">
              <a:buNone/>
            </a:pPr>
            <a:r>
              <a:rPr lang="en-US" sz="1350" b="1" dirty="0">
                <a:solidFill>
                  <a:srgbClr val="5B6B60"/>
                </a:solidFill>
                <a:latin typeface="Calibri" pitchFamily="34" charset="0"/>
                <a:ea typeface="Calibri" pitchFamily="34" charset="-122"/>
                <a:cs typeface="Calibri" pitchFamily="34" charset="-120"/>
              </a:rPr>
              <a:t>many</a:t>
            </a:r>
            <a:pPr indent="0" marL="0">
              <a:buNone/>
            </a:pPr>
            <a:r>
              <a:rPr lang="en-US" sz="1350" dirty="0">
                <a:solidFill>
                  <a:srgbClr val="5B6B60"/>
                </a:solidFill>
                <a:latin typeface="Calibri" pitchFamily="34" charset="0"/>
                <a:ea typeface="Calibri" pitchFamily="34" charset="-122"/>
                <a:cs typeface="Calibri" pitchFamily="34" charset="-120"/>
              </a:rPr>
              <a:t> interfaces, which gives Java a safe form of multiple inheritance.</a:t>
            </a:r>
            <a:endParaRPr lang="en-US" sz="1350" dirty="0"/>
          </a:p>
        </p:txBody>
      </p:sp>
      <p:sp>
        <p:nvSpPr>
          <p:cNvPr id="7" name="Text 5"/>
          <p:cNvSpPr/>
          <p:nvPr/>
        </p:nvSpPr>
        <p:spPr>
          <a:xfrm>
            <a:off x="457200" y="1883664"/>
            <a:ext cx="5120640" cy="4471416"/>
          </a:xfrm>
          <a:prstGeom prst="rect">
            <a:avLst/>
          </a:prstGeom>
          <a:noFill/>
          <a:ln/>
        </p:spPr>
        <p:txBody>
          <a:bodyPr wrap="square" rtlCol="0" anchor="t"/>
          <a:lstStyle/>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Methods are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public abstract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by default; fields are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public static final</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constants.</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default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methods (Java 8) add behaviour without breaking existing implementations.</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static</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methods (Java 8) and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private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helper methods (Java 9) keep utilities next to the contract.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A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functional interface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has exactly one abstract method — the target type of lambdas (Session 3).</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sealed</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interfaces (Java 17) restrict which classes may implement them: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sealed interface Shape permits Circle, Square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a:t>
            </a:r>
            <a:endParaRPr lang="en-US" sz="1700" dirty="0"/>
          </a:p>
        </p:txBody>
      </p:sp>
      <p:sp>
        <p:nvSpPr>
          <p:cNvPr id="8" name="Text 6"/>
          <p:cNvSpPr/>
          <p:nvPr/>
        </p:nvSpPr>
        <p:spPr>
          <a:xfrm>
            <a:off x="5852160" y="1883664"/>
            <a:ext cx="5882335" cy="4471416"/>
          </a:xfrm>
          <a:prstGeom prst="rect">
            <a:avLst/>
          </a:prstGeom>
          <a:solidFill>
            <a:srgbClr val="F7F9F8"/>
          </a:solidFill>
          <a:ln w="9525">
            <a:solidFill>
              <a:srgbClr val="D5DDD7"/>
            </a:solidFill>
          </a:ln>
        </p:spPr>
        <p:txBody>
          <a:bodyPr wrap="square" lIns="1524" tIns="1524" rIns="1524" bIns="1524" rtlCol="0" anchor="t"/>
          <a:lstStyle/>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Parcel</a:t>
            </a:r>
            <a:endParaRPr lang="en-US" sz="1300" dirty="0"/>
          </a:p>
          <a:p>
            <a:pPr lvl="1" marL="3556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Trackable</a:t>
            </a:r>
            <a:endParaRPr lang="en-US" sz="1300" dirty="0"/>
          </a:p>
          <a:p>
            <a:pPr lvl="1" marL="3556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Insurable</a:t>
            </a:r>
            <a:endParaRPr lang="en-US" sz="13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C9C43D"/>
          </a:solidFill>
          <a:ln w="12700">
            <a:solidFill>
              <a:srgbClr val="C9C43D"/>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2</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Default methods &amp; the diamond problem</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If two interfaces provide the same default method, the class </a:t>
            </a:r>
            <a:pPr indent="0" marL="0">
              <a:buNone/>
            </a:pPr>
            <a:r>
              <a:rPr lang="en-US" sz="1350" b="1" dirty="0">
                <a:solidFill>
                  <a:srgbClr val="5B6B60"/>
                </a:solidFill>
                <a:latin typeface="Calibri" pitchFamily="34" charset="0"/>
                <a:ea typeface="Calibri" pitchFamily="34" charset="-122"/>
                <a:cs typeface="Calibri" pitchFamily="34" charset="-120"/>
              </a:rPr>
              <a:t>must</a:t>
            </a:r>
            <a:pPr indent="0" marL="0">
              <a:buNone/>
            </a:pPr>
            <a:r>
              <a:rPr lang="en-US" sz="1350" dirty="0">
                <a:solidFill>
                  <a:srgbClr val="5B6B60"/>
                </a:solidFill>
                <a:latin typeface="Calibri" pitchFamily="34" charset="0"/>
                <a:ea typeface="Calibri" pitchFamily="34" charset="-122"/>
                <a:cs typeface="Calibri" pitchFamily="34" charset="-120"/>
              </a:rPr>
              <a:t> override it and may pick one with </a:t>
            </a:r>
            <a:pPr indent="0" marL="0">
              <a:buNone/>
            </a:pPr>
            <a:r>
              <a:rPr lang="en-US" sz="1350" dirty="0">
                <a:solidFill>
                  <a:srgbClr val="B4235A"/>
                </a:solidFill>
                <a:latin typeface="Consolas" pitchFamily="34" charset="0"/>
                <a:ea typeface="Consolas" pitchFamily="34" charset="-122"/>
                <a:cs typeface="Consolas" pitchFamily="34" charset="-120"/>
              </a:rPr>
              <a:t>Interface.super.method()</a:t>
            </a:r>
            <a:pPr indent="0" marL="0">
              <a:buNone/>
            </a:pPr>
            <a:r>
              <a:rPr lang="en-US" sz="1350" dirty="0">
                <a:solidFill>
                  <a:srgbClr val="5B6B60"/>
                </a:solidFill>
                <a:latin typeface="Calibri" pitchFamily="34" charset="0"/>
                <a:ea typeface="Calibri" pitchFamily="34" charset="-122"/>
                <a:cs typeface="Calibri" pitchFamily="34" charset="-120"/>
              </a:rPr>
              <a:t>.</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InterfaceDemo.java</a:t>
            </a:r>
            <a:endParaRPr lang="en-US" sz="900" dirty="0"/>
          </a:p>
        </p:txBody>
      </p:sp>
      <p:sp>
        <p:nvSpPr>
          <p:cNvPr id="8" name="Text 6"/>
          <p:cNvSpPr/>
          <p:nvPr/>
        </p:nvSpPr>
        <p:spPr>
          <a:xfrm>
            <a:off x="457200" y="2157984"/>
            <a:ext cx="11277295" cy="360273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interface Trackable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String id();</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default String track() { return "Tracking " + id() + " via GPS";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static String carrier() { return "IndiaPost";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interface Insurable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double value();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default double premium() { return value() * 0.02;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default String track() { return "Insured item worth " + value(); }   // same signature!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Record accessors id() and value() implement the abstract methods automatically</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record Parcel(String id, double value) implements Trackable, Insurable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@Override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public String track() {                     // required: resolve the conflict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return Trackable.super.track() + " (insured)";</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full listing in the web notes</a:t>
            </a:r>
            <a:endParaRPr lang="en-US" sz="1100" dirty="0"/>
          </a:p>
        </p:txBody>
      </p:sp>
      <p:sp>
        <p:nvSpPr>
          <p:cNvPr id="9" name="Text 7"/>
          <p:cNvSpPr/>
          <p:nvPr/>
        </p:nvSpPr>
        <p:spPr>
          <a:xfrm>
            <a:off x="457200" y="5806440"/>
            <a:ext cx="11277295" cy="530352"/>
          </a:xfrm>
          <a:prstGeom prst="rect">
            <a:avLst/>
          </a:prstGeom>
          <a:solidFill>
            <a:srgbClr val="FFF8E1"/>
          </a:solidFill>
          <a:ln w="9525">
            <a:solidFill>
              <a:srgbClr val="E9C46A"/>
            </a:solidFill>
          </a:ln>
        </p:spPr>
        <p:txBody>
          <a:bodyPr wrap="square" lIns="1016" tIns="1016" rIns="1016" bIns="1016" rtlCol="0" anchor="ctr"/>
          <a:lstStyle/>
          <a:p>
            <a:pPr indent="0" marL="0">
              <a:buNone/>
            </a:pPr>
            <a:r>
              <a:rPr lang="en-US" sz="1100" b="1" dirty="0">
                <a:solidFill>
                  <a:srgbClr val="1F2A24"/>
                </a:solidFill>
                <a:latin typeface="Calibri" pitchFamily="34" charset="0"/>
                <a:ea typeface="Calibri" pitchFamily="34" charset="-122"/>
                <a:cs typeface="Calibri" pitchFamily="34" charset="-120"/>
              </a:rPr>
              <a:t>TIP: </a:t>
            </a:r>
            <a:pPr indent="0" marL="0">
              <a:buNone/>
            </a:pPr>
            <a:r>
              <a:rPr lang="en-US" sz="1100" dirty="0">
                <a:solidFill>
                  <a:srgbClr val="1F2A24"/>
                </a:solidFill>
                <a:latin typeface="Calibri" pitchFamily="34" charset="0"/>
                <a:ea typeface="Calibri" pitchFamily="34" charset="-122"/>
                <a:cs typeface="Calibri" pitchFamily="34" charset="-120"/>
              </a:rPr>
              <a:t>Resolution rules: (1) a class method always wins over an interface default; (2) a more specific interface wins over its parent; (3) otherwise the class must override explicitly.</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C9C43D"/>
          </a:solidFill>
          <a:ln w="12700">
            <a:solidFill>
              <a:srgbClr val="C9C43D"/>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2</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Abstract class vs interface — when to use which?</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Default to interfaces for contracts; reach for an abstract class when subclasses must share state or a fixed algorithm.</a:t>
            </a:r>
            <a:endParaRPr lang="en-US" sz="1350" dirty="0"/>
          </a:p>
        </p:txBody>
      </p:sp>
      <p:sp>
        <p:nvSpPr>
          <p:cNvPr id="7" name="Text 5"/>
          <p:cNvSpPr/>
          <p:nvPr/>
        </p:nvSpPr>
        <p:spPr>
          <a:xfrm>
            <a:off x="457200" y="1883664"/>
            <a:ext cx="11277295" cy="2139696"/>
          </a:xfrm>
          <a:prstGeom prst="rect">
            <a:avLst/>
          </a:prstGeom>
          <a:noFill/>
          <a:ln/>
        </p:spPr>
        <p:txBody>
          <a:bodyPr wrap="square" rtlCol="0" anchor="t"/>
          <a:lstStyle/>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Common combo: an interface for the contract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plus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an abstract base class with shared code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List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AbstractList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Use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sealed</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to model a closed set of alternatives (payment results, shapes, events).</a:t>
            </a:r>
            <a:endParaRPr lang="en-US" sz="17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57200" y="4069080"/>
          <a:ext cx="11277295" cy="914400"/>
        </p:xfrm>
        <a:graphic>
          <a:graphicData uri="http://schemas.openxmlformats.org/drawingml/2006/table">
            <a:tbl>
              <a:tblPr/>
              <a:tblGrid>
                <a:gridCol w="3759098"/>
                <a:gridCol w="3759098"/>
                <a:gridCol w="3759098"/>
              </a:tblGrid>
              <a:tr h="205740">
                <a:tc>
                  <a:txBody>
                    <a:bodyPr/>
                    <a:lstStyle/>
                    <a:p>
                      <a:pPr indent="0" marL="0">
                        <a:buNone/>
                      </a:pP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Abstract class</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Interface</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r>
              <a:tr h="205740">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Instantiate?</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05740">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State (instance fields)</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 Yes</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 Only static final constants</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05740">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Constructors</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 Yes</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 No</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05740">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Method kinds</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abstract + concrete (any access)</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abstract, default, static, private</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05740">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Inheritance</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A class extends one</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A class implements many</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05740">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Relationship</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is-a (family of types)</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can-do / role (capability)</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05740">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Typical example</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AbstractList, OncePerRequestFilter</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Comparable, Runnable, JpaRepository</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bl>
          </a:graphicData>
        </a:graphic>
      </p:graphicFrame>
      <p:sp>
        <p:nvSpPr>
          <p:cNvPr id="9" name="Text 6"/>
          <p:cNvSpPr/>
          <p:nvPr/>
        </p:nvSpPr>
        <p:spPr>
          <a:xfrm>
            <a:off x="457200" y="5806440"/>
            <a:ext cx="11277295" cy="530352"/>
          </a:xfrm>
          <a:prstGeom prst="rect">
            <a:avLst/>
          </a:prstGeom>
          <a:solidFill>
            <a:srgbClr val="FFF8E1"/>
          </a:solidFill>
          <a:ln w="9525">
            <a:solidFill>
              <a:srgbClr val="E9C46A"/>
            </a:solidFill>
          </a:ln>
        </p:spPr>
        <p:txBody>
          <a:bodyPr wrap="square" lIns="1016" tIns="1016" rIns="1016" bIns="1016" rtlCol="0" anchor="ctr"/>
          <a:lstStyle/>
          <a:p>
            <a:pPr indent="0" marL="0">
              <a:buNone/>
            </a:pPr>
            <a:r>
              <a:rPr lang="en-US" sz="1100" b="1" dirty="0">
                <a:solidFill>
                  <a:srgbClr val="1F2A24"/>
                </a:solidFill>
                <a:latin typeface="Calibri" pitchFamily="34" charset="0"/>
                <a:ea typeface="Calibri" pitchFamily="34" charset="-122"/>
                <a:cs typeface="Calibri" pitchFamily="34" charset="-120"/>
              </a:rPr>
              <a:t>INTERVIEW: </a:t>
            </a:r>
            <a:pPr indent="0" marL="0">
              <a:buNone/>
            </a:pPr>
            <a:r>
              <a:rPr lang="en-US" sz="1100" i="1" dirty="0">
                <a:solidFill>
                  <a:srgbClr val="1F2A24"/>
                </a:solidFill>
                <a:latin typeface="Calibri" pitchFamily="34" charset="0"/>
                <a:ea typeface="Calibri" pitchFamily="34" charset="-122"/>
                <a:cs typeface="Calibri" pitchFamily="34" charset="-120"/>
              </a:rPr>
              <a:t>Since Java 8 interfaces can have method bodies — why keep abstract classes?</a:t>
            </a:r>
            <a:pPr indent="0" marL="0">
              <a:buNone/>
            </a:pPr>
            <a:r>
              <a:rPr lang="en-US" sz="1100" dirty="0">
                <a:solidFill>
                  <a:srgbClr val="1F2A24"/>
                </a:solidFill>
                <a:latin typeface="Calibri" pitchFamily="34" charset="0"/>
                <a:ea typeface="Calibri" pitchFamily="34" charset="-122"/>
                <a:cs typeface="Calibri" pitchFamily="34" charset="-120"/>
              </a:rPr>
              <a:t> Because interfaces still cannot hold per-object state or constructors, and cannot have </a:t>
            </a:r>
            <a:pPr indent="0" marL="0">
              <a:buNone/>
            </a:pPr>
            <a:r>
              <a:rPr lang="en-US" sz="1100" dirty="0">
                <a:solidFill>
                  <a:srgbClr val="B4235A"/>
                </a:solidFill>
                <a:latin typeface="Consolas" pitchFamily="34" charset="0"/>
                <a:ea typeface="Consolas" pitchFamily="34" charset="-122"/>
                <a:cs typeface="Consolas" pitchFamily="34" charset="-120"/>
              </a:rPr>
              <a:t>protected</a:t>
            </a:r>
            <a:pPr indent="0" marL="0">
              <a:buNone/>
            </a:pPr>
            <a:r>
              <a:rPr lang="en-US" sz="1100" dirty="0">
                <a:solidFill>
                  <a:srgbClr val="1F2A24"/>
                </a:solidFill>
                <a:latin typeface="Calibri" pitchFamily="34" charset="0"/>
                <a:ea typeface="Calibri" pitchFamily="34" charset="-122"/>
                <a:cs typeface="Calibri" pitchFamily="34" charset="-120"/>
              </a:rPr>
              <a:t> or package-private members.</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C9C43D"/>
          </a:solidFill>
          <a:ln w="12700">
            <a:solidFill>
              <a:srgbClr val="C9C43D"/>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2</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Program to an interface (a preview of Spring DI)</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High-level code should depend on </a:t>
            </a:r>
            <a:pPr indent="0" marL="0">
              <a:buNone/>
            </a:pPr>
            <a:r>
              <a:rPr lang="en-US" sz="1350" b="1" dirty="0">
                <a:solidFill>
                  <a:srgbClr val="5B6B60"/>
                </a:solidFill>
                <a:latin typeface="Calibri" pitchFamily="34" charset="0"/>
                <a:ea typeface="Calibri" pitchFamily="34" charset="-122"/>
                <a:cs typeface="Calibri" pitchFamily="34" charset="-120"/>
              </a:rPr>
              <a:t>abstractions</a:t>
            </a:r>
            <a:pPr indent="0" marL="0">
              <a:buNone/>
            </a:pPr>
            <a:r>
              <a:rPr lang="en-US" sz="1350" dirty="0">
                <a:solidFill>
                  <a:srgbClr val="5B6B60"/>
                </a:solidFill>
                <a:latin typeface="Calibri" pitchFamily="34" charset="0"/>
                <a:ea typeface="Calibri" pitchFamily="34" charset="-122"/>
                <a:cs typeface="Calibri" pitchFamily="34" charset="-120"/>
              </a:rPr>
              <a:t>, not concrete classes — the Dependency Inversion Principle.</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DipDemo.java  (+1 more in the web notes)</a:t>
            </a:r>
            <a:endParaRPr lang="en-US" sz="900" dirty="0"/>
          </a:p>
        </p:txBody>
      </p:sp>
      <p:sp>
        <p:nvSpPr>
          <p:cNvPr id="8" name="Text 6"/>
          <p:cNvSpPr/>
          <p:nvPr/>
        </p:nvSpPr>
        <p:spPr>
          <a:xfrm>
            <a:off x="457200" y="2157984"/>
            <a:ext cx="11277295" cy="419709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import java.util.List;</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interface NotificationSender {                         // the contract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void send(String to, String message);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class EmailSender implements NotificationSender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public void send(String to, String message) { System.out.println("EMAIL -&gt; " + to + ": " + message);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class SmsSender implements NotificationSender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public void send(String to, String message) { System.out.println("SMS   -&gt; " + to + ": " + message);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class OrderService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private final List&lt;NotificationSender&gt; senders;       // depends on the abstraction only</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OrderService(List&lt;NotificationSender&gt; senders) {       // constructor injection</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this.senders = senders;</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full listing in the web notes</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C9C43D"/>
          </a:solidFill>
          <a:ln w="12700">
            <a:solidFill>
              <a:srgbClr val="C9C43D"/>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2</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The exception hierarchy</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Everything that can be thrown extends </a:t>
            </a:r>
            <a:pPr indent="0" marL="0">
              <a:buNone/>
            </a:pPr>
            <a:r>
              <a:rPr lang="en-US" sz="1350" dirty="0">
                <a:solidFill>
                  <a:srgbClr val="B4235A"/>
                </a:solidFill>
                <a:latin typeface="Consolas" pitchFamily="34" charset="0"/>
                <a:ea typeface="Consolas" pitchFamily="34" charset="-122"/>
                <a:cs typeface="Consolas" pitchFamily="34" charset="-120"/>
              </a:rPr>
              <a:t>Throwable</a:t>
            </a:r>
            <a:pPr indent="0" marL="0">
              <a:buNone/>
            </a:pPr>
            <a:r>
              <a:rPr lang="en-US" sz="1350" dirty="0">
                <a:solidFill>
                  <a:srgbClr val="5B6B60"/>
                </a:solidFill>
                <a:latin typeface="Calibri" pitchFamily="34" charset="0"/>
                <a:ea typeface="Calibri" pitchFamily="34" charset="-122"/>
                <a:cs typeface="Calibri" pitchFamily="34" charset="-120"/>
              </a:rPr>
              <a:t>. The branch an exception sits on decides how the compiler treats it.</a:t>
            </a:r>
            <a:endParaRPr lang="en-US" sz="1350" dirty="0"/>
          </a:p>
        </p:txBody>
      </p:sp>
      <p:sp>
        <p:nvSpPr>
          <p:cNvPr id="7" name="Text 5"/>
          <p:cNvSpPr/>
          <p:nvPr/>
        </p:nvSpPr>
        <p:spPr>
          <a:xfrm>
            <a:off x="457200" y="1883664"/>
            <a:ext cx="5120640" cy="4471416"/>
          </a:xfrm>
          <a:prstGeom prst="rect">
            <a:avLst/>
          </a:prstGeom>
          <a:noFill/>
          <a:ln/>
        </p:spPr>
        <p:txBody>
          <a:bodyPr wrap="square" rtlCol="0" anchor="t"/>
          <a:lstStyle/>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Error</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 serious JVM/system failures; applications should not try to recover.</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Checked exceptions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Exception</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but not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RuntimeException</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 the compiler forces you to catch or declare them with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throws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Unchecked exceptions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RuntimeException</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and its subclasses) — usually programming bugs or business-rule violations; not enforced by the compiler.</a:t>
            </a:r>
            <a:endParaRPr lang="en-US" sz="1700" dirty="0"/>
          </a:p>
        </p:txBody>
      </p:sp>
      <p:sp>
        <p:nvSpPr>
          <p:cNvPr id="8" name="Text 6"/>
          <p:cNvSpPr/>
          <p:nvPr/>
        </p:nvSpPr>
        <p:spPr>
          <a:xfrm>
            <a:off x="5852160" y="1883664"/>
            <a:ext cx="5882335" cy="4471416"/>
          </a:xfrm>
          <a:prstGeom prst="rect">
            <a:avLst/>
          </a:prstGeom>
          <a:solidFill>
            <a:srgbClr val="F7F9F8"/>
          </a:solidFill>
          <a:ln w="9525">
            <a:solidFill>
              <a:srgbClr val="D5DDD7"/>
            </a:solidFill>
          </a:ln>
        </p:spPr>
        <p:txBody>
          <a:bodyPr wrap="square" lIns="1524" tIns="1524" rIns="1524" bIns="1524" rtlCol="0" anchor="t"/>
          <a:lstStyle/>
          <a:p>
            <a:pPr marL="177800" indent="-177800">
              <a:spcAft>
                <a:spcPts val="400"/>
              </a:spcAft>
              <a:buSzPct val="100000"/>
              <a:buChar char="•"/>
            </a:pPr>
            <a:r>
              <a:rPr lang="en-US" sz="1200" dirty="0">
                <a:solidFill>
                  <a:srgbClr val="1F2A24"/>
                </a:solidFill>
                <a:latin typeface="Calibri" pitchFamily="34" charset="0"/>
                <a:ea typeface="Calibri" pitchFamily="34" charset="-122"/>
                <a:cs typeface="Calibri" pitchFamily="34" charset="-120"/>
              </a:rPr>
              <a:t>Throwable</a:t>
            </a:r>
            <a:endParaRPr lang="en-US" sz="1200" dirty="0"/>
          </a:p>
          <a:p>
            <a:pPr lvl="1" marL="355600" indent="-177800">
              <a:spcAft>
                <a:spcPts val="400"/>
              </a:spcAft>
              <a:buSzPct val="100000"/>
              <a:buChar char="•"/>
            </a:pPr>
            <a:r>
              <a:rPr lang="en-US" sz="1200" dirty="0">
                <a:solidFill>
                  <a:srgbClr val="1F2A24"/>
                </a:solidFill>
                <a:latin typeface="Calibri" pitchFamily="34" charset="0"/>
                <a:ea typeface="Calibri" pitchFamily="34" charset="-122"/>
                <a:cs typeface="Calibri" pitchFamily="34" charset="-120"/>
              </a:rPr>
              <a:t>Error</a:t>
            </a:r>
            <a:endParaRPr lang="en-US" sz="1200" dirty="0"/>
          </a:p>
          <a:p>
            <a:pPr lvl="2" marL="533400" indent="-177800">
              <a:spcAft>
                <a:spcPts val="400"/>
              </a:spcAft>
              <a:buSzPct val="100000"/>
              <a:buChar char="•"/>
            </a:pPr>
            <a:r>
              <a:rPr lang="en-US" sz="1200" dirty="0">
                <a:solidFill>
                  <a:srgbClr val="1F2A24"/>
                </a:solidFill>
                <a:latin typeface="Calibri" pitchFamily="34" charset="0"/>
                <a:ea typeface="Calibri" pitchFamily="34" charset="-122"/>
                <a:cs typeface="Calibri" pitchFamily="34" charset="-120"/>
              </a:rPr>
              <a:t>OutOfMemoryError</a:t>
            </a:r>
            <a:endParaRPr lang="en-US" sz="1200" dirty="0"/>
          </a:p>
          <a:p>
            <a:pPr lvl="2" marL="533400" indent="-177800">
              <a:spcAft>
                <a:spcPts val="400"/>
              </a:spcAft>
              <a:buSzPct val="100000"/>
              <a:buChar char="•"/>
            </a:pPr>
            <a:r>
              <a:rPr lang="en-US" sz="1200" dirty="0">
                <a:solidFill>
                  <a:srgbClr val="1F2A24"/>
                </a:solidFill>
                <a:latin typeface="Calibri" pitchFamily="34" charset="0"/>
                <a:ea typeface="Calibri" pitchFamily="34" charset="-122"/>
                <a:cs typeface="Calibri" pitchFamily="34" charset="-120"/>
              </a:rPr>
              <a:t>StackOverflowError</a:t>
            </a:r>
            <a:endParaRPr lang="en-US" sz="1200" dirty="0"/>
          </a:p>
          <a:p>
            <a:pPr lvl="1" marL="355600" indent="-177800">
              <a:spcAft>
                <a:spcPts val="400"/>
              </a:spcAft>
              <a:buSzPct val="100000"/>
              <a:buChar char="•"/>
            </a:pPr>
            <a:r>
              <a:rPr lang="en-US" sz="1200" dirty="0">
                <a:solidFill>
                  <a:srgbClr val="1F2A24"/>
                </a:solidFill>
                <a:latin typeface="Calibri" pitchFamily="34" charset="0"/>
                <a:ea typeface="Calibri" pitchFamily="34" charset="-122"/>
                <a:cs typeface="Calibri" pitchFamily="34" charset="-120"/>
              </a:rPr>
              <a:t>Exception</a:t>
            </a:r>
            <a:endParaRPr lang="en-US" sz="1200" dirty="0"/>
          </a:p>
          <a:p>
            <a:pPr lvl="2" marL="533400" indent="-177800">
              <a:spcAft>
                <a:spcPts val="400"/>
              </a:spcAft>
              <a:buSzPct val="100000"/>
              <a:buChar char="•"/>
            </a:pPr>
            <a:r>
              <a:rPr lang="en-US" sz="1200" dirty="0">
                <a:solidFill>
                  <a:srgbClr val="1F2A24"/>
                </a:solidFill>
                <a:latin typeface="Calibri" pitchFamily="34" charset="0"/>
                <a:ea typeface="Calibri" pitchFamily="34" charset="-122"/>
                <a:cs typeface="Calibri" pitchFamily="34" charset="-120"/>
              </a:rPr>
              <a:t>IOException</a:t>
            </a:r>
            <a:endParaRPr lang="en-US" sz="1200" dirty="0"/>
          </a:p>
          <a:p>
            <a:pPr lvl="3" marL="711200" indent="-177800">
              <a:spcAft>
                <a:spcPts val="400"/>
              </a:spcAft>
              <a:buSzPct val="100000"/>
              <a:buChar char="•"/>
            </a:pPr>
            <a:r>
              <a:rPr lang="en-US" sz="1200" dirty="0">
                <a:solidFill>
                  <a:srgbClr val="1F2A24"/>
                </a:solidFill>
                <a:latin typeface="Calibri" pitchFamily="34" charset="0"/>
                <a:ea typeface="Calibri" pitchFamily="34" charset="-122"/>
                <a:cs typeface="Calibri" pitchFamily="34" charset="-120"/>
              </a:rPr>
              <a:t>FileNotFoundException</a:t>
            </a:r>
            <a:endParaRPr lang="en-US" sz="1200" dirty="0"/>
          </a:p>
          <a:p>
            <a:pPr lvl="2" marL="533400" indent="-177800">
              <a:spcAft>
                <a:spcPts val="400"/>
              </a:spcAft>
              <a:buSzPct val="100000"/>
              <a:buChar char="•"/>
            </a:pPr>
            <a:r>
              <a:rPr lang="en-US" sz="1200" dirty="0">
                <a:solidFill>
                  <a:srgbClr val="1F2A24"/>
                </a:solidFill>
                <a:latin typeface="Calibri" pitchFamily="34" charset="0"/>
                <a:ea typeface="Calibri" pitchFamily="34" charset="-122"/>
                <a:cs typeface="Calibri" pitchFamily="34" charset="-120"/>
              </a:rPr>
              <a:t>SQLException</a:t>
            </a:r>
            <a:endParaRPr lang="en-US" sz="1200" dirty="0"/>
          </a:p>
          <a:p>
            <a:pPr lvl="2" marL="533400" indent="-177800">
              <a:spcAft>
                <a:spcPts val="400"/>
              </a:spcAft>
              <a:buSzPct val="100000"/>
              <a:buChar char="•"/>
            </a:pPr>
            <a:r>
              <a:rPr lang="en-US" sz="1200" dirty="0">
                <a:solidFill>
                  <a:srgbClr val="1F2A24"/>
                </a:solidFill>
                <a:latin typeface="Calibri" pitchFamily="34" charset="0"/>
                <a:ea typeface="Calibri" pitchFamily="34" charset="-122"/>
                <a:cs typeface="Calibri" pitchFamily="34" charset="-120"/>
              </a:rPr>
              <a:t>InterruptedException</a:t>
            </a:r>
            <a:endParaRPr lang="en-US" sz="1200" dirty="0"/>
          </a:p>
          <a:p>
            <a:pPr lvl="2" marL="533400" indent="-177800">
              <a:spcAft>
                <a:spcPts val="400"/>
              </a:spcAft>
              <a:buSzPct val="100000"/>
              <a:buChar char="•"/>
            </a:pPr>
            <a:r>
              <a:rPr lang="en-US" sz="1200" dirty="0">
                <a:solidFill>
                  <a:srgbClr val="1F2A24"/>
                </a:solidFill>
                <a:latin typeface="Calibri" pitchFamily="34" charset="0"/>
                <a:ea typeface="Calibri" pitchFamily="34" charset="-122"/>
                <a:cs typeface="Calibri" pitchFamily="34" charset="-120"/>
              </a:rPr>
              <a:t>RuntimeException</a:t>
            </a:r>
            <a:endParaRPr lang="en-US" sz="1200" dirty="0"/>
          </a:p>
          <a:p>
            <a:pPr lvl="3" marL="711200" indent="-177800">
              <a:spcAft>
                <a:spcPts val="400"/>
              </a:spcAft>
              <a:buSzPct val="100000"/>
              <a:buChar char="•"/>
            </a:pPr>
            <a:r>
              <a:rPr lang="en-US" sz="1200" dirty="0">
                <a:solidFill>
                  <a:srgbClr val="1F2A24"/>
                </a:solidFill>
                <a:latin typeface="Calibri" pitchFamily="34" charset="0"/>
                <a:ea typeface="Calibri" pitchFamily="34" charset="-122"/>
                <a:cs typeface="Calibri" pitchFamily="34" charset="-120"/>
              </a:rPr>
              <a:t>NullPointerException</a:t>
            </a:r>
            <a:endParaRPr lang="en-US" sz="1200" dirty="0"/>
          </a:p>
          <a:p>
            <a:pPr lvl="3" marL="711200" indent="-177800">
              <a:spcAft>
                <a:spcPts val="400"/>
              </a:spcAft>
              <a:buSzPct val="100000"/>
              <a:buChar char="•"/>
            </a:pPr>
            <a:r>
              <a:rPr lang="en-US" sz="1200" dirty="0">
                <a:solidFill>
                  <a:srgbClr val="1F2A24"/>
                </a:solidFill>
                <a:latin typeface="Calibri" pitchFamily="34" charset="0"/>
                <a:ea typeface="Calibri" pitchFamily="34" charset="-122"/>
                <a:cs typeface="Calibri" pitchFamily="34" charset="-120"/>
              </a:rPr>
              <a:t>IllegalArgumentException</a:t>
            </a:r>
            <a:endParaRPr lang="en-US" sz="1200" dirty="0"/>
          </a:p>
          <a:p>
            <a:pPr lvl="4" marL="889000" indent="-177800">
              <a:spcAft>
                <a:spcPts val="400"/>
              </a:spcAft>
              <a:buSzPct val="100000"/>
              <a:buChar char="•"/>
            </a:pPr>
            <a:r>
              <a:rPr lang="en-US" sz="1200" dirty="0">
                <a:solidFill>
                  <a:srgbClr val="1F2A24"/>
                </a:solidFill>
                <a:latin typeface="Calibri" pitchFamily="34" charset="0"/>
                <a:ea typeface="Calibri" pitchFamily="34" charset="-122"/>
                <a:cs typeface="Calibri" pitchFamily="34" charset="-120"/>
              </a:rPr>
              <a:t>NumberFormatException</a:t>
            </a:r>
            <a:endParaRPr lang="en-US" sz="1200" dirty="0"/>
          </a:p>
          <a:p>
            <a:pPr lvl="3" marL="711200" indent="-177800">
              <a:spcAft>
                <a:spcPts val="400"/>
              </a:spcAft>
              <a:buSzPct val="100000"/>
              <a:buChar char="•"/>
            </a:pPr>
            <a:r>
              <a:rPr lang="en-US" sz="1200" dirty="0">
                <a:solidFill>
                  <a:srgbClr val="1F2A24"/>
                </a:solidFill>
                <a:latin typeface="Calibri" pitchFamily="34" charset="0"/>
                <a:ea typeface="Calibri" pitchFamily="34" charset="-122"/>
                <a:cs typeface="Calibri" pitchFamily="34" charset="-120"/>
              </a:rPr>
              <a:t>IllegalStateException</a:t>
            </a:r>
            <a:endParaRPr lang="en-US" sz="1200" dirty="0"/>
          </a:p>
          <a:p>
            <a:pPr lvl="3" marL="711200" indent="-177800">
              <a:spcAft>
                <a:spcPts val="400"/>
              </a:spcAft>
              <a:buSzPct val="100000"/>
              <a:buChar char="•"/>
            </a:pPr>
            <a:r>
              <a:rPr lang="en-US" sz="1200" dirty="0">
                <a:solidFill>
                  <a:srgbClr val="1F2A24"/>
                </a:solidFill>
                <a:latin typeface="Calibri" pitchFamily="34" charset="0"/>
                <a:ea typeface="Calibri" pitchFamily="34" charset="-122"/>
                <a:cs typeface="Calibri" pitchFamily="34" charset="-120"/>
              </a:rPr>
              <a:t>ArithmeticException</a:t>
            </a:r>
            <a:endParaRPr lang="en-US" sz="1200" dirty="0"/>
          </a:p>
          <a:p>
            <a:pPr lvl="3" marL="711200" indent="-177800">
              <a:spcAft>
                <a:spcPts val="400"/>
              </a:spcAft>
              <a:buSzPct val="100000"/>
              <a:buChar char="•"/>
            </a:pPr>
            <a:r>
              <a:rPr lang="en-US" sz="1200" dirty="0">
                <a:solidFill>
                  <a:srgbClr val="1F2A24"/>
                </a:solidFill>
                <a:latin typeface="Calibri" pitchFamily="34" charset="0"/>
                <a:ea typeface="Calibri" pitchFamily="34" charset="-122"/>
                <a:cs typeface="Calibri" pitchFamily="34" charset="-120"/>
              </a:rPr>
              <a:t>IndexOutOfBoundsException</a:t>
            </a:r>
            <a:endParaRPr lang="en-US" sz="12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C9C43D"/>
          </a:solidFill>
          <a:ln w="12700">
            <a:solidFill>
              <a:srgbClr val="C9C43D"/>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2</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try / catch / finally &amp; try-with-resources</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Resources declared in </a:t>
            </a:r>
            <a:pPr indent="0" marL="0">
              <a:buNone/>
            </a:pPr>
            <a:r>
              <a:rPr lang="en-US" sz="1350" dirty="0">
                <a:solidFill>
                  <a:srgbClr val="B4235A"/>
                </a:solidFill>
                <a:latin typeface="Consolas" pitchFamily="34" charset="0"/>
                <a:ea typeface="Consolas" pitchFamily="34" charset="-122"/>
                <a:cs typeface="Consolas" pitchFamily="34" charset="-120"/>
              </a:rPr>
              <a:t>try (...)</a:t>
            </a:r>
            <a:pPr indent="0" marL="0">
              <a:buNone/>
            </a:pPr>
            <a:r>
              <a:rPr lang="en-US" sz="1350" dirty="0">
                <a:solidFill>
                  <a:srgbClr val="5B6B60"/>
                </a:solidFill>
                <a:latin typeface="Calibri" pitchFamily="34" charset="0"/>
                <a:ea typeface="Calibri" pitchFamily="34" charset="-122"/>
                <a:cs typeface="Calibri" pitchFamily="34" charset="-120"/>
              </a:rPr>
              <a:t> are closed automatically, in </a:t>
            </a:r>
            <a:pPr indent="0" marL="0">
              <a:buNone/>
            </a:pPr>
            <a:r>
              <a:rPr lang="en-US" sz="1350" b="1" dirty="0">
                <a:solidFill>
                  <a:srgbClr val="5B6B60"/>
                </a:solidFill>
                <a:latin typeface="Calibri" pitchFamily="34" charset="0"/>
                <a:ea typeface="Calibri" pitchFamily="34" charset="-122"/>
                <a:cs typeface="Calibri" pitchFamily="34" charset="-120"/>
              </a:rPr>
              <a:t>reverse</a:t>
            </a:r>
            <a:pPr indent="0" marL="0">
              <a:buNone/>
            </a:pPr>
            <a:r>
              <a:rPr lang="en-US" sz="1350" dirty="0">
                <a:solidFill>
                  <a:srgbClr val="5B6B60"/>
                </a:solidFill>
                <a:latin typeface="Calibri" pitchFamily="34" charset="0"/>
                <a:ea typeface="Calibri" pitchFamily="34" charset="-122"/>
                <a:cs typeface="Calibri" pitchFamily="34" charset="-120"/>
              </a:rPr>
              <a:t> order, before any </a:t>
            </a:r>
            <a:pPr indent="0" marL="0">
              <a:buNone/>
            </a:pPr>
            <a:r>
              <a:rPr lang="en-US" sz="1350" dirty="0">
                <a:solidFill>
                  <a:srgbClr val="B4235A"/>
                </a:solidFill>
                <a:latin typeface="Consolas" pitchFamily="34" charset="0"/>
                <a:ea typeface="Consolas" pitchFamily="34" charset="-122"/>
                <a:cs typeface="Consolas" pitchFamily="34" charset="-120"/>
              </a:rPr>
              <a:t>catch</a:t>
            </a:r>
            <a:pPr indent="0" marL="0">
              <a:buNone/>
            </a:pPr>
            <a:r>
              <a:rPr lang="en-US" sz="1350" dirty="0">
                <a:solidFill>
                  <a:srgbClr val="5B6B60"/>
                </a:solidFill>
                <a:latin typeface="Calibri" pitchFamily="34" charset="0"/>
                <a:ea typeface="Calibri" pitchFamily="34" charset="-122"/>
                <a:cs typeface="Calibri" pitchFamily="34" charset="-120"/>
              </a:rPr>
              <a:t> runs.</a:t>
            </a:r>
            <a:endParaRPr lang="en-US" sz="1350" dirty="0"/>
          </a:p>
        </p:txBody>
      </p:sp>
      <p:sp>
        <p:nvSpPr>
          <p:cNvPr id="7" name="Text 5"/>
          <p:cNvSpPr/>
          <p:nvPr/>
        </p:nvSpPr>
        <p:spPr>
          <a:xfrm>
            <a:off x="457200" y="1883664"/>
            <a:ext cx="5120640" cy="4471416"/>
          </a:xfrm>
          <a:prstGeom prst="rect">
            <a:avLst/>
          </a:prstGeom>
          <a:noFill/>
          <a:ln/>
        </p:spPr>
        <p:txBody>
          <a:bodyPr wrap="square" rtlCol="0" anchor="t"/>
          <a:lstStyle/>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Any class implementing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AutoCloseable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can be used in try-with-resources.</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Multi-catch</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catch (A | B 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handles several unrelated exceptions in one block.</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finally</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runs whether or not an exception occurred — even after a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return</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Catch the most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specific</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exceptions first; never swallow exceptions silently.</a:t>
            </a:r>
            <a:endParaRPr lang="en-US" sz="1700" dirty="0"/>
          </a:p>
        </p:txBody>
      </p:sp>
      <p:sp>
        <p:nvSpPr>
          <p:cNvPr id="8" name="Text 6"/>
          <p:cNvSpPr/>
          <p:nvPr/>
        </p:nvSpPr>
        <p:spPr>
          <a:xfrm>
            <a:off x="5852160" y="1883664"/>
            <a:ext cx="588233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ResourceDemo.java</a:t>
            </a:r>
            <a:endParaRPr lang="en-US" sz="900" dirty="0"/>
          </a:p>
        </p:txBody>
      </p:sp>
      <p:sp>
        <p:nvSpPr>
          <p:cNvPr id="9" name="Text 7"/>
          <p:cNvSpPr/>
          <p:nvPr/>
        </p:nvSpPr>
        <p:spPr>
          <a:xfrm>
            <a:off x="5852160" y="2157984"/>
            <a:ext cx="5882335" cy="419709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839" dirty="0">
                <a:solidFill>
                  <a:srgbClr val="24292F"/>
                </a:solidFill>
                <a:latin typeface="Consolas" pitchFamily="34" charset="0"/>
                <a:ea typeface="Consolas" pitchFamily="34" charset="-122"/>
                <a:cs typeface="Consolas" pitchFamily="34" charset="-120"/>
              </a:rPr>
              <a:t>public class ResourceDemo {</a:t>
            </a:r>
            <a:endParaRPr lang="en-US" sz="839" dirty="0"/>
          </a:p>
          <a:p>
            <a:pPr indent="0" marL="0">
              <a:buNone/>
            </a:pPr>
            <a:endParaRPr lang="en-US" sz="839" dirty="0"/>
          </a:p>
          <a:p>
            <a:pPr indent="0" marL="0">
              <a:buNone/>
            </a:pPr>
            <a:r>
              <a:rPr lang="en-US" sz="839" dirty="0">
                <a:solidFill>
                  <a:srgbClr val="24292F"/>
                </a:solidFill>
                <a:latin typeface="Consolas" pitchFamily="34" charset="0"/>
                <a:ea typeface="Consolas" pitchFamily="34" charset="-122"/>
                <a:cs typeface="Consolas" pitchFamily="34" charset="-120"/>
              </a:rPr>
              <a:t>    static class DbConnection implements AutoCloseable {</a:t>
            </a:r>
            <a:endParaRPr lang="en-US" sz="839" dirty="0"/>
          </a:p>
          <a:p>
            <a:pPr indent="0" marL="0">
              <a:buNone/>
            </a:pPr>
            <a:r>
              <a:rPr lang="en-US" sz="839" dirty="0">
                <a:solidFill>
                  <a:srgbClr val="24292F"/>
                </a:solidFill>
                <a:latin typeface="Consolas" pitchFamily="34" charset="0"/>
                <a:ea typeface="Consolas" pitchFamily="34" charset="-122"/>
                <a:cs typeface="Consolas" pitchFamily="34" charset="-120"/>
              </a:rPr>
              <a:t>        private final String name;</a:t>
            </a:r>
            <a:endParaRPr lang="en-US" sz="839" dirty="0"/>
          </a:p>
          <a:p>
            <a:pPr indent="0" marL="0">
              <a:buNone/>
            </a:pPr>
            <a:r>
              <a:rPr lang="en-US" sz="839" dirty="0">
                <a:solidFill>
                  <a:srgbClr val="24292F"/>
                </a:solidFill>
                <a:latin typeface="Consolas" pitchFamily="34" charset="0"/>
                <a:ea typeface="Consolas" pitchFamily="34" charset="-122"/>
                <a:cs typeface="Consolas" pitchFamily="34" charset="-120"/>
              </a:rPr>
              <a:t>        DbConnection(String name) { this.name = name; System.out.println("open  " + name); }</a:t>
            </a:r>
            <a:endParaRPr lang="en-US" sz="839" dirty="0"/>
          </a:p>
          <a:p>
            <a:pPr indent="0" marL="0">
              <a:buNone/>
            </a:pPr>
            <a:endParaRPr lang="en-US" sz="839" dirty="0"/>
          </a:p>
          <a:p>
            <a:pPr indent="0" marL="0">
              <a:buNone/>
            </a:pPr>
            <a:r>
              <a:rPr lang="en-US" sz="839" dirty="0">
                <a:solidFill>
                  <a:srgbClr val="24292F"/>
                </a:solidFill>
                <a:latin typeface="Consolas" pitchFamily="34" charset="0"/>
                <a:ea typeface="Consolas" pitchFamily="34" charset="-122"/>
                <a:cs typeface="Consolas" pitchFamily="34" charset="-120"/>
              </a:rPr>
              <a:t>        void query(String sql) {</a:t>
            </a:r>
            <a:endParaRPr lang="en-US" sz="839" dirty="0"/>
          </a:p>
          <a:p>
            <a:pPr indent="0" marL="0">
              <a:buNone/>
            </a:pPr>
            <a:r>
              <a:rPr lang="en-US" sz="839" dirty="0">
                <a:solidFill>
                  <a:srgbClr val="24292F"/>
                </a:solidFill>
                <a:latin typeface="Consolas" pitchFamily="34" charset="0"/>
                <a:ea typeface="Consolas" pitchFamily="34" charset="-122"/>
                <a:cs typeface="Consolas" pitchFamily="34" charset="-120"/>
              </a:rPr>
              <a:t>            if (sql.isBlank()) throw new IllegalArgumentException("empty SQL");</a:t>
            </a:r>
            <a:endParaRPr lang="en-US" sz="839" dirty="0"/>
          </a:p>
          <a:p>
            <a:pPr indent="0" marL="0">
              <a:buNone/>
            </a:pPr>
            <a:r>
              <a:rPr lang="en-US" sz="839" dirty="0">
                <a:solidFill>
                  <a:srgbClr val="24292F"/>
                </a:solidFill>
                <a:latin typeface="Consolas" pitchFamily="34" charset="0"/>
                <a:ea typeface="Consolas" pitchFamily="34" charset="-122"/>
                <a:cs typeface="Consolas" pitchFamily="34" charset="-120"/>
              </a:rPr>
              <a:t>            System.out.println("query " + name + ": " + sql);</a:t>
            </a:r>
            <a:endParaRPr lang="en-US" sz="839" dirty="0"/>
          </a:p>
          <a:p>
            <a:pPr indent="0" marL="0">
              <a:buNone/>
            </a:pPr>
            <a:r>
              <a:rPr lang="en-US" sz="839" dirty="0">
                <a:solidFill>
                  <a:srgbClr val="24292F"/>
                </a:solidFill>
                <a:latin typeface="Consolas" pitchFamily="34" charset="0"/>
                <a:ea typeface="Consolas" pitchFamily="34" charset="-122"/>
                <a:cs typeface="Consolas" pitchFamily="34" charset="-120"/>
              </a:rPr>
              <a:t>        }</a:t>
            </a:r>
            <a:endParaRPr lang="en-US" sz="839" dirty="0"/>
          </a:p>
          <a:p>
            <a:pPr indent="0" marL="0">
              <a:buNone/>
            </a:pPr>
            <a:r>
              <a:rPr lang="en-US" sz="839" dirty="0">
                <a:solidFill>
                  <a:srgbClr val="24292F"/>
                </a:solidFill>
                <a:latin typeface="Consolas" pitchFamily="34" charset="0"/>
                <a:ea typeface="Consolas" pitchFamily="34" charset="-122"/>
                <a:cs typeface="Consolas" pitchFamily="34" charset="-120"/>
              </a:rPr>
              <a:t>        @Override public void close() { System.out.println("close " + name); }</a:t>
            </a:r>
            <a:endParaRPr lang="en-US" sz="839" dirty="0"/>
          </a:p>
          <a:p>
            <a:pPr indent="0" marL="0">
              <a:buNone/>
            </a:pPr>
            <a:r>
              <a:rPr lang="en-US" sz="839" dirty="0">
                <a:solidFill>
                  <a:srgbClr val="24292F"/>
                </a:solidFill>
                <a:latin typeface="Consolas" pitchFamily="34" charset="0"/>
                <a:ea typeface="Consolas" pitchFamily="34" charset="-122"/>
                <a:cs typeface="Consolas" pitchFamily="34" charset="-120"/>
              </a:rPr>
              <a:t>    }</a:t>
            </a:r>
            <a:endParaRPr lang="en-US" sz="839" dirty="0"/>
          </a:p>
          <a:p>
            <a:pPr indent="0" marL="0">
              <a:buNone/>
            </a:pPr>
            <a:endParaRPr lang="en-US" sz="839" dirty="0"/>
          </a:p>
          <a:p>
            <a:pPr indent="0" marL="0">
              <a:buNone/>
            </a:pPr>
            <a:r>
              <a:rPr lang="en-US" sz="839" dirty="0">
                <a:solidFill>
                  <a:srgbClr val="24292F"/>
                </a:solidFill>
                <a:latin typeface="Consolas" pitchFamily="34" charset="0"/>
                <a:ea typeface="Consolas" pitchFamily="34" charset="-122"/>
                <a:cs typeface="Consolas" pitchFamily="34" charset="-120"/>
              </a:rPr>
              <a:t>    public static void main(String[] args) {</a:t>
            </a:r>
            <a:endParaRPr lang="en-US" sz="839" dirty="0"/>
          </a:p>
          <a:p>
            <a:pPr indent="0" marL="0">
              <a:buNone/>
            </a:pPr>
            <a:r>
              <a:rPr lang="en-US" sz="839" dirty="0">
                <a:solidFill>
                  <a:srgbClr val="24292F"/>
                </a:solidFill>
                <a:latin typeface="Consolas" pitchFamily="34" charset="0"/>
                <a:ea typeface="Consolas" pitchFamily="34" charset="-122"/>
                <a:cs typeface="Consolas" pitchFamily="34" charset="-120"/>
              </a:rPr>
              <a:t>        try (DbConnection a = new DbConnection("A");</a:t>
            </a:r>
            <a:endParaRPr lang="en-US" sz="839" dirty="0"/>
          </a:p>
          <a:p>
            <a:pPr indent="0" marL="0">
              <a:buNone/>
            </a:pPr>
            <a:r>
              <a:rPr lang="en-US" sz="839" dirty="0">
                <a:solidFill>
                  <a:srgbClr val="24292F"/>
                </a:solidFill>
                <a:latin typeface="Consolas" pitchFamily="34" charset="0"/>
                <a:ea typeface="Consolas" pitchFamily="34" charset="-122"/>
                <a:cs typeface="Consolas" pitchFamily="34" charset="-120"/>
              </a:rPr>
              <a:t>             DbConnection b = new DbConnection("B")) {</a:t>
            </a:r>
            <a:endParaRPr lang="en-US" sz="839" dirty="0"/>
          </a:p>
          <a:p>
            <a:pPr indent="0" marL="0">
              <a:buNone/>
            </a:pPr>
            <a:r>
              <a:rPr lang="en-US" sz="839" dirty="0">
                <a:solidFill>
                  <a:srgbClr val="24292F"/>
                </a:solidFill>
                <a:latin typeface="Consolas" pitchFamily="34" charset="0"/>
                <a:ea typeface="Consolas" pitchFamily="34" charset="-122"/>
                <a:cs typeface="Consolas" pitchFamily="34" charset="-120"/>
              </a:rPr>
              <a:t>            a.query("SELECT 1");</a:t>
            </a:r>
            <a:endParaRPr lang="en-US" sz="839" dirty="0"/>
          </a:p>
          <a:p>
            <a:pPr indent="0" marL="0">
              <a:buNone/>
            </a:pPr>
            <a:r>
              <a:rPr lang="en-US" sz="839" dirty="0">
                <a:solidFill>
                  <a:srgbClr val="24292F"/>
                </a:solidFill>
                <a:latin typeface="Consolas" pitchFamily="34" charset="0"/>
                <a:ea typeface="Consolas" pitchFamily="34" charset="-122"/>
                <a:cs typeface="Consolas" pitchFamily="34" charset="-120"/>
              </a:rPr>
              <a:t>            b.query(" ");</a:t>
            </a:r>
            <a:endParaRPr lang="en-US" sz="839" dirty="0"/>
          </a:p>
          <a:p>
            <a:pPr indent="0" marL="0">
              <a:buNone/>
            </a:pPr>
            <a:r>
              <a:rPr lang="en-US" sz="839" dirty="0">
                <a:solidFill>
                  <a:srgbClr val="24292F"/>
                </a:solidFill>
                <a:latin typeface="Consolas" pitchFamily="34" charset="0"/>
                <a:ea typeface="Consolas" pitchFamily="34" charset="-122"/>
                <a:cs typeface="Consolas" pitchFamily="34" charset="-120"/>
              </a:rPr>
              <a:t>        } catch (IllegalArgumentException | IllegalStateException e) {   // multi-catch</a:t>
            </a:r>
            <a:endParaRPr lang="en-US" sz="839" dirty="0"/>
          </a:p>
          <a:p>
            <a:pPr indent="0" marL="0">
              <a:buNone/>
            </a:pPr>
            <a:r>
              <a:rPr lang="en-US" sz="839" dirty="0">
                <a:solidFill>
                  <a:srgbClr val="24292F"/>
                </a:solidFill>
                <a:latin typeface="Consolas" pitchFamily="34" charset="0"/>
                <a:ea typeface="Consolas" pitchFamily="34" charset="-122"/>
                <a:cs typeface="Consolas" pitchFamily="34" charset="-120"/>
              </a:rPr>
              <a:t>            System.out.println("caught " + e.getMessage());</a:t>
            </a:r>
            <a:endParaRPr lang="en-US" sz="839" dirty="0"/>
          </a:p>
          <a:p>
            <a:pPr indent="0" marL="0">
              <a:buNone/>
            </a:pPr>
            <a:r>
              <a:rPr lang="en-US" sz="839" dirty="0">
                <a:solidFill>
                  <a:srgbClr val="24292F"/>
                </a:solidFill>
                <a:latin typeface="Consolas" pitchFamily="34" charset="0"/>
                <a:ea typeface="Consolas" pitchFamily="34" charset="-122"/>
                <a:cs typeface="Consolas" pitchFamily="34" charset="-120"/>
              </a:rPr>
              <a:t>        } finally {</a:t>
            </a:r>
            <a:endParaRPr lang="en-US" sz="839" dirty="0"/>
          </a:p>
          <a:p>
            <a:pPr indent="0" marL="0">
              <a:buNone/>
            </a:pPr>
            <a:r>
              <a:rPr lang="en-US" sz="839" dirty="0">
                <a:solidFill>
                  <a:srgbClr val="24292F"/>
                </a:solidFill>
                <a:latin typeface="Consolas" pitchFamily="34" charset="0"/>
                <a:ea typeface="Consolas" pitchFamily="34" charset="-122"/>
                <a:cs typeface="Consolas" pitchFamily="34" charset="-120"/>
              </a:rPr>
              <a:t>// … full listing in the web notes</a:t>
            </a:r>
            <a:endParaRPr lang="en-US" sz="839"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C9C43D"/>
          </a:solidFill>
          <a:ln w="12700">
            <a:solidFill>
              <a:srgbClr val="C9C43D"/>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2</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Custom exceptions for your domain</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Meaningful exception types make failures self-explanatory and let higher layers handle them precisely.</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CustomExceptionDemo.java  (+1 more in the web notes)</a:t>
            </a:r>
            <a:endParaRPr lang="en-US" sz="900" dirty="0"/>
          </a:p>
        </p:txBody>
      </p:sp>
      <p:sp>
        <p:nvSpPr>
          <p:cNvPr id="8" name="Text 6"/>
          <p:cNvSpPr/>
          <p:nvPr/>
        </p:nvSpPr>
        <p:spPr>
          <a:xfrm>
            <a:off x="457200" y="2157984"/>
            <a:ext cx="11277295" cy="360273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import java.util.HashMap;</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java.util.Map;</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class WalletException extends RuntimeException {           // base type for the domain</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WalletException(String msg) { super(msg);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WalletException(String msg, Throwable cause) { super(msg, cause);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class InsufficientBalanceException extends WalletException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private final long shortfall;</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InsufficientBalanceException(long shortfall)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super("Insufficient balance, short by " + shortfall + " paise");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this.shortfall = shortfall;</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long shortfall() { return shortfall;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class WalletNotFoundException extends WalletException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full listing in the web notes</a:t>
            </a:r>
            <a:endParaRPr lang="en-US" sz="1100" dirty="0"/>
          </a:p>
        </p:txBody>
      </p:sp>
      <p:sp>
        <p:nvSpPr>
          <p:cNvPr id="9" name="Text 7"/>
          <p:cNvSpPr/>
          <p:nvPr/>
        </p:nvSpPr>
        <p:spPr>
          <a:xfrm>
            <a:off x="457200" y="5806440"/>
            <a:ext cx="11277295" cy="530352"/>
          </a:xfrm>
          <a:prstGeom prst="rect">
            <a:avLst/>
          </a:prstGeom>
          <a:solidFill>
            <a:srgbClr val="FFF8E1"/>
          </a:solidFill>
          <a:ln w="9525">
            <a:solidFill>
              <a:srgbClr val="E9C46A"/>
            </a:solidFill>
          </a:ln>
        </p:spPr>
        <p:txBody>
          <a:bodyPr wrap="square" lIns="1016" tIns="1016" rIns="1016" bIns="1016" rtlCol="0" anchor="ctr"/>
          <a:lstStyle/>
          <a:p>
            <a:pPr indent="0" marL="0">
              <a:buNone/>
            </a:pPr>
            <a:r>
              <a:rPr lang="en-US" sz="1100" b="1" dirty="0">
                <a:solidFill>
                  <a:srgbClr val="1F2A24"/>
                </a:solidFill>
                <a:latin typeface="Calibri" pitchFamily="34" charset="0"/>
                <a:ea typeface="Calibri" pitchFamily="34" charset="-122"/>
                <a:cs typeface="Calibri" pitchFamily="34" charset="-120"/>
              </a:rPr>
              <a:t>BEST: </a:t>
            </a:r>
            <a:pPr indent="0" marL="0">
              <a:buNone/>
            </a:pPr>
            <a:r>
              <a:rPr lang="en-US" sz="1100" dirty="0">
                <a:solidFill>
                  <a:srgbClr val="1F2A24"/>
                </a:solidFill>
                <a:latin typeface="Calibri" pitchFamily="34" charset="0"/>
                <a:ea typeface="Calibri" pitchFamily="34" charset="-122"/>
                <a:cs typeface="Calibri" pitchFamily="34" charset="-120"/>
              </a:rPr>
              <a:t>In the REST APIs of Module 2, a </a:t>
            </a:r>
            <a:pPr indent="0" marL="0">
              <a:buNone/>
            </a:pPr>
            <a:r>
              <a:rPr lang="en-US" sz="1100" dirty="0">
                <a:solidFill>
                  <a:srgbClr val="B4235A"/>
                </a:solidFill>
                <a:latin typeface="Consolas" pitchFamily="34" charset="0"/>
                <a:ea typeface="Consolas" pitchFamily="34" charset="-122"/>
                <a:cs typeface="Consolas" pitchFamily="34" charset="-120"/>
              </a:rPr>
              <a:t>@RestControllerAdvice</a:t>
            </a:r>
            <a:pPr indent="0" marL="0">
              <a:buNone/>
            </a:pPr>
            <a:r>
              <a:rPr lang="en-US" sz="1100" dirty="0">
                <a:solidFill>
                  <a:srgbClr val="1F2A24"/>
                </a:solidFill>
                <a:latin typeface="Calibri" pitchFamily="34" charset="0"/>
                <a:ea typeface="Calibri" pitchFamily="34" charset="-122"/>
                <a:cs typeface="Calibri" pitchFamily="34" charset="-120"/>
              </a:rPr>
              <a:t> will translate </a:t>
            </a:r>
            <a:pPr indent="0" marL="0">
              <a:buNone/>
            </a:pPr>
            <a:r>
              <a:rPr lang="en-US" sz="1100" dirty="0">
                <a:solidFill>
                  <a:srgbClr val="B4235A"/>
                </a:solidFill>
                <a:latin typeface="Consolas" pitchFamily="34" charset="0"/>
                <a:ea typeface="Consolas" pitchFamily="34" charset="-122"/>
                <a:cs typeface="Consolas" pitchFamily="34" charset="-120"/>
              </a:rPr>
              <a:t>WalletNotFoundException</a:t>
            </a:r>
            <a:pPr indent="0" marL="0">
              <a:buNone/>
            </a:pPr>
            <a:r>
              <a:rPr lang="en-US" sz="1100" dirty="0">
                <a:solidFill>
                  <a:srgbClr val="1F2A24"/>
                </a:solidFill>
                <a:latin typeface="Calibri" pitchFamily="34" charset="0"/>
                <a:ea typeface="Calibri" pitchFamily="34" charset="-122"/>
                <a:cs typeface="Calibri" pitchFamily="34" charset="-120"/>
              </a:rPr>
              <a:t> → </a:t>
            </a:r>
            <a:pPr indent="0" marL="0">
              <a:buNone/>
            </a:pPr>
            <a:r>
              <a:rPr lang="en-US" sz="1100" b="1" dirty="0">
                <a:solidFill>
                  <a:srgbClr val="1F2A24"/>
                </a:solidFill>
                <a:latin typeface="Calibri" pitchFamily="34" charset="0"/>
                <a:ea typeface="Calibri" pitchFamily="34" charset="-122"/>
                <a:cs typeface="Calibri" pitchFamily="34" charset="-120"/>
              </a:rPr>
              <a:t>404</a:t>
            </a:r>
            <a:pPr indent="0" marL="0">
              <a:buNone/>
            </a:pPr>
            <a:r>
              <a:rPr lang="en-US" sz="1100" dirty="0">
                <a:solidFill>
                  <a:srgbClr val="1F2A24"/>
                </a:solidFill>
                <a:latin typeface="Calibri" pitchFamily="34" charset="0"/>
                <a:ea typeface="Calibri" pitchFamily="34" charset="-122"/>
                <a:cs typeface="Calibri" pitchFamily="34" charset="-120"/>
              </a:rPr>
              <a:t> and </a:t>
            </a:r>
            <a:pPr indent="0" marL="0">
              <a:buNone/>
            </a:pPr>
            <a:r>
              <a:rPr lang="en-US" sz="1100" dirty="0">
                <a:solidFill>
                  <a:srgbClr val="B4235A"/>
                </a:solidFill>
                <a:latin typeface="Consolas" pitchFamily="34" charset="0"/>
                <a:ea typeface="Consolas" pitchFamily="34" charset="-122"/>
                <a:cs typeface="Consolas" pitchFamily="34" charset="-120"/>
              </a:rPr>
              <a:t>InsufficientBalanceException</a:t>
            </a:r>
            <a:pPr indent="0" marL="0">
              <a:buNone/>
            </a:pPr>
            <a:r>
              <a:rPr lang="en-US" sz="1100" dirty="0">
                <a:solidFill>
                  <a:srgbClr val="1F2A24"/>
                </a:solidFill>
                <a:latin typeface="Calibri" pitchFamily="34" charset="0"/>
                <a:ea typeface="Calibri" pitchFamily="34" charset="-122"/>
                <a:cs typeface="Calibri" pitchFamily="34" charset="-120"/>
              </a:rPr>
              <a:t> → </a:t>
            </a:r>
            <a:pPr indent="0" marL="0">
              <a:buNone/>
            </a:pPr>
            <a:r>
              <a:rPr lang="en-US" sz="1100" b="1" dirty="0">
                <a:solidFill>
                  <a:srgbClr val="1F2A24"/>
                </a:solidFill>
                <a:latin typeface="Calibri" pitchFamily="34" charset="0"/>
                <a:ea typeface="Calibri" pitchFamily="34" charset="-122"/>
                <a:cs typeface="Calibri" pitchFamily="34" charset="-120"/>
              </a:rPr>
              <a:t>422</a:t>
            </a:r>
            <a:pPr indent="0" marL="0">
              <a:buNone/>
            </a:pPr>
            <a:r>
              <a:rPr lang="en-US" sz="1100" dirty="0">
                <a:solidFill>
                  <a:srgbClr val="1F2A24"/>
                </a:solidFill>
                <a:latin typeface="Calibri" pitchFamily="34" charset="0"/>
                <a:ea typeface="Calibri" pitchFamily="34" charset="-122"/>
                <a:cs typeface="Calibri" pitchFamily="34" charset="-120"/>
              </a:rPr>
              <a:t> in one central place (Session 9).</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C9C43D"/>
          </a:solidFill>
          <a:ln w="12700">
            <a:solidFill>
              <a:srgbClr val="C9C43D"/>
            </a:solidFill>
            <a:prstDash val="solid"/>
          </a:ln>
        </p:spPr>
      </p:sp>
      <p:sp>
        <p:nvSpPr>
          <p:cNvPr id="3" name="Text 1"/>
          <p:cNvSpPr/>
          <p:nvPr/>
        </p:nvSpPr>
        <p:spPr>
          <a:xfrm>
            <a:off x="457200" y="256032"/>
            <a:ext cx="1463040" cy="292608"/>
          </a:xfrm>
          <a:prstGeom prst="roundRect">
            <a:avLst>
              <a:gd name="adj" fmla="val 18750"/>
            </a:avLst>
          </a:prstGeom>
          <a:solidFill>
            <a:srgbClr val="E8892E"/>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HANDS-ON LAB</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2</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Lab: banking core with abstraction &amp; robust error handling</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Combine an abstract class, an interface with a default method, and a custom exception hierarchy.</a:t>
            </a:r>
            <a:endParaRPr lang="en-US" sz="1350" dirty="0"/>
          </a:p>
        </p:txBody>
      </p:sp>
      <p:sp>
        <p:nvSpPr>
          <p:cNvPr id="7" name="Text 5"/>
          <p:cNvSpPr/>
          <p:nvPr/>
        </p:nvSpPr>
        <p:spPr>
          <a:xfrm>
            <a:off x="457200" y="1883664"/>
            <a:ext cx="5577840" cy="4471416"/>
          </a:xfrm>
          <a:prstGeom prst="rect">
            <a:avLst/>
          </a:prstGeom>
          <a:noFill/>
          <a:ln/>
        </p:spPr>
        <p:txBody>
          <a:bodyPr wrap="square" rtlCol="0" anchor="t"/>
          <a:lstStyle/>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Create an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abstract class Account</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 with a private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long balance</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 (paise), a constructor and an abstract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long withdrawLimit()</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Add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SavingsAccount</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 (limit ₹25,000) and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CurrentAccount</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 (limit ₹2,00,000) that implement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withdrawLimit()</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Create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interface Auditable</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 with a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default void audit(String event)</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 that prints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AUDIT: &lt;event&gt;</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 make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Account</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 implement it.</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Create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BankingException</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 (extends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RuntimeException</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 with subclasses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LimitExceededException</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 and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InsufficientFundsException</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Implement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withdraw(long amount)</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 that checks the limit first, then the balance, then calls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audit(...)</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In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main</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 process a list of withdrawals; catch the specific exceptions first and print a clear message for each.</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Wrap the run in a try-with-resources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AuditLog implements AutoCloseable</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 that prints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audit log flushed</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 on close.</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Stretch: make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Account</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 a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sealed</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 class that permits only your two subclasses and compute interest with a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switch</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 pattern.</a:t>
            </a:r>
            <a:endParaRPr lang="en-US" sz="1300" dirty="0"/>
          </a:p>
        </p:txBody>
      </p:sp>
      <p:sp>
        <p:nvSpPr>
          <p:cNvPr id="8" name="Text 6"/>
          <p:cNvSpPr/>
          <p:nvPr/>
        </p:nvSpPr>
        <p:spPr>
          <a:xfrm>
            <a:off x="6217920" y="1883664"/>
            <a:ext cx="551657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BankLab.java</a:t>
            </a:r>
            <a:endParaRPr lang="en-US" sz="900" dirty="0"/>
          </a:p>
        </p:txBody>
      </p:sp>
      <p:sp>
        <p:nvSpPr>
          <p:cNvPr id="9" name="Text 7"/>
          <p:cNvSpPr/>
          <p:nvPr/>
        </p:nvSpPr>
        <p:spPr>
          <a:xfrm>
            <a:off x="6217920" y="2157984"/>
            <a:ext cx="5516575" cy="419709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754" dirty="0">
                <a:solidFill>
                  <a:srgbClr val="24292F"/>
                </a:solidFill>
                <a:latin typeface="Consolas" pitchFamily="34" charset="0"/>
                <a:ea typeface="Consolas" pitchFamily="34" charset="-122"/>
                <a:cs typeface="Consolas" pitchFamily="34" charset="-120"/>
              </a:rPr>
              <a:t>abstract class Account implements Auditable {</a:t>
            </a:r>
            <a:endParaRPr lang="en-US" sz="754" dirty="0"/>
          </a:p>
          <a:p>
            <a:pPr indent="0" marL="0">
              <a:buNone/>
            </a:pPr>
            <a:r>
              <a:rPr lang="en-US" sz="754" dirty="0">
                <a:solidFill>
                  <a:srgbClr val="24292F"/>
                </a:solidFill>
                <a:latin typeface="Consolas" pitchFamily="34" charset="0"/>
                <a:ea typeface="Consolas" pitchFamily="34" charset="-122"/>
                <a:cs typeface="Consolas" pitchFamily="34" charset="-120"/>
              </a:rPr>
              <a:t>    private long balance;</a:t>
            </a:r>
            <a:endParaRPr lang="en-US" sz="754" dirty="0"/>
          </a:p>
          <a:p>
            <a:pPr indent="0" marL="0">
              <a:buNone/>
            </a:pPr>
            <a:r>
              <a:rPr lang="en-US" sz="754" dirty="0">
                <a:solidFill>
                  <a:srgbClr val="24292F"/>
                </a:solidFill>
                <a:latin typeface="Consolas" pitchFamily="34" charset="0"/>
                <a:ea typeface="Consolas" pitchFamily="34" charset="-122"/>
                <a:cs typeface="Consolas" pitchFamily="34" charset="-120"/>
              </a:rPr>
              <a:t>    Account(long balance) { this.balance = balance; }</a:t>
            </a:r>
            <a:endParaRPr lang="en-US" sz="754" dirty="0"/>
          </a:p>
          <a:p>
            <a:pPr indent="0" marL="0">
              <a:buNone/>
            </a:pPr>
            <a:r>
              <a:rPr lang="en-US" sz="754" dirty="0">
                <a:solidFill>
                  <a:srgbClr val="24292F"/>
                </a:solidFill>
                <a:latin typeface="Consolas" pitchFamily="34" charset="0"/>
                <a:ea typeface="Consolas" pitchFamily="34" charset="-122"/>
                <a:cs typeface="Consolas" pitchFamily="34" charset="-120"/>
              </a:rPr>
              <a:t>    abstract long withdrawLimit();</a:t>
            </a:r>
            <a:endParaRPr lang="en-US" sz="754" dirty="0"/>
          </a:p>
          <a:p>
            <a:pPr indent="0" marL="0">
              <a:buNone/>
            </a:pPr>
            <a:endParaRPr lang="en-US" sz="754" dirty="0"/>
          </a:p>
          <a:p>
            <a:pPr indent="0" marL="0">
              <a:buNone/>
            </a:pPr>
            <a:r>
              <a:rPr lang="en-US" sz="754" dirty="0">
                <a:solidFill>
                  <a:srgbClr val="24292F"/>
                </a:solidFill>
                <a:latin typeface="Consolas" pitchFamily="34" charset="0"/>
                <a:ea typeface="Consolas" pitchFamily="34" charset="-122"/>
                <a:cs typeface="Consolas" pitchFamily="34" charset="-120"/>
              </a:rPr>
              <a:t>    void withdraw(long amount) {</a:t>
            </a:r>
            <a:endParaRPr lang="en-US" sz="754" dirty="0"/>
          </a:p>
          <a:p>
            <a:pPr indent="0" marL="0">
              <a:buNone/>
            </a:pPr>
            <a:r>
              <a:rPr lang="en-US" sz="754" dirty="0">
                <a:solidFill>
                  <a:srgbClr val="24292F"/>
                </a:solidFill>
                <a:latin typeface="Consolas" pitchFamily="34" charset="0"/>
                <a:ea typeface="Consolas" pitchFamily="34" charset="-122"/>
                <a:cs typeface="Consolas" pitchFamily="34" charset="-120"/>
              </a:rPr>
              <a:t>        if (amount &gt; withdrawLimit()) throw new LimitExceededException(amount, withdrawLimit());</a:t>
            </a:r>
            <a:endParaRPr lang="en-US" sz="754" dirty="0"/>
          </a:p>
          <a:p>
            <a:pPr indent="0" marL="0">
              <a:buNone/>
            </a:pPr>
            <a:r>
              <a:rPr lang="en-US" sz="754" dirty="0">
                <a:solidFill>
                  <a:srgbClr val="24292F"/>
                </a:solidFill>
                <a:latin typeface="Consolas" pitchFamily="34" charset="0"/>
                <a:ea typeface="Consolas" pitchFamily="34" charset="-122"/>
                <a:cs typeface="Consolas" pitchFamily="34" charset="-120"/>
              </a:rPr>
              <a:t>        if (amount &gt; balance) throw new InsufficientFundsException(amount - balance);</a:t>
            </a:r>
            <a:endParaRPr lang="en-US" sz="754" dirty="0"/>
          </a:p>
          <a:p>
            <a:pPr indent="0" marL="0">
              <a:buNone/>
            </a:pPr>
            <a:r>
              <a:rPr lang="en-US" sz="754" dirty="0">
                <a:solidFill>
                  <a:srgbClr val="24292F"/>
                </a:solidFill>
                <a:latin typeface="Consolas" pitchFamily="34" charset="0"/>
                <a:ea typeface="Consolas" pitchFamily="34" charset="-122"/>
                <a:cs typeface="Consolas" pitchFamily="34" charset="-120"/>
              </a:rPr>
              <a:t>        balance -= amount;</a:t>
            </a:r>
            <a:endParaRPr lang="en-US" sz="754" dirty="0"/>
          </a:p>
          <a:p>
            <a:pPr indent="0" marL="0">
              <a:buNone/>
            </a:pPr>
            <a:r>
              <a:rPr lang="en-US" sz="754" dirty="0">
                <a:solidFill>
                  <a:srgbClr val="24292F"/>
                </a:solidFill>
                <a:latin typeface="Consolas" pitchFamily="34" charset="0"/>
                <a:ea typeface="Consolas" pitchFamily="34" charset="-122"/>
                <a:cs typeface="Consolas" pitchFamily="34" charset="-120"/>
              </a:rPr>
              <a:t>        audit(getClass().getSimpleName() + " withdrew " + amount + ", balance " + balance);</a:t>
            </a:r>
            <a:endParaRPr lang="en-US" sz="754" dirty="0"/>
          </a:p>
          <a:p>
            <a:pPr indent="0" marL="0">
              <a:buNone/>
            </a:pPr>
            <a:r>
              <a:rPr lang="en-US" sz="754" dirty="0">
                <a:solidFill>
                  <a:srgbClr val="24292F"/>
                </a:solidFill>
                <a:latin typeface="Consolas" pitchFamily="34" charset="0"/>
                <a:ea typeface="Consolas" pitchFamily="34" charset="-122"/>
                <a:cs typeface="Consolas" pitchFamily="34" charset="-120"/>
              </a:rPr>
              <a:t>    }</a:t>
            </a:r>
            <a:endParaRPr lang="en-US" sz="754" dirty="0"/>
          </a:p>
          <a:p>
            <a:pPr indent="0" marL="0">
              <a:buNone/>
            </a:pPr>
            <a:r>
              <a:rPr lang="en-US" sz="754" dirty="0">
                <a:solidFill>
                  <a:srgbClr val="24292F"/>
                </a:solidFill>
                <a:latin typeface="Consolas" pitchFamily="34" charset="0"/>
                <a:ea typeface="Consolas" pitchFamily="34" charset="-122"/>
                <a:cs typeface="Consolas" pitchFamily="34" charset="-120"/>
              </a:rPr>
              <a:t>}</a:t>
            </a:r>
            <a:endParaRPr lang="en-US" sz="754" dirty="0"/>
          </a:p>
          <a:p>
            <a:pPr indent="0" marL="0">
              <a:buNone/>
            </a:pPr>
            <a:endParaRPr lang="en-US" sz="754" dirty="0"/>
          </a:p>
          <a:p>
            <a:pPr indent="0" marL="0">
              <a:buNone/>
            </a:pPr>
            <a:r>
              <a:rPr lang="en-US" sz="754" dirty="0">
                <a:solidFill>
                  <a:srgbClr val="24292F"/>
                </a:solidFill>
                <a:latin typeface="Consolas" pitchFamily="34" charset="0"/>
                <a:ea typeface="Consolas" pitchFamily="34" charset="-122"/>
                <a:cs typeface="Consolas" pitchFamily="34" charset="-120"/>
              </a:rPr>
              <a:t>interface Auditable {</a:t>
            </a:r>
            <a:endParaRPr lang="en-US" sz="754" dirty="0"/>
          </a:p>
          <a:p>
            <a:pPr indent="0" marL="0">
              <a:buNone/>
            </a:pPr>
            <a:r>
              <a:rPr lang="en-US" sz="754" dirty="0">
                <a:solidFill>
                  <a:srgbClr val="24292F"/>
                </a:solidFill>
                <a:latin typeface="Consolas" pitchFamily="34" charset="0"/>
                <a:ea typeface="Consolas" pitchFamily="34" charset="-122"/>
                <a:cs typeface="Consolas" pitchFamily="34" charset="-120"/>
              </a:rPr>
              <a:t>    default void audit(String event) { System.out.println("AUDIT: " + event); }</a:t>
            </a:r>
            <a:endParaRPr lang="en-US" sz="754" dirty="0"/>
          </a:p>
          <a:p>
            <a:pPr indent="0" marL="0">
              <a:buNone/>
            </a:pPr>
            <a:r>
              <a:rPr lang="en-US" sz="754" dirty="0">
                <a:solidFill>
                  <a:srgbClr val="24292F"/>
                </a:solidFill>
                <a:latin typeface="Consolas" pitchFamily="34" charset="0"/>
                <a:ea typeface="Consolas" pitchFamily="34" charset="-122"/>
                <a:cs typeface="Consolas" pitchFamily="34" charset="-120"/>
              </a:rPr>
              <a:t>}</a:t>
            </a:r>
            <a:endParaRPr lang="en-US" sz="754" dirty="0"/>
          </a:p>
          <a:p>
            <a:pPr indent="0" marL="0">
              <a:buNone/>
            </a:pPr>
            <a:endParaRPr lang="en-US" sz="754" dirty="0"/>
          </a:p>
          <a:p>
            <a:pPr indent="0" marL="0">
              <a:buNone/>
            </a:pPr>
            <a:r>
              <a:rPr lang="en-US" sz="754" dirty="0">
                <a:solidFill>
                  <a:srgbClr val="24292F"/>
                </a:solidFill>
                <a:latin typeface="Consolas" pitchFamily="34" charset="0"/>
                <a:ea typeface="Consolas" pitchFamily="34" charset="-122"/>
                <a:cs typeface="Consolas" pitchFamily="34" charset="-120"/>
              </a:rPr>
              <a:t>class SavingsAccount extends Account {</a:t>
            </a:r>
            <a:endParaRPr lang="en-US" sz="754" dirty="0"/>
          </a:p>
          <a:p>
            <a:pPr indent="0" marL="0">
              <a:buNone/>
            </a:pPr>
            <a:r>
              <a:rPr lang="en-US" sz="754" dirty="0">
                <a:solidFill>
                  <a:srgbClr val="24292F"/>
                </a:solidFill>
                <a:latin typeface="Consolas" pitchFamily="34" charset="0"/>
                <a:ea typeface="Consolas" pitchFamily="34" charset="-122"/>
                <a:cs typeface="Consolas" pitchFamily="34" charset="-120"/>
              </a:rPr>
              <a:t>    SavingsAccount(long b) { super(b); }</a:t>
            </a:r>
            <a:endParaRPr lang="en-US" sz="754" dirty="0"/>
          </a:p>
          <a:p>
            <a:pPr indent="0" marL="0">
              <a:buNone/>
            </a:pPr>
            <a:r>
              <a:rPr lang="en-US" sz="754" dirty="0">
                <a:solidFill>
                  <a:srgbClr val="24292F"/>
                </a:solidFill>
                <a:latin typeface="Consolas" pitchFamily="34" charset="0"/>
                <a:ea typeface="Consolas" pitchFamily="34" charset="-122"/>
                <a:cs typeface="Consolas" pitchFamily="34" charset="-120"/>
              </a:rPr>
              <a:t>    long withdrawLimit() { return 25_000; }</a:t>
            </a:r>
            <a:endParaRPr lang="en-US" sz="754" dirty="0"/>
          </a:p>
          <a:p>
            <a:pPr indent="0" marL="0">
              <a:buNone/>
            </a:pPr>
            <a:r>
              <a:rPr lang="en-US" sz="754" dirty="0">
                <a:solidFill>
                  <a:srgbClr val="24292F"/>
                </a:solidFill>
                <a:latin typeface="Consolas" pitchFamily="34" charset="0"/>
                <a:ea typeface="Consolas" pitchFamily="34" charset="-122"/>
                <a:cs typeface="Consolas" pitchFamily="34" charset="-120"/>
              </a:rPr>
              <a:t>}</a:t>
            </a:r>
            <a:endParaRPr lang="en-US" sz="754" dirty="0"/>
          </a:p>
          <a:p>
            <a:pPr indent="0" marL="0">
              <a:buNone/>
            </a:pPr>
            <a:r>
              <a:rPr lang="en-US" sz="754" dirty="0">
                <a:solidFill>
                  <a:srgbClr val="24292F"/>
                </a:solidFill>
                <a:latin typeface="Consolas" pitchFamily="34" charset="0"/>
                <a:ea typeface="Consolas" pitchFamily="34" charset="-122"/>
                <a:cs typeface="Consolas" pitchFamily="34" charset="-120"/>
              </a:rPr>
              <a:t>// … full listing in the web notes</a:t>
            </a:r>
            <a:endParaRPr lang="en-US" sz="754"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C9C43D"/>
          </a:solidFill>
          <a:ln w="12700">
            <a:solidFill>
              <a:srgbClr val="C9C43D"/>
            </a:solidFill>
            <a:prstDash val="solid"/>
          </a:ln>
        </p:spPr>
      </p:sp>
      <p:sp>
        <p:nvSpPr>
          <p:cNvPr id="3" name="Text 1"/>
          <p:cNvSpPr/>
          <p:nvPr/>
        </p:nvSpPr>
        <p:spPr>
          <a:xfrm>
            <a:off x="457200" y="256032"/>
            <a:ext cx="1463040" cy="292608"/>
          </a:xfrm>
          <a:prstGeom prst="roundRect">
            <a:avLst>
              <a:gd name="adj" fmla="val 18750"/>
            </a:avLst>
          </a:prstGeom>
          <a:solidFill>
            <a:srgbClr val="9B6BF0"/>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QUIZ</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2</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Quiz: abstraction &amp; exceptions</a:t>
            </a:r>
            <a:endParaRPr lang="en-US" sz="2800" dirty="0"/>
          </a:p>
        </p:txBody>
      </p:sp>
      <p:sp>
        <p:nvSpPr>
          <p:cNvPr id="6" name="Text 4"/>
          <p:cNvSpPr/>
          <p:nvPr/>
        </p:nvSpPr>
        <p:spPr>
          <a:xfrm>
            <a:off x="457200" y="1261872"/>
            <a:ext cx="11277295" cy="5093208"/>
          </a:xfrm>
          <a:prstGeom prst="rect">
            <a:avLst/>
          </a:prstGeom>
          <a:noFill/>
          <a:ln/>
        </p:spPr>
        <p:txBody>
          <a:bodyPr wrap="square" rtlCol="0" anchor="t"/>
          <a:lstStyle/>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Q1. What can an abstract class have that an interface cannot?</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Abstract methods</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Constructors and instance fields</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Default methods</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Static methods</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Q2. A class implements interfaces A and B, both declaring </a:t>
            </a:r>
            <a:pPr indent="0" marL="0">
              <a:spcAft>
                <a:spcPts val="400"/>
              </a:spcAft>
              <a:buNone/>
            </a:pPr>
            <a:r>
              <a:rPr lang="en-US" sz="850" dirty="0">
                <a:solidFill>
                  <a:srgbClr val="B4235A"/>
                </a:solidFill>
                <a:latin typeface="Consolas" pitchFamily="34" charset="0"/>
                <a:ea typeface="Consolas" pitchFamily="34" charset="-122"/>
                <a:cs typeface="Consolas" pitchFamily="34" charset="-120"/>
              </a:rPr>
              <a:t>default void log()</a:t>
            </a:r>
            <a:pPr indent="0" marL="0">
              <a:spcAft>
                <a:spcPts val="400"/>
              </a:spcAft>
              <a:buNone/>
            </a:pPr>
            <a:r>
              <a:rPr lang="en-US" sz="850" dirty="0">
                <a:solidFill>
                  <a:srgbClr val="1F2A24"/>
                </a:solidFill>
                <a:latin typeface="Calibri" pitchFamily="34" charset="0"/>
                <a:ea typeface="Calibri" pitchFamily="34" charset="-122"/>
                <a:cs typeface="Calibri" pitchFamily="34" charset="-120"/>
              </a:rPr>
              <a:t>. What happens?</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A's version wins</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The last interface listed wins</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Compile error unless the class overrides log()</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Runtime exception</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Q3. Which one is a </a:t>
            </a:r>
            <a:pPr indent="0" marL="0">
              <a:spcAft>
                <a:spcPts val="400"/>
              </a:spcAft>
              <a:buNone/>
            </a:pPr>
            <a:r>
              <a:rPr lang="en-US" sz="850" i="1" dirty="0">
                <a:solidFill>
                  <a:srgbClr val="1F2A24"/>
                </a:solidFill>
                <a:latin typeface="Calibri" pitchFamily="34" charset="0"/>
                <a:ea typeface="Calibri" pitchFamily="34" charset="-122"/>
                <a:cs typeface="Calibri" pitchFamily="34" charset="-120"/>
              </a:rPr>
              <a:t>checked</a:t>
            </a:r>
            <a:pPr indent="0" marL="0">
              <a:spcAft>
                <a:spcPts val="400"/>
              </a:spcAft>
              <a:buNone/>
            </a:pPr>
            <a:r>
              <a:rPr lang="en-US" sz="850" dirty="0">
                <a:solidFill>
                  <a:srgbClr val="1F2A24"/>
                </a:solidFill>
                <a:latin typeface="Calibri" pitchFamily="34" charset="0"/>
                <a:ea typeface="Calibri" pitchFamily="34" charset="-122"/>
                <a:cs typeface="Calibri" pitchFamily="34" charset="-120"/>
              </a:rPr>
              <a:t> exception?</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NullPointerException</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IOException</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IllegalArgumentException</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ArithmeticException</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Q4. Resources A then B are opened in a try-with-resources and the body throws. What is the order?</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catch, close A, close B</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close A, close B, catch</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close B, close A, catch</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catch, close B, close A</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Q5. Best way to signal 'wallet not found' from a service in a Spring REST app?</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Return null</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Throw a custom unchecked </a:t>
            </a:r>
            <a:pPr lvl="1" indent="0" marL="0">
              <a:spcAft>
                <a:spcPts val="400"/>
              </a:spcAft>
              <a:buNone/>
            </a:pPr>
            <a:r>
              <a:rPr lang="en-US" sz="750" dirty="0">
                <a:solidFill>
                  <a:srgbClr val="B4235A"/>
                </a:solidFill>
                <a:latin typeface="Consolas" pitchFamily="34" charset="0"/>
                <a:ea typeface="Consolas" pitchFamily="34" charset="-122"/>
                <a:cs typeface="Consolas" pitchFamily="34" charset="-120"/>
              </a:rPr>
              <a:t>WalletNotFoundException</a:t>
            </a:r>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 and map it to 404 centrally</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Catch Exception and log it</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Throw an Error</a:t>
            </a:r>
            <a:endParaRPr lang="en-US" sz="85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C9C43D"/>
          </a:solidFill>
          <a:ln w="12700">
            <a:solidFill>
              <a:srgbClr val="C9C43D"/>
            </a:solidFill>
            <a:prstDash val="solid"/>
          </a:ln>
        </p:spPr>
      </p:sp>
      <p:sp>
        <p:nvSpPr>
          <p:cNvPr id="3" name="Text 1"/>
          <p:cNvSpPr/>
          <p:nvPr/>
        </p:nvSpPr>
        <p:spPr>
          <a:xfrm>
            <a:off x="457200" y="256032"/>
            <a:ext cx="1463040" cy="292608"/>
          </a:xfrm>
          <a:prstGeom prst="roundRect">
            <a:avLst>
              <a:gd name="adj" fmla="val 18750"/>
            </a:avLst>
          </a:prstGeom>
          <a:solidFill>
            <a:srgbClr val="C99A2E"/>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SUMMARY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2</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Session 2 recap</a:t>
            </a:r>
            <a:endParaRPr lang="en-US" sz="2800" dirty="0"/>
          </a:p>
        </p:txBody>
      </p:sp>
      <p:sp>
        <p:nvSpPr>
          <p:cNvPr id="6" name="Text 4"/>
          <p:cNvSpPr/>
          <p:nvPr/>
        </p:nvSpPr>
        <p:spPr>
          <a:xfrm>
            <a:off x="457200" y="1261872"/>
            <a:ext cx="11277295" cy="5093208"/>
          </a:xfrm>
          <a:prstGeom prst="rect">
            <a:avLst/>
          </a:prstGeom>
          <a:noFill/>
          <a:ln/>
        </p:spPr>
        <p:txBody>
          <a:bodyPr wrap="square" rtlCol="0" anchor="t"/>
          <a:lstStyle/>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Abstract class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 shared state + code + abstract steps (template method).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Interface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 contract/capability; a class can implement many.</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Default-method conflicts must be resolved explicitly with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X.super.method()</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Program to interfaces; inject dependencies through constructors — the foundation of Spring.</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Throwable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Error</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(don't catch) and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Exception</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 checked;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RuntimeException</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 unchecked.</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Use try-with-resources, multi-catch, specific catches first, custom domain exceptions with a cause.</a:t>
            </a:r>
            <a:endParaRPr lang="en-US" sz="1700" dirty="0"/>
          </a:p>
        </p:txBody>
      </p:sp>
      <p:sp>
        <p:nvSpPr>
          <p:cNvPr id="7" name="Text 5"/>
          <p:cNvSpPr/>
          <p:nvPr/>
        </p:nvSpPr>
        <p:spPr>
          <a:xfrm>
            <a:off x="457200" y="3867912"/>
            <a:ext cx="11277295" cy="2487168"/>
          </a:xfrm>
          <a:prstGeom prst="rect">
            <a:avLst/>
          </a:prstGeom>
          <a:noFill/>
          <a:ln/>
        </p:spPr>
        <p:txBody>
          <a:bodyPr wrap="square" rtlCol="0" anchor="t"/>
          <a:lstStyle/>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Template method</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A final method defines an algorithm; subclasses implement its abstract steps.</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Default method</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Interface method with a body (Java 8) — evolves APIs without breaking implementers.</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Sealed type</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A class/interface that lists exactly which subtypes are permitted (Java 17).</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Checked exception</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Must be caught or declared; extends Exception but not RuntimeException.</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Unchecked exception</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RuntimeException subclasses — bugs or rule violations; not compiler-enforced.</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try-with-resources</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Auto-closes AutoCloseable resources in reverse order, before catch.</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Suppressed exception</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An exception thrown by close() attached to the primary exception.</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DIP</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Depend on abstractions, not concretions — high-level code knows only interfaces.</a:t>
            </a:r>
            <a:endParaRPr lang="en-US" sz="13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C9C43D"/>
          </a:solidFill>
          <a:ln w="12700">
            <a:solidFill>
              <a:srgbClr val="C9C43D"/>
            </a:solidFill>
            <a:prstDash val="solid"/>
          </a:ln>
        </p:spPr>
      </p:sp>
      <p:sp>
        <p:nvSpPr>
          <p:cNvPr id="3" name="Text 1"/>
          <p:cNvSpPr/>
          <p:nvPr/>
        </p:nvSpPr>
        <p:spPr>
          <a:xfrm>
            <a:off x="457200" y="411480"/>
            <a:ext cx="7315200" cy="320040"/>
          </a:xfrm>
          <a:prstGeom prst="rect">
            <a:avLst/>
          </a:prstGeom>
          <a:noFill/>
          <a:ln/>
        </p:spPr>
        <p:txBody>
          <a:bodyPr wrap="square" rtlCol="0" anchor="ctr"/>
          <a:lstStyle/>
          <a:p>
            <a:pPr indent="0" marL="0">
              <a:buNone/>
            </a:pPr>
            <a:r>
              <a:rPr lang="en-US" sz="1200" b="1" dirty="0">
                <a:solidFill>
                  <a:srgbClr val="C9C43D"/>
                </a:solidFill>
                <a:latin typeface="Calibri" pitchFamily="34" charset="0"/>
                <a:ea typeface="Calibri" pitchFamily="34" charset="-122"/>
                <a:cs typeface="Calibri" pitchFamily="34" charset="-120"/>
              </a:rPr>
              <a:t>SESSION 3 OF 24  ·  MODULE 1</a:t>
            </a:r>
            <a:endParaRPr lang="en-US" sz="1200" dirty="0"/>
          </a:p>
        </p:txBody>
      </p:sp>
      <p:sp>
        <p:nvSpPr>
          <p:cNvPr id="4" name="Text 2"/>
          <p:cNvSpPr/>
          <p:nvPr/>
        </p:nvSpPr>
        <p:spPr>
          <a:xfrm>
            <a:off x="457200" y="777240"/>
            <a:ext cx="11277295" cy="1005840"/>
          </a:xfrm>
          <a:prstGeom prst="rect">
            <a:avLst/>
          </a:prstGeom>
          <a:noFill/>
          <a:ln/>
        </p:spPr>
        <p:txBody>
          <a:bodyPr wrap="square" rtlCol="0" anchor="t"/>
          <a:lstStyle/>
          <a:p>
            <a:pPr indent="0" marL="0">
              <a:buNone/>
            </a:pPr>
            <a:r>
              <a:rPr lang="en-US" sz="3000" b="1" dirty="0">
                <a:solidFill>
                  <a:srgbClr val="1F2A24"/>
                </a:solidFill>
                <a:latin typeface="Calibri" pitchFamily="34" charset="0"/>
                <a:ea typeface="Calibri" pitchFamily="34" charset="-122"/>
                <a:cs typeface="Calibri" pitchFamily="34" charset="-120"/>
              </a:rPr>
              <a:t>Singleton Pattern, Exception Propagation, Lambdas &amp; Functional Interfaces</a:t>
            </a:r>
            <a:endParaRPr lang="en-US" sz="3000" dirty="0"/>
          </a:p>
        </p:txBody>
      </p:sp>
      <p:sp>
        <p:nvSpPr>
          <p:cNvPr id="5" name="Text 3"/>
          <p:cNvSpPr/>
          <p:nvPr/>
        </p:nvSpPr>
        <p:spPr>
          <a:xfrm>
            <a:off x="457200" y="1920240"/>
            <a:ext cx="5486400" cy="320040"/>
          </a:xfrm>
          <a:prstGeom prst="rect">
            <a:avLst/>
          </a:prstGeom>
          <a:noFill/>
          <a:ln/>
        </p:spPr>
        <p:txBody>
          <a:bodyPr wrap="square" rtlCol="0" anchor="ctr"/>
          <a:lstStyle/>
          <a:p>
            <a:pPr indent="0" marL="0">
              <a:buNone/>
            </a:pPr>
            <a:r>
              <a:rPr lang="en-US" sz="1300" b="1" dirty="0">
                <a:solidFill>
                  <a:srgbClr val="5B6B60"/>
                </a:solidFill>
                <a:latin typeface="Calibri" pitchFamily="34" charset="0"/>
                <a:ea typeface="Calibri" pitchFamily="34" charset="-122"/>
                <a:cs typeface="Calibri" pitchFamily="34" charset="-120"/>
              </a:rPr>
              <a:t>Brochure topics covered</a:t>
            </a:r>
            <a:endParaRPr lang="en-US" sz="1300" dirty="0"/>
          </a:p>
        </p:txBody>
      </p:sp>
      <p:sp>
        <p:nvSpPr>
          <p:cNvPr id="6" name="Text 4"/>
          <p:cNvSpPr/>
          <p:nvPr/>
        </p:nvSpPr>
        <p:spPr>
          <a:xfrm>
            <a:off x="457200" y="2240280"/>
            <a:ext cx="5577840" cy="1463040"/>
          </a:xfrm>
          <a:prstGeom prst="rect">
            <a:avLst/>
          </a:prstGeom>
          <a:noFill/>
          <a:ln/>
        </p:spPr>
        <p:txBody>
          <a:bodyPr wrap="square" rtlCol="0" anchor="t"/>
          <a:lstStyle/>
          <a:p>
            <a:pPr indent="0" marL="0">
              <a:spcAft>
                <a:spcPts val="400"/>
              </a:spcAft>
              <a:buNone/>
            </a:pPr>
            <a:r>
              <a:rPr lang="en-US" sz="1400" dirty="0">
                <a:solidFill>
                  <a:srgbClr val="1F2A24"/>
                </a:solidFill>
                <a:latin typeface="Calibri" pitchFamily="34" charset="0"/>
                <a:ea typeface="Calibri" pitchFamily="34" charset="-122"/>
                <a:cs typeface="Calibri" pitchFamily="34" charset="-120"/>
              </a:rPr>
              <a:t>✓ Singleton design pattern &amp; exception propagation</a:t>
            </a:r>
            <a:endParaRPr lang="en-US" sz="1400" dirty="0"/>
          </a:p>
          <a:p>
            <a:pPr indent="0" marL="0">
              <a:spcAft>
                <a:spcPts val="400"/>
              </a:spcAft>
              <a:buNone/>
            </a:pPr>
            <a:r>
              <a:rPr lang="en-US" sz="1400" dirty="0">
                <a:solidFill>
                  <a:srgbClr val="1F2A24"/>
                </a:solidFill>
                <a:latin typeface="Calibri" pitchFamily="34" charset="0"/>
                <a:ea typeface="Calibri" pitchFamily="34" charset="-122"/>
                <a:cs typeface="Calibri" pitchFamily="34" charset="-120"/>
              </a:rPr>
              <a:t>✓ Lambda expressions &amp; functional interfaces</a:t>
            </a:r>
            <a:endParaRPr lang="en-US" sz="1400" dirty="0"/>
          </a:p>
        </p:txBody>
      </p:sp>
      <p:sp>
        <p:nvSpPr>
          <p:cNvPr id="7" name="Text 5"/>
          <p:cNvSpPr/>
          <p:nvPr/>
        </p:nvSpPr>
        <p:spPr>
          <a:xfrm>
            <a:off x="457200" y="3749040"/>
            <a:ext cx="5486400" cy="320040"/>
          </a:xfrm>
          <a:prstGeom prst="rect">
            <a:avLst/>
          </a:prstGeom>
          <a:noFill/>
          <a:ln/>
        </p:spPr>
        <p:txBody>
          <a:bodyPr wrap="square" rtlCol="0" anchor="ctr"/>
          <a:lstStyle/>
          <a:p>
            <a:pPr indent="0" marL="0">
              <a:buNone/>
            </a:pPr>
            <a:r>
              <a:rPr lang="en-US" sz="1300" b="1" dirty="0">
                <a:solidFill>
                  <a:srgbClr val="5B6B60"/>
                </a:solidFill>
                <a:latin typeface="Calibri" pitchFamily="34" charset="0"/>
                <a:ea typeface="Calibri" pitchFamily="34" charset="-122"/>
                <a:cs typeface="Calibri" pitchFamily="34" charset="-120"/>
              </a:rPr>
              <a:t>Learning objectives</a:t>
            </a:r>
            <a:endParaRPr lang="en-US" sz="1300" dirty="0"/>
          </a:p>
        </p:txBody>
      </p:sp>
      <p:sp>
        <p:nvSpPr>
          <p:cNvPr id="8" name="Text 6"/>
          <p:cNvSpPr/>
          <p:nvPr/>
        </p:nvSpPr>
        <p:spPr>
          <a:xfrm>
            <a:off x="457200" y="4069080"/>
            <a:ext cx="5577840" cy="2286000"/>
          </a:xfrm>
          <a:prstGeom prst="rect">
            <a:avLst/>
          </a:prstGeom>
          <a:noFill/>
          <a:ln/>
        </p:spPr>
        <p:txBody>
          <a:bodyPr wrap="square" rtlCol="0" anchor="t"/>
          <a:lstStyle/>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Implement a thread-safe Singleton (holder idiom, double-checked locking, enum) and know how singletons break.</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Trace how an exception propagates up the call stack, and decide where to catch, wrap or rethrow it.</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Write lambda expressions and method references against functional interfaces.</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Use and compose </a:t>
            </a:r>
            <a:endParaRPr lang="en-US" sz="1250" dirty="0"/>
          </a:p>
          <a:p>
            <a:pPr marL="177800" indent="-177800">
              <a:spcAft>
                <a:spcPts val="400"/>
              </a:spcAft>
              <a:buSzPct val="100000"/>
              <a:buChar char="•"/>
            </a:pPr>
            <a:r>
              <a:rPr lang="en-US" sz="1250" dirty="0">
                <a:solidFill>
                  <a:srgbClr val="B4235A"/>
                </a:solidFill>
                <a:latin typeface="Consolas" pitchFamily="34" charset="0"/>
                <a:ea typeface="Consolas" pitchFamily="34" charset="-122"/>
                <a:cs typeface="Consolas" pitchFamily="34" charset="-120"/>
              </a:rPr>
              <a:t>Predicate</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 </a:t>
            </a:r>
            <a:endParaRPr lang="en-US" sz="1250" dirty="0"/>
          </a:p>
          <a:p>
            <a:pPr marL="177800" indent="-177800">
              <a:spcAft>
                <a:spcPts val="400"/>
              </a:spcAft>
              <a:buSzPct val="100000"/>
              <a:buChar char="•"/>
            </a:pPr>
            <a:r>
              <a:rPr lang="en-US" sz="1250" dirty="0">
                <a:solidFill>
                  <a:srgbClr val="B4235A"/>
                </a:solidFill>
                <a:latin typeface="Consolas" pitchFamily="34" charset="0"/>
                <a:ea typeface="Consolas" pitchFamily="34" charset="-122"/>
                <a:cs typeface="Consolas" pitchFamily="34" charset="-120"/>
              </a:rPr>
              <a:t>Function</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 </a:t>
            </a:r>
            <a:endParaRPr lang="en-US" sz="1250" dirty="0"/>
          </a:p>
          <a:p>
            <a:pPr marL="177800" indent="-177800">
              <a:spcAft>
                <a:spcPts val="400"/>
              </a:spcAft>
              <a:buSzPct val="100000"/>
              <a:buChar char="•"/>
            </a:pPr>
            <a:r>
              <a:rPr lang="en-US" sz="1250" dirty="0">
                <a:solidFill>
                  <a:srgbClr val="B4235A"/>
                </a:solidFill>
                <a:latin typeface="Consolas" pitchFamily="34" charset="0"/>
                <a:ea typeface="Consolas" pitchFamily="34" charset="-122"/>
                <a:cs typeface="Consolas" pitchFamily="34" charset="-120"/>
              </a:rPr>
              <a:t>Consumer</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 </a:t>
            </a:r>
            <a:endParaRPr lang="en-US" sz="1250" dirty="0"/>
          </a:p>
          <a:p>
            <a:pPr marL="177800" indent="-177800">
              <a:spcAft>
                <a:spcPts val="400"/>
              </a:spcAft>
              <a:buSzPct val="100000"/>
              <a:buChar char="•"/>
            </a:pPr>
            <a:r>
              <a:rPr lang="en-US" sz="1250" dirty="0">
                <a:solidFill>
                  <a:srgbClr val="B4235A"/>
                </a:solidFill>
                <a:latin typeface="Consolas" pitchFamily="34" charset="0"/>
                <a:ea typeface="Consolas" pitchFamily="34" charset="-122"/>
                <a:cs typeface="Consolas" pitchFamily="34" charset="-120"/>
              </a:rPr>
              <a:t>Supplier</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 and custom functional interfaces.</a:t>
            </a:r>
            <a:endParaRPr lang="en-US" sz="1250" dirty="0"/>
          </a:p>
        </p:txBody>
      </p:sp>
      <p:sp>
        <p:nvSpPr>
          <p:cNvPr id="9" name="Text 7"/>
          <p:cNvSpPr/>
          <p:nvPr/>
        </p:nvSpPr>
        <p:spPr>
          <a:xfrm>
            <a:off x="6400800" y="1920240"/>
            <a:ext cx="5303520" cy="320040"/>
          </a:xfrm>
          <a:prstGeom prst="rect">
            <a:avLst/>
          </a:prstGeom>
          <a:noFill/>
          <a:ln/>
        </p:spPr>
        <p:txBody>
          <a:bodyPr wrap="square" rtlCol="0" anchor="ctr"/>
          <a:lstStyle/>
          <a:p>
            <a:pPr indent="0" marL="0">
              <a:buNone/>
            </a:pPr>
            <a:r>
              <a:rPr lang="en-US" sz="1300" b="1" dirty="0">
                <a:solidFill>
                  <a:srgbClr val="5B6B60"/>
                </a:solidFill>
                <a:latin typeface="Calibri" pitchFamily="34" charset="0"/>
                <a:ea typeface="Calibri" pitchFamily="34" charset="-122"/>
                <a:cs typeface="Calibri" pitchFamily="34" charset="-120"/>
              </a:rPr>
              <a:t>Agenda</a:t>
            </a:r>
            <a:endParaRPr lang="en-US" sz="1300" dirty="0"/>
          </a:p>
        </p:txBody>
      </p:sp>
      <p:sp>
        <p:nvSpPr>
          <p:cNvPr id="10" name="Text 8"/>
          <p:cNvSpPr/>
          <p:nvPr/>
        </p:nvSpPr>
        <p:spPr>
          <a:xfrm>
            <a:off x="6400800" y="2240280"/>
            <a:ext cx="5303520" cy="4114800"/>
          </a:xfrm>
          <a:prstGeom prst="rect">
            <a:avLst/>
          </a:prstGeom>
          <a:noFill/>
          <a:ln/>
        </p:spPr>
        <p:txBody>
          <a:bodyPr wrap="square" rtlCol="0" anchor="t"/>
          <a:lstStyle/>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Design patterns &amp; the Singleton</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Practical: Four ways to implement a Singleton</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Practical: Thread safety &amp; how singletons break</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Exception propagation: unwinding the call stack</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Practical: Propagation in code: declare, wrap, rethrow</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Lambda expressions: behaviour as a value</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Functional interfaces in java.util.function</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Practical: Composing functions &amp; the 4 kinds of method reference</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Practical: Lambdas meet exceptions</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Hands-on Lab: Lab: config singleton + functional pricing pipeline</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Quiz: Quiz: Singleton, propagation &amp; lambdas</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Summary: Session 3 recap</a:t>
            </a:r>
            <a:endParaRPr lang="en-US" sz="125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C9C43D"/>
          </a:solidFill>
          <a:ln w="12700">
            <a:solidFill>
              <a:srgbClr val="C9C43D"/>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3</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Design patterns &amp; the Singleton</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A design pattern is a proven, named solution to a recurring design problem. </a:t>
            </a:r>
            <a:pPr indent="0" marL="0">
              <a:buNone/>
            </a:pPr>
            <a:r>
              <a:rPr lang="en-US" sz="1350" b="1" dirty="0">
                <a:solidFill>
                  <a:srgbClr val="5B6B60"/>
                </a:solidFill>
                <a:latin typeface="Calibri" pitchFamily="34" charset="0"/>
                <a:ea typeface="Calibri" pitchFamily="34" charset="-122"/>
                <a:cs typeface="Calibri" pitchFamily="34" charset="-120"/>
              </a:rPr>
              <a:t>Singleton</a:t>
            </a:r>
            <a:pPr indent="0" marL="0">
              <a:buNone/>
            </a:pPr>
            <a:r>
              <a:rPr lang="en-US" sz="1350" dirty="0">
                <a:solidFill>
                  <a:srgbClr val="5B6B60"/>
                </a:solidFill>
                <a:latin typeface="Calibri" pitchFamily="34" charset="0"/>
                <a:ea typeface="Calibri" pitchFamily="34" charset="-122"/>
                <a:cs typeface="Calibri" pitchFamily="34" charset="-120"/>
              </a:rPr>
              <a:t> ensures a class has </a:t>
            </a:r>
            <a:pPr indent="0" marL="0">
              <a:buNone/>
            </a:pPr>
            <a:r>
              <a:rPr lang="en-US" sz="1350" b="1" dirty="0">
                <a:solidFill>
                  <a:srgbClr val="5B6B60"/>
                </a:solidFill>
                <a:latin typeface="Calibri" pitchFamily="34" charset="0"/>
                <a:ea typeface="Calibri" pitchFamily="34" charset="-122"/>
                <a:cs typeface="Calibri" pitchFamily="34" charset="-120"/>
              </a:rPr>
              <a:t>exactly one instance</a:t>
            </a:r>
            <a:pPr indent="0" marL="0">
              <a:buNone/>
            </a:pPr>
            <a:r>
              <a:rPr lang="en-US" sz="1350" dirty="0">
                <a:solidFill>
                  <a:srgbClr val="5B6B60"/>
                </a:solidFill>
                <a:latin typeface="Calibri" pitchFamily="34" charset="0"/>
                <a:ea typeface="Calibri" pitchFamily="34" charset="-122"/>
                <a:cs typeface="Calibri" pitchFamily="34" charset="-120"/>
              </a:rPr>
              <a:t> with a global access point.</a:t>
            </a:r>
            <a:endParaRPr lang="en-US" sz="1350" dirty="0"/>
          </a:p>
        </p:txBody>
      </p:sp>
      <p:sp>
        <p:nvSpPr>
          <p:cNvPr id="7" name="Text 5"/>
          <p:cNvSpPr/>
          <p:nvPr/>
        </p:nvSpPr>
        <p:spPr>
          <a:xfrm>
            <a:off x="457200" y="1883664"/>
            <a:ext cx="5120640" cy="4471416"/>
          </a:xfrm>
          <a:prstGeom prst="rect">
            <a:avLst/>
          </a:prstGeom>
          <a:noFill/>
          <a:ln/>
        </p:spPr>
        <p:txBody>
          <a:bodyPr wrap="square" rtlCol="0" anchor="t"/>
          <a:lstStyle/>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Typical uses: configuration, a registry/cache, a connection-pool manager, a metrics registry.</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Recipe: a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private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constructor, a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static</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field holding the instance, a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static</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accessor.</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Hard parts: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lazy</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creation,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thread safety</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and resisting reflection/serialization.</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In Spring apps you rarely hand-write singletons — beans are </a:t>
            </a:r>
            <a:endParaRPr lang="en-US" sz="1700" dirty="0"/>
          </a:p>
          <a:p>
            <a:pPr marL="177800" indent="-177800">
              <a:spcAft>
                <a:spcPts val="400"/>
              </a:spcAft>
              <a:buSzPct val="100000"/>
              <a:buChar char="•"/>
            </a:pPr>
            <a:r>
              <a:rPr lang="en-US" sz="1700" i="1" dirty="0">
                <a:solidFill>
                  <a:srgbClr val="1F2A24"/>
                </a:solidFill>
                <a:latin typeface="Calibri" pitchFamily="34" charset="0"/>
                <a:ea typeface="Calibri" pitchFamily="34" charset="-122"/>
                <a:cs typeface="Calibri" pitchFamily="34" charset="-120"/>
              </a:rPr>
              <a:t>singleton-scoped</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by default (Session 8).</a:t>
            </a:r>
            <a:endParaRPr lang="en-US" sz="1700" dirty="0"/>
          </a:p>
        </p:txBody>
      </p:sp>
      <p:sp>
        <p:nvSpPr>
          <p:cNvPr id="8" name="Text 6"/>
          <p:cNvSpPr/>
          <p:nvPr/>
        </p:nvSpPr>
        <p:spPr>
          <a:xfrm>
            <a:off x="5852160" y="1883664"/>
            <a:ext cx="5882335" cy="4471416"/>
          </a:xfrm>
          <a:prstGeom prst="rect">
            <a:avLst/>
          </a:prstGeom>
          <a:solidFill>
            <a:srgbClr val="F7F9F8"/>
          </a:solidFill>
          <a:ln w="9525">
            <a:solidFill>
              <a:srgbClr val="D5DDD7"/>
            </a:solidFill>
          </a:ln>
        </p:spPr>
        <p:txBody>
          <a:bodyPr wrap="square" lIns="1524" tIns="1524" rIns="1524" bIns="1524" rtlCol="0" anchor="t"/>
          <a:lstStyle/>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Creational — Singleton, Factory, Builder</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Structural — Adapter, Decorator, Proxy</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Behavioural — Strategy, Observer, Template Method</a:t>
            </a:r>
            <a:endParaRPr lang="en-US" sz="13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C9C43D"/>
          </a:solidFill>
          <a:ln w="12700">
            <a:solidFill>
              <a:srgbClr val="C9C43D"/>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3</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Four ways to implement a Singleton</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All four return the same instance every time; they differ in laziness, thread-safety and robustness.</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SingletonDemo.java</a:t>
            </a:r>
            <a:endParaRPr lang="en-US" sz="900" dirty="0"/>
          </a:p>
        </p:txBody>
      </p:sp>
      <p:sp>
        <p:nvSpPr>
          <p:cNvPr id="8" name="Text 6"/>
          <p:cNvSpPr/>
          <p:nvPr/>
        </p:nvSpPr>
        <p:spPr>
          <a:xfrm>
            <a:off x="457200" y="2157984"/>
            <a:ext cx="11277295" cy="419709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import java.util.Map;</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java.util.concurrent.ConcurrentHashMap;</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1) Eager: created when the class is initialised. Simple and thread-safe.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class EagerConfig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private static final EagerConfig INSTANCE = new EagerConfig();</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private EagerConfig()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static EagerConfig getInstance() { return INSTANCE;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2) Double-checked locking: lazy + thread-safe. 'volatile' is essential.</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class DclConfig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private static volatile DclConfig instance;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private DclConfig()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static DclConfig getInstance()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DclConfig local = instance;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if (local == null) {                         // 1st check, no lock</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synchronized (DclConfig.class)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local = instance;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if (local == null) {                 // 2nd check, with lock</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instance = local = new DclConfig();</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full listing in the web notes</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C9C43D"/>
          </a:solidFill>
          <a:ln w="12700">
            <a:solidFill>
              <a:srgbClr val="C9C43D"/>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3</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Thread safety &amp; how singletons break</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The naive lazy singleton uses </a:t>
            </a:r>
            <a:pPr indent="0" marL="0">
              <a:buNone/>
            </a:pPr>
            <a:r>
              <a:rPr lang="en-US" sz="1350" i="1" dirty="0">
                <a:solidFill>
                  <a:srgbClr val="5B6B60"/>
                </a:solidFill>
                <a:latin typeface="Calibri" pitchFamily="34" charset="0"/>
                <a:ea typeface="Calibri" pitchFamily="34" charset="-122"/>
                <a:cs typeface="Calibri" pitchFamily="34" charset="-120"/>
              </a:rPr>
              <a:t>check-then-act</a:t>
            </a:r>
            <a:pPr indent="0" marL="0">
              <a:buNone/>
            </a:pPr>
            <a:r>
              <a:rPr lang="en-US" sz="1350" dirty="0">
                <a:solidFill>
                  <a:srgbClr val="5B6B60"/>
                </a:solidFill>
                <a:latin typeface="Calibri" pitchFamily="34" charset="0"/>
                <a:ea typeface="Calibri" pitchFamily="34" charset="-122"/>
                <a:cs typeface="Calibri" pitchFamily="34" charset="-120"/>
              </a:rPr>
              <a:t>, which is </a:t>
            </a:r>
            <a:pPr indent="0" marL="0">
              <a:buNone/>
            </a:pPr>
            <a:r>
              <a:rPr lang="en-US" sz="1350" b="1" dirty="0">
                <a:solidFill>
                  <a:srgbClr val="5B6B60"/>
                </a:solidFill>
                <a:latin typeface="Calibri" pitchFamily="34" charset="0"/>
                <a:ea typeface="Calibri" pitchFamily="34" charset="-122"/>
                <a:cs typeface="Calibri" pitchFamily="34" charset="-120"/>
              </a:rPr>
              <a:t>not atomic</a:t>
            </a:r>
            <a:pPr indent="0" marL="0">
              <a:buNone/>
            </a:pPr>
            <a:r>
              <a:rPr lang="en-US" sz="1350" dirty="0">
                <a:solidFill>
                  <a:srgbClr val="5B6B60"/>
                </a:solidFill>
                <a:latin typeface="Calibri" pitchFamily="34" charset="0"/>
                <a:ea typeface="Calibri" pitchFamily="34" charset="-122"/>
                <a:cs typeface="Calibri" pitchFamily="34" charset="-120"/>
              </a:rPr>
              <a:t> — under concurrency several threads create their own instance.</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RaceDemo.java</a:t>
            </a:r>
            <a:endParaRPr lang="en-US" sz="900" dirty="0"/>
          </a:p>
        </p:txBody>
      </p:sp>
      <p:sp>
        <p:nvSpPr>
          <p:cNvPr id="8" name="Text 6"/>
          <p:cNvSpPr/>
          <p:nvPr/>
        </p:nvSpPr>
        <p:spPr>
          <a:xfrm>
            <a:off x="457200" y="2157984"/>
            <a:ext cx="11277295" cy="186537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import java.util.concurrent.*;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java.util.concurrent.atomic.AtomicInteger;</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class NaiveLazy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static final AtomicInteger CREATED = new AtomicInteger();</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private static NaiveLazy instance;</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private NaiveLazy()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full listing in the web notes</a:t>
            </a:r>
            <a:endParaRPr lang="en-US" sz="11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457200" y="4069080"/>
          <a:ext cx="11277295" cy="914400"/>
        </p:xfrm>
        <a:graphic>
          <a:graphicData uri="http://schemas.openxmlformats.org/drawingml/2006/table">
            <a:tbl>
              <a:tblPr/>
              <a:tblGrid>
                <a:gridCol w="2819324"/>
                <a:gridCol w="2819324"/>
                <a:gridCol w="2819324"/>
                <a:gridCol w="2819324"/>
              </a:tblGrid>
              <a:tr h="235131">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Approach</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Lazy?</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Thread-safe?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Reflection / serialization safe?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r>
              <a:tr h="235131">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Naive lazy</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35131">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Eager static final</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 (needs guards)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35131">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synchronized getInstance()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 (but locks on every call)</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35131">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Double-checked + volatile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35131">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Holder idiom</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35131">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Enum</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 (on first enum use)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bl>
          </a:graphicData>
        </a:graphic>
      </p:graphicFrame>
      <p:sp>
        <p:nvSpPr>
          <p:cNvPr id="10" name="Text 7"/>
          <p:cNvSpPr/>
          <p:nvPr/>
        </p:nvSpPr>
        <p:spPr>
          <a:xfrm>
            <a:off x="457200" y="5806440"/>
            <a:ext cx="11277295" cy="530352"/>
          </a:xfrm>
          <a:prstGeom prst="rect">
            <a:avLst/>
          </a:prstGeom>
          <a:solidFill>
            <a:srgbClr val="FFF8E1"/>
          </a:solidFill>
          <a:ln w="9525">
            <a:solidFill>
              <a:srgbClr val="E9C46A"/>
            </a:solidFill>
          </a:ln>
        </p:spPr>
        <p:txBody>
          <a:bodyPr wrap="square" lIns="1016" tIns="1016" rIns="1016" bIns="1016" rtlCol="0" anchor="ctr"/>
          <a:lstStyle/>
          <a:p>
            <a:pPr indent="0" marL="0">
              <a:buNone/>
            </a:pPr>
            <a:r>
              <a:rPr lang="en-US" sz="1100" b="1" dirty="0">
                <a:solidFill>
                  <a:srgbClr val="1F2A24"/>
                </a:solidFill>
                <a:latin typeface="Calibri" pitchFamily="34" charset="0"/>
                <a:ea typeface="Calibri" pitchFamily="34" charset="-122"/>
                <a:cs typeface="Calibri" pitchFamily="34" charset="-120"/>
              </a:rPr>
              <a:t>WARN: </a:t>
            </a:r>
            <a:pPr indent="0" marL="0">
              <a:buNone/>
            </a:pPr>
            <a:r>
              <a:rPr lang="en-US" sz="1100" dirty="0">
                <a:solidFill>
                  <a:srgbClr val="1F2A24"/>
                </a:solidFill>
                <a:latin typeface="Calibri" pitchFamily="34" charset="0"/>
                <a:ea typeface="Calibri" pitchFamily="34" charset="-122"/>
                <a:cs typeface="Calibri" pitchFamily="34" charset="-120"/>
              </a:rPr>
              <a:t>Other ways to get a second instance: </a:t>
            </a:r>
            <a:pPr indent="0" marL="0">
              <a:buNone/>
            </a:pPr>
            <a:r>
              <a:rPr lang="en-US" sz="1100" b="1" dirty="0">
                <a:solidFill>
                  <a:srgbClr val="1F2A24"/>
                </a:solidFill>
                <a:latin typeface="Calibri" pitchFamily="34" charset="0"/>
                <a:ea typeface="Calibri" pitchFamily="34" charset="-122"/>
                <a:cs typeface="Calibri" pitchFamily="34" charset="-120"/>
              </a:rPr>
              <a:t>reflection</a:t>
            </a:r>
            <a:pPr indent="0" marL="0">
              <a:buNone/>
            </a:pPr>
            <a:r>
              <a:rPr lang="en-US" sz="1100" dirty="0">
                <a:solidFill>
                  <a:srgbClr val="1F2A24"/>
                </a:solidFill>
                <a:latin typeface="Calibri" pitchFamily="34" charset="0"/>
                <a:ea typeface="Calibri" pitchFamily="34" charset="-122"/>
                <a:cs typeface="Calibri" pitchFamily="34" charset="-120"/>
              </a:rPr>
              <a:t> (</a:t>
            </a:r>
            <a:pPr indent="0" marL="0">
              <a:buNone/>
            </a:pPr>
            <a:r>
              <a:rPr lang="en-US" sz="1100" dirty="0">
                <a:solidFill>
                  <a:srgbClr val="B4235A"/>
                </a:solidFill>
                <a:latin typeface="Consolas" pitchFamily="34" charset="0"/>
                <a:ea typeface="Consolas" pitchFamily="34" charset="-122"/>
                <a:cs typeface="Consolas" pitchFamily="34" charset="-120"/>
              </a:rPr>
              <a:t>setAccessible(true)</a:t>
            </a:r>
            <a:pPr indent="0" marL="0">
              <a:buNone/>
            </a:pPr>
            <a:r>
              <a:rPr lang="en-US" sz="1100" dirty="0">
                <a:solidFill>
                  <a:srgbClr val="1F2A24"/>
                </a:solidFill>
                <a:latin typeface="Calibri" pitchFamily="34" charset="0"/>
                <a:ea typeface="Calibri" pitchFamily="34" charset="-122"/>
                <a:cs typeface="Calibri" pitchFamily="34" charset="-120"/>
              </a:rPr>
              <a:t> on the constructor), </a:t>
            </a:r>
            <a:pPr indent="0" marL="0">
              <a:buNone/>
            </a:pPr>
            <a:r>
              <a:rPr lang="en-US" sz="1100" b="1" dirty="0">
                <a:solidFill>
                  <a:srgbClr val="1F2A24"/>
                </a:solidFill>
                <a:latin typeface="Calibri" pitchFamily="34" charset="0"/>
                <a:ea typeface="Calibri" pitchFamily="34" charset="-122"/>
                <a:cs typeface="Calibri" pitchFamily="34" charset="-120"/>
              </a:rPr>
              <a:t>deserialization</a:t>
            </a:r>
            <a:pPr indent="0" marL="0">
              <a:buNone/>
            </a:pPr>
            <a:r>
              <a:rPr lang="en-US" sz="1100" dirty="0">
                <a:solidFill>
                  <a:srgbClr val="1F2A24"/>
                </a:solidFill>
                <a:latin typeface="Calibri" pitchFamily="34" charset="0"/>
                <a:ea typeface="Calibri" pitchFamily="34" charset="-122"/>
                <a:cs typeface="Calibri" pitchFamily="34" charset="-120"/>
              </a:rPr>
              <a:t> (add </a:t>
            </a:r>
            <a:pPr indent="0" marL="0">
              <a:buNone/>
            </a:pPr>
            <a:r>
              <a:rPr lang="en-US" sz="1100" dirty="0">
                <a:solidFill>
                  <a:srgbClr val="B4235A"/>
                </a:solidFill>
                <a:latin typeface="Consolas" pitchFamily="34" charset="0"/>
                <a:ea typeface="Consolas" pitchFamily="34" charset="-122"/>
                <a:cs typeface="Consolas" pitchFamily="34" charset="-120"/>
              </a:rPr>
              <a:t>readResolve()</a:t>
            </a:r>
            <a:pPr indent="0" marL="0">
              <a:buNone/>
            </a:pPr>
            <a:r>
              <a:rPr lang="en-US" sz="1100" dirty="0">
                <a:solidFill>
                  <a:srgbClr val="1F2A24"/>
                </a:solidFill>
                <a:latin typeface="Calibri" pitchFamily="34" charset="0"/>
                <a:ea typeface="Calibri" pitchFamily="34" charset="-122"/>
                <a:cs typeface="Calibri" pitchFamily="34" charset="-120"/>
              </a:rPr>
              <a:t>), </a:t>
            </a:r>
            <a:pPr indent="0" marL="0">
              <a:buNone/>
            </a:pPr>
            <a:r>
              <a:rPr lang="en-US" sz="1100" b="1" dirty="0">
                <a:solidFill>
                  <a:srgbClr val="1F2A24"/>
                </a:solidFill>
                <a:latin typeface="Calibri" pitchFamily="34" charset="0"/>
                <a:ea typeface="Calibri" pitchFamily="34" charset="-122"/>
                <a:cs typeface="Calibri" pitchFamily="34" charset="-120"/>
              </a:rPr>
              <a:t>cloning</a:t>
            </a:r>
            <a:pPr indent="0" marL="0">
              <a:buNone/>
            </a:pPr>
            <a:r>
              <a:rPr lang="en-US" sz="1100" dirty="0">
                <a:solidFill>
                  <a:srgbClr val="1F2A24"/>
                </a:solidFill>
                <a:latin typeface="Calibri" pitchFamily="34" charset="0"/>
                <a:ea typeface="Calibri" pitchFamily="34" charset="-122"/>
                <a:cs typeface="Calibri" pitchFamily="34" charset="-120"/>
              </a:rPr>
              <a:t>, and </a:t>
            </a:r>
            <a:pPr indent="0" marL="0">
              <a:buNone/>
            </a:pPr>
            <a:r>
              <a:rPr lang="en-US" sz="1100" b="1" dirty="0">
                <a:solidFill>
                  <a:srgbClr val="1F2A24"/>
                </a:solidFill>
                <a:latin typeface="Calibri" pitchFamily="34" charset="0"/>
                <a:ea typeface="Calibri" pitchFamily="34" charset="-122"/>
                <a:cs typeface="Calibri" pitchFamily="34" charset="-120"/>
              </a:rPr>
              <a:t>multiple class loaders</a:t>
            </a:r>
            <a:pPr indent="0" marL="0">
              <a:buNone/>
            </a:pPr>
            <a:r>
              <a:rPr lang="en-US" sz="1100" dirty="0">
                <a:solidFill>
                  <a:srgbClr val="1F2A24"/>
                </a:solidFill>
                <a:latin typeface="Calibri" pitchFamily="34" charset="0"/>
                <a:ea typeface="Calibri" pitchFamily="34" charset="-122"/>
                <a:cs typeface="Calibri" pitchFamily="34" charset="-120"/>
              </a:rPr>
              <a:t>. Enums are immune to the first two.</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C9C43D"/>
          </a:solidFill>
          <a:ln w="12700">
            <a:solidFill>
              <a:srgbClr val="C9C43D"/>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3</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Exception propagation: unwinding the call stack</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When no </a:t>
            </a:r>
            <a:pPr indent="0" marL="0">
              <a:buNone/>
            </a:pPr>
            <a:r>
              <a:rPr lang="en-US" sz="1350" dirty="0">
                <a:solidFill>
                  <a:srgbClr val="B4235A"/>
                </a:solidFill>
                <a:latin typeface="Consolas" pitchFamily="34" charset="0"/>
                <a:ea typeface="Consolas" pitchFamily="34" charset="-122"/>
                <a:cs typeface="Consolas" pitchFamily="34" charset="-120"/>
              </a:rPr>
              <a:t>catch</a:t>
            </a:r>
            <a:pPr indent="0" marL="0">
              <a:buNone/>
            </a:pPr>
            <a:r>
              <a:rPr lang="en-US" sz="1350" dirty="0">
                <a:solidFill>
                  <a:srgbClr val="5B6B60"/>
                </a:solidFill>
                <a:latin typeface="Calibri" pitchFamily="34" charset="0"/>
                <a:ea typeface="Calibri" pitchFamily="34" charset="-122"/>
                <a:cs typeface="Calibri" pitchFamily="34" charset="-120"/>
              </a:rPr>
              <a:t> matches in the current method, the frame is popped and the exception travels to the </a:t>
            </a:r>
            <a:pPr indent="0" marL="0">
              <a:buNone/>
            </a:pPr>
            <a:r>
              <a:rPr lang="en-US" sz="1350" b="1" dirty="0">
                <a:solidFill>
                  <a:srgbClr val="5B6B60"/>
                </a:solidFill>
                <a:latin typeface="Calibri" pitchFamily="34" charset="0"/>
                <a:ea typeface="Calibri" pitchFamily="34" charset="-122"/>
                <a:cs typeface="Calibri" pitchFamily="34" charset="-120"/>
              </a:rPr>
              <a:t>caller</a:t>
            </a:r>
            <a:pPr indent="0" marL="0">
              <a:buNone/>
            </a:pPr>
            <a:r>
              <a:rPr lang="en-US" sz="1350" dirty="0">
                <a:solidFill>
                  <a:srgbClr val="5B6B60"/>
                </a:solidFill>
                <a:latin typeface="Calibri" pitchFamily="34" charset="0"/>
                <a:ea typeface="Calibri" pitchFamily="34" charset="-122"/>
                <a:cs typeface="Calibri" pitchFamily="34" charset="-120"/>
              </a:rPr>
              <a:t> — until something handles it or the thread dies.</a:t>
            </a:r>
            <a:endParaRPr lang="en-US" sz="1350" dirty="0"/>
          </a:p>
        </p:txBody>
      </p:sp>
      <p:sp>
        <p:nvSpPr>
          <p:cNvPr id="7" name="Text 5"/>
          <p:cNvSpPr/>
          <p:nvPr/>
        </p:nvSpPr>
        <p:spPr>
          <a:xfrm>
            <a:off x="457200" y="1883664"/>
            <a:ext cx="5120640" cy="4471416"/>
          </a:xfrm>
          <a:prstGeom prst="rect">
            <a:avLst/>
          </a:prstGeom>
          <a:noFill/>
          <a:ln/>
        </p:spPr>
        <p:txBody>
          <a:bodyPr wrap="square" rtlCol="0" anchor="t"/>
          <a:lstStyle/>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Checked</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exceptions must be caught or declared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throws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at every level they pass through.</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Unchecked</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exceptions propagate automatically — no declaration needed.</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finally</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blocks run while the stack unwinds. If nobody catches, the thread's uncaught-exception handler prints the stack trace.</a:t>
            </a:r>
            <a:endParaRPr lang="en-US" sz="1700" dirty="0"/>
          </a:p>
        </p:txBody>
      </p:sp>
      <p:sp>
        <p:nvSpPr>
          <p:cNvPr id="8" name="Text 6"/>
          <p:cNvSpPr/>
          <p:nvPr/>
        </p:nvSpPr>
        <p:spPr>
          <a:xfrm>
            <a:off x="5852160" y="1883664"/>
            <a:ext cx="5882335" cy="4471416"/>
          </a:xfrm>
          <a:prstGeom prst="rect">
            <a:avLst/>
          </a:prstGeom>
          <a:solidFill>
            <a:srgbClr val="F7F9F8"/>
          </a:solidFill>
          <a:ln w="9525">
            <a:solidFill>
              <a:srgbClr val="D5DDD7"/>
            </a:solidFill>
          </a:ln>
        </p:spPr>
        <p:txBody>
          <a:bodyPr wrap="square" lIns="1524" tIns="1524" rIns="1524" bIns="1524" rtlCol="0" anchor="t"/>
          <a:lstStyle/>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1. main() → OrderService: placeOrder(5000)</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2. OrderService → PaymentService: charge(5000)</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3. PaymentService → BankGateway: debit(5000)</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4. BankGateway: throws GatewayTimeoutException</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5. BankGateway → PaymentService: no catch: frame popped</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6. PaymentService: finally block runs</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7. PaymentService → OrderService: still propagating</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8. OrderService: catch: wrap in OrderFailedException</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9. OrderService → main(): throws OrderFailedException</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10. main(): catch: log + show friendly message</a:t>
            </a:r>
            <a:endParaRPr lang="en-US" sz="13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C9C43D"/>
          </a:solidFill>
          <a:ln w="12700">
            <a:solidFill>
              <a:srgbClr val="C9C43D"/>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3</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Propagation in code: declare, wrap, rethrow</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Low-level code declares the checked exception; the service layer translates it into a domain exception and keeps the </a:t>
            </a:r>
            <a:pPr indent="0" marL="0">
              <a:buNone/>
            </a:pPr>
            <a:r>
              <a:rPr lang="en-US" sz="1350" b="1" dirty="0">
                <a:solidFill>
                  <a:srgbClr val="5B6B60"/>
                </a:solidFill>
                <a:latin typeface="Calibri" pitchFamily="34" charset="0"/>
                <a:ea typeface="Calibri" pitchFamily="34" charset="-122"/>
                <a:cs typeface="Calibri" pitchFamily="34" charset="-120"/>
              </a:rPr>
              <a:t>cause</a:t>
            </a:r>
            <a:pPr indent="0" marL="0">
              <a:buNone/>
            </a:pPr>
            <a:r>
              <a:rPr lang="en-US" sz="1350" dirty="0">
                <a:solidFill>
                  <a:srgbClr val="5B6B60"/>
                </a:solidFill>
                <a:latin typeface="Calibri" pitchFamily="34" charset="0"/>
                <a:ea typeface="Calibri" pitchFamily="34" charset="-122"/>
                <a:cs typeface="Calibri" pitchFamily="34" charset="-120"/>
              </a:rPr>
              <a:t>.</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PropagationDemo.java</a:t>
            </a:r>
            <a:endParaRPr lang="en-US" sz="900" dirty="0"/>
          </a:p>
        </p:txBody>
      </p:sp>
      <p:sp>
        <p:nvSpPr>
          <p:cNvPr id="8" name="Text 6"/>
          <p:cNvSpPr/>
          <p:nvPr/>
        </p:nvSpPr>
        <p:spPr>
          <a:xfrm>
            <a:off x="457200" y="2157984"/>
            <a:ext cx="11277295" cy="360273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import java.util.Arrays;</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java.util.stream.Collectors;</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class GatewayTimeoutException extends Exception {           // checked</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GatewayTimeoutException(String msg) { super(msg);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class OrderFailedException extends RuntimeException {      // unchecked wrapper</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OrderFailedException(String msg, Throwable cause) { super(msg, cause);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public class PropagationDemo {</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static void debit(int amount) throws GatewayTimeoutException {     // declares</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if (amount &gt; 1000) throw new GatewayTimeoutException("bank did not respond in 3s");</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System.out.println("debited " + amount);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full listing in the web notes</a:t>
            </a:r>
            <a:endParaRPr lang="en-US" sz="1100" dirty="0"/>
          </a:p>
        </p:txBody>
      </p:sp>
      <p:sp>
        <p:nvSpPr>
          <p:cNvPr id="9" name="Text 7"/>
          <p:cNvSpPr/>
          <p:nvPr/>
        </p:nvSpPr>
        <p:spPr>
          <a:xfrm>
            <a:off x="457200" y="5806440"/>
            <a:ext cx="11277295" cy="530352"/>
          </a:xfrm>
          <a:prstGeom prst="rect">
            <a:avLst/>
          </a:prstGeom>
          <a:solidFill>
            <a:srgbClr val="FFF8E1"/>
          </a:solidFill>
          <a:ln w="9525">
            <a:solidFill>
              <a:srgbClr val="E9C46A"/>
            </a:solidFill>
          </a:ln>
        </p:spPr>
        <p:txBody>
          <a:bodyPr wrap="square" lIns="1016" tIns="1016" rIns="1016" bIns="1016" rtlCol="0" anchor="ctr"/>
          <a:lstStyle/>
          <a:p>
            <a:pPr indent="0" marL="0">
              <a:buNone/>
            </a:pPr>
            <a:r>
              <a:rPr lang="en-US" sz="1100" b="1" dirty="0">
                <a:solidFill>
                  <a:srgbClr val="1F2A24"/>
                </a:solidFill>
                <a:latin typeface="Calibri" pitchFamily="34" charset="0"/>
                <a:ea typeface="Calibri" pitchFamily="34" charset="-122"/>
                <a:cs typeface="Calibri" pitchFamily="34" charset="-120"/>
              </a:rPr>
              <a:t>BEST: </a:t>
            </a:r>
            <a:pPr indent="0" marL="0">
              <a:buNone/>
            </a:pPr>
            <a:r>
              <a:rPr lang="en-US" sz="1100" dirty="0">
                <a:solidFill>
                  <a:srgbClr val="1F2A24"/>
                </a:solidFill>
                <a:latin typeface="Calibri" pitchFamily="34" charset="0"/>
                <a:ea typeface="Calibri" pitchFamily="34" charset="-122"/>
                <a:cs typeface="Calibri" pitchFamily="34" charset="-120"/>
              </a:rPr>
              <a:t>Handle an exception where you can </a:t>
            </a:r>
            <a:pPr indent="0" marL="0">
              <a:buNone/>
            </a:pPr>
            <a:r>
              <a:rPr lang="en-US" sz="1100" b="1" dirty="0">
                <a:solidFill>
                  <a:srgbClr val="1F2A24"/>
                </a:solidFill>
                <a:latin typeface="Calibri" pitchFamily="34" charset="0"/>
                <a:ea typeface="Calibri" pitchFamily="34" charset="-122"/>
                <a:cs typeface="Calibri" pitchFamily="34" charset="-120"/>
              </a:rPr>
              <a:t>do something useful</a:t>
            </a:r>
            <a:pPr indent="0" marL="0">
              <a:buNone/>
            </a:pPr>
            <a:r>
              <a:rPr lang="en-US" sz="1100" dirty="0">
                <a:solidFill>
                  <a:srgbClr val="1F2A24"/>
                </a:solidFill>
                <a:latin typeface="Calibri" pitchFamily="34" charset="0"/>
                <a:ea typeface="Calibri" pitchFamily="34" charset="-122"/>
                <a:cs typeface="Calibri" pitchFamily="34" charset="-120"/>
              </a:rPr>
              <a:t> (retry, fallback, translate, report). Log it </a:t>
            </a:r>
            <a:pPr indent="0" marL="0">
              <a:buNone/>
            </a:pPr>
            <a:r>
              <a:rPr lang="en-US" sz="1100" b="1" dirty="0">
                <a:solidFill>
                  <a:srgbClr val="1F2A24"/>
                </a:solidFill>
                <a:latin typeface="Calibri" pitchFamily="34" charset="0"/>
                <a:ea typeface="Calibri" pitchFamily="34" charset="-122"/>
                <a:cs typeface="Calibri" pitchFamily="34" charset="-120"/>
              </a:rPr>
              <a:t>once</a:t>
            </a:r>
            <a:pPr indent="0" marL="0">
              <a:buNone/>
            </a:pPr>
            <a:r>
              <a:rPr lang="en-US" sz="1100" dirty="0">
                <a:solidFill>
                  <a:srgbClr val="1F2A24"/>
                </a:solidFill>
                <a:latin typeface="Calibri" pitchFamily="34" charset="0"/>
                <a:ea typeface="Calibri" pitchFamily="34" charset="-122"/>
                <a:cs typeface="Calibri" pitchFamily="34" charset="-120"/>
              </a:rPr>
              <a:t>, at the boundary — logging at every level produces the same stack trace five times.</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C9C43D"/>
          </a:solidFill>
          <a:ln w="12700">
            <a:solidFill>
              <a:srgbClr val="C9C43D"/>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3</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Lambda expressions: behaviour as a value</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A lambda is an anonymous function you can pass around. It replaces verbose anonymous classes wherever a </a:t>
            </a:r>
            <a:pPr indent="0" marL="0">
              <a:buNone/>
            </a:pPr>
            <a:r>
              <a:rPr lang="en-US" sz="1350" b="1" dirty="0">
                <a:solidFill>
                  <a:srgbClr val="5B6B60"/>
                </a:solidFill>
                <a:latin typeface="Calibri" pitchFamily="34" charset="0"/>
                <a:ea typeface="Calibri" pitchFamily="34" charset="-122"/>
                <a:cs typeface="Calibri" pitchFamily="34" charset="-120"/>
              </a:rPr>
              <a:t>functional interface</a:t>
            </a:r>
            <a:pPr indent="0" marL="0">
              <a:buNone/>
            </a:pPr>
            <a:r>
              <a:rPr lang="en-US" sz="1350" dirty="0">
                <a:solidFill>
                  <a:srgbClr val="5B6B60"/>
                </a:solidFill>
                <a:latin typeface="Calibri" pitchFamily="34" charset="0"/>
                <a:ea typeface="Calibri" pitchFamily="34" charset="-122"/>
                <a:cs typeface="Calibri" pitchFamily="34" charset="-120"/>
              </a:rPr>
              <a:t> is expected.</a:t>
            </a:r>
            <a:endParaRPr lang="en-US" sz="1350" dirty="0"/>
          </a:p>
        </p:txBody>
      </p:sp>
      <p:sp>
        <p:nvSpPr>
          <p:cNvPr id="7" name="Text 5"/>
          <p:cNvSpPr/>
          <p:nvPr/>
        </p:nvSpPr>
        <p:spPr>
          <a:xfrm>
            <a:off x="457200" y="1883664"/>
            <a:ext cx="5120640" cy="4471416"/>
          </a:xfrm>
          <a:prstGeom prst="rect">
            <a:avLst/>
          </a:prstGeom>
          <a:noFill/>
          <a:ln/>
        </p:spPr>
        <p:txBody>
          <a:bodyPr wrap="square" rtlCol="0" anchor="t"/>
          <a:lstStyle/>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Syntax: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(params) -&gt; expression</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or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(params) -&gt; { statements; }</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parameter types are usually inferred.</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A lambda has no type of its own — its </a:t>
            </a:r>
            <a:endParaRPr lang="en-US" sz="1700" dirty="0"/>
          </a:p>
          <a:p>
            <a:pPr marL="177800" indent="-177800">
              <a:spcAft>
                <a:spcPts val="400"/>
              </a:spcAft>
              <a:buSzPct val="100000"/>
              <a:buChar char="•"/>
            </a:pPr>
            <a:r>
              <a:rPr lang="en-US" sz="1700" i="1" dirty="0">
                <a:solidFill>
                  <a:srgbClr val="1F2A24"/>
                </a:solidFill>
                <a:latin typeface="Calibri" pitchFamily="34" charset="0"/>
                <a:ea typeface="Calibri" pitchFamily="34" charset="-122"/>
                <a:cs typeface="Calibri" pitchFamily="34" charset="-120"/>
              </a:rPr>
              <a:t>target type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is the functional interface it is assigned to.</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Lambdas can capture local variables only if they are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effectively final</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Method references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are shorthand for lambdas that just call a method: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Employee::dept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a:t>
            </a:r>
            <a:endParaRPr lang="en-US" sz="1700" dirty="0"/>
          </a:p>
        </p:txBody>
      </p:sp>
      <p:sp>
        <p:nvSpPr>
          <p:cNvPr id="8" name="Text 6"/>
          <p:cNvSpPr/>
          <p:nvPr/>
        </p:nvSpPr>
        <p:spPr>
          <a:xfrm>
            <a:off x="5852160" y="1883664"/>
            <a:ext cx="588233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LambdaIntro.java</a:t>
            </a:r>
            <a:endParaRPr lang="en-US" sz="900" dirty="0"/>
          </a:p>
        </p:txBody>
      </p:sp>
      <p:sp>
        <p:nvSpPr>
          <p:cNvPr id="9" name="Text 7"/>
          <p:cNvSpPr/>
          <p:nvPr/>
        </p:nvSpPr>
        <p:spPr>
          <a:xfrm>
            <a:off x="5852160" y="2157984"/>
            <a:ext cx="5882335" cy="419709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919" dirty="0">
                <a:solidFill>
                  <a:srgbClr val="24292F"/>
                </a:solidFill>
                <a:latin typeface="Consolas" pitchFamily="34" charset="0"/>
                <a:ea typeface="Consolas" pitchFamily="34" charset="-122"/>
                <a:cs typeface="Consolas" pitchFamily="34" charset="-120"/>
              </a:rPr>
              <a:t>import java.util.*;</a:t>
            </a:r>
            <a:endParaRPr lang="en-US" sz="919" dirty="0"/>
          </a:p>
          <a:p>
            <a:pPr indent="0" marL="0">
              <a:buNone/>
            </a:pPr>
            <a:endParaRPr lang="en-US" sz="919" dirty="0"/>
          </a:p>
          <a:p>
            <a:pPr indent="0" marL="0">
              <a:buNone/>
            </a:pPr>
            <a:r>
              <a:rPr lang="en-US" sz="919" dirty="0">
                <a:solidFill>
                  <a:srgbClr val="24292F"/>
                </a:solidFill>
                <a:latin typeface="Consolas" pitchFamily="34" charset="0"/>
                <a:ea typeface="Consolas" pitchFamily="34" charset="-122"/>
                <a:cs typeface="Consolas" pitchFamily="34" charset="-120"/>
              </a:rPr>
              <a:t>public class LambdaIntro {</a:t>
            </a:r>
            <a:endParaRPr lang="en-US" sz="919" dirty="0"/>
          </a:p>
          <a:p>
            <a:pPr indent="0" marL="0">
              <a:buNone/>
            </a:pPr>
            <a:r>
              <a:rPr lang="en-US" sz="919" dirty="0">
                <a:solidFill>
                  <a:srgbClr val="24292F"/>
                </a:solidFill>
                <a:latin typeface="Consolas" pitchFamily="34" charset="0"/>
                <a:ea typeface="Consolas" pitchFamily="34" charset="-122"/>
                <a:cs typeface="Consolas" pitchFamily="34" charset="-120"/>
              </a:rPr>
              <a:t>    record Employee(String name, String dept, int salary) {}</a:t>
            </a:r>
            <a:endParaRPr lang="en-US" sz="919" dirty="0"/>
          </a:p>
          <a:p>
            <a:pPr indent="0" marL="0">
              <a:buNone/>
            </a:pPr>
            <a:endParaRPr lang="en-US" sz="919" dirty="0"/>
          </a:p>
          <a:p>
            <a:pPr indent="0" marL="0">
              <a:buNone/>
            </a:pPr>
            <a:r>
              <a:rPr lang="en-US" sz="919" dirty="0">
                <a:solidFill>
                  <a:srgbClr val="24292F"/>
                </a:solidFill>
                <a:latin typeface="Consolas" pitchFamily="34" charset="0"/>
                <a:ea typeface="Consolas" pitchFamily="34" charset="-122"/>
                <a:cs typeface="Consolas" pitchFamily="34" charset="-120"/>
              </a:rPr>
              <a:t>    public static void main(String[] args) {</a:t>
            </a:r>
            <a:endParaRPr lang="en-US" sz="919" dirty="0"/>
          </a:p>
          <a:p>
            <a:pPr indent="0" marL="0">
              <a:buNone/>
            </a:pPr>
            <a:r>
              <a:rPr lang="en-US" sz="919" dirty="0">
                <a:solidFill>
                  <a:srgbClr val="24292F"/>
                </a:solidFill>
                <a:latin typeface="Consolas" pitchFamily="34" charset="0"/>
                <a:ea typeface="Consolas" pitchFamily="34" charset="-122"/>
                <a:cs typeface="Consolas" pitchFamily="34" charset="-120"/>
              </a:rPr>
              <a:t>        List&lt;Employee&gt; staff = new ArrayList&lt;&gt;(List.of(</a:t>
            </a:r>
            <a:endParaRPr lang="en-US" sz="919" dirty="0"/>
          </a:p>
          <a:p>
            <a:pPr indent="0" marL="0">
              <a:buNone/>
            </a:pPr>
            <a:r>
              <a:rPr lang="en-US" sz="919" dirty="0">
                <a:solidFill>
                  <a:srgbClr val="24292F"/>
                </a:solidFill>
                <a:latin typeface="Consolas" pitchFamily="34" charset="0"/>
                <a:ea typeface="Consolas" pitchFamily="34" charset="-122"/>
                <a:cs typeface="Consolas" pitchFamily="34" charset="-120"/>
              </a:rPr>
              <a:t>                new Employee("Meera", "Eng", 120), new Employee("Arjun", "Ops", 90),</a:t>
            </a:r>
            <a:endParaRPr lang="en-US" sz="919" dirty="0"/>
          </a:p>
          <a:p>
            <a:pPr indent="0" marL="0">
              <a:buNone/>
            </a:pPr>
            <a:r>
              <a:rPr lang="en-US" sz="919" dirty="0">
                <a:solidFill>
                  <a:srgbClr val="24292F"/>
                </a:solidFill>
                <a:latin typeface="Consolas" pitchFamily="34" charset="0"/>
                <a:ea typeface="Consolas" pitchFamily="34" charset="-122"/>
                <a:cs typeface="Consolas" pitchFamily="34" charset="-120"/>
              </a:rPr>
              <a:t>                new Employee("Zoya", "Eng", 150)));</a:t>
            </a:r>
            <a:endParaRPr lang="en-US" sz="919" dirty="0"/>
          </a:p>
          <a:p>
            <a:pPr indent="0" marL="0">
              <a:buNone/>
            </a:pPr>
            <a:endParaRPr lang="en-US" sz="919" dirty="0"/>
          </a:p>
          <a:p>
            <a:pPr indent="0" marL="0">
              <a:buNone/>
            </a:pPr>
            <a:r>
              <a:rPr lang="en-US" sz="919" dirty="0">
                <a:solidFill>
                  <a:srgbClr val="24292F"/>
                </a:solidFill>
                <a:latin typeface="Consolas" pitchFamily="34" charset="0"/>
                <a:ea typeface="Consolas" pitchFamily="34" charset="-122"/>
                <a:cs typeface="Consolas" pitchFamily="34" charset="-120"/>
              </a:rPr>
              <a:t>        // Before Java 8: anonymous inner class</a:t>
            </a:r>
            <a:endParaRPr lang="en-US" sz="919" dirty="0"/>
          </a:p>
          <a:p>
            <a:pPr indent="0" marL="0">
              <a:buNone/>
            </a:pPr>
            <a:r>
              <a:rPr lang="en-US" sz="919" dirty="0">
                <a:solidFill>
                  <a:srgbClr val="24292F"/>
                </a:solidFill>
                <a:latin typeface="Consolas" pitchFamily="34" charset="0"/>
                <a:ea typeface="Consolas" pitchFamily="34" charset="-122"/>
                <a:cs typeface="Consolas" pitchFamily="34" charset="-120"/>
              </a:rPr>
              <a:t>        staff.sort(new Comparator&lt;Employee&gt;() {</a:t>
            </a:r>
            <a:endParaRPr lang="en-US" sz="919" dirty="0"/>
          </a:p>
          <a:p>
            <a:pPr indent="0" marL="0">
              <a:buNone/>
            </a:pPr>
            <a:r>
              <a:rPr lang="en-US" sz="919" dirty="0">
                <a:solidFill>
                  <a:srgbClr val="24292F"/>
                </a:solidFill>
                <a:latin typeface="Consolas" pitchFamily="34" charset="0"/>
                <a:ea typeface="Consolas" pitchFamily="34" charset="-122"/>
                <a:cs typeface="Consolas" pitchFamily="34" charset="-120"/>
              </a:rPr>
              <a:t>            @Override public int compare(Employee a, Employee b) {</a:t>
            </a:r>
            <a:endParaRPr lang="en-US" sz="919" dirty="0"/>
          </a:p>
          <a:p>
            <a:pPr indent="0" marL="0">
              <a:buNone/>
            </a:pPr>
            <a:r>
              <a:rPr lang="en-US" sz="919" dirty="0">
                <a:solidFill>
                  <a:srgbClr val="24292F"/>
                </a:solidFill>
                <a:latin typeface="Consolas" pitchFamily="34" charset="0"/>
                <a:ea typeface="Consolas" pitchFamily="34" charset="-122"/>
                <a:cs typeface="Consolas" pitchFamily="34" charset="-120"/>
              </a:rPr>
              <a:t>                return Integer.compare(a.salary(), b.salary());</a:t>
            </a:r>
            <a:endParaRPr lang="en-US" sz="919" dirty="0"/>
          </a:p>
          <a:p>
            <a:pPr indent="0" marL="0">
              <a:buNone/>
            </a:pPr>
            <a:r>
              <a:rPr lang="en-US" sz="919" dirty="0">
                <a:solidFill>
                  <a:srgbClr val="24292F"/>
                </a:solidFill>
                <a:latin typeface="Consolas" pitchFamily="34" charset="0"/>
                <a:ea typeface="Consolas" pitchFamily="34" charset="-122"/>
                <a:cs typeface="Consolas" pitchFamily="34" charset="-120"/>
              </a:rPr>
              <a:t>            }</a:t>
            </a:r>
            <a:endParaRPr lang="en-US" sz="919" dirty="0"/>
          </a:p>
          <a:p>
            <a:pPr indent="0" marL="0">
              <a:buNone/>
            </a:pPr>
            <a:r>
              <a:rPr lang="en-US" sz="919" dirty="0">
                <a:solidFill>
                  <a:srgbClr val="24292F"/>
                </a:solidFill>
                <a:latin typeface="Consolas" pitchFamily="34" charset="0"/>
                <a:ea typeface="Consolas" pitchFamily="34" charset="-122"/>
                <a:cs typeface="Consolas" pitchFamily="34" charset="-120"/>
              </a:rPr>
              <a:t>        });</a:t>
            </a:r>
            <a:endParaRPr lang="en-US" sz="919" dirty="0"/>
          </a:p>
          <a:p>
            <a:pPr indent="0" marL="0">
              <a:buNone/>
            </a:pPr>
            <a:r>
              <a:rPr lang="en-US" sz="919" dirty="0">
                <a:solidFill>
                  <a:srgbClr val="24292F"/>
                </a:solidFill>
                <a:latin typeface="Consolas" pitchFamily="34" charset="0"/>
                <a:ea typeface="Consolas" pitchFamily="34" charset="-122"/>
                <a:cs typeface="Consolas" pitchFamily="34" charset="-120"/>
              </a:rPr>
              <a:t>        // Java 8+: the same comparator as a lambda</a:t>
            </a:r>
            <a:endParaRPr lang="en-US" sz="919" dirty="0"/>
          </a:p>
          <a:p>
            <a:pPr indent="0" marL="0">
              <a:buNone/>
            </a:pPr>
            <a:r>
              <a:rPr lang="en-US" sz="919" dirty="0">
                <a:solidFill>
                  <a:srgbClr val="24292F"/>
                </a:solidFill>
                <a:latin typeface="Consolas" pitchFamily="34" charset="0"/>
                <a:ea typeface="Consolas" pitchFamily="34" charset="-122"/>
                <a:cs typeface="Consolas" pitchFamily="34" charset="-120"/>
              </a:rPr>
              <a:t>        staff.sort((a, b) -&gt; Integer.compare(a.salary(), b.salary()));</a:t>
            </a:r>
            <a:endParaRPr lang="en-US" sz="919" dirty="0"/>
          </a:p>
          <a:p>
            <a:pPr indent="0" marL="0">
              <a:buNone/>
            </a:pPr>
            <a:r>
              <a:rPr lang="en-US" sz="919" dirty="0">
                <a:solidFill>
                  <a:srgbClr val="24292F"/>
                </a:solidFill>
                <a:latin typeface="Consolas" pitchFamily="34" charset="0"/>
                <a:ea typeface="Consolas" pitchFamily="34" charset="-122"/>
                <a:cs typeface="Consolas" pitchFamily="34" charset="-120"/>
              </a:rPr>
              <a:t>        // Best: comparator factories + method references</a:t>
            </a:r>
            <a:endParaRPr lang="en-US" sz="919" dirty="0"/>
          </a:p>
          <a:p>
            <a:pPr indent="0" marL="0">
              <a:buNone/>
            </a:pPr>
            <a:r>
              <a:rPr lang="en-US" sz="919" dirty="0">
                <a:solidFill>
                  <a:srgbClr val="24292F"/>
                </a:solidFill>
                <a:latin typeface="Consolas" pitchFamily="34" charset="0"/>
                <a:ea typeface="Consolas" pitchFamily="34" charset="-122"/>
                <a:cs typeface="Consolas" pitchFamily="34" charset="-120"/>
              </a:rPr>
              <a:t>        staff.sort(Comparator.comparing(Employee::dept)</a:t>
            </a:r>
            <a:endParaRPr lang="en-US" sz="919" dirty="0"/>
          </a:p>
          <a:p>
            <a:pPr indent="0" marL="0">
              <a:buNone/>
            </a:pPr>
            <a:r>
              <a:rPr lang="en-US" sz="919" dirty="0">
                <a:solidFill>
                  <a:srgbClr val="24292F"/>
                </a:solidFill>
                <a:latin typeface="Consolas" pitchFamily="34" charset="0"/>
                <a:ea typeface="Consolas" pitchFamily="34" charset="-122"/>
                <a:cs typeface="Consolas" pitchFamily="34" charset="-120"/>
              </a:rPr>
              <a:t>                .thenComparing(Employee::salary, Comparator.reverseOrder()));</a:t>
            </a:r>
            <a:endParaRPr lang="en-US" sz="919" dirty="0"/>
          </a:p>
          <a:p>
            <a:pPr indent="0" marL="0">
              <a:buNone/>
            </a:pPr>
            <a:r>
              <a:rPr lang="en-US" sz="919" dirty="0">
                <a:solidFill>
                  <a:srgbClr val="24292F"/>
                </a:solidFill>
                <a:latin typeface="Consolas" pitchFamily="34" charset="0"/>
                <a:ea typeface="Consolas" pitchFamily="34" charset="-122"/>
                <a:cs typeface="Consolas" pitchFamily="34" charset="-120"/>
              </a:rPr>
              <a:t>// … full listing in the web notes</a:t>
            </a:r>
            <a:endParaRPr lang="en-US" sz="919"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C9C43D"/>
          </a:solidFill>
          <a:ln w="12700">
            <a:solidFill>
              <a:srgbClr val="C9C43D"/>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3</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Functional interfaces in java.util.function</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A functional interface has </a:t>
            </a:r>
            <a:pPr indent="0" marL="0">
              <a:buNone/>
            </a:pPr>
            <a:r>
              <a:rPr lang="en-US" sz="1350" b="1" dirty="0">
                <a:solidFill>
                  <a:srgbClr val="5B6B60"/>
                </a:solidFill>
                <a:latin typeface="Calibri" pitchFamily="34" charset="0"/>
                <a:ea typeface="Calibri" pitchFamily="34" charset="-122"/>
                <a:cs typeface="Calibri" pitchFamily="34" charset="-120"/>
              </a:rPr>
              <a:t>exactly one abstract method</a:t>
            </a:r>
            <a:pPr indent="0" marL="0">
              <a:buNone/>
            </a:pPr>
            <a:r>
              <a:rPr lang="en-US" sz="1350" dirty="0">
                <a:solidFill>
                  <a:srgbClr val="5B6B60"/>
                </a:solidFill>
                <a:latin typeface="Calibri" pitchFamily="34" charset="0"/>
                <a:ea typeface="Calibri" pitchFamily="34" charset="-122"/>
                <a:cs typeface="Calibri" pitchFamily="34" charset="-120"/>
              </a:rPr>
              <a:t> (SAM). Learn the core five; the rest are variations.</a:t>
            </a:r>
            <a:endParaRPr lang="en-US" sz="1350" dirty="0"/>
          </a:p>
        </p:txBody>
      </p:sp>
      <p:sp>
        <p:nvSpPr>
          <p:cNvPr id="7" name="Text 5"/>
          <p:cNvSpPr/>
          <p:nvPr/>
        </p:nvSpPr>
        <p:spPr>
          <a:xfrm>
            <a:off x="457200" y="1883664"/>
            <a:ext cx="11277295" cy="2734056"/>
          </a:xfrm>
          <a:prstGeom prst="rect">
            <a:avLst/>
          </a:prstGeom>
          <a:noFill/>
          <a:ln/>
        </p:spPr>
        <p:txBody>
          <a:bodyPr wrap="square" rtlCol="0" anchor="t"/>
          <a:lstStyle/>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Primitive specialisations avoid boxing: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IntPredicate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ToIntFunction&lt;T&gt;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IntBinaryOperator</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Annotate your own with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@FunctionalInterface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so the compiler rejects a second abstract method.</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Default methods enable composition: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and</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or</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negate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andThen</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compose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a:t>
            </a:r>
            <a:endParaRPr lang="en-US" sz="17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457200" y="4663440"/>
          <a:ext cx="11277295" cy="914400"/>
        </p:xfrm>
        <a:graphic>
          <a:graphicData uri="http://schemas.openxmlformats.org/drawingml/2006/table">
            <a:tbl>
              <a:tblPr/>
              <a:tblGrid>
                <a:gridCol w="2819324"/>
                <a:gridCol w="2819324"/>
                <a:gridCol w="2819324"/>
                <a:gridCol w="2819324"/>
              </a:tblGrid>
              <a:tr h="18288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Interface</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Method</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Shape</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Example</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r>
              <a:tr h="182880">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Predicate&lt;T&gt;</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boolean test(T)</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T → boolean</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s -&gt; s.isBlank()</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182880">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Function&lt;T,R&gt;</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R apply(T)</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T → R</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String::length</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182880">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Consumer&lt;T&gt;</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void accept(T)</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T → ()</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System.out::println</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182880">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Supplier&lt;T&gt;</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T get()</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 → T</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ArrayList::new</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182880">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UnaryOperator&lt;T&gt;</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T apply(T)</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T → T</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s -&gt; s.trim()</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182880">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BinaryOperator&lt;T&gt;</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T apply(T,T)</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(T,T) → T</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Integer::sum</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182880">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BiFunction&lt;T,U,R&gt;</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R apply(T,U)</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(T,U) → R</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(price, qty) -&gt; price qty</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182880">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Runnable / Callable&lt;V&gt;</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run() / V call()</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 → () / () → V</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tasks for threads (Session 6)</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C9C43D"/>
          </a:solidFill>
          <a:ln w="12700">
            <a:solidFill>
              <a:srgbClr val="C9C43D"/>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3</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Composing functions &amp; the 4 kinds of method reference</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Small functions combine into pipelines — the style Streams (Session 5) and Spring configuration use everywhere.</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FunctionalDemo.java</a:t>
            </a:r>
            <a:endParaRPr lang="en-US" sz="900" dirty="0"/>
          </a:p>
        </p:txBody>
      </p:sp>
      <p:sp>
        <p:nvSpPr>
          <p:cNvPr id="8" name="Text 6"/>
          <p:cNvSpPr/>
          <p:nvPr/>
        </p:nvSpPr>
        <p:spPr>
          <a:xfrm>
            <a:off x="457200" y="2157984"/>
            <a:ext cx="11277295" cy="245973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import java.util.ArrayList;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java.util.List;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java.util.function.*;</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public class FunctionalDemo {</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@FunctionalInterface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interface DiscountRule {                                  // custom functional interface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double apply(double amount);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default DiscountRule then(DiscountRule next) { return a -&gt; next.apply(apply(a));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full listing in the web notes</a:t>
            </a:r>
            <a:endParaRPr lang="en-US" sz="11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457200" y="4663440"/>
          <a:ext cx="11277295" cy="914400"/>
        </p:xfrm>
        <a:graphic>
          <a:graphicData uri="http://schemas.openxmlformats.org/drawingml/2006/table">
            <a:tbl>
              <a:tblPr/>
              <a:tblGrid>
                <a:gridCol w="5638648"/>
                <a:gridCol w="5638648"/>
              </a:tblGrid>
              <a:tr h="329184">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Method reference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Equivalent lambda</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Static: Math::max</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(a, b) -&gt; Math.max(a, b)</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Bound instance: audit::add</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 -&gt; audit.add(s)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Unbound instance: String::trim</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 -&gt; s.trim()</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Constructor: ArrayList::new</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 -&gt; new ArrayList&lt;&gt;()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C9C43D"/>
          </a:solidFill>
          <a:ln w="12700">
            <a:solidFill>
              <a:srgbClr val="C9C43D"/>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3</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Lambdas meet exceptions</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Standard functional interfaces don't declare checked exceptions, so a lambda calling a method that throws one won't compile — wrap it and keep the </a:t>
            </a:r>
            <a:pPr indent="0" marL="0">
              <a:buNone/>
            </a:pPr>
            <a:r>
              <a:rPr lang="en-US" sz="1350" b="1" dirty="0">
                <a:solidFill>
                  <a:srgbClr val="5B6B60"/>
                </a:solidFill>
                <a:latin typeface="Calibri" pitchFamily="34" charset="0"/>
                <a:ea typeface="Calibri" pitchFamily="34" charset="-122"/>
                <a:cs typeface="Calibri" pitchFamily="34" charset="-120"/>
              </a:rPr>
              <a:t>cause</a:t>
            </a:r>
            <a:pPr indent="0" marL="0">
              <a:buNone/>
            </a:pPr>
            <a:r>
              <a:rPr lang="en-US" sz="1350" dirty="0">
                <a:solidFill>
                  <a:srgbClr val="5B6B60"/>
                </a:solidFill>
                <a:latin typeface="Calibri" pitchFamily="34" charset="0"/>
                <a:ea typeface="Calibri" pitchFamily="34" charset="-122"/>
                <a:cs typeface="Calibri" pitchFamily="34" charset="-120"/>
              </a:rPr>
              <a:t>.</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LambdaExceptions.java</a:t>
            </a:r>
            <a:endParaRPr lang="en-US" sz="900" dirty="0"/>
          </a:p>
        </p:txBody>
      </p:sp>
      <p:sp>
        <p:nvSpPr>
          <p:cNvPr id="8" name="Text 6"/>
          <p:cNvSpPr/>
          <p:nvPr/>
        </p:nvSpPr>
        <p:spPr>
          <a:xfrm>
            <a:off x="457200" y="2157984"/>
            <a:ext cx="11277295" cy="419709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import java.util.List;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java.util.function.Function;</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public class LambdaExceptions {</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@FunctionalInterface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interface ThrowingFunction&lt;T, R&gt; { R apply(T t) throws Exception; }</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static &lt;T, R&gt; Function&lt;T, R&gt; unchecked(ThrowingFunction&lt;T, R&gt; f) {   // adapter</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return t -&gt;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try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return f.apply(t);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catch (RuntimeException e)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throw 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catch (Exception e)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throw new IllegalStateException("failed for input " + t, 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static int fetchPrice(String sku) throws Exception {                 // checked exception</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full listing in the web notes</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C9C43D"/>
          </a:solidFill>
          <a:ln w="12700">
            <a:solidFill>
              <a:srgbClr val="C9C43D"/>
            </a:solidFill>
            <a:prstDash val="solid"/>
          </a:ln>
        </p:spPr>
      </p:sp>
      <p:sp>
        <p:nvSpPr>
          <p:cNvPr id="3" name="Text 1"/>
          <p:cNvSpPr/>
          <p:nvPr/>
        </p:nvSpPr>
        <p:spPr>
          <a:xfrm>
            <a:off x="457200" y="256032"/>
            <a:ext cx="1463040" cy="292608"/>
          </a:xfrm>
          <a:prstGeom prst="roundRect">
            <a:avLst>
              <a:gd name="adj" fmla="val 18750"/>
            </a:avLst>
          </a:prstGeom>
          <a:solidFill>
            <a:srgbClr val="E8892E"/>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HANDS-ON LAB</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3</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Lab: config singleton + functional pricing pipeline</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Build a lazily-loaded configuration singleton, propagate a checked config error, and price orders with composed functions.</a:t>
            </a:r>
            <a:endParaRPr lang="en-US" sz="1350" dirty="0"/>
          </a:p>
        </p:txBody>
      </p:sp>
      <p:sp>
        <p:nvSpPr>
          <p:cNvPr id="7" name="Text 5"/>
          <p:cNvSpPr/>
          <p:nvPr/>
        </p:nvSpPr>
        <p:spPr>
          <a:xfrm>
            <a:off x="457200" y="1883664"/>
            <a:ext cx="5577840" cy="4471416"/>
          </a:xfrm>
          <a:prstGeom prst="rect">
            <a:avLst/>
          </a:prstGeom>
          <a:noFill/>
          <a:ln/>
        </p:spPr>
        <p:txBody>
          <a:bodyPr wrap="square" rtlCol="0" anchor="t"/>
          <a:lstStyle/>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Create a checked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ConfigException</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 and a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final class AppConfig</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 singleton using the </a:t>
            </a:r>
            <a:endParaRPr lang="en-US" sz="1300" dirty="0"/>
          </a:p>
          <a:p>
            <a:pPr marL="342900" indent="-342900">
              <a:spcAft>
                <a:spcPts val="400"/>
              </a:spcAft>
              <a:buSzPct val="100000"/>
              <a:buFont typeface="+mj-lt"/>
              <a:buAutoNum type="arabicPeriod" startAt="1"/>
            </a:pPr>
            <a:r>
              <a:rPr lang="en-US" sz="1300" b="1" dirty="0">
                <a:solidFill>
                  <a:srgbClr val="1F2A24"/>
                </a:solidFill>
                <a:latin typeface="Calibri" pitchFamily="34" charset="0"/>
                <a:ea typeface="Calibri" pitchFamily="34" charset="-122"/>
                <a:cs typeface="Calibri" pitchFamily="34" charset="-120"/>
              </a:rPr>
              <a:t>holder idiom</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Store settings in an immutable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Map</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discount.percent</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gst.percent</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currency</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 and add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int requireInt(String key) throws ConfigException</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Write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Function&lt;Double, Double&gt; pricing()</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 that reads both percentages and returns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applyDiscount.andThen(addGst)</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Model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record Order(String id, String customer, double amount)</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 and sort orders by customer, then amount descending, with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Comparator.comparing(...).thenComparing(...)</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Print each order's final price with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printf</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 then request a missing key and let the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ConfigException</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 </a:t>
            </a:r>
            <a:endParaRPr lang="en-US" sz="1300" dirty="0"/>
          </a:p>
          <a:p>
            <a:pPr marL="342900" indent="-342900">
              <a:spcAft>
                <a:spcPts val="400"/>
              </a:spcAft>
              <a:buSzPct val="100000"/>
              <a:buFont typeface="+mj-lt"/>
              <a:buAutoNum type="arabicPeriod" startAt="1"/>
            </a:pPr>
            <a:r>
              <a:rPr lang="en-US" sz="1300" b="1" dirty="0">
                <a:solidFill>
                  <a:srgbClr val="1F2A24"/>
                </a:solidFill>
                <a:latin typeface="Calibri" pitchFamily="34" charset="0"/>
                <a:ea typeface="Calibri" pitchFamily="34" charset="-122"/>
                <a:cs typeface="Calibri" pitchFamily="34" charset="-120"/>
              </a:rPr>
              <a:t>propagate</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 to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main</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 where you catch it.</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Filter 'big' orders (&gt; 700) with a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Predicate&lt;Order&gt;</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 and print their ids.</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Stretch: run 20 threads calling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AppConfig.get()</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 and prove (with a counter in the constructor) that only one instance is created.</a:t>
            </a:r>
            <a:endParaRPr lang="en-US" sz="1300" dirty="0"/>
          </a:p>
        </p:txBody>
      </p:sp>
      <p:sp>
        <p:nvSpPr>
          <p:cNvPr id="8" name="Text 6"/>
          <p:cNvSpPr/>
          <p:nvPr/>
        </p:nvSpPr>
        <p:spPr>
          <a:xfrm>
            <a:off x="6217920" y="1883664"/>
            <a:ext cx="551657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LambdaLab.java</a:t>
            </a:r>
            <a:endParaRPr lang="en-US" sz="900" dirty="0"/>
          </a:p>
        </p:txBody>
      </p:sp>
      <p:sp>
        <p:nvSpPr>
          <p:cNvPr id="9" name="Text 7"/>
          <p:cNvSpPr/>
          <p:nvPr/>
        </p:nvSpPr>
        <p:spPr>
          <a:xfrm>
            <a:off x="6217920" y="2157984"/>
            <a:ext cx="5516575" cy="419709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842" dirty="0">
                <a:solidFill>
                  <a:srgbClr val="24292F"/>
                </a:solidFill>
                <a:latin typeface="Consolas" pitchFamily="34" charset="0"/>
                <a:ea typeface="Consolas" pitchFamily="34" charset="-122"/>
                <a:cs typeface="Consolas" pitchFamily="34" charset="-120"/>
              </a:rPr>
              <a:t>import java.util.*;</a:t>
            </a:r>
            <a:endParaRPr lang="en-US" sz="842" dirty="0"/>
          </a:p>
          <a:p>
            <a:pPr indent="0" marL="0">
              <a:buNone/>
            </a:pPr>
            <a:r>
              <a:rPr lang="en-US" sz="842" dirty="0">
                <a:solidFill>
                  <a:srgbClr val="24292F"/>
                </a:solidFill>
                <a:latin typeface="Consolas" pitchFamily="34" charset="0"/>
                <a:ea typeface="Consolas" pitchFamily="34" charset="-122"/>
                <a:cs typeface="Consolas" pitchFamily="34" charset="-120"/>
              </a:rPr>
              <a:t>import java.util.function.*;</a:t>
            </a:r>
            <a:endParaRPr lang="en-US" sz="842" dirty="0"/>
          </a:p>
          <a:p>
            <a:pPr indent="0" marL="0">
              <a:buNone/>
            </a:pPr>
            <a:endParaRPr lang="en-US" sz="842" dirty="0"/>
          </a:p>
          <a:p>
            <a:pPr indent="0" marL="0">
              <a:buNone/>
            </a:pPr>
            <a:r>
              <a:rPr lang="en-US" sz="842" dirty="0">
                <a:solidFill>
                  <a:srgbClr val="24292F"/>
                </a:solidFill>
                <a:latin typeface="Consolas" pitchFamily="34" charset="0"/>
                <a:ea typeface="Consolas" pitchFamily="34" charset="-122"/>
                <a:cs typeface="Consolas" pitchFamily="34" charset="-120"/>
              </a:rPr>
              <a:t>class ConfigException extends Exception {</a:t>
            </a:r>
            <a:endParaRPr lang="en-US" sz="842" dirty="0"/>
          </a:p>
          <a:p>
            <a:pPr indent="0" marL="0">
              <a:buNone/>
            </a:pPr>
            <a:r>
              <a:rPr lang="en-US" sz="842" dirty="0">
                <a:solidFill>
                  <a:srgbClr val="24292F"/>
                </a:solidFill>
                <a:latin typeface="Consolas" pitchFamily="34" charset="0"/>
                <a:ea typeface="Consolas" pitchFamily="34" charset="-122"/>
                <a:cs typeface="Consolas" pitchFamily="34" charset="-120"/>
              </a:rPr>
              <a:t>    ConfigException(String msg) { super(msg); }</a:t>
            </a:r>
            <a:endParaRPr lang="en-US" sz="842" dirty="0"/>
          </a:p>
          <a:p>
            <a:pPr indent="0" marL="0">
              <a:buNone/>
            </a:pPr>
            <a:r>
              <a:rPr lang="en-US" sz="842" dirty="0">
                <a:solidFill>
                  <a:srgbClr val="24292F"/>
                </a:solidFill>
                <a:latin typeface="Consolas" pitchFamily="34" charset="0"/>
                <a:ea typeface="Consolas" pitchFamily="34" charset="-122"/>
                <a:cs typeface="Consolas" pitchFamily="34" charset="-120"/>
              </a:rPr>
              <a:t>}</a:t>
            </a:r>
            <a:endParaRPr lang="en-US" sz="842" dirty="0"/>
          </a:p>
          <a:p>
            <a:pPr indent="0" marL="0">
              <a:buNone/>
            </a:pPr>
            <a:endParaRPr lang="en-US" sz="842" dirty="0"/>
          </a:p>
          <a:p>
            <a:pPr indent="0" marL="0">
              <a:buNone/>
            </a:pPr>
            <a:r>
              <a:rPr lang="en-US" sz="842" dirty="0">
                <a:solidFill>
                  <a:srgbClr val="24292F"/>
                </a:solidFill>
                <a:latin typeface="Consolas" pitchFamily="34" charset="0"/>
                <a:ea typeface="Consolas" pitchFamily="34" charset="-122"/>
                <a:cs typeface="Consolas" pitchFamily="34" charset="-120"/>
              </a:rPr>
              <a:t>final class AppConfig {</a:t>
            </a:r>
            <a:endParaRPr lang="en-US" sz="842" dirty="0"/>
          </a:p>
          <a:p>
            <a:pPr indent="0" marL="0">
              <a:buNone/>
            </a:pPr>
            <a:r>
              <a:rPr lang="en-US" sz="842" dirty="0">
                <a:solidFill>
                  <a:srgbClr val="24292F"/>
                </a:solidFill>
                <a:latin typeface="Consolas" pitchFamily="34" charset="0"/>
                <a:ea typeface="Consolas" pitchFamily="34" charset="-122"/>
                <a:cs typeface="Consolas" pitchFamily="34" charset="-120"/>
              </a:rPr>
              <a:t>    private final Map&lt;String, String&gt; props =</a:t>
            </a:r>
            <a:endParaRPr lang="en-US" sz="842" dirty="0"/>
          </a:p>
          <a:p>
            <a:pPr indent="0" marL="0">
              <a:buNone/>
            </a:pPr>
            <a:r>
              <a:rPr lang="en-US" sz="842" dirty="0">
                <a:solidFill>
                  <a:srgbClr val="24292F"/>
                </a:solidFill>
                <a:latin typeface="Consolas" pitchFamily="34" charset="0"/>
                <a:ea typeface="Consolas" pitchFamily="34" charset="-122"/>
                <a:cs typeface="Consolas" pitchFamily="34" charset="-120"/>
              </a:rPr>
              <a:t>            Map.of("discount.percent", "10", "gst.percent", "18", "currency", "INR");</a:t>
            </a:r>
            <a:endParaRPr lang="en-US" sz="842" dirty="0"/>
          </a:p>
          <a:p>
            <a:pPr indent="0" marL="0">
              <a:buNone/>
            </a:pPr>
            <a:r>
              <a:rPr lang="en-US" sz="842" dirty="0">
                <a:solidFill>
                  <a:srgbClr val="24292F"/>
                </a:solidFill>
                <a:latin typeface="Consolas" pitchFamily="34" charset="0"/>
                <a:ea typeface="Consolas" pitchFamily="34" charset="-122"/>
                <a:cs typeface="Consolas" pitchFamily="34" charset="-120"/>
              </a:rPr>
              <a:t>    private AppConfig() {}</a:t>
            </a:r>
            <a:endParaRPr lang="en-US" sz="842" dirty="0"/>
          </a:p>
          <a:p>
            <a:pPr indent="0" marL="0">
              <a:buNone/>
            </a:pPr>
            <a:r>
              <a:rPr lang="en-US" sz="842" dirty="0">
                <a:solidFill>
                  <a:srgbClr val="24292F"/>
                </a:solidFill>
                <a:latin typeface="Consolas" pitchFamily="34" charset="0"/>
                <a:ea typeface="Consolas" pitchFamily="34" charset="-122"/>
                <a:cs typeface="Consolas" pitchFamily="34" charset="-120"/>
              </a:rPr>
              <a:t>    private static class Holder { static final AppConfig INSTANCE = new AppConfig(); }</a:t>
            </a:r>
            <a:endParaRPr lang="en-US" sz="842" dirty="0"/>
          </a:p>
          <a:p>
            <a:pPr indent="0" marL="0">
              <a:buNone/>
            </a:pPr>
            <a:r>
              <a:rPr lang="en-US" sz="842" dirty="0">
                <a:solidFill>
                  <a:srgbClr val="24292F"/>
                </a:solidFill>
                <a:latin typeface="Consolas" pitchFamily="34" charset="0"/>
                <a:ea typeface="Consolas" pitchFamily="34" charset="-122"/>
                <a:cs typeface="Consolas" pitchFamily="34" charset="-120"/>
              </a:rPr>
              <a:t>    static AppConfig get() { return Holder.INSTANCE; }</a:t>
            </a:r>
            <a:endParaRPr lang="en-US" sz="842" dirty="0"/>
          </a:p>
          <a:p>
            <a:pPr indent="0" marL="0">
              <a:buNone/>
            </a:pPr>
            <a:endParaRPr lang="en-US" sz="842" dirty="0"/>
          </a:p>
          <a:p>
            <a:pPr indent="0" marL="0">
              <a:buNone/>
            </a:pPr>
            <a:r>
              <a:rPr lang="en-US" sz="842" dirty="0">
                <a:solidFill>
                  <a:srgbClr val="24292F"/>
                </a:solidFill>
                <a:latin typeface="Consolas" pitchFamily="34" charset="0"/>
                <a:ea typeface="Consolas" pitchFamily="34" charset="-122"/>
                <a:cs typeface="Consolas" pitchFamily="34" charset="-120"/>
              </a:rPr>
              <a:t>    int requireInt(String key) throws ConfigException {</a:t>
            </a:r>
            <a:endParaRPr lang="en-US" sz="842" dirty="0"/>
          </a:p>
          <a:p>
            <a:pPr indent="0" marL="0">
              <a:buNone/>
            </a:pPr>
            <a:r>
              <a:rPr lang="en-US" sz="842" dirty="0">
                <a:solidFill>
                  <a:srgbClr val="24292F"/>
                </a:solidFill>
                <a:latin typeface="Consolas" pitchFamily="34" charset="0"/>
                <a:ea typeface="Consolas" pitchFamily="34" charset="-122"/>
                <a:cs typeface="Consolas" pitchFamily="34" charset="-120"/>
              </a:rPr>
              <a:t>        String v = props.get(key);</a:t>
            </a:r>
            <a:endParaRPr lang="en-US" sz="842" dirty="0"/>
          </a:p>
          <a:p>
            <a:pPr indent="0" marL="0">
              <a:buNone/>
            </a:pPr>
            <a:r>
              <a:rPr lang="en-US" sz="842" dirty="0">
                <a:solidFill>
                  <a:srgbClr val="24292F"/>
                </a:solidFill>
                <a:latin typeface="Consolas" pitchFamily="34" charset="0"/>
                <a:ea typeface="Consolas" pitchFamily="34" charset="-122"/>
                <a:cs typeface="Consolas" pitchFamily="34" charset="-120"/>
              </a:rPr>
              <a:t>        if (v == null) throw new ConfigException("missing config key: " + key);</a:t>
            </a:r>
            <a:endParaRPr lang="en-US" sz="842" dirty="0"/>
          </a:p>
          <a:p>
            <a:pPr indent="0" marL="0">
              <a:buNone/>
            </a:pPr>
            <a:r>
              <a:rPr lang="en-US" sz="842" dirty="0">
                <a:solidFill>
                  <a:srgbClr val="24292F"/>
                </a:solidFill>
                <a:latin typeface="Consolas" pitchFamily="34" charset="0"/>
                <a:ea typeface="Consolas" pitchFamily="34" charset="-122"/>
                <a:cs typeface="Consolas" pitchFamily="34" charset="-120"/>
              </a:rPr>
              <a:t>        return Integer.parseInt(v);</a:t>
            </a:r>
            <a:endParaRPr lang="en-US" sz="842" dirty="0"/>
          </a:p>
          <a:p>
            <a:pPr indent="0" marL="0">
              <a:buNone/>
            </a:pPr>
            <a:r>
              <a:rPr lang="en-US" sz="842" dirty="0">
                <a:solidFill>
                  <a:srgbClr val="24292F"/>
                </a:solidFill>
                <a:latin typeface="Consolas" pitchFamily="34" charset="0"/>
                <a:ea typeface="Consolas" pitchFamily="34" charset="-122"/>
                <a:cs typeface="Consolas" pitchFamily="34" charset="-120"/>
              </a:rPr>
              <a:t>    }</a:t>
            </a:r>
            <a:endParaRPr lang="en-US" sz="842" dirty="0"/>
          </a:p>
          <a:p>
            <a:pPr indent="0" marL="0">
              <a:buNone/>
            </a:pPr>
            <a:r>
              <a:rPr lang="en-US" sz="842" dirty="0">
                <a:solidFill>
                  <a:srgbClr val="24292F"/>
                </a:solidFill>
                <a:latin typeface="Consolas" pitchFamily="34" charset="0"/>
                <a:ea typeface="Consolas" pitchFamily="34" charset="-122"/>
                <a:cs typeface="Consolas" pitchFamily="34" charset="-120"/>
              </a:rPr>
              <a:t>}</a:t>
            </a:r>
            <a:endParaRPr lang="en-US" sz="842" dirty="0"/>
          </a:p>
          <a:p>
            <a:pPr indent="0" marL="0">
              <a:buNone/>
            </a:pPr>
            <a:endParaRPr lang="en-US" sz="842" dirty="0"/>
          </a:p>
          <a:p>
            <a:pPr indent="0" marL="0">
              <a:buNone/>
            </a:pPr>
            <a:r>
              <a:rPr lang="en-US" sz="842" dirty="0">
                <a:solidFill>
                  <a:srgbClr val="24292F"/>
                </a:solidFill>
                <a:latin typeface="Consolas" pitchFamily="34" charset="0"/>
                <a:ea typeface="Consolas" pitchFamily="34" charset="-122"/>
                <a:cs typeface="Consolas" pitchFamily="34" charset="-120"/>
              </a:rPr>
              <a:t>// … full listing in the web notes</a:t>
            </a:r>
            <a:endParaRPr lang="en-US" sz="842"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C9C43D"/>
          </a:solidFill>
          <a:ln w="12700">
            <a:solidFill>
              <a:srgbClr val="C9C43D"/>
            </a:solidFill>
            <a:prstDash val="solid"/>
          </a:ln>
        </p:spPr>
      </p:sp>
      <p:sp>
        <p:nvSpPr>
          <p:cNvPr id="3" name="Text 1"/>
          <p:cNvSpPr/>
          <p:nvPr/>
        </p:nvSpPr>
        <p:spPr>
          <a:xfrm>
            <a:off x="457200" y="256032"/>
            <a:ext cx="1463040" cy="292608"/>
          </a:xfrm>
          <a:prstGeom prst="roundRect">
            <a:avLst>
              <a:gd name="adj" fmla="val 18750"/>
            </a:avLst>
          </a:prstGeom>
          <a:solidFill>
            <a:srgbClr val="9B6BF0"/>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QUIZ</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3</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Quiz: Singleton, propagation &amp; lambdas</a:t>
            </a:r>
            <a:endParaRPr lang="en-US" sz="2800" dirty="0"/>
          </a:p>
        </p:txBody>
      </p:sp>
      <p:sp>
        <p:nvSpPr>
          <p:cNvPr id="6" name="Text 4"/>
          <p:cNvSpPr/>
          <p:nvPr/>
        </p:nvSpPr>
        <p:spPr>
          <a:xfrm>
            <a:off x="457200" y="1261872"/>
            <a:ext cx="11277295" cy="5093208"/>
          </a:xfrm>
          <a:prstGeom prst="rect">
            <a:avLst/>
          </a:prstGeom>
          <a:noFill/>
          <a:ln/>
        </p:spPr>
        <p:txBody>
          <a:bodyPr wrap="square" rtlCol="0" anchor="t"/>
          <a:lstStyle/>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Q1. Why is the instance field </a:t>
            </a:r>
            <a:pPr indent="0" marL="0">
              <a:spcAft>
                <a:spcPts val="400"/>
              </a:spcAft>
              <a:buNone/>
            </a:pPr>
            <a:r>
              <a:rPr lang="en-US" sz="850" dirty="0">
                <a:solidFill>
                  <a:srgbClr val="B4235A"/>
                </a:solidFill>
                <a:latin typeface="Consolas" pitchFamily="34" charset="0"/>
                <a:ea typeface="Consolas" pitchFamily="34" charset="-122"/>
                <a:cs typeface="Consolas" pitchFamily="34" charset="-120"/>
              </a:rPr>
              <a:t>volatile</a:t>
            </a:r>
            <a:pPr indent="0" marL="0">
              <a:spcAft>
                <a:spcPts val="400"/>
              </a:spcAft>
              <a:buNone/>
            </a:pPr>
            <a:r>
              <a:rPr lang="en-US" sz="850" dirty="0">
                <a:solidFill>
                  <a:srgbClr val="1F2A24"/>
                </a:solidFill>
                <a:latin typeface="Calibri" pitchFamily="34" charset="0"/>
                <a:ea typeface="Calibri" pitchFamily="34" charset="-122"/>
                <a:cs typeface="Calibri" pitchFamily="34" charset="-120"/>
              </a:rPr>
              <a:t> in double-checked locking?</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To make it lazy</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To prevent other threads from seeing a partially constructed object</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To allow serialization</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To speed up the first check</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Q2. Which singleton implementation is safe against reflection and serialization by default?</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Eager static field</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Holder idiom</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Enum singleton</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synchronized getInstance()</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Q3. Method </a:t>
            </a:r>
            <a:pPr indent="0" marL="0">
              <a:spcAft>
                <a:spcPts val="400"/>
              </a:spcAft>
              <a:buNone/>
            </a:pPr>
            <a:r>
              <a:rPr lang="en-US" sz="850" dirty="0">
                <a:solidFill>
                  <a:srgbClr val="B4235A"/>
                </a:solidFill>
                <a:latin typeface="Consolas" pitchFamily="34" charset="0"/>
                <a:ea typeface="Consolas" pitchFamily="34" charset="-122"/>
                <a:cs typeface="Consolas" pitchFamily="34" charset="-120"/>
              </a:rPr>
              <a:t>load()</a:t>
            </a:r>
            <a:pPr indent="0" marL="0">
              <a:spcAft>
                <a:spcPts val="400"/>
              </a:spcAft>
              <a:buNone/>
            </a:pPr>
            <a:r>
              <a:rPr lang="en-US" sz="850" dirty="0">
                <a:solidFill>
                  <a:srgbClr val="1F2A24"/>
                </a:solidFill>
                <a:latin typeface="Calibri" pitchFamily="34" charset="0"/>
                <a:ea typeface="Calibri" pitchFamily="34" charset="-122"/>
                <a:cs typeface="Calibri" pitchFamily="34" charset="-120"/>
              </a:rPr>
              <a:t> calls </a:t>
            </a:r>
            <a:pPr indent="0" marL="0">
              <a:spcAft>
                <a:spcPts val="400"/>
              </a:spcAft>
              <a:buNone/>
            </a:pPr>
            <a:r>
              <a:rPr lang="en-US" sz="850" dirty="0">
                <a:solidFill>
                  <a:srgbClr val="B4235A"/>
                </a:solidFill>
                <a:latin typeface="Consolas" pitchFamily="34" charset="0"/>
                <a:ea typeface="Consolas" pitchFamily="34" charset="-122"/>
                <a:cs typeface="Consolas" pitchFamily="34" charset="-120"/>
              </a:rPr>
              <a:t>Files.readString(path)</a:t>
            </a:r>
            <a:pPr indent="0" marL="0">
              <a:spcAft>
                <a:spcPts val="400"/>
              </a:spcAft>
              <a:buNone/>
            </a:pPr>
            <a:r>
              <a:rPr lang="en-US" sz="850" dirty="0">
                <a:solidFill>
                  <a:srgbClr val="1F2A24"/>
                </a:solidFill>
                <a:latin typeface="Calibri" pitchFamily="34" charset="0"/>
                <a:ea typeface="Calibri" pitchFamily="34" charset="-122"/>
                <a:cs typeface="Calibri" pitchFamily="34" charset="-120"/>
              </a:rPr>
              <a:t> (throws </a:t>
            </a:r>
            <a:pPr indent="0" marL="0">
              <a:spcAft>
                <a:spcPts val="400"/>
              </a:spcAft>
              <a:buNone/>
            </a:pPr>
            <a:r>
              <a:rPr lang="en-US" sz="850" dirty="0">
                <a:solidFill>
                  <a:srgbClr val="B4235A"/>
                </a:solidFill>
                <a:latin typeface="Consolas" pitchFamily="34" charset="0"/>
                <a:ea typeface="Consolas" pitchFamily="34" charset="-122"/>
                <a:cs typeface="Consolas" pitchFamily="34" charset="-120"/>
              </a:rPr>
              <a:t>IOException</a:t>
            </a:r>
            <a:pPr indent="0" marL="0">
              <a:spcAft>
                <a:spcPts val="400"/>
              </a:spcAft>
              <a:buNone/>
            </a:pPr>
            <a:r>
              <a:rPr lang="en-US" sz="850" dirty="0">
                <a:solidFill>
                  <a:srgbClr val="1F2A24"/>
                </a:solidFill>
                <a:latin typeface="Calibri" pitchFamily="34" charset="0"/>
                <a:ea typeface="Calibri" pitchFamily="34" charset="-122"/>
                <a:cs typeface="Calibri" pitchFamily="34" charset="-120"/>
              </a:rPr>
              <a:t>) without try/catch. What must </a:t>
            </a:r>
            <a:pPr indent="0" marL="0">
              <a:spcAft>
                <a:spcPts val="400"/>
              </a:spcAft>
              <a:buNone/>
            </a:pPr>
            <a:r>
              <a:rPr lang="en-US" sz="850" dirty="0">
                <a:solidFill>
                  <a:srgbClr val="B4235A"/>
                </a:solidFill>
                <a:latin typeface="Consolas" pitchFamily="34" charset="0"/>
                <a:ea typeface="Consolas" pitchFamily="34" charset="-122"/>
                <a:cs typeface="Consolas" pitchFamily="34" charset="-120"/>
              </a:rPr>
              <a:t>load()</a:t>
            </a:r>
            <a:pPr indent="0" marL="0">
              <a:spcAft>
                <a:spcPts val="400"/>
              </a:spcAft>
              <a:buNone/>
            </a:pPr>
            <a:r>
              <a:rPr lang="en-US" sz="850" dirty="0">
                <a:solidFill>
                  <a:srgbClr val="1F2A24"/>
                </a:solidFill>
                <a:latin typeface="Calibri" pitchFamily="34" charset="0"/>
                <a:ea typeface="Calibri" pitchFamily="34" charset="-122"/>
                <a:cs typeface="Calibri" pitchFamily="34" charset="-120"/>
              </a:rPr>
              <a:t> do?</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Nothing</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Declare </a:t>
            </a:r>
            <a:pPr lvl="1" indent="0" marL="0">
              <a:spcAft>
                <a:spcPts val="400"/>
              </a:spcAft>
              <a:buNone/>
            </a:pPr>
            <a:r>
              <a:rPr lang="en-US" sz="750" dirty="0">
                <a:solidFill>
                  <a:srgbClr val="B4235A"/>
                </a:solidFill>
                <a:latin typeface="Consolas" pitchFamily="34" charset="0"/>
                <a:ea typeface="Consolas" pitchFamily="34" charset="-122"/>
                <a:cs typeface="Consolas" pitchFamily="34" charset="-120"/>
              </a:rPr>
              <a:t>throws IOException</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Return null</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Mark the method final</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Q4. Which functional interface matches </a:t>
            </a:r>
            <a:pPr indent="0" marL="0">
              <a:spcAft>
                <a:spcPts val="400"/>
              </a:spcAft>
              <a:buNone/>
            </a:pPr>
            <a:r>
              <a:rPr lang="en-US" sz="850" dirty="0">
                <a:solidFill>
                  <a:srgbClr val="B4235A"/>
                </a:solidFill>
                <a:latin typeface="Consolas" pitchFamily="34" charset="0"/>
                <a:ea typeface="Consolas" pitchFamily="34" charset="-122"/>
                <a:cs typeface="Consolas" pitchFamily="34" charset="-120"/>
              </a:rPr>
              <a:t>s -&gt; s.length() &gt; 3</a:t>
            </a:r>
            <a:pPr indent="0" marL="0">
              <a:spcAft>
                <a:spcPts val="400"/>
              </a:spcAft>
              <a:buNone/>
            </a:pPr>
            <a:r>
              <a:rPr lang="en-US" sz="850" dirty="0">
                <a:solidFill>
                  <a:srgbClr val="1F2A24"/>
                </a:solidFill>
                <a:latin typeface="Calibri" pitchFamily="34" charset="0"/>
                <a:ea typeface="Calibri" pitchFamily="34" charset="-122"/>
                <a:cs typeface="Calibri" pitchFamily="34" charset="-120"/>
              </a:rPr>
              <a:t> for a String?</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Function&lt;String, Integer&gt;</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Supplier&lt;Boolean&gt;</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Predicate&lt;String&gt;</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Consumer&lt;String&gt;</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Q5. </a:t>
            </a:r>
            <a:pPr indent="0" marL="0">
              <a:spcAft>
                <a:spcPts val="400"/>
              </a:spcAft>
              <a:buNone/>
            </a:pPr>
            <a:r>
              <a:rPr lang="en-US" sz="850" dirty="0">
                <a:solidFill>
                  <a:srgbClr val="B4235A"/>
                </a:solidFill>
                <a:latin typeface="Consolas" pitchFamily="34" charset="0"/>
                <a:ea typeface="Consolas" pitchFamily="34" charset="-122"/>
                <a:cs typeface="Consolas" pitchFamily="34" charset="-120"/>
              </a:rPr>
              <a:t>Function&lt;String,String&gt; f = String::toUpperCase;</a:t>
            </a:r>
            <a:pPr indent="0" marL="0">
              <a:spcAft>
                <a:spcPts val="400"/>
              </a:spcAft>
              <a:buNone/>
            </a:pPr>
            <a:r>
              <a:rPr lang="en-US" sz="850" dirty="0">
                <a:solidFill>
                  <a:srgbClr val="1F2A24"/>
                </a:solidFill>
                <a:latin typeface="Calibri" pitchFamily="34" charset="0"/>
                <a:ea typeface="Calibri" pitchFamily="34" charset="-122"/>
                <a:cs typeface="Calibri" pitchFamily="34" charset="-120"/>
              </a:rPr>
              <a:t> is which kind of method reference?</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Static method</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Bound instance method</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Unbound instance method (arbitrary object of a type)</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Constructor</a:t>
            </a:r>
            <a:endParaRPr lang="en-US" sz="85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C9C43D"/>
          </a:solidFill>
          <a:ln w="12700">
            <a:solidFill>
              <a:srgbClr val="C9C43D"/>
            </a:solidFill>
            <a:prstDash val="solid"/>
          </a:ln>
        </p:spPr>
      </p:sp>
      <p:sp>
        <p:nvSpPr>
          <p:cNvPr id="3" name="Text 1"/>
          <p:cNvSpPr/>
          <p:nvPr/>
        </p:nvSpPr>
        <p:spPr>
          <a:xfrm>
            <a:off x="457200" y="256032"/>
            <a:ext cx="1463040" cy="292608"/>
          </a:xfrm>
          <a:prstGeom prst="roundRect">
            <a:avLst>
              <a:gd name="adj" fmla="val 18750"/>
            </a:avLst>
          </a:prstGeom>
          <a:solidFill>
            <a:srgbClr val="C99A2E"/>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SUMMARY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3</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Session 3 recap</a:t>
            </a:r>
            <a:endParaRPr lang="en-US" sz="2800" dirty="0"/>
          </a:p>
        </p:txBody>
      </p:sp>
      <p:sp>
        <p:nvSpPr>
          <p:cNvPr id="6" name="Text 4"/>
          <p:cNvSpPr/>
          <p:nvPr/>
        </p:nvSpPr>
        <p:spPr>
          <a:xfrm>
            <a:off x="457200" y="1261872"/>
            <a:ext cx="11277295" cy="5093208"/>
          </a:xfrm>
          <a:prstGeom prst="rect">
            <a:avLst/>
          </a:prstGeom>
          <a:noFill/>
          <a:ln/>
        </p:spPr>
        <p:txBody>
          <a:bodyPr wrap="square" rtlCol="0" anchor="t"/>
          <a:lstStyle/>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Singleton = private constructor + static access. Prefer the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holder idiom</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or an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enum</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DCL needs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volatile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In Spring, let the container manage single instances (singleton scope) instead of static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getInstance()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Unhandled exceptions unwind the stack frame by frame;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finally</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runs on the way; checked ones must be declared.</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Translate low-level exceptions into domain exceptions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with the cause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and log once at the boundary.</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Lambdas implement functional interfaces; master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Predicate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Function</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Consumer</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Supplier</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and method references.</a:t>
            </a:r>
            <a:endParaRPr lang="en-US" sz="1700" dirty="0"/>
          </a:p>
        </p:txBody>
      </p:sp>
      <p:sp>
        <p:nvSpPr>
          <p:cNvPr id="7" name="Text 5"/>
          <p:cNvSpPr/>
          <p:nvPr/>
        </p:nvSpPr>
        <p:spPr>
          <a:xfrm>
            <a:off x="457200" y="3867912"/>
            <a:ext cx="11277295" cy="2487168"/>
          </a:xfrm>
          <a:prstGeom prst="rect">
            <a:avLst/>
          </a:prstGeom>
          <a:noFill/>
          <a:ln/>
        </p:spPr>
        <p:txBody>
          <a:bodyPr wrap="square" rtlCol="0" anchor="t"/>
          <a:lstStyle/>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Holder idiom</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Lazy, thread-safe singleton via a nested static class initialised on first access.</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volatile</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Guarantees visibility and prevents reordering across threads for a field.</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Stack unwinding</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Popping frames while an exception searches for a matching catch.</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Exception translation</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Catch a low-level exception and throw a higher-level one with it as the cause.</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Functional interface</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Interface with a single abstract method — the target type of a lambda.</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Effectively final</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A local never reassigned after initialisation; required for lambda capture.</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andThen vs compose</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f.andThen(g) = g(f(x)); f.compose(g) = f(g(x)).</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Method reference</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Shorthand lambda: Class::staticMethod, obj::method, Class::method, Class::new.</a:t>
            </a:r>
            <a:endParaRPr lang="en-US" sz="13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C9C43D"/>
          </a:solidFill>
          <a:ln w="12700">
            <a:solidFill>
              <a:srgbClr val="C9C43D"/>
            </a:solidFill>
            <a:prstDash val="solid"/>
          </a:ln>
        </p:spPr>
      </p:sp>
      <p:sp>
        <p:nvSpPr>
          <p:cNvPr id="3" name="Text 1"/>
          <p:cNvSpPr/>
          <p:nvPr/>
        </p:nvSpPr>
        <p:spPr>
          <a:xfrm>
            <a:off x="457200" y="411480"/>
            <a:ext cx="7315200" cy="320040"/>
          </a:xfrm>
          <a:prstGeom prst="rect">
            <a:avLst/>
          </a:prstGeom>
          <a:noFill/>
          <a:ln/>
        </p:spPr>
        <p:txBody>
          <a:bodyPr wrap="square" rtlCol="0" anchor="ctr"/>
          <a:lstStyle/>
          <a:p>
            <a:pPr indent="0" marL="0">
              <a:buNone/>
            </a:pPr>
            <a:r>
              <a:rPr lang="en-US" sz="1200" b="1" dirty="0">
                <a:solidFill>
                  <a:srgbClr val="C9C43D"/>
                </a:solidFill>
                <a:latin typeface="Calibri" pitchFamily="34" charset="0"/>
                <a:ea typeface="Calibri" pitchFamily="34" charset="-122"/>
                <a:cs typeface="Calibri" pitchFamily="34" charset="-120"/>
              </a:rPr>
              <a:t>SESSION 4 OF 24  ·  MODULE 1</a:t>
            </a:r>
            <a:endParaRPr lang="en-US" sz="1200" dirty="0"/>
          </a:p>
        </p:txBody>
      </p:sp>
      <p:sp>
        <p:nvSpPr>
          <p:cNvPr id="4" name="Text 2"/>
          <p:cNvSpPr/>
          <p:nvPr/>
        </p:nvSpPr>
        <p:spPr>
          <a:xfrm>
            <a:off x="457200" y="777240"/>
            <a:ext cx="11277295" cy="1005840"/>
          </a:xfrm>
          <a:prstGeom prst="rect">
            <a:avLst/>
          </a:prstGeom>
          <a:noFill/>
          <a:ln/>
        </p:spPr>
        <p:txBody>
          <a:bodyPr wrap="square" rtlCol="0" anchor="t"/>
          <a:lstStyle/>
          <a:p>
            <a:pPr indent="0" marL="0">
              <a:buNone/>
            </a:pPr>
            <a:r>
              <a:rPr lang="en-US" sz="3000" b="1" dirty="0">
                <a:solidFill>
                  <a:srgbClr val="1F2A24"/>
                </a:solidFill>
                <a:latin typeface="Calibri" pitchFamily="34" charset="0"/>
                <a:ea typeface="Calibri" pitchFamily="34" charset="-122"/>
                <a:cs typeface="Calibri" pitchFamily="34" charset="-120"/>
              </a:rPr>
              <a:t>Collections Framework, Queues &amp; Generics</a:t>
            </a:r>
            <a:endParaRPr lang="en-US" sz="3000" dirty="0"/>
          </a:p>
        </p:txBody>
      </p:sp>
      <p:sp>
        <p:nvSpPr>
          <p:cNvPr id="5" name="Text 3"/>
          <p:cNvSpPr/>
          <p:nvPr/>
        </p:nvSpPr>
        <p:spPr>
          <a:xfrm>
            <a:off x="457200" y="1920240"/>
            <a:ext cx="5486400" cy="320040"/>
          </a:xfrm>
          <a:prstGeom prst="rect">
            <a:avLst/>
          </a:prstGeom>
          <a:noFill/>
          <a:ln/>
        </p:spPr>
        <p:txBody>
          <a:bodyPr wrap="square" rtlCol="0" anchor="ctr"/>
          <a:lstStyle/>
          <a:p>
            <a:pPr indent="0" marL="0">
              <a:buNone/>
            </a:pPr>
            <a:r>
              <a:rPr lang="en-US" sz="1300" b="1" dirty="0">
                <a:solidFill>
                  <a:srgbClr val="5B6B60"/>
                </a:solidFill>
                <a:latin typeface="Calibri" pitchFamily="34" charset="0"/>
                <a:ea typeface="Calibri" pitchFamily="34" charset="-122"/>
                <a:cs typeface="Calibri" pitchFamily="34" charset="-120"/>
              </a:rPr>
              <a:t>Brochure topics covered</a:t>
            </a:r>
            <a:endParaRPr lang="en-US" sz="1300" dirty="0"/>
          </a:p>
        </p:txBody>
      </p:sp>
      <p:sp>
        <p:nvSpPr>
          <p:cNvPr id="6" name="Text 4"/>
          <p:cNvSpPr/>
          <p:nvPr/>
        </p:nvSpPr>
        <p:spPr>
          <a:xfrm>
            <a:off x="457200" y="2240280"/>
            <a:ext cx="5577840" cy="1463040"/>
          </a:xfrm>
          <a:prstGeom prst="rect">
            <a:avLst/>
          </a:prstGeom>
          <a:noFill/>
          <a:ln/>
        </p:spPr>
        <p:txBody>
          <a:bodyPr wrap="square" rtlCol="0" anchor="t"/>
          <a:lstStyle/>
          <a:p>
            <a:pPr indent="0" marL="0">
              <a:spcAft>
                <a:spcPts val="400"/>
              </a:spcAft>
              <a:buNone/>
            </a:pPr>
            <a:r>
              <a:rPr lang="en-US" sz="1400" dirty="0">
                <a:solidFill>
                  <a:srgbClr val="1F2A24"/>
                </a:solidFill>
                <a:latin typeface="Calibri" pitchFamily="34" charset="0"/>
                <a:ea typeface="Calibri" pitchFamily="34" charset="-122"/>
                <a:cs typeface="Calibri" pitchFamily="34" charset="-120"/>
              </a:rPr>
              <a:t>✓ Collections framework, Queues &amp; Generics</a:t>
            </a:r>
            <a:endParaRPr lang="en-US" sz="1400" dirty="0"/>
          </a:p>
        </p:txBody>
      </p:sp>
      <p:sp>
        <p:nvSpPr>
          <p:cNvPr id="7" name="Text 5"/>
          <p:cNvSpPr/>
          <p:nvPr/>
        </p:nvSpPr>
        <p:spPr>
          <a:xfrm>
            <a:off x="457200" y="3749040"/>
            <a:ext cx="5486400" cy="320040"/>
          </a:xfrm>
          <a:prstGeom prst="rect">
            <a:avLst/>
          </a:prstGeom>
          <a:noFill/>
          <a:ln/>
        </p:spPr>
        <p:txBody>
          <a:bodyPr wrap="square" rtlCol="0" anchor="ctr"/>
          <a:lstStyle/>
          <a:p>
            <a:pPr indent="0" marL="0">
              <a:buNone/>
            </a:pPr>
            <a:r>
              <a:rPr lang="en-US" sz="1300" b="1" dirty="0">
                <a:solidFill>
                  <a:srgbClr val="5B6B60"/>
                </a:solidFill>
                <a:latin typeface="Calibri" pitchFamily="34" charset="0"/>
                <a:ea typeface="Calibri" pitchFamily="34" charset="-122"/>
                <a:cs typeface="Calibri" pitchFamily="34" charset="-120"/>
              </a:rPr>
              <a:t>Learning objectives</a:t>
            </a:r>
            <a:endParaRPr lang="en-US" sz="1300" dirty="0"/>
          </a:p>
        </p:txBody>
      </p:sp>
      <p:sp>
        <p:nvSpPr>
          <p:cNvPr id="8" name="Text 6"/>
          <p:cNvSpPr/>
          <p:nvPr/>
        </p:nvSpPr>
        <p:spPr>
          <a:xfrm>
            <a:off x="457200" y="4069080"/>
            <a:ext cx="5577840" cy="2286000"/>
          </a:xfrm>
          <a:prstGeom prst="rect">
            <a:avLst/>
          </a:prstGeom>
          <a:noFill/>
          <a:ln/>
        </p:spPr>
        <p:txBody>
          <a:bodyPr wrap="square" rtlCol="0" anchor="t"/>
          <a:lstStyle/>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Navigate the Collections Framework hierarchy and pick the right List, Set, Map, Queue or Deque.</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Use FIFO queues, stacks (</a:t>
            </a:r>
            <a:endParaRPr lang="en-US" sz="1250" dirty="0"/>
          </a:p>
          <a:p>
            <a:pPr marL="177800" indent="-177800">
              <a:spcAft>
                <a:spcPts val="400"/>
              </a:spcAft>
              <a:buSzPct val="100000"/>
              <a:buChar char="•"/>
            </a:pPr>
            <a:r>
              <a:rPr lang="en-US" sz="1250" dirty="0">
                <a:solidFill>
                  <a:srgbClr val="B4235A"/>
                </a:solidFill>
                <a:latin typeface="Consolas" pitchFamily="34" charset="0"/>
                <a:ea typeface="Consolas" pitchFamily="34" charset="-122"/>
                <a:cs typeface="Consolas" pitchFamily="34" charset="-120"/>
              </a:rPr>
              <a:t>ArrayDeque</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 and priority queues (heaps) for real problems.</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Write type-safe generic classes and methods, with bounded types and wildcards (PECS).</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Order objects with </a:t>
            </a:r>
            <a:endParaRPr lang="en-US" sz="1250" dirty="0"/>
          </a:p>
          <a:p>
            <a:pPr marL="177800" indent="-177800">
              <a:spcAft>
                <a:spcPts val="400"/>
              </a:spcAft>
              <a:buSzPct val="100000"/>
              <a:buChar char="•"/>
            </a:pPr>
            <a:r>
              <a:rPr lang="en-US" sz="1250" dirty="0">
                <a:solidFill>
                  <a:srgbClr val="B4235A"/>
                </a:solidFill>
                <a:latin typeface="Consolas" pitchFamily="34" charset="0"/>
                <a:ea typeface="Consolas" pitchFamily="34" charset="-122"/>
                <a:cs typeface="Consolas" pitchFamily="34" charset="-120"/>
              </a:rPr>
              <a:t>Comparable</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a:t>
            </a:r>
            <a:endParaRPr lang="en-US" sz="1250" dirty="0"/>
          </a:p>
          <a:p>
            <a:pPr marL="177800" indent="-177800">
              <a:spcAft>
                <a:spcPts val="400"/>
              </a:spcAft>
              <a:buSzPct val="100000"/>
              <a:buChar char="•"/>
            </a:pPr>
            <a:r>
              <a:rPr lang="en-US" sz="1250" dirty="0">
                <a:solidFill>
                  <a:srgbClr val="B4235A"/>
                </a:solidFill>
                <a:latin typeface="Consolas" pitchFamily="34" charset="0"/>
                <a:ea typeface="Consolas" pitchFamily="34" charset="-122"/>
                <a:cs typeface="Consolas" pitchFamily="34" charset="-120"/>
              </a:rPr>
              <a:t>Comparator</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 and avoid classic pitfalls (CME, raw types, missing equals/hashCode).</a:t>
            </a:r>
            <a:endParaRPr lang="en-US" sz="1250" dirty="0"/>
          </a:p>
        </p:txBody>
      </p:sp>
      <p:sp>
        <p:nvSpPr>
          <p:cNvPr id="9" name="Text 7"/>
          <p:cNvSpPr/>
          <p:nvPr/>
        </p:nvSpPr>
        <p:spPr>
          <a:xfrm>
            <a:off x="6400800" y="1920240"/>
            <a:ext cx="5303520" cy="320040"/>
          </a:xfrm>
          <a:prstGeom prst="rect">
            <a:avLst/>
          </a:prstGeom>
          <a:noFill/>
          <a:ln/>
        </p:spPr>
        <p:txBody>
          <a:bodyPr wrap="square" rtlCol="0" anchor="ctr"/>
          <a:lstStyle/>
          <a:p>
            <a:pPr indent="0" marL="0">
              <a:buNone/>
            </a:pPr>
            <a:r>
              <a:rPr lang="en-US" sz="1300" b="1" dirty="0">
                <a:solidFill>
                  <a:srgbClr val="5B6B60"/>
                </a:solidFill>
                <a:latin typeface="Calibri" pitchFamily="34" charset="0"/>
                <a:ea typeface="Calibri" pitchFamily="34" charset="-122"/>
                <a:cs typeface="Calibri" pitchFamily="34" charset="-120"/>
              </a:rPr>
              <a:t>Agenda</a:t>
            </a:r>
            <a:endParaRPr lang="en-US" sz="1300" dirty="0"/>
          </a:p>
        </p:txBody>
      </p:sp>
      <p:sp>
        <p:nvSpPr>
          <p:cNvPr id="10" name="Text 8"/>
          <p:cNvSpPr/>
          <p:nvPr/>
        </p:nvSpPr>
        <p:spPr>
          <a:xfrm>
            <a:off x="6400800" y="2240280"/>
            <a:ext cx="5303520" cy="4114800"/>
          </a:xfrm>
          <a:prstGeom prst="rect">
            <a:avLst/>
          </a:prstGeom>
          <a:noFill/>
          <a:ln/>
        </p:spPr>
        <p:txBody>
          <a:bodyPr wrap="square" rtlCol="0" anchor="t"/>
          <a:lstStyle/>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The Collections Framework at a glance</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List: ArrayList vs LinkedList</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Practical: Working with Lists (and two classic traps)</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Practical: Sets &amp; Maps in practice</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Queues, Deques &amp; Priority Queues</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Practical: Queues in action: tickets, undo &amp; job scheduling</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Generics: type safety without casts</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Practical: Generic classes, bounded methods &amp; wildcards</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Practical: Ordering &amp; identity: Comparable, Comparator, equals/hashCode</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Choosing the right collection</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Hands-on Lab: Lab: a generic repository for a library system</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Quiz: Quiz: collections &amp; generics</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Summary: Session 4 recap</a:t>
            </a:r>
            <a:endParaRPr lang="en-US" sz="125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C9C43D"/>
          </a:solidFill>
          <a:ln w="12700">
            <a:solidFill>
              <a:srgbClr val="C9C43D"/>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4</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The Collections Framework at a glance</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A unified set of </a:t>
            </a:r>
            <a:pPr indent="0" marL="0">
              <a:buNone/>
            </a:pPr>
            <a:r>
              <a:rPr lang="en-US" sz="1350" b="1" dirty="0">
                <a:solidFill>
                  <a:srgbClr val="5B6B60"/>
                </a:solidFill>
                <a:latin typeface="Calibri" pitchFamily="34" charset="0"/>
                <a:ea typeface="Calibri" pitchFamily="34" charset="-122"/>
                <a:cs typeface="Calibri" pitchFamily="34" charset="-120"/>
              </a:rPr>
              <a:t>interfaces</a:t>
            </a:r>
            <a:pPr indent="0" marL="0">
              <a:buNone/>
            </a:pPr>
            <a:r>
              <a:rPr lang="en-US" sz="1350" dirty="0">
                <a:solidFill>
                  <a:srgbClr val="5B6B60"/>
                </a:solidFill>
                <a:latin typeface="Calibri" pitchFamily="34" charset="0"/>
                <a:ea typeface="Calibri" pitchFamily="34" charset="-122"/>
                <a:cs typeface="Calibri" pitchFamily="34" charset="-120"/>
              </a:rPr>
              <a:t> (what) and </a:t>
            </a:r>
            <a:pPr indent="0" marL="0">
              <a:buNone/>
            </a:pPr>
            <a:r>
              <a:rPr lang="en-US" sz="1350" b="1" dirty="0">
                <a:solidFill>
                  <a:srgbClr val="5B6B60"/>
                </a:solidFill>
                <a:latin typeface="Calibri" pitchFamily="34" charset="0"/>
                <a:ea typeface="Calibri" pitchFamily="34" charset="-122"/>
                <a:cs typeface="Calibri" pitchFamily="34" charset="-120"/>
              </a:rPr>
              <a:t>implementations</a:t>
            </a:r>
            <a:pPr indent="0" marL="0">
              <a:buNone/>
            </a:pPr>
            <a:r>
              <a:rPr lang="en-US" sz="1350" dirty="0">
                <a:solidFill>
                  <a:srgbClr val="5B6B60"/>
                </a:solidFill>
                <a:latin typeface="Calibri" pitchFamily="34" charset="0"/>
                <a:ea typeface="Calibri" pitchFamily="34" charset="-122"/>
                <a:cs typeface="Calibri" pitchFamily="34" charset="-120"/>
              </a:rPr>
              <a:t> (how) for storing and processing groups of objects.</a:t>
            </a:r>
            <a:endParaRPr lang="en-US" sz="1350" dirty="0"/>
          </a:p>
        </p:txBody>
      </p:sp>
      <p:sp>
        <p:nvSpPr>
          <p:cNvPr id="7" name="Text 5"/>
          <p:cNvSpPr/>
          <p:nvPr/>
        </p:nvSpPr>
        <p:spPr>
          <a:xfrm>
            <a:off x="457200" y="1883664"/>
            <a:ext cx="5120640" cy="4471416"/>
          </a:xfrm>
          <a:prstGeom prst="rect">
            <a:avLst/>
          </a:prstGeom>
          <a:noFill/>
          <a:ln/>
        </p:spPr>
        <p:txBody>
          <a:bodyPr wrap="square" rtlCol="0" anchor="t"/>
          <a:lstStyle/>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Declare variables by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interface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List&lt;Order&gt; orders = new ArrayList&lt;&gt;();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 swap implementations freely.</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Map</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is </a:t>
            </a:r>
            <a:endParaRPr lang="en-US" sz="1700" dirty="0"/>
          </a:p>
          <a:p>
            <a:pPr marL="177800" indent="-177800">
              <a:spcAft>
                <a:spcPts val="400"/>
              </a:spcAft>
              <a:buSzPct val="100000"/>
              <a:buChar char="•"/>
            </a:pPr>
            <a:r>
              <a:rPr lang="en-US" sz="1700" i="1" dirty="0">
                <a:solidFill>
                  <a:srgbClr val="1F2A24"/>
                </a:solidFill>
                <a:latin typeface="Calibri" pitchFamily="34" charset="0"/>
                <a:ea typeface="Calibri" pitchFamily="34" charset="-122"/>
                <a:cs typeface="Calibri" pitchFamily="34" charset="-120"/>
              </a:rPr>
              <a:t>not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Collection</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but it offers collection views: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keySet()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values()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entrySet()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Immutable factories: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List.of</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Set.of</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Map.of</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(Java 9) — no nulls, no modification.</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Utility classes: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Collections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(sort, unmodifiable views,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synchronizedList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and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Arrays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a:t>
            </a:r>
            <a:endParaRPr lang="en-US" sz="1700" dirty="0"/>
          </a:p>
        </p:txBody>
      </p:sp>
      <p:sp>
        <p:nvSpPr>
          <p:cNvPr id="8" name="Text 6"/>
          <p:cNvSpPr/>
          <p:nvPr/>
        </p:nvSpPr>
        <p:spPr>
          <a:xfrm>
            <a:off x="5852160" y="1883664"/>
            <a:ext cx="5882335" cy="4471416"/>
          </a:xfrm>
          <a:prstGeom prst="rect">
            <a:avLst/>
          </a:prstGeom>
          <a:solidFill>
            <a:srgbClr val="F7F9F8"/>
          </a:solidFill>
          <a:ln w="9525">
            <a:solidFill>
              <a:srgbClr val="D5DDD7"/>
            </a:solidFill>
          </a:ln>
        </p:spPr>
        <p:txBody>
          <a:bodyPr wrap="square" lIns="1524" tIns="1524" rIns="1524" bIns="1524" rtlCol="0" anchor="t"/>
          <a:lstStyle/>
          <a:p>
            <a:pPr marL="177800" indent="-177800">
              <a:spcAft>
                <a:spcPts val="400"/>
              </a:spcAft>
              <a:buSzPct val="100000"/>
              <a:buChar char="•"/>
            </a:pPr>
            <a:r>
              <a:rPr lang="en-US" sz="1000" dirty="0">
                <a:solidFill>
                  <a:srgbClr val="1F2A24"/>
                </a:solidFill>
                <a:latin typeface="Calibri" pitchFamily="34" charset="0"/>
                <a:ea typeface="Calibri" pitchFamily="34" charset="-122"/>
                <a:cs typeface="Calibri" pitchFamily="34" charset="-120"/>
              </a:rPr>
              <a:t>Iterable&lt;E&gt;</a:t>
            </a:r>
            <a:endParaRPr lang="en-US" sz="1000" dirty="0"/>
          </a:p>
          <a:p>
            <a:pPr lvl="1" marL="355600" indent="-177800">
              <a:spcAft>
                <a:spcPts val="400"/>
              </a:spcAft>
              <a:buSzPct val="100000"/>
              <a:buChar char="•"/>
            </a:pPr>
            <a:r>
              <a:rPr lang="en-US" sz="1000" dirty="0">
                <a:solidFill>
                  <a:srgbClr val="1F2A24"/>
                </a:solidFill>
                <a:latin typeface="Calibri" pitchFamily="34" charset="0"/>
                <a:ea typeface="Calibri" pitchFamily="34" charset="-122"/>
                <a:cs typeface="Calibri" pitchFamily="34" charset="-120"/>
              </a:rPr>
              <a:t>Collection&lt;E&gt;</a:t>
            </a:r>
            <a:endParaRPr lang="en-US" sz="1000" dirty="0"/>
          </a:p>
          <a:p>
            <a:pPr lvl="2" marL="533400" indent="-177800">
              <a:spcAft>
                <a:spcPts val="400"/>
              </a:spcAft>
              <a:buSzPct val="100000"/>
              <a:buChar char="•"/>
            </a:pPr>
            <a:r>
              <a:rPr lang="en-US" sz="1000" dirty="0">
                <a:solidFill>
                  <a:srgbClr val="1F2A24"/>
                </a:solidFill>
                <a:latin typeface="Calibri" pitchFamily="34" charset="0"/>
                <a:ea typeface="Calibri" pitchFamily="34" charset="-122"/>
                <a:cs typeface="Calibri" pitchFamily="34" charset="-120"/>
              </a:rPr>
              <a:t>List&lt;E&gt;</a:t>
            </a:r>
            <a:endParaRPr lang="en-US" sz="1000" dirty="0"/>
          </a:p>
          <a:p>
            <a:pPr lvl="3" marL="711200" indent="-177800">
              <a:spcAft>
                <a:spcPts val="400"/>
              </a:spcAft>
              <a:buSzPct val="100000"/>
              <a:buChar char="•"/>
            </a:pPr>
            <a:r>
              <a:rPr lang="en-US" sz="1000" dirty="0">
                <a:solidFill>
                  <a:srgbClr val="1F2A24"/>
                </a:solidFill>
                <a:latin typeface="Calibri" pitchFamily="34" charset="0"/>
                <a:ea typeface="Calibri" pitchFamily="34" charset="-122"/>
                <a:cs typeface="Calibri" pitchFamily="34" charset="-120"/>
              </a:rPr>
              <a:t>ArrayList</a:t>
            </a:r>
            <a:endParaRPr lang="en-US" sz="1000" dirty="0"/>
          </a:p>
          <a:p>
            <a:pPr lvl="3" marL="711200" indent="-177800">
              <a:spcAft>
                <a:spcPts val="400"/>
              </a:spcAft>
              <a:buSzPct val="100000"/>
              <a:buChar char="•"/>
            </a:pPr>
            <a:r>
              <a:rPr lang="en-US" sz="1000" dirty="0">
                <a:solidFill>
                  <a:srgbClr val="1F2A24"/>
                </a:solidFill>
                <a:latin typeface="Calibri" pitchFamily="34" charset="0"/>
                <a:ea typeface="Calibri" pitchFamily="34" charset="-122"/>
                <a:cs typeface="Calibri" pitchFamily="34" charset="-120"/>
              </a:rPr>
              <a:t>LinkedList</a:t>
            </a:r>
            <a:endParaRPr lang="en-US" sz="1000" dirty="0"/>
          </a:p>
          <a:p>
            <a:pPr lvl="2" marL="533400" indent="-177800">
              <a:spcAft>
                <a:spcPts val="400"/>
              </a:spcAft>
              <a:buSzPct val="100000"/>
              <a:buChar char="•"/>
            </a:pPr>
            <a:r>
              <a:rPr lang="en-US" sz="1000" dirty="0">
                <a:solidFill>
                  <a:srgbClr val="1F2A24"/>
                </a:solidFill>
                <a:latin typeface="Calibri" pitchFamily="34" charset="0"/>
                <a:ea typeface="Calibri" pitchFamily="34" charset="-122"/>
                <a:cs typeface="Calibri" pitchFamily="34" charset="-120"/>
              </a:rPr>
              <a:t>Set&lt;E&gt;</a:t>
            </a:r>
            <a:endParaRPr lang="en-US" sz="1000" dirty="0"/>
          </a:p>
          <a:p>
            <a:pPr lvl="3" marL="711200" indent="-177800">
              <a:spcAft>
                <a:spcPts val="400"/>
              </a:spcAft>
              <a:buSzPct val="100000"/>
              <a:buChar char="•"/>
            </a:pPr>
            <a:r>
              <a:rPr lang="en-US" sz="1000" dirty="0">
                <a:solidFill>
                  <a:srgbClr val="1F2A24"/>
                </a:solidFill>
                <a:latin typeface="Calibri" pitchFamily="34" charset="0"/>
                <a:ea typeface="Calibri" pitchFamily="34" charset="-122"/>
                <a:cs typeface="Calibri" pitchFamily="34" charset="-120"/>
              </a:rPr>
              <a:t>HashSet</a:t>
            </a:r>
            <a:endParaRPr lang="en-US" sz="1000" dirty="0"/>
          </a:p>
          <a:p>
            <a:pPr lvl="3" marL="711200" indent="-177800">
              <a:spcAft>
                <a:spcPts val="400"/>
              </a:spcAft>
              <a:buSzPct val="100000"/>
              <a:buChar char="•"/>
            </a:pPr>
            <a:r>
              <a:rPr lang="en-US" sz="1000" dirty="0">
                <a:solidFill>
                  <a:srgbClr val="1F2A24"/>
                </a:solidFill>
                <a:latin typeface="Calibri" pitchFamily="34" charset="0"/>
                <a:ea typeface="Calibri" pitchFamily="34" charset="-122"/>
                <a:cs typeface="Calibri" pitchFamily="34" charset="-120"/>
              </a:rPr>
              <a:t>LinkedHashSet</a:t>
            </a:r>
            <a:endParaRPr lang="en-US" sz="1000" dirty="0"/>
          </a:p>
          <a:p>
            <a:pPr lvl="3" marL="711200" indent="-177800">
              <a:spcAft>
                <a:spcPts val="400"/>
              </a:spcAft>
              <a:buSzPct val="100000"/>
              <a:buChar char="•"/>
            </a:pPr>
            <a:r>
              <a:rPr lang="en-US" sz="1000" dirty="0">
                <a:solidFill>
                  <a:srgbClr val="1F2A24"/>
                </a:solidFill>
                <a:latin typeface="Calibri" pitchFamily="34" charset="0"/>
                <a:ea typeface="Calibri" pitchFamily="34" charset="-122"/>
                <a:cs typeface="Calibri" pitchFamily="34" charset="-120"/>
              </a:rPr>
              <a:t>TreeSet</a:t>
            </a:r>
            <a:endParaRPr lang="en-US" sz="1000" dirty="0"/>
          </a:p>
          <a:p>
            <a:pPr lvl="2" marL="533400" indent="-177800">
              <a:spcAft>
                <a:spcPts val="400"/>
              </a:spcAft>
              <a:buSzPct val="100000"/>
              <a:buChar char="•"/>
            </a:pPr>
            <a:r>
              <a:rPr lang="en-US" sz="1000" dirty="0">
                <a:solidFill>
                  <a:srgbClr val="1F2A24"/>
                </a:solidFill>
                <a:latin typeface="Calibri" pitchFamily="34" charset="0"/>
                <a:ea typeface="Calibri" pitchFamily="34" charset="-122"/>
                <a:cs typeface="Calibri" pitchFamily="34" charset="-120"/>
              </a:rPr>
              <a:t>Queue&lt;E&gt;</a:t>
            </a:r>
            <a:endParaRPr lang="en-US" sz="1000" dirty="0"/>
          </a:p>
          <a:p>
            <a:pPr lvl="3" marL="711200" indent="-177800">
              <a:spcAft>
                <a:spcPts val="400"/>
              </a:spcAft>
              <a:buSzPct val="100000"/>
              <a:buChar char="•"/>
            </a:pPr>
            <a:r>
              <a:rPr lang="en-US" sz="1000" dirty="0">
                <a:solidFill>
                  <a:srgbClr val="1F2A24"/>
                </a:solidFill>
                <a:latin typeface="Calibri" pitchFamily="34" charset="0"/>
                <a:ea typeface="Calibri" pitchFamily="34" charset="-122"/>
                <a:cs typeface="Calibri" pitchFamily="34" charset="-120"/>
              </a:rPr>
              <a:t>PriorityQueue</a:t>
            </a:r>
            <a:endParaRPr lang="en-US" sz="1000" dirty="0"/>
          </a:p>
          <a:p>
            <a:pPr lvl="3" marL="711200" indent="-177800">
              <a:spcAft>
                <a:spcPts val="400"/>
              </a:spcAft>
              <a:buSzPct val="100000"/>
              <a:buChar char="•"/>
            </a:pPr>
            <a:r>
              <a:rPr lang="en-US" sz="1000" dirty="0">
                <a:solidFill>
                  <a:srgbClr val="1F2A24"/>
                </a:solidFill>
                <a:latin typeface="Calibri" pitchFamily="34" charset="0"/>
                <a:ea typeface="Calibri" pitchFamily="34" charset="-122"/>
                <a:cs typeface="Calibri" pitchFamily="34" charset="-120"/>
              </a:rPr>
              <a:t>Deque&lt;E&gt;</a:t>
            </a:r>
            <a:endParaRPr lang="en-US" sz="1000" dirty="0"/>
          </a:p>
          <a:p>
            <a:pPr lvl="4" marL="889000" indent="-177800">
              <a:spcAft>
                <a:spcPts val="400"/>
              </a:spcAft>
              <a:buSzPct val="100000"/>
              <a:buChar char="•"/>
            </a:pPr>
            <a:r>
              <a:rPr lang="en-US" sz="1000" dirty="0">
                <a:solidFill>
                  <a:srgbClr val="1F2A24"/>
                </a:solidFill>
                <a:latin typeface="Calibri" pitchFamily="34" charset="0"/>
                <a:ea typeface="Calibri" pitchFamily="34" charset="-122"/>
                <a:cs typeface="Calibri" pitchFamily="34" charset="-120"/>
              </a:rPr>
              <a:t>ArrayDeque</a:t>
            </a:r>
            <a:endParaRPr lang="en-US" sz="1000" dirty="0"/>
          </a:p>
          <a:p>
            <a:pPr lvl="4" marL="889000" indent="-177800">
              <a:spcAft>
                <a:spcPts val="400"/>
              </a:spcAft>
              <a:buSzPct val="100000"/>
              <a:buChar char="•"/>
            </a:pPr>
            <a:r>
              <a:rPr lang="en-US" sz="1000" dirty="0">
                <a:solidFill>
                  <a:srgbClr val="1F2A24"/>
                </a:solidFill>
                <a:latin typeface="Calibri" pitchFamily="34" charset="0"/>
                <a:ea typeface="Calibri" pitchFamily="34" charset="-122"/>
                <a:cs typeface="Calibri" pitchFamily="34" charset="-120"/>
              </a:rPr>
              <a:t>LinkedList</a:t>
            </a:r>
            <a:endParaRPr lang="en-US" sz="1000" dirty="0"/>
          </a:p>
          <a:p>
            <a:pPr lvl="1" marL="355600" indent="-177800">
              <a:spcAft>
                <a:spcPts val="400"/>
              </a:spcAft>
              <a:buSzPct val="100000"/>
              <a:buChar char="•"/>
            </a:pPr>
            <a:r>
              <a:rPr lang="en-US" sz="1000" dirty="0">
                <a:solidFill>
                  <a:srgbClr val="1F2A24"/>
                </a:solidFill>
                <a:latin typeface="Calibri" pitchFamily="34" charset="0"/>
                <a:ea typeface="Calibri" pitchFamily="34" charset="-122"/>
                <a:cs typeface="Calibri" pitchFamily="34" charset="-120"/>
              </a:rPr>
              <a:t>Map&lt;K,V&gt;</a:t>
            </a:r>
            <a:endParaRPr lang="en-US" sz="1000" dirty="0"/>
          </a:p>
          <a:p>
            <a:pPr lvl="2" marL="533400" indent="-177800">
              <a:spcAft>
                <a:spcPts val="400"/>
              </a:spcAft>
              <a:buSzPct val="100000"/>
              <a:buChar char="•"/>
            </a:pPr>
            <a:r>
              <a:rPr lang="en-US" sz="1000" dirty="0">
                <a:solidFill>
                  <a:srgbClr val="1F2A24"/>
                </a:solidFill>
                <a:latin typeface="Calibri" pitchFamily="34" charset="0"/>
                <a:ea typeface="Calibri" pitchFamily="34" charset="-122"/>
                <a:cs typeface="Calibri" pitchFamily="34" charset="-120"/>
              </a:rPr>
              <a:t>HashMap</a:t>
            </a:r>
            <a:endParaRPr lang="en-US" sz="1000" dirty="0"/>
          </a:p>
          <a:p>
            <a:pPr lvl="2" marL="533400" indent="-177800">
              <a:spcAft>
                <a:spcPts val="400"/>
              </a:spcAft>
              <a:buSzPct val="100000"/>
              <a:buChar char="•"/>
            </a:pPr>
            <a:r>
              <a:rPr lang="en-US" sz="1000" dirty="0">
                <a:solidFill>
                  <a:srgbClr val="1F2A24"/>
                </a:solidFill>
                <a:latin typeface="Calibri" pitchFamily="34" charset="0"/>
                <a:ea typeface="Calibri" pitchFamily="34" charset="-122"/>
                <a:cs typeface="Calibri" pitchFamily="34" charset="-120"/>
              </a:rPr>
              <a:t>LinkedHashMap</a:t>
            </a:r>
            <a:endParaRPr lang="en-US" sz="1000" dirty="0"/>
          </a:p>
          <a:p>
            <a:pPr lvl="2" marL="533400" indent="-177800">
              <a:spcAft>
                <a:spcPts val="400"/>
              </a:spcAft>
              <a:buSzPct val="100000"/>
              <a:buChar char="•"/>
            </a:pPr>
            <a:r>
              <a:rPr lang="en-US" sz="1000" dirty="0">
                <a:solidFill>
                  <a:srgbClr val="1F2A24"/>
                </a:solidFill>
                <a:latin typeface="Calibri" pitchFamily="34" charset="0"/>
                <a:ea typeface="Calibri" pitchFamily="34" charset="-122"/>
                <a:cs typeface="Calibri" pitchFamily="34" charset="-120"/>
              </a:rPr>
              <a:t>TreeMap</a:t>
            </a:r>
            <a:endParaRPr lang="en-US" sz="1000" dirty="0"/>
          </a:p>
          <a:p>
            <a:pPr lvl="2" marL="533400" indent="-177800">
              <a:spcAft>
                <a:spcPts val="400"/>
              </a:spcAft>
              <a:buSzPct val="100000"/>
              <a:buChar char="•"/>
            </a:pPr>
            <a:r>
              <a:rPr lang="en-US" sz="1000" dirty="0">
                <a:solidFill>
                  <a:srgbClr val="1F2A24"/>
                </a:solidFill>
                <a:latin typeface="Calibri" pitchFamily="34" charset="0"/>
                <a:ea typeface="Calibri" pitchFamily="34" charset="-122"/>
                <a:cs typeface="Calibri" pitchFamily="34" charset="-120"/>
              </a:rPr>
              <a:t>ConcurrentHashMap</a:t>
            </a:r>
            <a:endParaRPr lang="en-US" sz="10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C9C43D"/>
          </a:solidFill>
          <a:ln w="12700">
            <a:solidFill>
              <a:srgbClr val="C9C43D"/>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4</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List: ArrayList vs LinkedList</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B4235A"/>
                </a:solidFill>
                <a:latin typeface="Consolas" pitchFamily="34" charset="0"/>
                <a:ea typeface="Consolas" pitchFamily="34" charset="-122"/>
                <a:cs typeface="Consolas" pitchFamily="34" charset="-120"/>
              </a:rPr>
              <a:t>ArrayList</a:t>
            </a:r>
            <a:pPr indent="0" marL="0">
              <a:buNone/>
            </a:pPr>
            <a:r>
              <a:rPr lang="en-US" sz="1350" dirty="0">
                <a:solidFill>
                  <a:srgbClr val="5B6B60"/>
                </a:solidFill>
                <a:latin typeface="Calibri" pitchFamily="34" charset="0"/>
                <a:ea typeface="Calibri" pitchFamily="34" charset="-122"/>
                <a:cs typeface="Calibri" pitchFamily="34" charset="-120"/>
              </a:rPr>
              <a:t> is a resizable array; </a:t>
            </a:r>
            <a:pPr indent="0" marL="0">
              <a:buNone/>
            </a:pPr>
            <a:r>
              <a:rPr lang="en-US" sz="1350" dirty="0">
                <a:solidFill>
                  <a:srgbClr val="B4235A"/>
                </a:solidFill>
                <a:latin typeface="Consolas" pitchFamily="34" charset="0"/>
                <a:ea typeface="Consolas" pitchFamily="34" charset="-122"/>
                <a:cs typeface="Consolas" pitchFamily="34" charset="-120"/>
              </a:rPr>
              <a:t>LinkedList</a:t>
            </a:r>
            <a:pPr indent="0" marL="0">
              <a:buNone/>
            </a:pPr>
            <a:r>
              <a:rPr lang="en-US" sz="1350" dirty="0">
                <a:solidFill>
                  <a:srgbClr val="5B6B60"/>
                </a:solidFill>
                <a:latin typeface="Calibri" pitchFamily="34" charset="0"/>
                <a:ea typeface="Calibri" pitchFamily="34" charset="-122"/>
                <a:cs typeface="Calibri" pitchFamily="34" charset="-120"/>
              </a:rPr>
              <a:t> is a doubly-linked list. In practice </a:t>
            </a:r>
            <a:pPr indent="0" marL="0">
              <a:buNone/>
            </a:pPr>
            <a:r>
              <a:rPr lang="en-US" sz="1350" b="1" dirty="0">
                <a:solidFill>
                  <a:srgbClr val="5B6B60"/>
                </a:solidFill>
                <a:latin typeface="Calibri" pitchFamily="34" charset="0"/>
                <a:ea typeface="Calibri" pitchFamily="34" charset="-122"/>
                <a:cs typeface="Calibri" pitchFamily="34" charset="-120"/>
              </a:rPr>
              <a:t>ArrayList wins almost always</a:t>
            </a:r>
            <a:pPr indent="0" marL="0">
              <a:buNone/>
            </a:pPr>
            <a:r>
              <a:rPr lang="en-US" sz="1350" dirty="0">
                <a:solidFill>
                  <a:srgbClr val="5B6B60"/>
                </a:solidFill>
                <a:latin typeface="Calibri" pitchFamily="34" charset="0"/>
                <a:ea typeface="Calibri" pitchFamily="34" charset="-122"/>
                <a:cs typeface="Calibri" pitchFamily="34" charset="-120"/>
              </a:rPr>
              <a:t>.</a:t>
            </a:r>
            <a:endParaRPr lang="en-US" sz="1350" dirty="0"/>
          </a:p>
        </p:txBody>
      </p:sp>
      <p:sp>
        <p:nvSpPr>
          <p:cNvPr id="7" name="Text 5"/>
          <p:cNvSpPr/>
          <p:nvPr/>
        </p:nvSpPr>
        <p:spPr>
          <a:xfrm>
            <a:off x="457200" y="1883664"/>
            <a:ext cx="11277295" cy="2734056"/>
          </a:xfrm>
          <a:prstGeom prst="rect">
            <a:avLst/>
          </a:prstGeom>
          <a:solidFill>
            <a:srgbClr val="F7F9F8"/>
          </a:solidFill>
          <a:ln w="9525">
            <a:solidFill>
              <a:srgbClr val="D5DDD7"/>
            </a:solidFill>
          </a:ln>
        </p:spPr>
        <p:txBody>
          <a:bodyPr wrap="square" lIns="1524" tIns="1524" rIns="1524" bIns="1524" rtlCol="0" anchor="t"/>
          <a:lstStyle/>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ArrayList: Backed by </a:t>
            </a:r>
            <a:endParaRPr lang="en-US" sz="1300" dirty="0"/>
          </a:p>
          <a:p>
            <a:pPr marL="177800" indent="-177800">
              <a:spcAft>
                <a:spcPts val="400"/>
              </a:spcAft>
              <a:buSzPct val="100000"/>
              <a:buChar char="•"/>
            </a:pPr>
            <a:r>
              <a:rPr lang="en-US" sz="1300" dirty="0">
                <a:solidFill>
                  <a:srgbClr val="B4235A"/>
                </a:solidFill>
                <a:latin typeface="Consolas" pitchFamily="34" charset="0"/>
                <a:ea typeface="Consolas" pitchFamily="34" charset="-122"/>
                <a:cs typeface="Consolas" pitchFamily="34" charset="-120"/>
              </a:rPr>
              <a:t>Object[]</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default capacity 10; Grows by ~50% and copies when full; Use </a:t>
            </a:r>
            <a:endParaRPr lang="en-US" sz="1300" dirty="0"/>
          </a:p>
          <a:p>
            <a:pPr marL="177800" indent="-177800">
              <a:spcAft>
                <a:spcPts val="400"/>
              </a:spcAft>
              <a:buSzPct val="100000"/>
              <a:buChar char="•"/>
            </a:pPr>
            <a:r>
              <a:rPr lang="en-US" sz="1300" dirty="0">
                <a:solidFill>
                  <a:srgbClr val="B4235A"/>
                </a:solidFill>
                <a:latin typeface="Consolas" pitchFamily="34" charset="0"/>
                <a:ea typeface="Consolas" pitchFamily="34" charset="-122"/>
                <a:cs typeface="Consolas" pitchFamily="34" charset="-120"/>
              </a:rPr>
              <a:t>new ArrayList&lt;&gt;(expectedSize)</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if size is known</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LinkedList: Implements both </a:t>
            </a:r>
            <a:endParaRPr lang="en-US" sz="1300" dirty="0"/>
          </a:p>
          <a:p>
            <a:pPr marL="177800" indent="-177800">
              <a:spcAft>
                <a:spcPts val="400"/>
              </a:spcAft>
              <a:buSzPct val="100000"/>
              <a:buChar char="•"/>
            </a:pPr>
            <a:r>
              <a:rPr lang="en-US" sz="1300" dirty="0">
                <a:solidFill>
                  <a:srgbClr val="B4235A"/>
                </a:solidFill>
                <a:latin typeface="Consolas" pitchFamily="34" charset="0"/>
                <a:ea typeface="Consolas" pitchFamily="34" charset="-122"/>
                <a:cs typeface="Consolas" pitchFamily="34" charset="-120"/>
              </a:rPr>
              <a:t>List</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and </a:t>
            </a:r>
            <a:endParaRPr lang="en-US" sz="1300" dirty="0"/>
          </a:p>
          <a:p>
            <a:pPr marL="177800" indent="-177800">
              <a:spcAft>
                <a:spcPts val="400"/>
              </a:spcAft>
              <a:buSzPct val="100000"/>
              <a:buChar char="•"/>
            </a:pPr>
            <a:r>
              <a:rPr lang="en-US" sz="1300" dirty="0">
                <a:solidFill>
                  <a:srgbClr val="B4235A"/>
                </a:solidFill>
                <a:latin typeface="Consolas" pitchFamily="34" charset="0"/>
                <a:ea typeface="Consolas" pitchFamily="34" charset="-122"/>
                <a:cs typeface="Consolas" pitchFamily="34" charset="-120"/>
              </a:rPr>
              <a:t>Deque</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Fast at the ends only if you already hold the node; For queues prefer </a:t>
            </a:r>
            <a:endParaRPr lang="en-US" sz="1300" dirty="0"/>
          </a:p>
          <a:p>
            <a:pPr marL="177800" indent="-177800">
              <a:spcAft>
                <a:spcPts val="400"/>
              </a:spcAft>
              <a:buSzPct val="100000"/>
              <a:buChar char="•"/>
            </a:pPr>
            <a:r>
              <a:rPr lang="en-US" sz="1300" dirty="0">
                <a:solidFill>
                  <a:srgbClr val="B4235A"/>
                </a:solidFill>
                <a:latin typeface="Consolas" pitchFamily="34" charset="0"/>
                <a:ea typeface="Consolas" pitchFamily="34" charset="-122"/>
                <a:cs typeface="Consolas" pitchFamily="34" charset="-120"/>
              </a:rPr>
              <a:t>ArrayDeque</a:t>
            </a:r>
            <a:endParaRPr lang="en-US" sz="13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457200" y="4663440"/>
          <a:ext cx="11277295" cy="914400"/>
        </p:xfrm>
        <a:graphic>
          <a:graphicData uri="http://schemas.openxmlformats.org/drawingml/2006/table">
            <a:tbl>
              <a:tblPr/>
              <a:tblGrid>
                <a:gridCol w="3759098"/>
                <a:gridCol w="3759098"/>
                <a:gridCol w="3759098"/>
              </a:tblGrid>
              <a:tr h="27432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Operation</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ArrayList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LinkedList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get(i) / set(i)</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O(1) — direct index</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O(n) — walk the nodes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add(e) at end</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amortised O(1) (grows ~1.5×)</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O(1)</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insert/remove in the middle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O(n) — shift elements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O(n) to find + O(1) to relink</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Memory per element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compact array slot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node + 2 pointers (much more)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CPU cache friendliness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 contiguous memory</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 scattered nodes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C9C43D"/>
          </a:solidFill>
          <a:ln w="12700">
            <a:solidFill>
              <a:srgbClr val="C9C43D"/>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4</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Working with Lists (and two classic traps)</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Core List operations, safe removal while iterating, and immutable lists.</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ListDemo.java</a:t>
            </a:r>
            <a:endParaRPr lang="en-US" sz="900" dirty="0"/>
          </a:p>
        </p:txBody>
      </p:sp>
      <p:sp>
        <p:nvSpPr>
          <p:cNvPr id="8" name="Text 6"/>
          <p:cNvSpPr/>
          <p:nvPr/>
        </p:nvSpPr>
        <p:spPr>
          <a:xfrm>
            <a:off x="457200" y="2157984"/>
            <a:ext cx="11277295" cy="419709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import java.util.*;</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public class ListDemo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public static void main(String[] args)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List&lt;String&gt; cart = new ArrayList&lt;&gt;();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cart.add("milk"); cart.add("bread"); cart.add("eggs"); cart.add("bread");</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cart.add(1, "butter");                              // insert at index 1</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System.out.println(cart + " size=" + cart.size());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System.out.println("get(2)=" + cart.get(2) + " indexOf(bread)=" + cart.indexOf("bread")</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 contains(jam)=" + cart.contains("jam"));</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cart.set(0, "oat milk");                            // replace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cart.remove("bread");                               // removes FIRST occurrence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cart.removeIf(item -&gt; item.startsWith("e"));        // lambda (Session 3)</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System.out.println(cart);</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Collections.sort(cart);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System.out.println("sorted: " + cart);</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Trap 1: removing inside for-each -&gt; use Iterator.remove() (or removeIf)</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for (Iterator&lt;String&gt; it = cart.iterator(); it.hasNext(); )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full listing in the web notes</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C9C43D"/>
          </a:solidFill>
          <a:ln w="12700">
            <a:solidFill>
              <a:srgbClr val="C9C43D"/>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4</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Sets &amp; Maps in practice</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Sets remove duplicates; Maps associate keys with values. The implementation decides </a:t>
            </a:r>
            <a:pPr indent="0" marL="0">
              <a:buNone/>
            </a:pPr>
            <a:r>
              <a:rPr lang="en-US" sz="1350" b="1" dirty="0">
                <a:solidFill>
                  <a:srgbClr val="5B6B60"/>
                </a:solidFill>
                <a:latin typeface="Calibri" pitchFamily="34" charset="0"/>
                <a:ea typeface="Calibri" pitchFamily="34" charset="-122"/>
                <a:cs typeface="Calibri" pitchFamily="34" charset="-120"/>
              </a:rPr>
              <a:t>ordering</a:t>
            </a:r>
            <a:pPr indent="0" marL="0">
              <a:buNone/>
            </a:pPr>
            <a:r>
              <a:rPr lang="en-US" sz="1350" dirty="0">
                <a:solidFill>
                  <a:srgbClr val="5B6B60"/>
                </a:solidFill>
                <a:latin typeface="Calibri" pitchFamily="34" charset="0"/>
                <a:ea typeface="Calibri" pitchFamily="34" charset="-122"/>
                <a:cs typeface="Calibri" pitchFamily="34" charset="-120"/>
              </a:rPr>
              <a:t> and </a:t>
            </a:r>
            <a:pPr indent="0" marL="0">
              <a:buNone/>
            </a:pPr>
            <a:r>
              <a:rPr lang="en-US" sz="1350" b="1" dirty="0">
                <a:solidFill>
                  <a:srgbClr val="5B6B60"/>
                </a:solidFill>
                <a:latin typeface="Calibri" pitchFamily="34" charset="0"/>
                <a:ea typeface="Calibri" pitchFamily="34" charset="-122"/>
                <a:cs typeface="Calibri" pitchFamily="34" charset="-120"/>
              </a:rPr>
              <a:t>performance</a:t>
            </a:r>
            <a:pPr indent="0" marL="0">
              <a:buNone/>
            </a:pPr>
            <a:r>
              <a:rPr lang="en-US" sz="1350" dirty="0">
                <a:solidFill>
                  <a:srgbClr val="5B6B60"/>
                </a:solidFill>
                <a:latin typeface="Calibri" pitchFamily="34" charset="0"/>
                <a:ea typeface="Calibri" pitchFamily="34" charset="-122"/>
                <a:cs typeface="Calibri" pitchFamily="34" charset="-120"/>
              </a:rPr>
              <a:t>.</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SetMapDemo.java  (+1 more in the web notes)</a:t>
            </a:r>
            <a:endParaRPr lang="en-US" sz="900" dirty="0"/>
          </a:p>
        </p:txBody>
      </p:sp>
      <p:sp>
        <p:nvSpPr>
          <p:cNvPr id="8" name="Text 6"/>
          <p:cNvSpPr/>
          <p:nvPr/>
        </p:nvSpPr>
        <p:spPr>
          <a:xfrm>
            <a:off x="457200" y="2157984"/>
            <a:ext cx="11277295" cy="245973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import java.util.*;</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public class SetMapDemo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public static void main(String[] args)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List&lt;String&gt; visits = List.of("goa", "delhi", "goa", "agra", "delhi", "goa");</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System.out.println(new HashSet&lt;&gt;(visits));        // unique, order not guaranteed</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System.out.println(new LinkedHashSet&lt;&gt;(visits));  // unique, insertion order</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System.out.println(new TreeSet&lt;&gt;(visits));        // unique, sorted</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Map&lt;String, Integer&gt; freq = new TreeMap&lt;&gt;();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for (String city : visits) freq.merge(city, 1, Integer::sum);   // count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full listing in the web notes</a:t>
            </a:r>
            <a:endParaRPr lang="en-US" sz="11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7200" y="4663440"/>
          <a:ext cx="11277295" cy="914400"/>
        </p:xfrm>
        <a:graphic>
          <a:graphicData uri="http://schemas.openxmlformats.org/drawingml/2006/table">
            <a:tbl>
              <a:tblPr/>
              <a:tblGrid>
                <a:gridCol w="2819324"/>
                <a:gridCol w="2819324"/>
                <a:gridCol w="2819324"/>
                <a:gridCol w="2819324"/>
              </a:tblGrid>
              <a:tr h="384048">
                <a:tc>
                  <a:txBody>
                    <a:bodyPr/>
                    <a:lstStyle/>
                    <a:p>
                      <a:pPr indent="0" marL="0">
                        <a:buNone/>
                      </a:pP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Hash</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LinkedHash</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Tree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r>
              <a:tr h="384048">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Ordering</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none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insertion (or access)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sorted (natural / Comparator)</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384048">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get / put / contains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O(1) average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O(1) average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O(log n)</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384048">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Extra powers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fastest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LRU caches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floor, ceiling, headMap, ranges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C9C43D"/>
          </a:solidFill>
          <a:ln w="12700">
            <a:solidFill>
              <a:srgbClr val="C9C43D"/>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4</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Queues, Deques &amp; Priority Queues</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A </a:t>
            </a:r>
            <a:pPr indent="0" marL="0">
              <a:buNone/>
            </a:pPr>
            <a:r>
              <a:rPr lang="en-US" sz="1350" b="1" dirty="0">
                <a:solidFill>
                  <a:srgbClr val="5B6B60"/>
                </a:solidFill>
                <a:latin typeface="Calibri" pitchFamily="34" charset="0"/>
                <a:ea typeface="Calibri" pitchFamily="34" charset="-122"/>
                <a:cs typeface="Calibri" pitchFamily="34" charset="-120"/>
              </a:rPr>
              <a:t>Queue</a:t>
            </a:r>
            <a:pPr indent="0" marL="0">
              <a:buNone/>
            </a:pPr>
            <a:r>
              <a:rPr lang="en-US" sz="1350" dirty="0">
                <a:solidFill>
                  <a:srgbClr val="5B6B60"/>
                </a:solidFill>
                <a:latin typeface="Calibri" pitchFamily="34" charset="0"/>
                <a:ea typeface="Calibri" pitchFamily="34" charset="-122"/>
                <a:cs typeface="Calibri" pitchFamily="34" charset="-120"/>
              </a:rPr>
              <a:t> holds elements for processing — usually FIFO. A </a:t>
            </a:r>
            <a:pPr indent="0" marL="0">
              <a:buNone/>
            </a:pPr>
            <a:r>
              <a:rPr lang="en-US" sz="1350" b="1" dirty="0">
                <a:solidFill>
                  <a:srgbClr val="5B6B60"/>
                </a:solidFill>
                <a:latin typeface="Calibri" pitchFamily="34" charset="0"/>
                <a:ea typeface="Calibri" pitchFamily="34" charset="-122"/>
                <a:cs typeface="Calibri" pitchFamily="34" charset="-120"/>
              </a:rPr>
              <a:t>Deque</a:t>
            </a:r>
            <a:pPr indent="0" marL="0">
              <a:buNone/>
            </a:pPr>
            <a:r>
              <a:rPr lang="en-US" sz="1350" dirty="0">
                <a:solidFill>
                  <a:srgbClr val="5B6B60"/>
                </a:solidFill>
                <a:latin typeface="Calibri" pitchFamily="34" charset="0"/>
                <a:ea typeface="Calibri" pitchFamily="34" charset="-122"/>
                <a:cs typeface="Calibri" pitchFamily="34" charset="-120"/>
              </a:rPr>
              <a:t> works at both ends (queue </a:t>
            </a:r>
            <a:pPr indent="0" marL="0">
              <a:buNone/>
            </a:pPr>
            <a:r>
              <a:rPr lang="en-US" sz="1350" i="1" dirty="0">
                <a:solidFill>
                  <a:srgbClr val="5B6B60"/>
                </a:solidFill>
                <a:latin typeface="Calibri" pitchFamily="34" charset="0"/>
                <a:ea typeface="Calibri" pitchFamily="34" charset="-122"/>
                <a:cs typeface="Calibri" pitchFamily="34" charset="-120"/>
              </a:rPr>
              <a:t>and</a:t>
            </a:r>
            <a:pPr indent="0" marL="0">
              <a:buNone/>
            </a:pPr>
            <a:r>
              <a:rPr lang="en-US" sz="1350" dirty="0">
                <a:solidFill>
                  <a:srgbClr val="5B6B60"/>
                </a:solidFill>
                <a:latin typeface="Calibri" pitchFamily="34" charset="0"/>
                <a:ea typeface="Calibri" pitchFamily="34" charset="-122"/>
                <a:cs typeface="Calibri" pitchFamily="34" charset="-120"/>
              </a:rPr>
              <a:t> stack). A </a:t>
            </a:r>
            <a:pPr indent="0" marL="0">
              <a:buNone/>
            </a:pPr>
            <a:r>
              <a:rPr lang="en-US" sz="1350" b="1" dirty="0">
                <a:solidFill>
                  <a:srgbClr val="5B6B60"/>
                </a:solidFill>
                <a:latin typeface="Calibri" pitchFamily="34" charset="0"/>
                <a:ea typeface="Calibri" pitchFamily="34" charset="-122"/>
                <a:cs typeface="Calibri" pitchFamily="34" charset="-120"/>
              </a:rPr>
              <a:t>PriorityQueue</a:t>
            </a:r>
            <a:pPr indent="0" marL="0">
              <a:buNone/>
            </a:pPr>
            <a:r>
              <a:rPr lang="en-US" sz="1350" dirty="0">
                <a:solidFill>
                  <a:srgbClr val="5B6B60"/>
                </a:solidFill>
                <a:latin typeface="Calibri" pitchFamily="34" charset="0"/>
                <a:ea typeface="Calibri" pitchFamily="34" charset="-122"/>
                <a:cs typeface="Calibri" pitchFamily="34" charset="-120"/>
              </a:rPr>
              <a:t> always serves the smallest (or highest-priority) element next.</a:t>
            </a:r>
            <a:endParaRPr lang="en-US" sz="1350" dirty="0"/>
          </a:p>
        </p:txBody>
      </p:sp>
      <p:sp>
        <p:nvSpPr>
          <p:cNvPr id="7" name="Text 5"/>
          <p:cNvSpPr/>
          <p:nvPr/>
        </p:nvSpPr>
        <p:spPr>
          <a:xfrm>
            <a:off x="457200" y="1883664"/>
            <a:ext cx="5120640" cy="2734056"/>
          </a:xfrm>
          <a:prstGeom prst="rect">
            <a:avLst/>
          </a:prstGeom>
          <a:noFill/>
          <a:ln/>
        </p:spPr>
        <p:txBody>
          <a:bodyPr wrap="square" rtlCol="0" anchor="t"/>
          <a:lstStyle/>
          <a:p>
            <a:pPr marL="177800" indent="-177800">
              <a:spcAft>
                <a:spcPts val="400"/>
              </a:spcAft>
              <a:buSzPct val="100000"/>
              <a:buChar char="•"/>
            </a:pPr>
            <a:r>
              <a:rPr lang="en-US" sz="1600" dirty="0">
                <a:solidFill>
                  <a:srgbClr val="B4235A"/>
                </a:solidFill>
                <a:latin typeface="Consolas" pitchFamily="34" charset="0"/>
                <a:ea typeface="Consolas" pitchFamily="34" charset="-122"/>
                <a:cs typeface="Consolas" pitchFamily="34" charset="-120"/>
              </a:rPr>
              <a:t>ArrayDeque</a:t>
            </a:r>
            <a:endParaRPr lang="en-US" sz="1600" dirty="0"/>
          </a:p>
          <a:p>
            <a:pPr marL="177800" indent="-177800">
              <a:spcAft>
                <a:spcPts val="400"/>
              </a:spcAft>
              <a:buSzPct val="100000"/>
              <a:buChar char="•"/>
            </a:pPr>
            <a:r>
              <a:rPr lang="en-US" sz="1600" dirty="0">
                <a:solidFill>
                  <a:srgbClr val="1F2A24"/>
                </a:solidFill>
                <a:latin typeface="Calibri" pitchFamily="34" charset="0"/>
                <a:ea typeface="Calibri" pitchFamily="34" charset="-122"/>
                <a:cs typeface="Calibri" pitchFamily="34" charset="-120"/>
              </a:rPr>
              <a:t> is the go-to </a:t>
            </a:r>
            <a:endParaRPr lang="en-US" sz="1600" dirty="0"/>
          </a:p>
          <a:p>
            <a:pPr marL="177800" indent="-177800">
              <a:spcAft>
                <a:spcPts val="400"/>
              </a:spcAft>
              <a:buSzPct val="100000"/>
              <a:buChar char="•"/>
            </a:pPr>
            <a:r>
              <a:rPr lang="en-US" sz="1600" b="1" dirty="0">
                <a:solidFill>
                  <a:srgbClr val="1F2A24"/>
                </a:solidFill>
                <a:latin typeface="Calibri" pitchFamily="34" charset="0"/>
                <a:ea typeface="Calibri" pitchFamily="34" charset="-122"/>
                <a:cs typeface="Calibri" pitchFamily="34" charset="-120"/>
              </a:rPr>
              <a:t>queue and stack</a:t>
            </a:r>
            <a:endParaRPr lang="en-US" sz="1600" dirty="0"/>
          </a:p>
          <a:p>
            <a:pPr marL="177800" indent="-177800">
              <a:spcAft>
                <a:spcPts val="400"/>
              </a:spcAft>
              <a:buSzPct val="100000"/>
              <a:buChar char="•"/>
            </a:pPr>
            <a:r>
              <a:rPr lang="en-US" sz="1600" dirty="0">
                <a:solidFill>
                  <a:srgbClr val="1F2A24"/>
                </a:solidFill>
                <a:latin typeface="Calibri" pitchFamily="34" charset="0"/>
                <a:ea typeface="Calibri" pitchFamily="34" charset="-122"/>
                <a:cs typeface="Calibri" pitchFamily="34" charset="-120"/>
              </a:rPr>
              <a:t> (faster than </a:t>
            </a:r>
            <a:endParaRPr lang="en-US" sz="1600" dirty="0"/>
          </a:p>
          <a:p>
            <a:pPr marL="177800" indent="-177800">
              <a:spcAft>
                <a:spcPts val="400"/>
              </a:spcAft>
              <a:buSzPct val="100000"/>
              <a:buChar char="•"/>
            </a:pPr>
            <a:r>
              <a:rPr lang="en-US" sz="1600" dirty="0">
                <a:solidFill>
                  <a:srgbClr val="B4235A"/>
                </a:solidFill>
                <a:latin typeface="Consolas" pitchFamily="34" charset="0"/>
                <a:ea typeface="Consolas" pitchFamily="34" charset="-122"/>
                <a:cs typeface="Consolas" pitchFamily="34" charset="-120"/>
              </a:rPr>
              <a:t>LinkedList</a:t>
            </a:r>
            <a:endParaRPr lang="en-US" sz="1600" dirty="0"/>
          </a:p>
          <a:p>
            <a:pPr marL="177800" indent="-177800">
              <a:spcAft>
                <a:spcPts val="400"/>
              </a:spcAft>
              <a:buSzPct val="100000"/>
              <a:buChar char="•"/>
            </a:pPr>
            <a:r>
              <a:rPr lang="en-US" sz="1600" dirty="0">
                <a:solidFill>
                  <a:srgbClr val="1F2A24"/>
                </a:solidFill>
                <a:latin typeface="Calibri" pitchFamily="34" charset="0"/>
                <a:ea typeface="Calibri" pitchFamily="34" charset="-122"/>
                <a:cs typeface="Calibri" pitchFamily="34" charset="-120"/>
              </a:rPr>
              <a:t>; replaces legacy </a:t>
            </a:r>
            <a:endParaRPr lang="en-US" sz="1600" dirty="0"/>
          </a:p>
          <a:p>
            <a:pPr marL="177800" indent="-177800">
              <a:spcAft>
                <a:spcPts val="400"/>
              </a:spcAft>
              <a:buSzPct val="100000"/>
              <a:buChar char="•"/>
            </a:pPr>
            <a:r>
              <a:rPr lang="en-US" sz="1600" dirty="0">
                <a:solidFill>
                  <a:srgbClr val="B4235A"/>
                </a:solidFill>
                <a:latin typeface="Consolas" pitchFamily="34" charset="0"/>
                <a:ea typeface="Consolas" pitchFamily="34" charset="-122"/>
                <a:cs typeface="Consolas" pitchFamily="34" charset="-120"/>
              </a:rPr>
              <a:t>Stack</a:t>
            </a:r>
            <a:endParaRPr lang="en-US" sz="1600" dirty="0"/>
          </a:p>
          <a:p>
            <a:pPr marL="177800" indent="-177800">
              <a:spcAft>
                <a:spcPts val="400"/>
              </a:spcAft>
              <a:buSzPct val="100000"/>
              <a:buChar char="•"/>
            </a:pPr>
            <a:r>
              <a:rPr lang="en-US" sz="1600" dirty="0">
                <a:solidFill>
                  <a:srgbClr val="1F2A24"/>
                </a:solidFill>
                <a:latin typeface="Calibri" pitchFamily="34" charset="0"/>
                <a:ea typeface="Calibri" pitchFamily="34" charset="-122"/>
                <a:cs typeface="Calibri" pitchFamily="34" charset="-120"/>
              </a:rPr>
              <a:t>).</a:t>
            </a:r>
            <a:endParaRPr lang="en-US" sz="1600" dirty="0"/>
          </a:p>
          <a:p>
            <a:pPr marL="177800" indent="-177800">
              <a:spcAft>
                <a:spcPts val="400"/>
              </a:spcAft>
              <a:buSzPct val="100000"/>
              <a:buChar char="•"/>
            </a:pPr>
            <a:r>
              <a:rPr lang="en-US" sz="1600" dirty="0">
                <a:solidFill>
                  <a:srgbClr val="B4235A"/>
                </a:solidFill>
                <a:latin typeface="Consolas" pitchFamily="34" charset="0"/>
                <a:ea typeface="Consolas" pitchFamily="34" charset="-122"/>
                <a:cs typeface="Consolas" pitchFamily="34" charset="-120"/>
              </a:rPr>
              <a:t>PriorityQueue</a:t>
            </a:r>
            <a:endParaRPr lang="en-US" sz="1600" dirty="0"/>
          </a:p>
          <a:p>
            <a:pPr marL="177800" indent="-177800">
              <a:spcAft>
                <a:spcPts val="400"/>
              </a:spcAft>
              <a:buSzPct val="100000"/>
              <a:buChar char="•"/>
            </a:pPr>
            <a:r>
              <a:rPr lang="en-US" sz="1600" dirty="0">
                <a:solidFill>
                  <a:srgbClr val="1F2A24"/>
                </a:solidFill>
                <a:latin typeface="Calibri" pitchFamily="34" charset="0"/>
                <a:ea typeface="Calibri" pitchFamily="34" charset="-122"/>
                <a:cs typeface="Calibri" pitchFamily="34" charset="-120"/>
              </a:rPr>
              <a:t> is a binary </a:t>
            </a:r>
            <a:endParaRPr lang="en-US" sz="1600" dirty="0"/>
          </a:p>
          <a:p>
            <a:pPr marL="177800" indent="-177800">
              <a:spcAft>
                <a:spcPts val="400"/>
              </a:spcAft>
              <a:buSzPct val="100000"/>
              <a:buChar char="•"/>
            </a:pPr>
            <a:r>
              <a:rPr lang="en-US" sz="1600" b="1" dirty="0">
                <a:solidFill>
                  <a:srgbClr val="1F2A24"/>
                </a:solidFill>
                <a:latin typeface="Calibri" pitchFamily="34" charset="0"/>
                <a:ea typeface="Calibri" pitchFamily="34" charset="-122"/>
                <a:cs typeface="Calibri" pitchFamily="34" charset="-120"/>
              </a:rPr>
              <a:t>heap</a:t>
            </a:r>
            <a:endParaRPr lang="en-US" sz="1600" dirty="0"/>
          </a:p>
          <a:p>
            <a:pPr marL="177800" indent="-177800">
              <a:spcAft>
                <a:spcPts val="400"/>
              </a:spcAft>
              <a:buSzPct val="100000"/>
              <a:buChar char="•"/>
            </a:pPr>
            <a:r>
              <a:rPr lang="en-US" sz="1600" dirty="0">
                <a:solidFill>
                  <a:srgbClr val="1F2A24"/>
                </a:solidFill>
                <a:latin typeface="Calibri" pitchFamily="34" charset="0"/>
                <a:ea typeface="Calibri" pitchFamily="34" charset="-122"/>
                <a:cs typeface="Calibri" pitchFamily="34" charset="-120"/>
              </a:rPr>
              <a:t>: </a:t>
            </a:r>
            <a:endParaRPr lang="en-US" sz="1600" dirty="0"/>
          </a:p>
          <a:p>
            <a:pPr marL="177800" indent="-177800">
              <a:spcAft>
                <a:spcPts val="400"/>
              </a:spcAft>
              <a:buSzPct val="100000"/>
              <a:buChar char="•"/>
            </a:pPr>
            <a:r>
              <a:rPr lang="en-US" sz="1600" dirty="0">
                <a:solidFill>
                  <a:srgbClr val="B4235A"/>
                </a:solidFill>
                <a:latin typeface="Consolas" pitchFamily="34" charset="0"/>
                <a:ea typeface="Consolas" pitchFamily="34" charset="-122"/>
                <a:cs typeface="Consolas" pitchFamily="34" charset="-120"/>
              </a:rPr>
              <a:t>offer</a:t>
            </a:r>
            <a:endParaRPr lang="en-US" sz="1600" dirty="0"/>
          </a:p>
          <a:p>
            <a:pPr marL="177800" indent="-177800">
              <a:spcAft>
                <a:spcPts val="400"/>
              </a:spcAft>
              <a:buSzPct val="100000"/>
              <a:buChar char="•"/>
            </a:pPr>
            <a:r>
              <a:rPr lang="en-US" sz="1600" dirty="0">
                <a:solidFill>
                  <a:srgbClr val="1F2A24"/>
                </a:solidFill>
                <a:latin typeface="Calibri" pitchFamily="34" charset="0"/>
                <a:ea typeface="Calibri" pitchFamily="34" charset="-122"/>
                <a:cs typeface="Calibri" pitchFamily="34" charset="-120"/>
              </a:rPr>
              <a:t>/</a:t>
            </a:r>
            <a:endParaRPr lang="en-US" sz="1600" dirty="0"/>
          </a:p>
          <a:p>
            <a:pPr marL="177800" indent="-177800">
              <a:spcAft>
                <a:spcPts val="400"/>
              </a:spcAft>
              <a:buSzPct val="100000"/>
              <a:buChar char="•"/>
            </a:pPr>
            <a:r>
              <a:rPr lang="en-US" sz="1600" dirty="0">
                <a:solidFill>
                  <a:srgbClr val="B4235A"/>
                </a:solidFill>
                <a:latin typeface="Consolas" pitchFamily="34" charset="0"/>
                <a:ea typeface="Consolas" pitchFamily="34" charset="-122"/>
                <a:cs typeface="Consolas" pitchFamily="34" charset="-120"/>
              </a:rPr>
              <a:t>poll</a:t>
            </a:r>
            <a:endParaRPr lang="en-US" sz="1600" dirty="0"/>
          </a:p>
          <a:p>
            <a:pPr marL="177800" indent="-177800">
              <a:spcAft>
                <a:spcPts val="400"/>
              </a:spcAft>
              <a:buSzPct val="100000"/>
              <a:buChar char="•"/>
            </a:pPr>
            <a:r>
              <a:rPr lang="en-US" sz="1600" dirty="0">
                <a:solidFill>
                  <a:srgbClr val="1F2A24"/>
                </a:solidFill>
                <a:latin typeface="Calibri" pitchFamily="34" charset="0"/>
                <a:ea typeface="Calibri" pitchFamily="34" charset="-122"/>
                <a:cs typeface="Calibri" pitchFamily="34" charset="-120"/>
              </a:rPr>
              <a:t> O(log n), </a:t>
            </a:r>
            <a:endParaRPr lang="en-US" sz="1600" dirty="0"/>
          </a:p>
          <a:p>
            <a:pPr marL="177800" indent="-177800">
              <a:spcAft>
                <a:spcPts val="400"/>
              </a:spcAft>
              <a:buSzPct val="100000"/>
              <a:buChar char="•"/>
            </a:pPr>
            <a:r>
              <a:rPr lang="en-US" sz="1600" dirty="0">
                <a:solidFill>
                  <a:srgbClr val="B4235A"/>
                </a:solidFill>
                <a:latin typeface="Consolas" pitchFamily="34" charset="0"/>
                <a:ea typeface="Consolas" pitchFamily="34" charset="-122"/>
                <a:cs typeface="Consolas" pitchFamily="34" charset="-120"/>
              </a:rPr>
              <a:t>peek</a:t>
            </a:r>
            <a:endParaRPr lang="en-US" sz="1600" dirty="0"/>
          </a:p>
          <a:p>
            <a:pPr marL="177800" indent="-177800">
              <a:spcAft>
                <a:spcPts val="400"/>
              </a:spcAft>
              <a:buSzPct val="100000"/>
              <a:buChar char="•"/>
            </a:pPr>
            <a:r>
              <a:rPr lang="en-US" sz="1600" dirty="0">
                <a:solidFill>
                  <a:srgbClr val="1F2A24"/>
                </a:solidFill>
                <a:latin typeface="Calibri" pitchFamily="34" charset="0"/>
                <a:ea typeface="Calibri" pitchFamily="34" charset="-122"/>
                <a:cs typeface="Calibri" pitchFamily="34" charset="-120"/>
              </a:rPr>
              <a:t> O(1); iteration order is </a:t>
            </a:r>
            <a:endParaRPr lang="en-US" sz="1600" dirty="0"/>
          </a:p>
          <a:p>
            <a:pPr marL="177800" indent="-177800">
              <a:spcAft>
                <a:spcPts val="400"/>
              </a:spcAft>
              <a:buSzPct val="100000"/>
              <a:buChar char="•"/>
            </a:pPr>
            <a:r>
              <a:rPr lang="en-US" sz="1600" i="1" dirty="0">
                <a:solidFill>
                  <a:srgbClr val="1F2A24"/>
                </a:solidFill>
                <a:latin typeface="Calibri" pitchFamily="34" charset="0"/>
                <a:ea typeface="Calibri" pitchFamily="34" charset="-122"/>
                <a:cs typeface="Calibri" pitchFamily="34" charset="-120"/>
              </a:rPr>
              <a:t>not</a:t>
            </a:r>
            <a:endParaRPr lang="en-US" sz="1600" dirty="0"/>
          </a:p>
          <a:p>
            <a:pPr marL="177800" indent="-177800">
              <a:spcAft>
                <a:spcPts val="400"/>
              </a:spcAft>
              <a:buSzPct val="100000"/>
              <a:buChar char="•"/>
            </a:pPr>
            <a:r>
              <a:rPr lang="en-US" sz="1600" dirty="0">
                <a:solidFill>
                  <a:srgbClr val="1F2A24"/>
                </a:solidFill>
                <a:latin typeface="Calibri" pitchFamily="34" charset="0"/>
                <a:ea typeface="Calibri" pitchFamily="34" charset="-122"/>
                <a:cs typeface="Calibri" pitchFamily="34" charset="-120"/>
              </a:rPr>
              <a:t> sorted.</a:t>
            </a:r>
            <a:endParaRPr lang="en-US" sz="1600" dirty="0"/>
          </a:p>
          <a:p>
            <a:pPr marL="177800" indent="-177800">
              <a:spcAft>
                <a:spcPts val="400"/>
              </a:spcAft>
              <a:buSzPct val="100000"/>
              <a:buChar char="•"/>
            </a:pPr>
            <a:r>
              <a:rPr lang="en-US" sz="1600" dirty="0">
                <a:solidFill>
                  <a:srgbClr val="B4235A"/>
                </a:solidFill>
                <a:latin typeface="Consolas" pitchFamily="34" charset="0"/>
                <a:ea typeface="Consolas" pitchFamily="34" charset="-122"/>
                <a:cs typeface="Consolas" pitchFamily="34" charset="-120"/>
              </a:rPr>
              <a:t>BlockingQueue</a:t>
            </a:r>
            <a:endParaRPr lang="en-US" sz="1600" dirty="0"/>
          </a:p>
          <a:p>
            <a:pPr marL="177800" indent="-177800">
              <a:spcAft>
                <a:spcPts val="400"/>
              </a:spcAft>
              <a:buSzPct val="100000"/>
              <a:buChar char="•"/>
            </a:pPr>
            <a:r>
              <a:rPr lang="en-US" sz="1600" dirty="0">
                <a:solidFill>
                  <a:srgbClr val="1F2A24"/>
                </a:solidFill>
                <a:latin typeface="Calibri" pitchFamily="34" charset="0"/>
                <a:ea typeface="Calibri" pitchFamily="34" charset="-122"/>
                <a:cs typeface="Calibri" pitchFamily="34" charset="-120"/>
              </a:rPr>
              <a:t> (</a:t>
            </a:r>
            <a:endParaRPr lang="en-US" sz="1600" dirty="0"/>
          </a:p>
          <a:p>
            <a:pPr marL="177800" indent="-177800">
              <a:spcAft>
                <a:spcPts val="400"/>
              </a:spcAft>
              <a:buSzPct val="100000"/>
              <a:buChar char="•"/>
            </a:pPr>
            <a:r>
              <a:rPr lang="en-US" sz="1600" dirty="0">
                <a:solidFill>
                  <a:srgbClr val="B4235A"/>
                </a:solidFill>
                <a:latin typeface="Consolas" pitchFamily="34" charset="0"/>
                <a:ea typeface="Consolas" pitchFamily="34" charset="-122"/>
                <a:cs typeface="Consolas" pitchFamily="34" charset="-120"/>
              </a:rPr>
              <a:t>LinkedBlockingQueue</a:t>
            </a:r>
            <a:endParaRPr lang="en-US" sz="1600" dirty="0"/>
          </a:p>
          <a:p>
            <a:pPr marL="177800" indent="-177800">
              <a:spcAft>
                <a:spcPts val="400"/>
              </a:spcAft>
              <a:buSzPct val="100000"/>
              <a:buChar char="•"/>
            </a:pPr>
            <a:r>
              <a:rPr lang="en-US" sz="1600" dirty="0">
                <a:solidFill>
                  <a:srgbClr val="1F2A24"/>
                </a:solidFill>
                <a:latin typeface="Calibri" pitchFamily="34" charset="0"/>
                <a:ea typeface="Calibri" pitchFamily="34" charset="-122"/>
                <a:cs typeface="Calibri" pitchFamily="34" charset="-120"/>
              </a:rPr>
              <a:t>, </a:t>
            </a:r>
            <a:endParaRPr lang="en-US" sz="1600" dirty="0"/>
          </a:p>
          <a:p>
            <a:pPr marL="177800" indent="-177800">
              <a:spcAft>
                <a:spcPts val="400"/>
              </a:spcAft>
              <a:buSzPct val="100000"/>
              <a:buChar char="•"/>
            </a:pPr>
            <a:r>
              <a:rPr lang="en-US" sz="1600" dirty="0">
                <a:solidFill>
                  <a:srgbClr val="B4235A"/>
                </a:solidFill>
                <a:latin typeface="Consolas" pitchFamily="34" charset="0"/>
                <a:ea typeface="Consolas" pitchFamily="34" charset="-122"/>
                <a:cs typeface="Consolas" pitchFamily="34" charset="-120"/>
              </a:rPr>
              <a:t>ArrayBlockingQueue</a:t>
            </a:r>
            <a:endParaRPr lang="en-US" sz="1600" dirty="0"/>
          </a:p>
          <a:p>
            <a:pPr marL="177800" indent="-177800">
              <a:spcAft>
                <a:spcPts val="400"/>
              </a:spcAft>
              <a:buSzPct val="100000"/>
              <a:buChar char="•"/>
            </a:pPr>
            <a:r>
              <a:rPr lang="en-US" sz="1600" dirty="0">
                <a:solidFill>
                  <a:srgbClr val="1F2A24"/>
                </a:solidFill>
                <a:latin typeface="Calibri" pitchFamily="34" charset="0"/>
                <a:ea typeface="Calibri" pitchFamily="34" charset="-122"/>
                <a:cs typeface="Calibri" pitchFamily="34" charset="-120"/>
              </a:rPr>
              <a:t>) blocks producers/consumers — the basis of thread pools (Session 6) and a mental model for Kafka (Session 20).</a:t>
            </a:r>
            <a:endParaRPr lang="en-US" sz="1600" dirty="0"/>
          </a:p>
        </p:txBody>
      </p:sp>
      <p:sp>
        <p:nvSpPr>
          <p:cNvPr id="8" name="Text 6"/>
          <p:cNvSpPr/>
          <p:nvPr/>
        </p:nvSpPr>
        <p:spPr>
          <a:xfrm>
            <a:off x="5852160" y="1975104"/>
            <a:ext cx="1747418" cy="914400"/>
          </a:xfrm>
          <a:prstGeom prst="roundRect">
            <a:avLst>
              <a:gd name="adj" fmla="val 8000"/>
            </a:avLst>
          </a:prstGeom>
          <a:solidFill>
            <a:srgbClr val="EEF4F0"/>
          </a:solidFill>
          <a:ln w="12700">
            <a:solidFill>
              <a:srgbClr val="9FB8A8"/>
            </a:solidFill>
          </a:ln>
        </p:spPr>
        <p:txBody>
          <a:bodyPr wrap="square" rtlCol="0" anchor="ctr"/>
          <a:lstStyle/>
          <a:p>
            <a:pPr algn="ctr" indent="0" marL="0">
              <a:buNone/>
            </a:pPr>
            <a:r>
              <a:rPr lang="en-US" sz="1150" b="1" dirty="0">
                <a:solidFill>
                  <a:srgbClr val="1F2A24"/>
                </a:solidFill>
                <a:latin typeface="Calibri" pitchFamily="34" charset="0"/>
                <a:ea typeface="Calibri" pitchFamily="34" charset="-122"/>
                <a:cs typeface="Calibri" pitchFamily="34" charset="-120"/>
              </a:rPr>
              <a:t>offer(T4)</a:t>
            </a:r>
            <a:endParaRPr lang="en-US" sz="1150" dirty="0"/>
          </a:p>
          <a:p>
            <a:pPr algn="ctr" indent="0" marL="0">
              <a:buNone/>
            </a:pPr>
            <a:r>
              <a:rPr lang="en-US" sz="900" dirty="0">
                <a:solidFill>
                  <a:srgbClr val="5B6B60"/>
                </a:solidFill>
                <a:latin typeface="Calibri" pitchFamily="34" charset="0"/>
                <a:ea typeface="Calibri" pitchFamily="34" charset="-122"/>
                <a:cs typeface="Calibri" pitchFamily="34" charset="-120"/>
              </a:rPr>
              <a:t>add at tail</a:t>
            </a:r>
            <a:endParaRPr lang="en-US" sz="1150" dirty="0"/>
          </a:p>
        </p:txBody>
      </p:sp>
      <p:sp>
        <p:nvSpPr>
          <p:cNvPr id="9" name="Shape 7"/>
          <p:cNvSpPr/>
          <p:nvPr/>
        </p:nvSpPr>
        <p:spPr>
          <a:xfrm>
            <a:off x="7599578" y="2432304"/>
            <a:ext cx="320040" cy="0"/>
          </a:xfrm>
          <a:prstGeom prst="line">
            <a:avLst/>
          </a:prstGeom>
          <a:noFill/>
          <a:ln w="15875">
            <a:solidFill>
              <a:srgbClr val="6F8276"/>
            </a:solidFill>
            <a:prstDash val="solid"/>
            <a:tailEnd type="triangle"/>
          </a:ln>
        </p:spPr>
      </p:sp>
      <p:sp>
        <p:nvSpPr>
          <p:cNvPr id="10" name="Text 8"/>
          <p:cNvSpPr/>
          <p:nvPr/>
        </p:nvSpPr>
        <p:spPr>
          <a:xfrm>
            <a:off x="7919618" y="1975104"/>
            <a:ext cx="1747418" cy="914400"/>
          </a:xfrm>
          <a:prstGeom prst="roundRect">
            <a:avLst>
              <a:gd name="adj" fmla="val 8000"/>
            </a:avLst>
          </a:prstGeom>
          <a:solidFill>
            <a:srgbClr val="EEF4F0"/>
          </a:solidFill>
          <a:ln w="12700">
            <a:solidFill>
              <a:srgbClr val="9FB8A8"/>
            </a:solidFill>
          </a:ln>
        </p:spPr>
        <p:txBody>
          <a:bodyPr wrap="square" rtlCol="0" anchor="ctr"/>
          <a:lstStyle/>
          <a:p>
            <a:pPr algn="ctr" indent="0" marL="0">
              <a:buNone/>
            </a:pPr>
            <a:r>
              <a:rPr lang="en-US" sz="1150" b="1" dirty="0">
                <a:solidFill>
                  <a:srgbClr val="1F2A24"/>
                </a:solidFill>
                <a:latin typeface="Calibri" pitchFamily="34" charset="0"/>
                <a:ea typeface="Calibri" pitchFamily="34" charset="-122"/>
                <a:cs typeface="Calibri" pitchFamily="34" charset="-120"/>
              </a:rPr>
              <a:t>[T1 | T2 | T3]</a:t>
            </a:r>
            <a:endParaRPr lang="en-US" sz="1150" dirty="0"/>
          </a:p>
          <a:p>
            <a:pPr algn="ctr" indent="0" marL="0">
              <a:buNone/>
            </a:pPr>
            <a:r>
              <a:rPr lang="en-US" sz="900" dirty="0">
                <a:solidFill>
                  <a:srgbClr val="5B6B60"/>
                </a:solidFill>
                <a:latin typeface="Calibri" pitchFamily="34" charset="0"/>
                <a:ea typeface="Calibri" pitchFamily="34" charset="-122"/>
                <a:cs typeface="Calibri" pitchFamily="34" charset="-120"/>
              </a:rPr>
              <a:t>FIFO queue</a:t>
            </a:r>
            <a:endParaRPr lang="en-US" sz="1150" dirty="0"/>
          </a:p>
        </p:txBody>
      </p:sp>
      <p:sp>
        <p:nvSpPr>
          <p:cNvPr id="11" name="Shape 9"/>
          <p:cNvSpPr/>
          <p:nvPr/>
        </p:nvSpPr>
        <p:spPr>
          <a:xfrm>
            <a:off x="9667037" y="2432304"/>
            <a:ext cx="320040" cy="0"/>
          </a:xfrm>
          <a:prstGeom prst="line">
            <a:avLst/>
          </a:prstGeom>
          <a:noFill/>
          <a:ln w="15875">
            <a:solidFill>
              <a:srgbClr val="6F8276"/>
            </a:solidFill>
            <a:prstDash val="solid"/>
            <a:tailEnd type="triangle"/>
          </a:ln>
        </p:spPr>
      </p:sp>
      <p:sp>
        <p:nvSpPr>
          <p:cNvPr id="12" name="Text 10"/>
          <p:cNvSpPr/>
          <p:nvPr/>
        </p:nvSpPr>
        <p:spPr>
          <a:xfrm>
            <a:off x="9987077" y="1975104"/>
            <a:ext cx="1747418" cy="914400"/>
          </a:xfrm>
          <a:prstGeom prst="roundRect">
            <a:avLst>
              <a:gd name="adj" fmla="val 8000"/>
            </a:avLst>
          </a:prstGeom>
          <a:solidFill>
            <a:srgbClr val="EEF4F0"/>
          </a:solidFill>
          <a:ln w="12700">
            <a:solidFill>
              <a:srgbClr val="9FB8A8"/>
            </a:solidFill>
          </a:ln>
        </p:spPr>
        <p:txBody>
          <a:bodyPr wrap="square" rtlCol="0" anchor="ctr"/>
          <a:lstStyle/>
          <a:p>
            <a:pPr algn="ctr" indent="0" marL="0">
              <a:buNone/>
            </a:pPr>
            <a:r>
              <a:rPr lang="en-US" sz="1150" b="1" dirty="0">
                <a:solidFill>
                  <a:srgbClr val="1F2A24"/>
                </a:solidFill>
                <a:latin typeface="Calibri" pitchFamily="34" charset="0"/>
                <a:ea typeface="Calibri" pitchFamily="34" charset="-122"/>
                <a:cs typeface="Calibri" pitchFamily="34" charset="-120"/>
              </a:rPr>
              <a:t>poll() → T1</a:t>
            </a:r>
            <a:endParaRPr lang="en-US" sz="1150" dirty="0"/>
          </a:p>
          <a:p>
            <a:pPr algn="ctr" indent="0" marL="0">
              <a:buNone/>
            </a:pPr>
            <a:r>
              <a:rPr lang="en-US" sz="900" dirty="0">
                <a:solidFill>
                  <a:srgbClr val="5B6B60"/>
                </a:solidFill>
                <a:latin typeface="Calibri" pitchFamily="34" charset="0"/>
                <a:ea typeface="Calibri" pitchFamily="34" charset="-122"/>
                <a:cs typeface="Calibri" pitchFamily="34" charset="-120"/>
              </a:rPr>
              <a:t>remove from head</a:t>
            </a:r>
            <a:endParaRPr lang="en-US" sz="115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7200" y="4663440"/>
          <a:ext cx="11277295" cy="914400"/>
        </p:xfrm>
        <a:graphic>
          <a:graphicData uri="http://schemas.openxmlformats.org/drawingml/2006/table">
            <a:tbl>
              <a:tblPr/>
              <a:tblGrid>
                <a:gridCol w="3759098"/>
                <a:gridCol w="3759098"/>
                <a:gridCol w="3759098"/>
              </a:tblGrid>
              <a:tr h="384048">
                <a:tc>
                  <a:txBody>
                    <a:bodyPr/>
                    <a:lstStyle/>
                    <a:p>
                      <a:pPr indent="0" marL="0">
                        <a:buNone/>
                      </a:pP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Throws exception</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Returns special value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r>
              <a:tr h="384048">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Insert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add(e)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offer(e) → false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384048">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Remove head</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remove()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poll() → null</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384048">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Examine head</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element()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peek() → null</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C9C43D"/>
          </a:solidFill>
          <a:ln w="12700">
            <a:solidFill>
              <a:srgbClr val="C9C43D"/>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4</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Queues in action: tickets, undo &amp; job scheduling</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FIFO with </a:t>
            </a:r>
            <a:pPr indent="0" marL="0">
              <a:buNone/>
            </a:pPr>
            <a:r>
              <a:rPr lang="en-US" sz="1350" dirty="0">
                <a:solidFill>
                  <a:srgbClr val="B4235A"/>
                </a:solidFill>
                <a:latin typeface="Consolas" pitchFamily="34" charset="0"/>
                <a:ea typeface="Consolas" pitchFamily="34" charset="-122"/>
                <a:cs typeface="Consolas" pitchFamily="34" charset="-120"/>
              </a:rPr>
              <a:t>ArrayDeque</a:t>
            </a:r>
            <a:pPr indent="0" marL="0">
              <a:buNone/>
            </a:pPr>
            <a:r>
              <a:rPr lang="en-US" sz="1350" dirty="0">
                <a:solidFill>
                  <a:srgbClr val="5B6B60"/>
                </a:solidFill>
                <a:latin typeface="Calibri" pitchFamily="34" charset="0"/>
                <a:ea typeface="Calibri" pitchFamily="34" charset="-122"/>
                <a:cs typeface="Calibri" pitchFamily="34" charset="-120"/>
              </a:rPr>
              <a:t>, LIFO with </a:t>
            </a:r>
            <a:pPr indent="0" marL="0">
              <a:buNone/>
            </a:pPr>
            <a:r>
              <a:rPr lang="en-US" sz="1350" dirty="0">
                <a:solidFill>
                  <a:srgbClr val="B4235A"/>
                </a:solidFill>
                <a:latin typeface="Consolas" pitchFamily="34" charset="0"/>
                <a:ea typeface="Consolas" pitchFamily="34" charset="-122"/>
                <a:cs typeface="Consolas" pitchFamily="34" charset="-120"/>
              </a:rPr>
              <a:t>push/pop</a:t>
            </a:r>
            <a:pPr indent="0" marL="0">
              <a:buNone/>
            </a:pPr>
            <a:r>
              <a:rPr lang="en-US" sz="1350" dirty="0">
                <a:solidFill>
                  <a:srgbClr val="5B6B60"/>
                </a:solidFill>
                <a:latin typeface="Calibri" pitchFamily="34" charset="0"/>
                <a:ea typeface="Calibri" pitchFamily="34" charset="-122"/>
                <a:cs typeface="Calibri" pitchFamily="34" charset="-120"/>
              </a:rPr>
              <a:t>, and a </a:t>
            </a:r>
            <a:pPr indent="0" marL="0">
              <a:buNone/>
            </a:pPr>
            <a:r>
              <a:rPr lang="en-US" sz="1350" dirty="0">
                <a:solidFill>
                  <a:srgbClr val="B4235A"/>
                </a:solidFill>
                <a:latin typeface="Consolas" pitchFamily="34" charset="0"/>
                <a:ea typeface="Consolas" pitchFamily="34" charset="-122"/>
                <a:cs typeface="Consolas" pitchFamily="34" charset="-120"/>
              </a:rPr>
              <a:t>PriorityQueue</a:t>
            </a:r>
            <a:pPr indent="0" marL="0">
              <a:buNone/>
            </a:pPr>
            <a:r>
              <a:rPr lang="en-US" sz="1350" dirty="0">
                <a:solidFill>
                  <a:srgbClr val="5B6B60"/>
                </a:solidFill>
                <a:latin typeface="Calibri" pitchFamily="34" charset="0"/>
                <a:ea typeface="Calibri" pitchFamily="34" charset="-122"/>
                <a:cs typeface="Calibri" pitchFamily="34" charset="-120"/>
              </a:rPr>
              <a:t> with a multi-key </a:t>
            </a:r>
            <a:pPr indent="0" marL="0">
              <a:buNone/>
            </a:pPr>
            <a:r>
              <a:rPr lang="en-US" sz="1350" dirty="0">
                <a:solidFill>
                  <a:srgbClr val="B4235A"/>
                </a:solidFill>
                <a:latin typeface="Consolas" pitchFamily="34" charset="0"/>
                <a:ea typeface="Consolas" pitchFamily="34" charset="-122"/>
                <a:cs typeface="Consolas" pitchFamily="34" charset="-120"/>
              </a:rPr>
              <a:t>Comparator</a:t>
            </a:r>
            <a:pPr indent="0" marL="0">
              <a:buNone/>
            </a:pPr>
            <a:r>
              <a:rPr lang="en-US" sz="1350" dirty="0">
                <a:solidFill>
                  <a:srgbClr val="5B6B60"/>
                </a:solidFill>
                <a:latin typeface="Calibri" pitchFamily="34" charset="0"/>
                <a:ea typeface="Calibri" pitchFamily="34" charset="-122"/>
                <a:cs typeface="Calibri" pitchFamily="34" charset="-120"/>
              </a:rPr>
              <a:t>.</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QueueDemo.java</a:t>
            </a:r>
            <a:endParaRPr lang="en-US" sz="900" dirty="0"/>
          </a:p>
        </p:txBody>
      </p:sp>
      <p:sp>
        <p:nvSpPr>
          <p:cNvPr id="8" name="Text 6"/>
          <p:cNvSpPr/>
          <p:nvPr/>
        </p:nvSpPr>
        <p:spPr>
          <a:xfrm>
            <a:off x="457200" y="2157984"/>
            <a:ext cx="11277295" cy="419709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import java.util.*;</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public class QueueDemo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record Task(String name, int priority, int seq) {}</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public static void main(String[] args)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Queue&lt;String&gt; tickets = new ArrayDeque&lt;&gt;();                 // FIFO queue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tickets.offer("T1"); tickets.offer("T2"); tickets.offer("T3");</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System.out.println("serving " + tickets.poll() + ", next " + tickets.peek() + ", waiting " + tickets);</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Deque&lt;String&gt; undo = new ArrayDeque&lt;&gt;();                    // LIFO stack</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undo.push("type 'Hello'"); undo.push("bold"); undo.push("delete line");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System.out.println("undo -&gt; " + undo.pop() + " | then " + undo.peek());</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Comparator&lt;Task&gt; byPriority = Comparator.comparingInt(Task::priority).reversed()</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.thenComparingInt(Task::seq);                       // high priority first, then FIFO</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PriorityQueue&lt;Task&gt; jobs = new PriorityQueue&lt;&gt;(byPriority);</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jobs.add(new Task("send-email", 1, 1));</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jobs.add(new Task("charge-card", 5, 2));</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jobs.add(new Task("gen-invoice", 3, 3));</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jobs.add(new Task("refund", 5, 4));</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full listing in the web notes</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C9C43D"/>
          </a:solidFill>
          <a:ln w="12700">
            <a:solidFill>
              <a:srgbClr val="C9C43D"/>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4</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Generics: type safety without casts</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Generics let classes and methods work with </a:t>
            </a:r>
            <a:pPr indent="0" marL="0">
              <a:buNone/>
            </a:pPr>
            <a:r>
              <a:rPr lang="en-US" sz="1350" b="1" dirty="0">
                <a:solidFill>
                  <a:srgbClr val="5B6B60"/>
                </a:solidFill>
                <a:latin typeface="Calibri" pitchFamily="34" charset="0"/>
                <a:ea typeface="Calibri" pitchFamily="34" charset="-122"/>
                <a:cs typeface="Calibri" pitchFamily="34" charset="-120"/>
              </a:rPr>
              <a:t>any type</a:t>
            </a:r>
            <a:pPr indent="0" marL="0">
              <a:buNone/>
            </a:pPr>
            <a:r>
              <a:rPr lang="en-US" sz="1350" dirty="0">
                <a:solidFill>
                  <a:srgbClr val="5B6B60"/>
                </a:solidFill>
                <a:latin typeface="Calibri" pitchFamily="34" charset="0"/>
                <a:ea typeface="Calibri" pitchFamily="34" charset="-122"/>
                <a:cs typeface="Calibri" pitchFamily="34" charset="-120"/>
              </a:rPr>
              <a:t> while the compiler still checks types — errors move from runtime to compile time.</a:t>
            </a:r>
            <a:endParaRPr lang="en-US" sz="1350" dirty="0"/>
          </a:p>
        </p:txBody>
      </p:sp>
      <p:sp>
        <p:nvSpPr>
          <p:cNvPr id="7" name="Text 5"/>
          <p:cNvSpPr/>
          <p:nvPr/>
        </p:nvSpPr>
        <p:spPr>
          <a:xfrm>
            <a:off x="457200" y="1883664"/>
            <a:ext cx="5120640" cy="4471416"/>
          </a:xfrm>
          <a:prstGeom prst="rect">
            <a:avLst/>
          </a:prstGeom>
          <a:noFill/>
          <a:ln/>
        </p:spPr>
        <p:txBody>
          <a:bodyPr wrap="square" rtlCol="0" anchor="t"/>
          <a:lstStyle/>
          <a:p>
            <a:pPr marL="177800" indent="-177800">
              <a:spcAft>
                <a:spcPts val="400"/>
              </a:spcAft>
              <a:buSzPct val="100000"/>
              <a:buChar char="•"/>
            </a:pPr>
            <a:r>
              <a:rPr lang="en-US" sz="1600" dirty="0">
                <a:solidFill>
                  <a:srgbClr val="1F2A24"/>
                </a:solidFill>
                <a:latin typeface="Calibri" pitchFamily="34" charset="0"/>
                <a:ea typeface="Calibri" pitchFamily="34" charset="-122"/>
                <a:cs typeface="Calibri" pitchFamily="34" charset="-120"/>
              </a:rPr>
              <a:t>Generic class: </a:t>
            </a:r>
            <a:endParaRPr lang="en-US" sz="1600" dirty="0"/>
          </a:p>
          <a:p>
            <a:pPr marL="177800" indent="-177800">
              <a:spcAft>
                <a:spcPts val="400"/>
              </a:spcAft>
              <a:buSzPct val="100000"/>
              <a:buChar char="•"/>
            </a:pPr>
            <a:r>
              <a:rPr lang="en-US" sz="1600" dirty="0">
                <a:solidFill>
                  <a:srgbClr val="B4235A"/>
                </a:solidFill>
                <a:latin typeface="Consolas" pitchFamily="34" charset="0"/>
                <a:ea typeface="Consolas" pitchFamily="34" charset="-122"/>
                <a:cs typeface="Consolas" pitchFamily="34" charset="-120"/>
              </a:rPr>
              <a:t>class Box&lt;T&gt; { T value; }</a:t>
            </a:r>
            <a:endParaRPr lang="en-US" sz="1600" dirty="0"/>
          </a:p>
          <a:p>
            <a:pPr marL="177800" indent="-177800">
              <a:spcAft>
                <a:spcPts val="400"/>
              </a:spcAft>
              <a:buSzPct val="100000"/>
              <a:buChar char="•"/>
            </a:pPr>
            <a:r>
              <a:rPr lang="en-US" sz="1600" dirty="0">
                <a:solidFill>
                  <a:srgbClr val="1F2A24"/>
                </a:solidFill>
                <a:latin typeface="Calibri" pitchFamily="34" charset="0"/>
                <a:ea typeface="Calibri" pitchFamily="34" charset="-122"/>
                <a:cs typeface="Calibri" pitchFamily="34" charset="-120"/>
              </a:rPr>
              <a:t> · generic method: </a:t>
            </a:r>
            <a:endParaRPr lang="en-US" sz="1600" dirty="0"/>
          </a:p>
          <a:p>
            <a:pPr marL="177800" indent="-177800">
              <a:spcAft>
                <a:spcPts val="400"/>
              </a:spcAft>
              <a:buSzPct val="100000"/>
              <a:buChar char="•"/>
            </a:pPr>
            <a:r>
              <a:rPr lang="en-US" sz="1600" dirty="0">
                <a:solidFill>
                  <a:srgbClr val="B4235A"/>
                </a:solidFill>
                <a:latin typeface="Consolas" pitchFamily="34" charset="0"/>
                <a:ea typeface="Consolas" pitchFamily="34" charset="-122"/>
                <a:cs typeface="Consolas" pitchFamily="34" charset="-120"/>
              </a:rPr>
              <a:t>static &lt;T&gt; T first(List&lt;T&gt; xs)</a:t>
            </a:r>
            <a:endParaRPr lang="en-US" sz="1600" dirty="0"/>
          </a:p>
          <a:p>
            <a:pPr marL="177800" indent="-177800">
              <a:spcAft>
                <a:spcPts val="400"/>
              </a:spcAft>
              <a:buSzPct val="100000"/>
              <a:buChar char="•"/>
            </a:pPr>
            <a:r>
              <a:rPr lang="en-US" sz="1600" dirty="0">
                <a:solidFill>
                  <a:srgbClr val="1F2A24"/>
                </a:solidFill>
                <a:latin typeface="Calibri" pitchFamily="34" charset="0"/>
                <a:ea typeface="Calibri" pitchFamily="34" charset="-122"/>
                <a:cs typeface="Calibri" pitchFamily="34" charset="-120"/>
              </a:rPr>
              <a:t>.</a:t>
            </a:r>
            <a:endParaRPr lang="en-US" sz="1600" dirty="0"/>
          </a:p>
          <a:p>
            <a:pPr marL="177800" indent="-177800">
              <a:spcAft>
                <a:spcPts val="400"/>
              </a:spcAft>
              <a:buSzPct val="100000"/>
              <a:buChar char="•"/>
            </a:pPr>
            <a:r>
              <a:rPr lang="en-US" sz="1600" b="1" dirty="0">
                <a:solidFill>
                  <a:srgbClr val="1F2A24"/>
                </a:solidFill>
                <a:latin typeface="Calibri" pitchFamily="34" charset="0"/>
                <a:ea typeface="Calibri" pitchFamily="34" charset="-122"/>
                <a:cs typeface="Calibri" pitchFamily="34" charset="-120"/>
              </a:rPr>
              <a:t>Bounded</a:t>
            </a:r>
            <a:endParaRPr lang="en-US" sz="1600" dirty="0"/>
          </a:p>
          <a:p>
            <a:pPr marL="177800" indent="-177800">
              <a:spcAft>
                <a:spcPts val="400"/>
              </a:spcAft>
              <a:buSzPct val="100000"/>
              <a:buChar char="•"/>
            </a:pPr>
            <a:r>
              <a:rPr lang="en-US" sz="1600" dirty="0">
                <a:solidFill>
                  <a:srgbClr val="1F2A24"/>
                </a:solidFill>
                <a:latin typeface="Calibri" pitchFamily="34" charset="0"/>
                <a:ea typeface="Calibri" pitchFamily="34" charset="-122"/>
                <a:cs typeface="Calibri" pitchFamily="34" charset="-120"/>
              </a:rPr>
              <a:t> type: </a:t>
            </a:r>
            <a:endParaRPr lang="en-US" sz="1600" dirty="0"/>
          </a:p>
          <a:p>
            <a:pPr marL="177800" indent="-177800">
              <a:spcAft>
                <a:spcPts val="400"/>
              </a:spcAft>
              <a:buSzPct val="100000"/>
              <a:buChar char="•"/>
            </a:pPr>
            <a:r>
              <a:rPr lang="en-US" sz="1600" dirty="0">
                <a:solidFill>
                  <a:srgbClr val="B4235A"/>
                </a:solidFill>
                <a:latin typeface="Consolas" pitchFamily="34" charset="0"/>
                <a:ea typeface="Consolas" pitchFamily="34" charset="-122"/>
                <a:cs typeface="Consolas" pitchFamily="34" charset="-120"/>
              </a:rPr>
              <a:t>&lt;T extends Comparable&lt;T&gt;&gt;</a:t>
            </a:r>
            <a:endParaRPr lang="en-US" sz="1600" dirty="0"/>
          </a:p>
          <a:p>
            <a:pPr marL="177800" indent="-177800">
              <a:spcAft>
                <a:spcPts val="400"/>
              </a:spcAft>
              <a:buSzPct val="100000"/>
              <a:buChar char="•"/>
            </a:pPr>
            <a:r>
              <a:rPr lang="en-US" sz="1600" dirty="0">
                <a:solidFill>
                  <a:srgbClr val="1F2A24"/>
                </a:solidFill>
                <a:latin typeface="Calibri" pitchFamily="34" charset="0"/>
                <a:ea typeface="Calibri" pitchFamily="34" charset="-122"/>
                <a:cs typeface="Calibri" pitchFamily="34" charset="-120"/>
              </a:rPr>
              <a:t> — T must support </a:t>
            </a:r>
            <a:endParaRPr lang="en-US" sz="1600" dirty="0"/>
          </a:p>
          <a:p>
            <a:pPr marL="177800" indent="-177800">
              <a:spcAft>
                <a:spcPts val="400"/>
              </a:spcAft>
              <a:buSzPct val="100000"/>
              <a:buChar char="•"/>
            </a:pPr>
            <a:r>
              <a:rPr lang="en-US" sz="1600" dirty="0">
                <a:solidFill>
                  <a:srgbClr val="B4235A"/>
                </a:solidFill>
                <a:latin typeface="Consolas" pitchFamily="34" charset="0"/>
                <a:ea typeface="Consolas" pitchFamily="34" charset="-122"/>
                <a:cs typeface="Consolas" pitchFamily="34" charset="-120"/>
              </a:rPr>
              <a:t>compareTo</a:t>
            </a:r>
            <a:endParaRPr lang="en-US" sz="1600" dirty="0"/>
          </a:p>
          <a:p>
            <a:pPr marL="177800" indent="-177800">
              <a:spcAft>
                <a:spcPts val="400"/>
              </a:spcAft>
              <a:buSzPct val="100000"/>
              <a:buChar char="•"/>
            </a:pPr>
            <a:r>
              <a:rPr lang="en-US" sz="1600" dirty="0">
                <a:solidFill>
                  <a:srgbClr val="1F2A24"/>
                </a:solidFill>
                <a:latin typeface="Calibri" pitchFamily="34" charset="0"/>
                <a:ea typeface="Calibri" pitchFamily="34" charset="-122"/>
                <a:cs typeface="Calibri" pitchFamily="34" charset="-120"/>
              </a:rPr>
              <a:t>.</a:t>
            </a:r>
            <a:endParaRPr lang="en-US" sz="1600" dirty="0"/>
          </a:p>
          <a:p>
            <a:pPr marL="177800" indent="-177800">
              <a:spcAft>
                <a:spcPts val="400"/>
              </a:spcAft>
              <a:buSzPct val="100000"/>
              <a:buChar char="•"/>
            </a:pPr>
            <a:r>
              <a:rPr lang="en-US" sz="1600" b="1" dirty="0">
                <a:solidFill>
                  <a:srgbClr val="1F2A24"/>
                </a:solidFill>
                <a:latin typeface="Calibri" pitchFamily="34" charset="0"/>
                <a:ea typeface="Calibri" pitchFamily="34" charset="-122"/>
                <a:cs typeface="Calibri" pitchFamily="34" charset="-120"/>
              </a:rPr>
              <a:t>Wildcards:</a:t>
            </a:r>
            <a:endParaRPr lang="en-US" sz="1600" dirty="0"/>
          </a:p>
          <a:p>
            <a:pPr marL="177800" indent="-177800">
              <a:spcAft>
                <a:spcPts val="400"/>
              </a:spcAft>
              <a:buSzPct val="100000"/>
              <a:buChar char="•"/>
            </a:pPr>
            <a:r>
              <a:rPr lang="en-US" sz="1600" dirty="0">
                <a:solidFill>
                  <a:srgbClr val="1F2A24"/>
                </a:solidFill>
                <a:latin typeface="Calibri" pitchFamily="34" charset="0"/>
                <a:ea typeface="Calibri" pitchFamily="34" charset="-122"/>
                <a:cs typeface="Calibri" pitchFamily="34" charset="-120"/>
              </a:rPr>
              <a:t> </a:t>
            </a:r>
            <a:endParaRPr lang="en-US" sz="1600" dirty="0"/>
          </a:p>
          <a:p>
            <a:pPr marL="177800" indent="-177800">
              <a:spcAft>
                <a:spcPts val="400"/>
              </a:spcAft>
              <a:buSzPct val="100000"/>
              <a:buChar char="•"/>
            </a:pPr>
            <a:r>
              <a:rPr lang="en-US" sz="1600" dirty="0">
                <a:solidFill>
                  <a:srgbClr val="B4235A"/>
                </a:solidFill>
                <a:latin typeface="Consolas" pitchFamily="34" charset="0"/>
                <a:ea typeface="Consolas" pitchFamily="34" charset="-122"/>
                <a:cs typeface="Consolas" pitchFamily="34" charset="-120"/>
              </a:rPr>
              <a:t>List&lt;? extends Number&gt;</a:t>
            </a:r>
            <a:endParaRPr lang="en-US" sz="1600" dirty="0"/>
          </a:p>
          <a:p>
            <a:pPr marL="177800" indent="-177800">
              <a:spcAft>
                <a:spcPts val="400"/>
              </a:spcAft>
              <a:buSzPct val="100000"/>
              <a:buChar char="•"/>
            </a:pPr>
            <a:r>
              <a:rPr lang="en-US" sz="1600" dirty="0">
                <a:solidFill>
                  <a:srgbClr val="1F2A24"/>
                </a:solidFill>
                <a:latin typeface="Calibri" pitchFamily="34" charset="0"/>
                <a:ea typeface="Calibri" pitchFamily="34" charset="-122"/>
                <a:cs typeface="Calibri" pitchFamily="34" charset="-120"/>
              </a:rPr>
              <a:t> (read-only producer), </a:t>
            </a:r>
            <a:endParaRPr lang="en-US" sz="1600" dirty="0"/>
          </a:p>
          <a:p>
            <a:pPr marL="177800" indent="-177800">
              <a:spcAft>
                <a:spcPts val="400"/>
              </a:spcAft>
              <a:buSzPct val="100000"/>
              <a:buChar char="•"/>
            </a:pPr>
            <a:r>
              <a:rPr lang="en-US" sz="1600" dirty="0">
                <a:solidFill>
                  <a:srgbClr val="B4235A"/>
                </a:solidFill>
                <a:latin typeface="Consolas" pitchFamily="34" charset="0"/>
                <a:ea typeface="Consolas" pitchFamily="34" charset="-122"/>
                <a:cs typeface="Consolas" pitchFamily="34" charset="-120"/>
              </a:rPr>
              <a:t>List&lt;? super Integer&gt;</a:t>
            </a:r>
            <a:endParaRPr lang="en-US" sz="1600" dirty="0"/>
          </a:p>
          <a:p>
            <a:pPr marL="177800" indent="-177800">
              <a:spcAft>
                <a:spcPts val="400"/>
              </a:spcAft>
              <a:buSzPct val="100000"/>
              <a:buChar char="•"/>
            </a:pPr>
            <a:r>
              <a:rPr lang="en-US" sz="1600" dirty="0">
                <a:solidFill>
                  <a:srgbClr val="1F2A24"/>
                </a:solidFill>
                <a:latin typeface="Calibri" pitchFamily="34" charset="0"/>
                <a:ea typeface="Calibri" pitchFamily="34" charset="-122"/>
                <a:cs typeface="Calibri" pitchFamily="34" charset="-120"/>
              </a:rPr>
              <a:t> (writable consumer).</a:t>
            </a:r>
            <a:endParaRPr lang="en-US" sz="1600" dirty="0"/>
          </a:p>
          <a:p>
            <a:pPr marL="177800" indent="-177800">
              <a:spcAft>
                <a:spcPts val="400"/>
              </a:spcAft>
              <a:buSzPct val="100000"/>
              <a:buChar char="•"/>
            </a:pPr>
            <a:r>
              <a:rPr lang="en-US" sz="1600" b="1" dirty="0">
                <a:solidFill>
                  <a:srgbClr val="1F2A24"/>
                </a:solidFill>
                <a:latin typeface="Calibri" pitchFamily="34" charset="0"/>
                <a:ea typeface="Calibri" pitchFamily="34" charset="-122"/>
                <a:cs typeface="Calibri" pitchFamily="34" charset="-120"/>
              </a:rPr>
              <a:t>PECS:</a:t>
            </a:r>
            <a:endParaRPr lang="en-US" sz="1600" dirty="0"/>
          </a:p>
          <a:p>
            <a:pPr marL="177800" indent="-177800">
              <a:spcAft>
                <a:spcPts val="400"/>
              </a:spcAft>
              <a:buSzPct val="100000"/>
              <a:buChar char="•"/>
            </a:pPr>
            <a:r>
              <a:rPr lang="en-US" sz="1600" dirty="0">
                <a:solidFill>
                  <a:srgbClr val="1F2A24"/>
                </a:solidFill>
                <a:latin typeface="Calibri" pitchFamily="34" charset="0"/>
                <a:ea typeface="Calibri" pitchFamily="34" charset="-122"/>
                <a:cs typeface="Calibri" pitchFamily="34" charset="-120"/>
              </a:rPr>
              <a:t> </a:t>
            </a:r>
            <a:endParaRPr lang="en-US" sz="1600" dirty="0"/>
          </a:p>
          <a:p>
            <a:pPr marL="177800" indent="-177800">
              <a:spcAft>
                <a:spcPts val="400"/>
              </a:spcAft>
              <a:buSzPct val="100000"/>
              <a:buChar char="•"/>
            </a:pPr>
            <a:r>
              <a:rPr lang="en-US" sz="1600" i="1" dirty="0">
                <a:solidFill>
                  <a:srgbClr val="1F2A24"/>
                </a:solidFill>
                <a:latin typeface="Calibri" pitchFamily="34" charset="0"/>
                <a:ea typeface="Calibri" pitchFamily="34" charset="-122"/>
                <a:cs typeface="Calibri" pitchFamily="34" charset="-120"/>
              </a:rPr>
              <a:t>Producer Extends, Consumer Super</a:t>
            </a:r>
            <a:endParaRPr lang="en-US" sz="1600" dirty="0"/>
          </a:p>
          <a:p>
            <a:pPr marL="177800" indent="-177800">
              <a:spcAft>
                <a:spcPts val="400"/>
              </a:spcAft>
              <a:buSzPct val="100000"/>
              <a:buChar char="•"/>
            </a:pPr>
            <a:r>
              <a:rPr lang="en-US" sz="1600" dirty="0">
                <a:solidFill>
                  <a:srgbClr val="1F2A24"/>
                </a:solidFill>
                <a:latin typeface="Calibri" pitchFamily="34" charset="0"/>
                <a:ea typeface="Calibri" pitchFamily="34" charset="-122"/>
                <a:cs typeface="Calibri" pitchFamily="34" charset="-120"/>
              </a:rPr>
              <a:t> — e.g. </a:t>
            </a:r>
            <a:endParaRPr lang="en-US" sz="1600" dirty="0"/>
          </a:p>
          <a:p>
            <a:pPr marL="177800" indent="-177800">
              <a:spcAft>
                <a:spcPts val="400"/>
              </a:spcAft>
              <a:buSzPct val="100000"/>
              <a:buChar char="•"/>
            </a:pPr>
            <a:r>
              <a:rPr lang="en-US" sz="1600" dirty="0">
                <a:solidFill>
                  <a:srgbClr val="B4235A"/>
                </a:solidFill>
                <a:latin typeface="Consolas" pitchFamily="34" charset="0"/>
                <a:ea typeface="Consolas" pitchFamily="34" charset="-122"/>
                <a:cs typeface="Consolas" pitchFamily="34" charset="-120"/>
              </a:rPr>
              <a:t>Collections.copy(List&lt;? super T&gt; dest, List&lt;? extends T&gt; src)</a:t>
            </a:r>
            <a:endParaRPr lang="en-US" sz="1600" dirty="0"/>
          </a:p>
          <a:p>
            <a:pPr marL="177800" indent="-177800">
              <a:spcAft>
                <a:spcPts val="400"/>
              </a:spcAft>
              <a:buSzPct val="100000"/>
              <a:buChar char="•"/>
            </a:pPr>
            <a:r>
              <a:rPr lang="en-US" sz="1600" dirty="0">
                <a:solidFill>
                  <a:srgbClr val="1F2A24"/>
                </a:solidFill>
                <a:latin typeface="Calibri" pitchFamily="34" charset="0"/>
                <a:ea typeface="Calibri" pitchFamily="34" charset="-122"/>
                <a:cs typeface="Calibri" pitchFamily="34" charset="-120"/>
              </a:rPr>
              <a:t>.</a:t>
            </a:r>
            <a:endParaRPr lang="en-US" sz="1600" dirty="0"/>
          </a:p>
          <a:p>
            <a:pPr marL="177800" indent="-177800">
              <a:spcAft>
                <a:spcPts val="400"/>
              </a:spcAft>
              <a:buSzPct val="100000"/>
              <a:buChar char="•"/>
            </a:pPr>
            <a:r>
              <a:rPr lang="en-US" sz="1600" b="1" dirty="0">
                <a:solidFill>
                  <a:srgbClr val="1F2A24"/>
                </a:solidFill>
                <a:latin typeface="Calibri" pitchFamily="34" charset="0"/>
                <a:ea typeface="Calibri" pitchFamily="34" charset="-122"/>
                <a:cs typeface="Calibri" pitchFamily="34" charset="-120"/>
              </a:rPr>
              <a:t>Type erasure:</a:t>
            </a:r>
            <a:endParaRPr lang="en-US" sz="1600" dirty="0"/>
          </a:p>
          <a:p>
            <a:pPr marL="177800" indent="-177800">
              <a:spcAft>
                <a:spcPts val="400"/>
              </a:spcAft>
              <a:buSzPct val="100000"/>
              <a:buChar char="•"/>
            </a:pPr>
            <a:r>
              <a:rPr lang="en-US" sz="1600" dirty="0">
                <a:solidFill>
                  <a:srgbClr val="1F2A24"/>
                </a:solidFill>
                <a:latin typeface="Calibri" pitchFamily="34" charset="0"/>
                <a:ea typeface="Calibri" pitchFamily="34" charset="-122"/>
                <a:cs typeface="Calibri" pitchFamily="34" charset="-120"/>
              </a:rPr>
              <a:t> generic types exist at compile time only; at runtime </a:t>
            </a:r>
            <a:endParaRPr lang="en-US" sz="1600" dirty="0"/>
          </a:p>
          <a:p>
            <a:pPr marL="177800" indent="-177800">
              <a:spcAft>
                <a:spcPts val="400"/>
              </a:spcAft>
              <a:buSzPct val="100000"/>
              <a:buChar char="•"/>
            </a:pPr>
            <a:r>
              <a:rPr lang="en-US" sz="1600" dirty="0">
                <a:solidFill>
                  <a:srgbClr val="B4235A"/>
                </a:solidFill>
                <a:latin typeface="Consolas" pitchFamily="34" charset="0"/>
                <a:ea typeface="Consolas" pitchFamily="34" charset="-122"/>
                <a:cs typeface="Consolas" pitchFamily="34" charset="-120"/>
              </a:rPr>
              <a:t>List&lt;String&gt;</a:t>
            </a:r>
            <a:endParaRPr lang="en-US" sz="1600" dirty="0"/>
          </a:p>
          <a:p>
            <a:pPr marL="177800" indent="-177800">
              <a:spcAft>
                <a:spcPts val="400"/>
              </a:spcAft>
              <a:buSzPct val="100000"/>
              <a:buChar char="•"/>
            </a:pPr>
            <a:r>
              <a:rPr lang="en-US" sz="1600" dirty="0">
                <a:solidFill>
                  <a:srgbClr val="1F2A24"/>
                </a:solidFill>
                <a:latin typeface="Calibri" pitchFamily="34" charset="0"/>
                <a:ea typeface="Calibri" pitchFamily="34" charset="-122"/>
                <a:cs typeface="Calibri" pitchFamily="34" charset="-120"/>
              </a:rPr>
              <a:t> is just </a:t>
            </a:r>
            <a:endParaRPr lang="en-US" sz="1600" dirty="0"/>
          </a:p>
          <a:p>
            <a:pPr marL="177800" indent="-177800">
              <a:spcAft>
                <a:spcPts val="400"/>
              </a:spcAft>
              <a:buSzPct val="100000"/>
              <a:buChar char="•"/>
            </a:pPr>
            <a:r>
              <a:rPr lang="en-US" sz="1600" dirty="0">
                <a:solidFill>
                  <a:srgbClr val="B4235A"/>
                </a:solidFill>
                <a:latin typeface="Consolas" pitchFamily="34" charset="0"/>
                <a:ea typeface="Consolas" pitchFamily="34" charset="-122"/>
                <a:cs typeface="Consolas" pitchFamily="34" charset="-120"/>
              </a:rPr>
              <a:t>List</a:t>
            </a:r>
            <a:endParaRPr lang="en-US" sz="1600" dirty="0"/>
          </a:p>
          <a:p>
            <a:pPr marL="177800" indent="-177800">
              <a:spcAft>
                <a:spcPts val="400"/>
              </a:spcAft>
              <a:buSzPct val="100000"/>
              <a:buChar char="•"/>
            </a:pPr>
            <a:r>
              <a:rPr lang="en-US" sz="1600" dirty="0">
                <a:solidFill>
                  <a:srgbClr val="1F2A24"/>
                </a:solidFill>
                <a:latin typeface="Calibri" pitchFamily="34" charset="0"/>
                <a:ea typeface="Calibri" pitchFamily="34" charset="-122"/>
                <a:cs typeface="Calibri" pitchFamily="34" charset="-120"/>
              </a:rPr>
              <a:t>.</a:t>
            </a:r>
            <a:endParaRPr lang="en-US" sz="1600" dirty="0"/>
          </a:p>
          <a:p>
            <a:pPr marL="177800" indent="-177800">
              <a:spcAft>
                <a:spcPts val="400"/>
              </a:spcAft>
              <a:buSzPct val="100000"/>
              <a:buChar char="•"/>
            </a:pPr>
            <a:r>
              <a:rPr lang="en-US" sz="1600" dirty="0">
                <a:solidFill>
                  <a:srgbClr val="1F2A24"/>
                </a:solidFill>
                <a:latin typeface="Calibri" pitchFamily="34" charset="0"/>
                <a:ea typeface="Calibri" pitchFamily="34" charset="-122"/>
                <a:cs typeface="Calibri" pitchFamily="34" charset="-120"/>
              </a:rPr>
              <a:t>Generics are </a:t>
            </a:r>
            <a:endParaRPr lang="en-US" sz="1600" dirty="0"/>
          </a:p>
          <a:p>
            <a:pPr marL="177800" indent="-177800">
              <a:spcAft>
                <a:spcPts val="400"/>
              </a:spcAft>
              <a:buSzPct val="100000"/>
              <a:buChar char="•"/>
            </a:pPr>
            <a:r>
              <a:rPr lang="en-US" sz="1600" b="1" dirty="0">
                <a:solidFill>
                  <a:srgbClr val="1F2A24"/>
                </a:solidFill>
                <a:latin typeface="Calibri" pitchFamily="34" charset="0"/>
                <a:ea typeface="Calibri" pitchFamily="34" charset="-122"/>
                <a:cs typeface="Calibri" pitchFamily="34" charset="-120"/>
              </a:rPr>
              <a:t>invariant</a:t>
            </a:r>
            <a:endParaRPr lang="en-US" sz="1600" dirty="0"/>
          </a:p>
          <a:p>
            <a:pPr marL="177800" indent="-177800">
              <a:spcAft>
                <a:spcPts val="400"/>
              </a:spcAft>
              <a:buSzPct val="100000"/>
              <a:buChar char="•"/>
            </a:pPr>
            <a:r>
              <a:rPr lang="en-US" sz="1600" dirty="0">
                <a:solidFill>
                  <a:srgbClr val="1F2A24"/>
                </a:solidFill>
                <a:latin typeface="Calibri" pitchFamily="34" charset="0"/>
                <a:ea typeface="Calibri" pitchFamily="34" charset="-122"/>
                <a:cs typeface="Calibri" pitchFamily="34" charset="-120"/>
              </a:rPr>
              <a:t>: a </a:t>
            </a:r>
            <a:endParaRPr lang="en-US" sz="1600" dirty="0"/>
          </a:p>
          <a:p>
            <a:pPr marL="177800" indent="-177800">
              <a:spcAft>
                <a:spcPts val="400"/>
              </a:spcAft>
              <a:buSzPct val="100000"/>
              <a:buChar char="•"/>
            </a:pPr>
            <a:r>
              <a:rPr lang="en-US" sz="1600" dirty="0">
                <a:solidFill>
                  <a:srgbClr val="B4235A"/>
                </a:solidFill>
                <a:latin typeface="Consolas" pitchFamily="34" charset="0"/>
                <a:ea typeface="Consolas" pitchFamily="34" charset="-122"/>
                <a:cs typeface="Consolas" pitchFamily="34" charset="-120"/>
              </a:rPr>
              <a:t>List&lt;String&gt;</a:t>
            </a:r>
            <a:endParaRPr lang="en-US" sz="1600" dirty="0"/>
          </a:p>
          <a:p>
            <a:pPr marL="177800" indent="-177800">
              <a:spcAft>
                <a:spcPts val="400"/>
              </a:spcAft>
              <a:buSzPct val="100000"/>
              <a:buChar char="•"/>
            </a:pPr>
            <a:r>
              <a:rPr lang="en-US" sz="1600" dirty="0">
                <a:solidFill>
                  <a:srgbClr val="1F2A24"/>
                </a:solidFill>
                <a:latin typeface="Calibri" pitchFamily="34" charset="0"/>
                <a:ea typeface="Calibri" pitchFamily="34" charset="-122"/>
                <a:cs typeface="Calibri" pitchFamily="34" charset="-120"/>
              </a:rPr>
              <a:t> is </a:t>
            </a:r>
            <a:endParaRPr lang="en-US" sz="1600" dirty="0"/>
          </a:p>
          <a:p>
            <a:pPr marL="177800" indent="-177800">
              <a:spcAft>
                <a:spcPts val="400"/>
              </a:spcAft>
              <a:buSzPct val="100000"/>
              <a:buChar char="•"/>
            </a:pPr>
            <a:r>
              <a:rPr lang="en-US" sz="1600" i="1" dirty="0">
                <a:solidFill>
                  <a:srgbClr val="1F2A24"/>
                </a:solidFill>
                <a:latin typeface="Calibri" pitchFamily="34" charset="0"/>
                <a:ea typeface="Calibri" pitchFamily="34" charset="-122"/>
                <a:cs typeface="Calibri" pitchFamily="34" charset="-120"/>
              </a:rPr>
              <a:t>not</a:t>
            </a:r>
            <a:endParaRPr lang="en-US" sz="1600" dirty="0"/>
          </a:p>
          <a:p>
            <a:pPr marL="177800" indent="-177800">
              <a:spcAft>
                <a:spcPts val="400"/>
              </a:spcAft>
              <a:buSzPct val="100000"/>
              <a:buChar char="•"/>
            </a:pPr>
            <a:r>
              <a:rPr lang="en-US" sz="1600" dirty="0">
                <a:solidFill>
                  <a:srgbClr val="1F2A24"/>
                </a:solidFill>
                <a:latin typeface="Calibri" pitchFamily="34" charset="0"/>
                <a:ea typeface="Calibri" pitchFamily="34" charset="-122"/>
                <a:cs typeface="Calibri" pitchFamily="34" charset="-120"/>
              </a:rPr>
              <a:t> a </a:t>
            </a:r>
            <a:endParaRPr lang="en-US" sz="1600" dirty="0"/>
          </a:p>
          <a:p>
            <a:pPr marL="177800" indent="-177800">
              <a:spcAft>
                <a:spcPts val="400"/>
              </a:spcAft>
              <a:buSzPct val="100000"/>
              <a:buChar char="•"/>
            </a:pPr>
            <a:r>
              <a:rPr lang="en-US" sz="1600" dirty="0">
                <a:solidFill>
                  <a:srgbClr val="B4235A"/>
                </a:solidFill>
                <a:latin typeface="Consolas" pitchFamily="34" charset="0"/>
                <a:ea typeface="Consolas" pitchFamily="34" charset="-122"/>
                <a:cs typeface="Consolas" pitchFamily="34" charset="-120"/>
              </a:rPr>
              <a:t>List&lt;Object&gt;</a:t>
            </a:r>
            <a:endParaRPr lang="en-US" sz="1600" dirty="0"/>
          </a:p>
          <a:p>
            <a:pPr marL="177800" indent="-177800">
              <a:spcAft>
                <a:spcPts val="400"/>
              </a:spcAft>
              <a:buSzPct val="100000"/>
              <a:buChar char="•"/>
            </a:pPr>
            <a:r>
              <a:rPr lang="en-US" sz="1600" dirty="0">
                <a:solidFill>
                  <a:srgbClr val="1F2A24"/>
                </a:solidFill>
                <a:latin typeface="Calibri" pitchFamily="34" charset="0"/>
                <a:ea typeface="Calibri" pitchFamily="34" charset="-122"/>
                <a:cs typeface="Calibri" pitchFamily="34" charset="-120"/>
              </a:rPr>
              <a:t>.</a:t>
            </a:r>
            <a:endParaRPr lang="en-US" sz="1600" dirty="0"/>
          </a:p>
        </p:txBody>
      </p:sp>
      <p:sp>
        <p:nvSpPr>
          <p:cNvPr id="8" name="Text 6"/>
          <p:cNvSpPr/>
          <p:nvPr/>
        </p:nvSpPr>
        <p:spPr>
          <a:xfrm>
            <a:off x="5852160" y="1883664"/>
            <a:ext cx="588233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Before vs after generics</a:t>
            </a:r>
            <a:endParaRPr lang="en-US" sz="900" dirty="0"/>
          </a:p>
        </p:txBody>
      </p:sp>
      <p:sp>
        <p:nvSpPr>
          <p:cNvPr id="9" name="Text 7"/>
          <p:cNvSpPr/>
          <p:nvPr/>
        </p:nvSpPr>
        <p:spPr>
          <a:xfrm>
            <a:off x="5852160" y="2157984"/>
            <a:ext cx="5882335" cy="419709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057" dirty="0">
                <a:solidFill>
                  <a:srgbClr val="24292F"/>
                </a:solidFill>
                <a:latin typeface="Consolas" pitchFamily="34" charset="0"/>
                <a:ea typeface="Consolas" pitchFamily="34" charset="-122"/>
                <a:cs typeface="Consolas" pitchFamily="34" charset="-120"/>
              </a:rPr>
              <a:t>// Java 1.4: raw collections, casts everywhere, errors at runtime</a:t>
            </a:r>
            <a:endParaRPr lang="en-US" sz="1057" dirty="0"/>
          </a:p>
          <a:p>
            <a:pPr indent="0" marL="0">
              <a:buNone/>
            </a:pPr>
            <a:r>
              <a:rPr lang="en-US" sz="1057" dirty="0">
                <a:solidFill>
                  <a:srgbClr val="24292F"/>
                </a:solidFill>
                <a:latin typeface="Consolas" pitchFamily="34" charset="0"/>
                <a:ea typeface="Consolas" pitchFamily="34" charset="-122"/>
                <a:cs typeface="Consolas" pitchFamily="34" charset="-120"/>
              </a:rPr>
              <a:t>List names = new ArrayList();</a:t>
            </a:r>
            <a:endParaRPr lang="en-US" sz="1057" dirty="0"/>
          </a:p>
          <a:p>
            <a:pPr indent="0" marL="0">
              <a:buNone/>
            </a:pPr>
            <a:r>
              <a:rPr lang="en-US" sz="1057" dirty="0">
                <a:solidFill>
                  <a:srgbClr val="24292F"/>
                </a:solidFill>
                <a:latin typeface="Consolas" pitchFamily="34" charset="0"/>
                <a:ea typeface="Consolas" pitchFamily="34" charset="-122"/>
                <a:cs typeface="Consolas" pitchFamily="34" charset="-120"/>
              </a:rPr>
              <a:t>names.add("asha");</a:t>
            </a:r>
            <a:endParaRPr lang="en-US" sz="1057" dirty="0"/>
          </a:p>
          <a:p>
            <a:pPr indent="0" marL="0">
              <a:buNone/>
            </a:pPr>
            <a:r>
              <a:rPr lang="en-US" sz="1057" dirty="0">
                <a:solidFill>
                  <a:srgbClr val="24292F"/>
                </a:solidFill>
                <a:latin typeface="Consolas" pitchFamily="34" charset="0"/>
                <a:ea typeface="Consolas" pitchFamily="34" charset="-122"/>
                <a:cs typeface="Consolas" pitchFamily="34" charset="-120"/>
              </a:rPr>
              <a:t>names.add(42);                          // compiles!</a:t>
            </a:r>
            <a:endParaRPr lang="en-US" sz="1057" dirty="0"/>
          </a:p>
          <a:p>
            <a:pPr indent="0" marL="0">
              <a:buNone/>
            </a:pPr>
            <a:r>
              <a:rPr lang="en-US" sz="1057" dirty="0">
                <a:solidFill>
                  <a:srgbClr val="24292F"/>
                </a:solidFill>
                <a:latin typeface="Consolas" pitchFamily="34" charset="0"/>
                <a:ea typeface="Consolas" pitchFamily="34" charset="-122"/>
                <a:cs typeface="Consolas" pitchFamily="34" charset="-120"/>
              </a:rPr>
              <a:t>String n = (String) names.get(1);       // ClassCastException at runtime</a:t>
            </a:r>
            <a:endParaRPr lang="en-US" sz="1057" dirty="0"/>
          </a:p>
          <a:p>
            <a:pPr indent="0" marL="0">
              <a:buNone/>
            </a:pPr>
            <a:endParaRPr lang="en-US" sz="1057" dirty="0"/>
          </a:p>
          <a:p>
            <a:pPr indent="0" marL="0">
              <a:buNone/>
            </a:pPr>
            <a:r>
              <a:rPr lang="en-US" sz="1057" dirty="0">
                <a:solidFill>
                  <a:srgbClr val="24292F"/>
                </a:solidFill>
                <a:latin typeface="Consolas" pitchFamily="34" charset="0"/>
                <a:ea typeface="Consolas" pitchFamily="34" charset="-122"/>
                <a:cs typeface="Consolas" pitchFamily="34" charset="-120"/>
              </a:rPr>
              <a:t>// Java 5+: the compiler enforces the element type</a:t>
            </a:r>
            <a:endParaRPr lang="en-US" sz="1057" dirty="0"/>
          </a:p>
          <a:p>
            <a:pPr indent="0" marL="0">
              <a:buNone/>
            </a:pPr>
            <a:r>
              <a:rPr lang="en-US" sz="1057" dirty="0">
                <a:solidFill>
                  <a:srgbClr val="24292F"/>
                </a:solidFill>
                <a:latin typeface="Consolas" pitchFamily="34" charset="0"/>
                <a:ea typeface="Consolas" pitchFamily="34" charset="-122"/>
                <a:cs typeface="Consolas" pitchFamily="34" charset="-120"/>
              </a:rPr>
              <a:t>List&lt;String&gt; safe = new ArrayList&lt;&gt;();  // &lt;&gt; = diamond operator (Java 7)</a:t>
            </a:r>
            <a:endParaRPr lang="en-US" sz="1057" dirty="0"/>
          </a:p>
          <a:p>
            <a:pPr indent="0" marL="0">
              <a:buNone/>
            </a:pPr>
            <a:r>
              <a:rPr lang="en-US" sz="1057" dirty="0">
                <a:solidFill>
                  <a:srgbClr val="24292F"/>
                </a:solidFill>
                <a:latin typeface="Consolas" pitchFamily="34" charset="0"/>
                <a:ea typeface="Consolas" pitchFamily="34" charset="-122"/>
                <a:cs typeface="Consolas" pitchFamily="34" charset="-120"/>
              </a:rPr>
              <a:t>safe.add("asha");</a:t>
            </a:r>
            <a:endParaRPr lang="en-US" sz="1057" dirty="0"/>
          </a:p>
          <a:p>
            <a:pPr indent="0" marL="0">
              <a:buNone/>
            </a:pPr>
            <a:r>
              <a:rPr lang="en-US" sz="1057" dirty="0">
                <a:solidFill>
                  <a:srgbClr val="24292F"/>
                </a:solidFill>
                <a:latin typeface="Consolas" pitchFamily="34" charset="0"/>
                <a:ea typeface="Consolas" pitchFamily="34" charset="-122"/>
                <a:cs typeface="Consolas" pitchFamily="34" charset="-120"/>
              </a:rPr>
              <a:t>// safe.add(42);                        // compile error</a:t>
            </a:r>
            <a:endParaRPr lang="en-US" sz="1057" dirty="0"/>
          </a:p>
          <a:p>
            <a:pPr indent="0" marL="0">
              <a:buNone/>
            </a:pPr>
            <a:r>
              <a:rPr lang="en-US" sz="1057" dirty="0">
                <a:solidFill>
                  <a:srgbClr val="24292F"/>
                </a:solidFill>
                <a:latin typeface="Consolas" pitchFamily="34" charset="0"/>
                <a:ea typeface="Consolas" pitchFamily="34" charset="-122"/>
                <a:cs typeface="Consolas" pitchFamily="34" charset="-120"/>
              </a:rPr>
              <a:t>String m = safe.get(0);                 // no cast needed</a:t>
            </a:r>
            <a:endParaRPr lang="en-US" sz="1057"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C9C43D"/>
          </a:solidFill>
          <a:ln w="12700">
            <a:solidFill>
              <a:srgbClr val="C9C43D"/>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4</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Generic classes, bounded methods &amp; wildcards</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A reusable </a:t>
            </a:r>
            <a:pPr indent="0" marL="0">
              <a:buNone/>
            </a:pPr>
            <a:r>
              <a:rPr lang="en-US" sz="1350" dirty="0">
                <a:solidFill>
                  <a:srgbClr val="B4235A"/>
                </a:solidFill>
                <a:latin typeface="Consolas" pitchFamily="34" charset="0"/>
                <a:ea typeface="Consolas" pitchFamily="34" charset="-122"/>
                <a:cs typeface="Consolas" pitchFamily="34" charset="-120"/>
              </a:rPr>
              <a:t>Page&lt;T&gt;</a:t>
            </a:r>
            <a:pPr indent="0" marL="0">
              <a:buNone/>
            </a:pPr>
            <a:r>
              <a:rPr lang="en-US" sz="1350" dirty="0">
                <a:solidFill>
                  <a:srgbClr val="5B6B60"/>
                </a:solidFill>
                <a:latin typeface="Calibri" pitchFamily="34" charset="0"/>
                <a:ea typeface="Calibri" pitchFamily="34" charset="-122"/>
                <a:cs typeface="Calibri" pitchFamily="34" charset="-120"/>
              </a:rPr>
              <a:t>, a bounded </a:t>
            </a:r>
            <a:pPr indent="0" marL="0">
              <a:buNone/>
            </a:pPr>
            <a:r>
              <a:rPr lang="en-US" sz="1350" dirty="0">
                <a:solidFill>
                  <a:srgbClr val="B4235A"/>
                </a:solidFill>
                <a:latin typeface="Consolas" pitchFamily="34" charset="0"/>
                <a:ea typeface="Consolas" pitchFamily="34" charset="-122"/>
                <a:cs typeface="Consolas" pitchFamily="34" charset="-120"/>
              </a:rPr>
              <a:t>maxOf</a:t>
            </a:r>
            <a:pPr indent="0" marL="0">
              <a:buNone/>
            </a:pPr>
            <a:r>
              <a:rPr lang="en-US" sz="1350" dirty="0">
                <a:solidFill>
                  <a:srgbClr val="5B6B60"/>
                </a:solidFill>
                <a:latin typeface="Calibri" pitchFamily="34" charset="0"/>
                <a:ea typeface="Calibri" pitchFamily="34" charset="-122"/>
                <a:cs typeface="Calibri" pitchFamily="34" charset="-120"/>
              </a:rPr>
              <a:t>, PECS in practice — and why raw types are dangerous.</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GenericsDemo.java</a:t>
            </a:r>
            <a:endParaRPr lang="en-US" sz="900" dirty="0"/>
          </a:p>
        </p:txBody>
      </p:sp>
      <p:sp>
        <p:nvSpPr>
          <p:cNvPr id="8" name="Text 6"/>
          <p:cNvSpPr/>
          <p:nvPr/>
        </p:nvSpPr>
        <p:spPr>
          <a:xfrm>
            <a:off x="457200" y="2157984"/>
            <a:ext cx="11277295" cy="419709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import java.util.*;</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java.util.function.Function;</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public class GenericsDemo {</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Generic record: one page of results (we return this from REST APIs later)</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record Page&lt;T&gt;(List&lt;T&gt; items, int page, int totalPages)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&lt;R&gt; Page&lt;R&gt; map(Function&lt;? super T, ? extends R&gt; fn)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return new Page&lt;&gt;(items.stream().&lt;R&gt;map(fn).toList(), page, totalPages);</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Bounded type parameter</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static &lt;T extends Comparable&lt;? super T&gt;&gt; T maxOf(List&lt;? extends T&gt; list)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T best = list.get(0);</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for (T t : list) if (t.compareTo(best) &gt; 0) best = 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return best;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Producer: we only READ Numbers -&gt; ? extends</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static double sum(Collection&lt;? extends Number&gt; nums)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full listing in the web notes</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C9C43D"/>
          </a:solidFill>
          <a:ln w="12700">
            <a:solidFill>
              <a:srgbClr val="C9C43D"/>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4</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Ordering &amp; identity: Comparable, Comparator, equals/hashCode</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b="1" dirty="0">
                <a:solidFill>
                  <a:srgbClr val="5B6B60"/>
                </a:solidFill>
                <a:latin typeface="Calibri" pitchFamily="34" charset="0"/>
                <a:ea typeface="Calibri" pitchFamily="34" charset="-122"/>
                <a:cs typeface="Calibri" pitchFamily="34" charset="-120"/>
              </a:rPr>
              <a:t>Comparable</a:t>
            </a:r>
            <a:pPr indent="0" marL="0">
              <a:buNone/>
            </a:pPr>
            <a:r>
              <a:rPr lang="en-US" sz="1350" dirty="0">
                <a:solidFill>
                  <a:srgbClr val="5B6B60"/>
                </a:solidFill>
                <a:latin typeface="Calibri" pitchFamily="34" charset="0"/>
                <a:ea typeface="Calibri" pitchFamily="34" charset="-122"/>
                <a:cs typeface="Calibri" pitchFamily="34" charset="-120"/>
              </a:rPr>
              <a:t> defines a type's natural order; </a:t>
            </a:r>
            <a:pPr indent="0" marL="0">
              <a:buNone/>
            </a:pPr>
            <a:r>
              <a:rPr lang="en-US" sz="1350" b="1" dirty="0">
                <a:solidFill>
                  <a:srgbClr val="5B6B60"/>
                </a:solidFill>
                <a:latin typeface="Calibri" pitchFamily="34" charset="0"/>
                <a:ea typeface="Calibri" pitchFamily="34" charset="-122"/>
                <a:cs typeface="Calibri" pitchFamily="34" charset="-120"/>
              </a:rPr>
              <a:t>Comparator</a:t>
            </a:r>
            <a:pPr indent="0" marL="0">
              <a:buNone/>
            </a:pPr>
            <a:r>
              <a:rPr lang="en-US" sz="1350" dirty="0">
                <a:solidFill>
                  <a:srgbClr val="5B6B60"/>
                </a:solidFill>
                <a:latin typeface="Calibri" pitchFamily="34" charset="0"/>
                <a:ea typeface="Calibri" pitchFamily="34" charset="-122"/>
                <a:cs typeface="Calibri" pitchFamily="34" charset="-120"/>
              </a:rPr>
              <a:t> defines any other order. Hash-based collections need </a:t>
            </a:r>
            <a:pPr indent="0" marL="0">
              <a:buNone/>
            </a:pPr>
            <a:r>
              <a:rPr lang="en-US" sz="1350" dirty="0">
                <a:solidFill>
                  <a:srgbClr val="B4235A"/>
                </a:solidFill>
                <a:latin typeface="Consolas" pitchFamily="34" charset="0"/>
                <a:ea typeface="Consolas" pitchFamily="34" charset="-122"/>
                <a:cs typeface="Consolas" pitchFamily="34" charset="-120"/>
              </a:rPr>
              <a:t>equals</a:t>
            </a:r>
            <a:pPr indent="0" marL="0">
              <a:buNone/>
            </a:pPr>
            <a:r>
              <a:rPr lang="en-US" sz="1350" dirty="0">
                <a:solidFill>
                  <a:srgbClr val="5B6B60"/>
                </a:solidFill>
                <a:latin typeface="Calibri" pitchFamily="34" charset="0"/>
                <a:ea typeface="Calibri" pitchFamily="34" charset="-122"/>
                <a:cs typeface="Calibri" pitchFamily="34" charset="-120"/>
              </a:rPr>
              <a:t> </a:t>
            </a:r>
            <a:pPr indent="0" marL="0">
              <a:buNone/>
            </a:pPr>
            <a:r>
              <a:rPr lang="en-US" sz="1350" b="1" dirty="0">
                <a:solidFill>
                  <a:srgbClr val="5B6B60"/>
                </a:solidFill>
                <a:latin typeface="Calibri" pitchFamily="34" charset="0"/>
                <a:ea typeface="Calibri" pitchFamily="34" charset="-122"/>
                <a:cs typeface="Calibri" pitchFamily="34" charset="-120"/>
              </a:rPr>
              <a:t>and</a:t>
            </a:r>
            <a:pPr indent="0" marL="0">
              <a:buNone/>
            </a:pPr>
            <a:r>
              <a:rPr lang="en-US" sz="1350" dirty="0">
                <a:solidFill>
                  <a:srgbClr val="5B6B60"/>
                </a:solidFill>
                <a:latin typeface="Calibri" pitchFamily="34" charset="0"/>
                <a:ea typeface="Calibri" pitchFamily="34" charset="-122"/>
                <a:cs typeface="Calibri" pitchFamily="34" charset="-120"/>
              </a:rPr>
              <a:t> </a:t>
            </a:r>
            <a:pPr indent="0" marL="0">
              <a:buNone/>
            </a:pPr>
            <a:r>
              <a:rPr lang="en-US" sz="1350" dirty="0">
                <a:solidFill>
                  <a:srgbClr val="B4235A"/>
                </a:solidFill>
                <a:latin typeface="Consolas" pitchFamily="34" charset="0"/>
                <a:ea typeface="Consolas" pitchFamily="34" charset="-122"/>
                <a:cs typeface="Consolas" pitchFamily="34" charset="-120"/>
              </a:rPr>
              <a:t>hashCode</a:t>
            </a:r>
            <a:pPr indent="0" marL="0">
              <a:buNone/>
            </a:pPr>
            <a:r>
              <a:rPr lang="en-US" sz="1350" dirty="0">
                <a:solidFill>
                  <a:srgbClr val="5B6B60"/>
                </a:solidFill>
                <a:latin typeface="Calibri" pitchFamily="34" charset="0"/>
                <a:ea typeface="Calibri" pitchFamily="34" charset="-122"/>
                <a:cs typeface="Calibri" pitchFamily="34" charset="-120"/>
              </a:rPr>
              <a:t>.</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CompareDemo.java</a:t>
            </a:r>
            <a:endParaRPr lang="en-US" sz="900" dirty="0"/>
          </a:p>
        </p:txBody>
      </p:sp>
      <p:sp>
        <p:nvSpPr>
          <p:cNvPr id="8" name="Text 6"/>
          <p:cNvSpPr/>
          <p:nvPr/>
        </p:nvSpPr>
        <p:spPr>
          <a:xfrm>
            <a:off x="457200" y="2157984"/>
            <a:ext cx="11277295" cy="360273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import java.util.*;</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public class CompareDemo {</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static class PlainUser {                       // no equals/hashCode!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final String email;</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PlainUser(String email) { this.email = email;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record User(String email, String name, int age) implements Comparable&lt;User&gt;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public int compareTo(User o) { return email.compareTo(o.email); }   // natural order</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public static void main(String[] args)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Set&lt;PlainUser&gt; plain = new HashSet&lt;&gt;();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plain.add(new PlainUser("a@x.com"));</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plain.add(new PlainUser("a@x.com"));</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System.out.println("PlainUser set size: " + plain.size());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full listing in the web notes</a:t>
            </a:r>
            <a:endParaRPr lang="en-US" sz="1100" dirty="0"/>
          </a:p>
        </p:txBody>
      </p:sp>
      <p:sp>
        <p:nvSpPr>
          <p:cNvPr id="9" name="Text 7"/>
          <p:cNvSpPr/>
          <p:nvPr/>
        </p:nvSpPr>
        <p:spPr>
          <a:xfrm>
            <a:off x="457200" y="5806440"/>
            <a:ext cx="11277295" cy="530352"/>
          </a:xfrm>
          <a:prstGeom prst="rect">
            <a:avLst/>
          </a:prstGeom>
          <a:solidFill>
            <a:srgbClr val="FFF8E1"/>
          </a:solidFill>
          <a:ln w="9525">
            <a:solidFill>
              <a:srgbClr val="E9C46A"/>
            </a:solidFill>
          </a:ln>
        </p:spPr>
        <p:txBody>
          <a:bodyPr wrap="square" lIns="1016" tIns="1016" rIns="1016" bIns="1016" rtlCol="0" anchor="ctr"/>
          <a:lstStyle/>
          <a:p>
            <a:pPr indent="0" marL="0">
              <a:buNone/>
            </a:pPr>
            <a:r>
              <a:rPr lang="en-US" sz="1100" b="1" dirty="0">
                <a:solidFill>
                  <a:srgbClr val="1F2A24"/>
                </a:solidFill>
                <a:latin typeface="Calibri" pitchFamily="34" charset="0"/>
                <a:ea typeface="Calibri" pitchFamily="34" charset="-122"/>
                <a:cs typeface="Calibri" pitchFamily="34" charset="-120"/>
              </a:rPr>
              <a:t>PITFALL: </a:t>
            </a:r>
            <a:pPr indent="0" marL="0">
              <a:buNone/>
            </a:pPr>
            <a:r>
              <a:rPr lang="en-US" sz="1100" dirty="0">
                <a:solidFill>
                  <a:srgbClr val="1F2A24"/>
                </a:solidFill>
                <a:latin typeface="Calibri" pitchFamily="34" charset="0"/>
                <a:ea typeface="Calibri" pitchFamily="34" charset="-122"/>
                <a:cs typeface="Calibri" pitchFamily="34" charset="-120"/>
              </a:rPr>
              <a:t>A </a:t>
            </a:r>
            <a:pPr indent="0" marL="0">
              <a:buNone/>
            </a:pPr>
            <a:r>
              <a:rPr lang="en-US" sz="1100" dirty="0">
                <a:solidFill>
                  <a:srgbClr val="B4235A"/>
                </a:solidFill>
                <a:latin typeface="Consolas" pitchFamily="34" charset="0"/>
                <a:ea typeface="Consolas" pitchFamily="34" charset="-122"/>
                <a:cs typeface="Consolas" pitchFamily="34" charset="-120"/>
              </a:rPr>
              <a:t>TreeSet</a:t>
            </a:r>
            <a:pPr indent="0" marL="0">
              <a:buNone/>
            </a:pPr>
            <a:r>
              <a:rPr lang="en-US" sz="1100" dirty="0">
                <a:solidFill>
                  <a:srgbClr val="1F2A24"/>
                </a:solidFill>
                <a:latin typeface="Calibri" pitchFamily="34" charset="0"/>
                <a:ea typeface="Calibri" pitchFamily="34" charset="-122"/>
                <a:cs typeface="Calibri" pitchFamily="34" charset="-120"/>
              </a:rPr>
              <a:t>/</a:t>
            </a:r>
            <a:pPr indent="0" marL="0">
              <a:buNone/>
            </a:pPr>
            <a:r>
              <a:rPr lang="en-US" sz="1100" dirty="0">
                <a:solidFill>
                  <a:srgbClr val="B4235A"/>
                </a:solidFill>
                <a:latin typeface="Consolas" pitchFamily="34" charset="0"/>
                <a:ea typeface="Consolas" pitchFamily="34" charset="-122"/>
                <a:cs typeface="Consolas" pitchFamily="34" charset="-120"/>
              </a:rPr>
              <a:t>TreeMap</a:t>
            </a:r>
            <a:pPr indent="0" marL="0">
              <a:buNone/>
            </a:pPr>
            <a:r>
              <a:rPr lang="en-US" sz="1100" dirty="0">
                <a:solidFill>
                  <a:srgbClr val="1F2A24"/>
                </a:solidFill>
                <a:latin typeface="Calibri" pitchFamily="34" charset="0"/>
                <a:ea typeface="Calibri" pitchFamily="34" charset="-122"/>
                <a:cs typeface="Calibri" pitchFamily="34" charset="-120"/>
              </a:rPr>
              <a:t> uses </a:t>
            </a:r>
            <a:pPr indent="0" marL="0">
              <a:buNone/>
            </a:pPr>
            <a:r>
              <a:rPr lang="en-US" sz="1100" dirty="0">
                <a:solidFill>
                  <a:srgbClr val="B4235A"/>
                </a:solidFill>
                <a:latin typeface="Consolas" pitchFamily="34" charset="0"/>
                <a:ea typeface="Consolas" pitchFamily="34" charset="-122"/>
                <a:cs typeface="Consolas" pitchFamily="34" charset="-120"/>
              </a:rPr>
              <a:t>compareTo</a:t>
            </a:r>
            <a:pPr indent="0" marL="0">
              <a:buNone/>
            </a:pPr>
            <a:r>
              <a:rPr lang="en-US" sz="1100" dirty="0">
                <a:solidFill>
                  <a:srgbClr val="1F2A24"/>
                </a:solidFill>
                <a:latin typeface="Calibri" pitchFamily="34" charset="0"/>
                <a:ea typeface="Calibri" pitchFamily="34" charset="-122"/>
                <a:cs typeface="Calibri" pitchFamily="34" charset="-120"/>
              </a:rPr>
              <a:t>/</a:t>
            </a:r>
            <a:pPr indent="0" marL="0">
              <a:buNone/>
            </a:pPr>
            <a:r>
              <a:rPr lang="en-US" sz="1100" dirty="0">
                <a:solidFill>
                  <a:srgbClr val="B4235A"/>
                </a:solidFill>
                <a:latin typeface="Consolas" pitchFamily="34" charset="0"/>
                <a:ea typeface="Consolas" pitchFamily="34" charset="-122"/>
                <a:cs typeface="Consolas" pitchFamily="34" charset="-120"/>
              </a:rPr>
              <a:t>compare</a:t>
            </a:r>
            <a:pPr indent="0" marL="0">
              <a:buNone/>
            </a:pPr>
            <a:r>
              <a:rPr lang="en-US" sz="1100" dirty="0">
                <a:solidFill>
                  <a:srgbClr val="1F2A24"/>
                </a:solidFill>
                <a:latin typeface="Calibri" pitchFamily="34" charset="0"/>
                <a:ea typeface="Calibri" pitchFamily="34" charset="-122"/>
                <a:cs typeface="Calibri" pitchFamily="34" charset="-120"/>
              </a:rPr>
              <a:t> — </a:t>
            </a:r>
            <a:pPr indent="0" marL="0">
              <a:buNone/>
            </a:pPr>
            <a:r>
              <a:rPr lang="en-US" sz="1100" b="1" dirty="0">
                <a:solidFill>
                  <a:srgbClr val="1F2A24"/>
                </a:solidFill>
                <a:latin typeface="Calibri" pitchFamily="34" charset="0"/>
                <a:ea typeface="Calibri" pitchFamily="34" charset="-122"/>
                <a:cs typeface="Calibri" pitchFamily="34" charset="-120"/>
              </a:rPr>
              <a:t>not</a:t>
            </a:r>
            <a:pPr indent="0" marL="0">
              <a:buNone/>
            </a:pPr>
            <a:r>
              <a:rPr lang="en-US" sz="1100" dirty="0">
                <a:solidFill>
                  <a:srgbClr val="1F2A24"/>
                </a:solidFill>
                <a:latin typeface="Calibri" pitchFamily="34" charset="0"/>
                <a:ea typeface="Calibri" pitchFamily="34" charset="-122"/>
                <a:cs typeface="Calibri" pitchFamily="34" charset="-120"/>
              </a:rPr>
              <a:t> </a:t>
            </a:r>
            <a:pPr indent="0" marL="0">
              <a:buNone/>
            </a:pPr>
            <a:r>
              <a:rPr lang="en-US" sz="1100" dirty="0">
                <a:solidFill>
                  <a:srgbClr val="B4235A"/>
                </a:solidFill>
                <a:latin typeface="Consolas" pitchFamily="34" charset="0"/>
                <a:ea typeface="Consolas" pitchFamily="34" charset="-122"/>
                <a:cs typeface="Consolas" pitchFamily="34" charset="-120"/>
              </a:rPr>
              <a:t>equals</a:t>
            </a:r>
            <a:pPr indent="0" marL="0">
              <a:buNone/>
            </a:pPr>
            <a:r>
              <a:rPr lang="en-US" sz="1100" dirty="0">
                <a:solidFill>
                  <a:srgbClr val="1F2A24"/>
                </a:solidFill>
                <a:latin typeface="Calibri" pitchFamily="34" charset="0"/>
                <a:ea typeface="Calibri" pitchFamily="34" charset="-122"/>
                <a:cs typeface="Calibri" pitchFamily="34" charset="-120"/>
              </a:rPr>
              <a:t> — to detect duplicates. A comparator that returns 0 for two different users (e.g. comparing only age) silently drops one of them.</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C9C43D"/>
          </a:solidFill>
          <a:ln w="12700">
            <a:solidFill>
              <a:srgbClr val="C9C43D"/>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4</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Choosing the right collection</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Start from the question your code asks most often.</a:t>
            </a:r>
            <a:endParaRPr lang="en-US" sz="135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7200" y="4069080"/>
          <a:ext cx="11277295" cy="914400"/>
        </p:xfrm>
        <a:graphic>
          <a:graphicData uri="http://schemas.openxmlformats.org/drawingml/2006/table">
            <a:tbl>
              <a:tblPr/>
              <a:tblGrid>
                <a:gridCol w="3759098"/>
                <a:gridCol w="3759098"/>
                <a:gridCol w="3759098"/>
              </a:tblGrid>
              <a:tr h="164592">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If you need…</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Use</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Why</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r>
              <a:tr h="164592">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an ordered list, index access</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ArrayList</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fast random access, compact</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164592">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uniqueness, fast lookup</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HashSet</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O(1) contains</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164592">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uniqueness + sorted / ranges</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TreeSet</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O(log n), ceiling, subSet</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164592">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key → value lookup</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HashMap</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O(1) get/put</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164592">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predictable iteration order</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LinkedHashMap / LinkedHashSet</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insertion (or access) order</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164592">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sorted keys, range queries</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TreeMap</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red-black tree</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164592">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FIFO queue or stack</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ArrayDeque</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fast at both ends</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164592">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always the min/max next</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PriorityQueue</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binary heap</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164592">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shared between threads</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ConcurrentHashMap, BlockingQueue</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thread-safe (Session 6)</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bl>
          </a:graphicData>
        </a:graphic>
      </p:graphicFrame>
      <p:sp>
        <p:nvSpPr>
          <p:cNvPr id="8" name="Text 5"/>
          <p:cNvSpPr/>
          <p:nvPr/>
        </p:nvSpPr>
        <p:spPr>
          <a:xfrm>
            <a:off x="457200" y="5806440"/>
            <a:ext cx="11277295" cy="530352"/>
          </a:xfrm>
          <a:prstGeom prst="rect">
            <a:avLst/>
          </a:prstGeom>
          <a:solidFill>
            <a:srgbClr val="FFF8E1"/>
          </a:solidFill>
          <a:ln w="9525">
            <a:solidFill>
              <a:srgbClr val="E9C46A"/>
            </a:solidFill>
          </a:ln>
        </p:spPr>
        <p:txBody>
          <a:bodyPr wrap="square" lIns="1016" tIns="1016" rIns="1016" bIns="1016" rtlCol="0" anchor="ctr"/>
          <a:lstStyle/>
          <a:p>
            <a:pPr indent="0" marL="0">
              <a:buNone/>
            </a:pPr>
            <a:r>
              <a:rPr lang="en-US" sz="1100" b="1" dirty="0">
                <a:solidFill>
                  <a:srgbClr val="1F2A24"/>
                </a:solidFill>
                <a:latin typeface="Calibri" pitchFamily="34" charset="0"/>
                <a:ea typeface="Calibri" pitchFamily="34" charset="-122"/>
                <a:cs typeface="Calibri" pitchFamily="34" charset="-120"/>
              </a:rPr>
              <a:t>INTERVIEW: </a:t>
            </a:r>
            <a:pPr indent="0" marL="0">
              <a:buNone/>
            </a:pPr>
            <a:r>
              <a:rPr lang="en-US" sz="1100" i="1" dirty="0">
                <a:solidFill>
                  <a:srgbClr val="1F2A24"/>
                </a:solidFill>
                <a:latin typeface="Calibri" pitchFamily="34" charset="0"/>
                <a:ea typeface="Calibri" pitchFamily="34" charset="-122"/>
                <a:cs typeface="Calibri" pitchFamily="34" charset="-120"/>
              </a:rPr>
              <a:t>How would you remove duplicates from a list but keep the original order?</a:t>
            </a:r>
            <a:pPr indent="0" marL="0">
              <a:buNone/>
            </a:pPr>
            <a:r>
              <a:rPr lang="en-US" sz="1100" dirty="0">
                <a:solidFill>
                  <a:srgbClr val="1F2A24"/>
                </a:solidFill>
                <a:latin typeface="Calibri" pitchFamily="34" charset="0"/>
                <a:ea typeface="Calibri" pitchFamily="34" charset="-122"/>
                <a:cs typeface="Calibri" pitchFamily="34" charset="-120"/>
              </a:rPr>
              <a:t> → </a:t>
            </a:r>
            <a:pPr indent="0" marL="0">
              <a:buNone/>
            </a:pPr>
            <a:r>
              <a:rPr lang="en-US" sz="1100" dirty="0">
                <a:solidFill>
                  <a:srgbClr val="B4235A"/>
                </a:solidFill>
                <a:latin typeface="Consolas" pitchFamily="34" charset="0"/>
                <a:ea typeface="Consolas" pitchFamily="34" charset="-122"/>
                <a:cs typeface="Consolas" pitchFamily="34" charset="-120"/>
              </a:rPr>
              <a:t>new ArrayList&lt;&gt;(new LinkedHashSet&lt;&gt;(list))</a:t>
            </a:r>
            <a:pPr indent="0" marL="0">
              <a:buNone/>
            </a:pPr>
            <a:r>
              <a:rPr lang="en-US" sz="1100" dirty="0">
                <a:solidFill>
                  <a:srgbClr val="1F2A24"/>
                </a:solidFill>
                <a:latin typeface="Calibri" pitchFamily="34" charset="0"/>
                <a:ea typeface="Calibri" pitchFamily="34" charset="-122"/>
                <a:cs typeface="Calibri" pitchFamily="34" charset="-120"/>
              </a:rPr>
              <a:t> — or </a:t>
            </a:r>
            <a:pPr indent="0" marL="0">
              <a:buNone/>
            </a:pPr>
            <a:r>
              <a:rPr lang="en-US" sz="1100" dirty="0">
                <a:solidFill>
                  <a:srgbClr val="B4235A"/>
                </a:solidFill>
                <a:latin typeface="Consolas" pitchFamily="34" charset="0"/>
                <a:ea typeface="Consolas" pitchFamily="34" charset="-122"/>
                <a:cs typeface="Consolas" pitchFamily="34" charset="-120"/>
              </a:rPr>
              <a:t>list.stream().distinct().toList()</a:t>
            </a:r>
            <a:pPr indent="0" marL="0">
              <a:buNone/>
            </a:pPr>
            <a:r>
              <a:rPr lang="en-US" sz="1100" dirty="0">
                <a:solidFill>
                  <a:srgbClr val="1F2A24"/>
                </a:solidFill>
                <a:latin typeface="Calibri" pitchFamily="34" charset="0"/>
                <a:ea typeface="Calibri" pitchFamily="34" charset="-122"/>
                <a:cs typeface="Calibri" pitchFamily="34" charset="-120"/>
              </a:rPr>
              <a:t> (Session 5).</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C9C43D"/>
          </a:solidFill>
          <a:ln w="12700">
            <a:solidFill>
              <a:srgbClr val="C9C43D"/>
            </a:solidFill>
            <a:prstDash val="solid"/>
          </a:ln>
        </p:spPr>
      </p:sp>
      <p:sp>
        <p:nvSpPr>
          <p:cNvPr id="3" name="Text 1"/>
          <p:cNvSpPr/>
          <p:nvPr/>
        </p:nvSpPr>
        <p:spPr>
          <a:xfrm>
            <a:off x="457200" y="256032"/>
            <a:ext cx="1463040" cy="292608"/>
          </a:xfrm>
          <a:prstGeom prst="roundRect">
            <a:avLst>
              <a:gd name="adj" fmla="val 18750"/>
            </a:avLst>
          </a:prstGeom>
          <a:solidFill>
            <a:srgbClr val="E8892E"/>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HANDS-ON LAB</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4</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Lab: a generic repository for a library system</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Build a mini version of Spring Data's </a:t>
            </a:r>
            <a:pPr indent="0" marL="0">
              <a:buNone/>
            </a:pPr>
            <a:r>
              <a:rPr lang="en-US" sz="1350" dirty="0">
                <a:solidFill>
                  <a:srgbClr val="B4235A"/>
                </a:solidFill>
                <a:latin typeface="Consolas" pitchFamily="34" charset="0"/>
                <a:ea typeface="Consolas" pitchFamily="34" charset="-122"/>
                <a:cs typeface="Consolas" pitchFamily="34" charset="-120"/>
              </a:rPr>
              <a:t>CrudRepository&lt;T, ID&gt;</a:t>
            </a:r>
            <a:pPr indent="0" marL="0">
              <a:buNone/>
            </a:pPr>
            <a:r>
              <a:rPr lang="en-US" sz="1350" dirty="0">
                <a:solidFill>
                  <a:srgbClr val="5B6B60"/>
                </a:solidFill>
                <a:latin typeface="Calibri" pitchFamily="34" charset="0"/>
                <a:ea typeface="Calibri" pitchFamily="34" charset="-122"/>
                <a:cs typeface="Calibri" pitchFamily="34" charset="-120"/>
              </a:rPr>
              <a:t> and use every collection type from today.</a:t>
            </a:r>
            <a:endParaRPr lang="en-US" sz="1350" dirty="0"/>
          </a:p>
        </p:txBody>
      </p:sp>
      <p:sp>
        <p:nvSpPr>
          <p:cNvPr id="7" name="Text 5"/>
          <p:cNvSpPr/>
          <p:nvPr/>
        </p:nvSpPr>
        <p:spPr>
          <a:xfrm>
            <a:off x="457200" y="1883664"/>
            <a:ext cx="5577840" cy="4471416"/>
          </a:xfrm>
          <a:prstGeom prst="rect">
            <a:avLst/>
          </a:prstGeom>
          <a:noFill/>
          <a:ln/>
        </p:spPr>
        <p:txBody>
          <a:bodyPr wrap="square" rtlCol="0" anchor="t"/>
          <a:lstStyle/>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Create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interface Identifiable&lt;ID&gt; { ID id(); }</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 and a generic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InMemoryRepository&lt;T extends Identifiable&lt;ID&gt;, ID&gt;</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 backed by a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LinkedHashMap</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Implement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save</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findById</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 (returning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Optional&lt;T&gt;</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findAll(Predicate&lt;? super T&gt;)</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deleteById</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 and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count</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Model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record Book(String id, String title, String genre) implements Identifiable&lt;String&gt;</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 and store a few books — no casts anywhere.</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Keep a waitlist per book with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Map&lt;String, Deque&lt;String&gt;&gt;</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 using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computeIfAbsent</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 +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offer</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poll</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 (FIFO).</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Record actions in an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ArrayDeque</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 used as an undo </a:t>
            </a:r>
            <a:endParaRPr lang="en-US" sz="1300" dirty="0"/>
          </a:p>
          <a:p>
            <a:pPr marL="342900" indent="-342900">
              <a:spcAft>
                <a:spcPts val="400"/>
              </a:spcAft>
              <a:buSzPct val="100000"/>
              <a:buFont typeface="+mj-lt"/>
              <a:buAutoNum type="arabicPeriod" startAt="1"/>
            </a:pPr>
            <a:r>
              <a:rPr lang="en-US" sz="1300" b="1" dirty="0">
                <a:solidFill>
                  <a:srgbClr val="1F2A24"/>
                </a:solidFill>
                <a:latin typeface="Calibri" pitchFamily="34" charset="0"/>
                <a:ea typeface="Calibri" pitchFamily="34" charset="-122"/>
                <a:cs typeface="Calibri" pitchFamily="34" charset="-120"/>
              </a:rPr>
              <a:t>stack</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push</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pop</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Count books per genre with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TreeMap.merge</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 and print it sorted.</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Track loans in a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PriorityQueue&lt;Loan&gt;</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 ordered by due date and print the two most overdue loans.</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Stretch: add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findAll(Predicate, Comparator)</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 that returns sorted results; make the store thread-safe with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ConcurrentHashMap</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a:t>
            </a:r>
            <a:endParaRPr lang="en-US" sz="1300" dirty="0"/>
          </a:p>
        </p:txBody>
      </p:sp>
      <p:sp>
        <p:nvSpPr>
          <p:cNvPr id="8" name="Text 6"/>
          <p:cNvSpPr/>
          <p:nvPr/>
        </p:nvSpPr>
        <p:spPr>
          <a:xfrm>
            <a:off x="6217920" y="1883664"/>
            <a:ext cx="551657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LibraryLab.java</a:t>
            </a:r>
            <a:endParaRPr lang="en-US" sz="900" dirty="0"/>
          </a:p>
        </p:txBody>
      </p:sp>
      <p:sp>
        <p:nvSpPr>
          <p:cNvPr id="9" name="Text 7"/>
          <p:cNvSpPr/>
          <p:nvPr/>
        </p:nvSpPr>
        <p:spPr>
          <a:xfrm>
            <a:off x="6217920" y="2157984"/>
            <a:ext cx="5516575" cy="419709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750" dirty="0">
                <a:solidFill>
                  <a:srgbClr val="24292F"/>
                </a:solidFill>
                <a:latin typeface="Consolas" pitchFamily="34" charset="0"/>
                <a:ea typeface="Consolas" pitchFamily="34" charset="-122"/>
                <a:cs typeface="Consolas" pitchFamily="34" charset="-120"/>
              </a:rPr>
              <a:t>import java.util.*;</a:t>
            </a:r>
            <a:endParaRPr lang="en-US" sz="750" dirty="0"/>
          </a:p>
          <a:p>
            <a:pPr indent="0" marL="0">
              <a:buNone/>
            </a:pPr>
            <a:r>
              <a:rPr lang="en-US" sz="750" dirty="0">
                <a:solidFill>
                  <a:srgbClr val="24292F"/>
                </a:solidFill>
                <a:latin typeface="Consolas" pitchFamily="34" charset="0"/>
                <a:ea typeface="Consolas" pitchFamily="34" charset="-122"/>
                <a:cs typeface="Consolas" pitchFamily="34" charset="-120"/>
              </a:rPr>
              <a:t>import java.util.function.Predicate;</a:t>
            </a:r>
            <a:endParaRPr lang="en-US" sz="750" dirty="0"/>
          </a:p>
          <a:p>
            <a:pPr indent="0" marL="0">
              <a:buNone/>
            </a:pPr>
            <a:endParaRPr lang="en-US" sz="750" dirty="0"/>
          </a:p>
          <a:p>
            <a:pPr indent="0" marL="0">
              <a:buNone/>
            </a:pPr>
            <a:r>
              <a:rPr lang="en-US" sz="750" dirty="0">
                <a:solidFill>
                  <a:srgbClr val="24292F"/>
                </a:solidFill>
                <a:latin typeface="Consolas" pitchFamily="34" charset="0"/>
                <a:ea typeface="Consolas" pitchFamily="34" charset="-122"/>
                <a:cs typeface="Consolas" pitchFamily="34" charset="-120"/>
              </a:rPr>
              <a:t>interface Identifiable&lt;ID&gt; { ID id(); }</a:t>
            </a:r>
            <a:endParaRPr lang="en-US" sz="750" dirty="0"/>
          </a:p>
          <a:p>
            <a:pPr indent="0" marL="0">
              <a:buNone/>
            </a:pPr>
            <a:endParaRPr lang="en-US" sz="750" dirty="0"/>
          </a:p>
          <a:p>
            <a:pPr indent="0" marL="0">
              <a:buNone/>
            </a:pPr>
            <a:r>
              <a:rPr lang="en-US" sz="750" dirty="0">
                <a:solidFill>
                  <a:srgbClr val="24292F"/>
                </a:solidFill>
                <a:latin typeface="Consolas" pitchFamily="34" charset="0"/>
                <a:ea typeface="Consolas" pitchFamily="34" charset="-122"/>
                <a:cs typeface="Consolas" pitchFamily="34" charset="-120"/>
              </a:rPr>
              <a:t>class InMemoryRepository&lt;T extends Identifiable&lt;ID&gt;, ID&gt; {   // like Spring Data's CrudRepository&lt;T, ID&gt;</a:t>
            </a:r>
            <a:endParaRPr lang="en-US" sz="750" dirty="0"/>
          </a:p>
          <a:p>
            <a:pPr indent="0" marL="0">
              <a:buNone/>
            </a:pPr>
            <a:r>
              <a:rPr lang="en-US" sz="750" dirty="0">
                <a:solidFill>
                  <a:srgbClr val="24292F"/>
                </a:solidFill>
                <a:latin typeface="Consolas" pitchFamily="34" charset="0"/>
                <a:ea typeface="Consolas" pitchFamily="34" charset="-122"/>
                <a:cs typeface="Consolas" pitchFamily="34" charset="-120"/>
              </a:rPr>
              <a:t>    private final Map&lt;ID, T&gt; store = new LinkedHashMap&lt;&gt;();</a:t>
            </a:r>
            <a:endParaRPr lang="en-US" sz="750" dirty="0"/>
          </a:p>
          <a:p>
            <a:pPr indent="0" marL="0">
              <a:buNone/>
            </a:pPr>
            <a:r>
              <a:rPr lang="en-US" sz="750" dirty="0">
                <a:solidFill>
                  <a:srgbClr val="24292F"/>
                </a:solidFill>
                <a:latin typeface="Consolas" pitchFamily="34" charset="0"/>
                <a:ea typeface="Consolas" pitchFamily="34" charset="-122"/>
                <a:cs typeface="Consolas" pitchFamily="34" charset="-120"/>
              </a:rPr>
              <a:t>    T save(T entity) { store.put(entity.id(), entity); return entity; }</a:t>
            </a:r>
            <a:endParaRPr lang="en-US" sz="750" dirty="0"/>
          </a:p>
          <a:p>
            <a:pPr indent="0" marL="0">
              <a:buNone/>
            </a:pPr>
            <a:r>
              <a:rPr lang="en-US" sz="750" dirty="0">
                <a:solidFill>
                  <a:srgbClr val="24292F"/>
                </a:solidFill>
                <a:latin typeface="Consolas" pitchFamily="34" charset="0"/>
                <a:ea typeface="Consolas" pitchFamily="34" charset="-122"/>
                <a:cs typeface="Consolas" pitchFamily="34" charset="-120"/>
              </a:rPr>
              <a:t>    Optional&lt;T&gt; findById(ID id) { return Optional.ofNullable(store.get(id)); }</a:t>
            </a:r>
            <a:endParaRPr lang="en-US" sz="750" dirty="0"/>
          </a:p>
          <a:p>
            <a:pPr indent="0" marL="0">
              <a:buNone/>
            </a:pPr>
            <a:r>
              <a:rPr lang="en-US" sz="750" dirty="0">
                <a:solidFill>
                  <a:srgbClr val="24292F"/>
                </a:solidFill>
                <a:latin typeface="Consolas" pitchFamily="34" charset="0"/>
                <a:ea typeface="Consolas" pitchFamily="34" charset="-122"/>
                <a:cs typeface="Consolas" pitchFamily="34" charset="-120"/>
              </a:rPr>
              <a:t>    List&lt;T&gt; findAll(Predicate&lt;? super T&gt; filter) { return store.values().stream().filter(filter).toList(); }</a:t>
            </a:r>
            <a:endParaRPr lang="en-US" sz="750" dirty="0"/>
          </a:p>
          <a:p>
            <a:pPr indent="0" marL="0">
              <a:buNone/>
            </a:pPr>
            <a:r>
              <a:rPr lang="en-US" sz="750" dirty="0">
                <a:solidFill>
                  <a:srgbClr val="24292F"/>
                </a:solidFill>
                <a:latin typeface="Consolas" pitchFamily="34" charset="0"/>
                <a:ea typeface="Consolas" pitchFamily="34" charset="-122"/>
                <a:cs typeface="Consolas" pitchFamily="34" charset="-120"/>
              </a:rPr>
              <a:t>    boolean deleteById(ID id) { return store.remove(id) != null; }</a:t>
            </a:r>
            <a:endParaRPr lang="en-US" sz="750" dirty="0"/>
          </a:p>
          <a:p>
            <a:pPr indent="0" marL="0">
              <a:buNone/>
            </a:pPr>
            <a:r>
              <a:rPr lang="en-US" sz="750" dirty="0">
                <a:solidFill>
                  <a:srgbClr val="24292F"/>
                </a:solidFill>
                <a:latin typeface="Consolas" pitchFamily="34" charset="0"/>
                <a:ea typeface="Consolas" pitchFamily="34" charset="-122"/>
                <a:cs typeface="Consolas" pitchFamily="34" charset="-120"/>
              </a:rPr>
              <a:t>    int count() { return store.size(); }</a:t>
            </a:r>
            <a:endParaRPr lang="en-US" sz="750" dirty="0"/>
          </a:p>
          <a:p>
            <a:pPr indent="0" marL="0">
              <a:buNone/>
            </a:pPr>
            <a:r>
              <a:rPr lang="en-US" sz="750" dirty="0">
                <a:solidFill>
                  <a:srgbClr val="24292F"/>
                </a:solidFill>
                <a:latin typeface="Consolas" pitchFamily="34" charset="0"/>
                <a:ea typeface="Consolas" pitchFamily="34" charset="-122"/>
                <a:cs typeface="Consolas" pitchFamily="34" charset="-120"/>
              </a:rPr>
              <a:t>}</a:t>
            </a:r>
            <a:endParaRPr lang="en-US" sz="750" dirty="0"/>
          </a:p>
          <a:p>
            <a:pPr indent="0" marL="0">
              <a:buNone/>
            </a:pPr>
            <a:endParaRPr lang="en-US" sz="750" dirty="0"/>
          </a:p>
          <a:p>
            <a:pPr indent="0" marL="0">
              <a:buNone/>
            </a:pPr>
            <a:r>
              <a:rPr lang="en-US" sz="750" dirty="0">
                <a:solidFill>
                  <a:srgbClr val="24292F"/>
                </a:solidFill>
                <a:latin typeface="Consolas" pitchFamily="34" charset="0"/>
                <a:ea typeface="Consolas" pitchFamily="34" charset="-122"/>
                <a:cs typeface="Consolas" pitchFamily="34" charset="-120"/>
              </a:rPr>
              <a:t>record Book(String id, String title, String genre) implements Identifiable&lt;String&gt; {}</a:t>
            </a:r>
            <a:endParaRPr lang="en-US" sz="750" dirty="0"/>
          </a:p>
          <a:p>
            <a:pPr indent="0" marL="0">
              <a:buNone/>
            </a:pPr>
            <a:endParaRPr lang="en-US" sz="750" dirty="0"/>
          </a:p>
          <a:p>
            <a:pPr indent="0" marL="0">
              <a:buNone/>
            </a:pPr>
            <a:r>
              <a:rPr lang="en-US" sz="750" dirty="0">
                <a:solidFill>
                  <a:srgbClr val="24292F"/>
                </a:solidFill>
                <a:latin typeface="Consolas" pitchFamily="34" charset="0"/>
                <a:ea typeface="Consolas" pitchFamily="34" charset="-122"/>
                <a:cs typeface="Consolas" pitchFamily="34" charset="-120"/>
              </a:rPr>
              <a:t>public class LibraryLab {</a:t>
            </a:r>
            <a:endParaRPr lang="en-US" sz="750" dirty="0"/>
          </a:p>
          <a:p>
            <a:pPr indent="0" marL="0">
              <a:buNone/>
            </a:pPr>
            <a:r>
              <a:rPr lang="en-US" sz="750" dirty="0">
                <a:solidFill>
                  <a:srgbClr val="24292F"/>
                </a:solidFill>
                <a:latin typeface="Consolas" pitchFamily="34" charset="0"/>
                <a:ea typeface="Consolas" pitchFamily="34" charset="-122"/>
                <a:cs typeface="Consolas" pitchFamily="34" charset="-120"/>
              </a:rPr>
              <a:t>    public static void main(String[] args) {</a:t>
            </a:r>
            <a:endParaRPr lang="en-US" sz="750" dirty="0"/>
          </a:p>
          <a:p>
            <a:pPr indent="0" marL="0">
              <a:buNone/>
            </a:pPr>
            <a:r>
              <a:rPr lang="en-US" sz="750" dirty="0">
                <a:solidFill>
                  <a:srgbClr val="24292F"/>
                </a:solidFill>
                <a:latin typeface="Consolas" pitchFamily="34" charset="0"/>
                <a:ea typeface="Consolas" pitchFamily="34" charset="-122"/>
                <a:cs typeface="Consolas" pitchFamily="34" charset="-120"/>
              </a:rPr>
              <a:t>        InMemoryRepository&lt;Book, String&gt; books = new InMemoryRepository&lt;&gt;();</a:t>
            </a:r>
            <a:endParaRPr lang="en-US" sz="750" dirty="0"/>
          </a:p>
          <a:p>
            <a:pPr indent="0" marL="0">
              <a:buNone/>
            </a:pPr>
            <a:r>
              <a:rPr lang="en-US" sz="750" dirty="0">
                <a:solidFill>
                  <a:srgbClr val="24292F"/>
                </a:solidFill>
                <a:latin typeface="Consolas" pitchFamily="34" charset="0"/>
                <a:ea typeface="Consolas" pitchFamily="34" charset="-122"/>
                <a:cs typeface="Consolas" pitchFamily="34" charset="-120"/>
              </a:rPr>
              <a:t>        books.save(new Book("B1", "Clean Code", "tech"));</a:t>
            </a:r>
            <a:endParaRPr lang="en-US" sz="750" dirty="0"/>
          </a:p>
          <a:p>
            <a:pPr indent="0" marL="0">
              <a:buNone/>
            </a:pPr>
            <a:r>
              <a:rPr lang="en-US" sz="750" dirty="0">
                <a:solidFill>
                  <a:srgbClr val="24292F"/>
                </a:solidFill>
                <a:latin typeface="Consolas" pitchFamily="34" charset="0"/>
                <a:ea typeface="Consolas" pitchFamily="34" charset="-122"/>
                <a:cs typeface="Consolas" pitchFamily="34" charset="-120"/>
              </a:rPr>
              <a:t>        books.save(new Book("B2", "Sapiens", "history"));</a:t>
            </a:r>
            <a:endParaRPr lang="en-US" sz="750" dirty="0"/>
          </a:p>
          <a:p>
            <a:pPr indent="0" marL="0">
              <a:buNone/>
            </a:pPr>
            <a:r>
              <a:rPr lang="en-US" sz="750" dirty="0">
                <a:solidFill>
                  <a:srgbClr val="24292F"/>
                </a:solidFill>
                <a:latin typeface="Consolas" pitchFamily="34" charset="0"/>
                <a:ea typeface="Consolas" pitchFamily="34" charset="-122"/>
                <a:cs typeface="Consolas" pitchFamily="34" charset="-120"/>
              </a:rPr>
              <a:t>// … full listing in the web notes</a:t>
            </a:r>
            <a:endParaRPr lang="en-US" sz="75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C9C43D"/>
          </a:solidFill>
          <a:ln w="12700">
            <a:solidFill>
              <a:srgbClr val="C9C43D"/>
            </a:solidFill>
            <a:prstDash val="solid"/>
          </a:ln>
        </p:spPr>
      </p:sp>
      <p:sp>
        <p:nvSpPr>
          <p:cNvPr id="3" name="Text 1"/>
          <p:cNvSpPr/>
          <p:nvPr/>
        </p:nvSpPr>
        <p:spPr>
          <a:xfrm>
            <a:off x="457200" y="256032"/>
            <a:ext cx="1463040" cy="292608"/>
          </a:xfrm>
          <a:prstGeom prst="roundRect">
            <a:avLst>
              <a:gd name="adj" fmla="val 18750"/>
            </a:avLst>
          </a:prstGeom>
          <a:solidFill>
            <a:srgbClr val="9B6BF0"/>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QUIZ</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4</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Quiz: collections &amp; generics</a:t>
            </a:r>
            <a:endParaRPr lang="en-US" sz="2800" dirty="0"/>
          </a:p>
        </p:txBody>
      </p:sp>
      <p:sp>
        <p:nvSpPr>
          <p:cNvPr id="6" name="Text 4"/>
          <p:cNvSpPr/>
          <p:nvPr/>
        </p:nvSpPr>
        <p:spPr>
          <a:xfrm>
            <a:off x="457200" y="1261872"/>
            <a:ext cx="11277295" cy="5093208"/>
          </a:xfrm>
          <a:prstGeom prst="rect">
            <a:avLst/>
          </a:prstGeom>
          <a:noFill/>
          <a:ln/>
        </p:spPr>
        <p:txBody>
          <a:bodyPr wrap="square" rtlCol="0" anchor="t"/>
          <a:lstStyle/>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Q1. Which List implementation is the best default for index access and appends?</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LinkedList</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ArrayList</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Vector</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Stack</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Q2. You need a map whose keys are always sorted and that supports range queries. Choose:</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HashMap</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LinkedHashMap</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TreeMap</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ConcurrentHashMap</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Q3. What should you use for a stack in modern Java?</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java.util.Stack</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ArrayDeque with push/pop</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PriorityQueue</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TreeSet</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Q4. Does </a:t>
            </a:r>
            <a:pPr indent="0" marL="0">
              <a:spcAft>
                <a:spcPts val="400"/>
              </a:spcAft>
              <a:buNone/>
            </a:pPr>
            <a:r>
              <a:rPr lang="en-US" sz="850" dirty="0">
                <a:solidFill>
                  <a:srgbClr val="B4235A"/>
                </a:solidFill>
                <a:latin typeface="Consolas" pitchFamily="34" charset="0"/>
                <a:ea typeface="Consolas" pitchFamily="34" charset="-122"/>
                <a:cs typeface="Consolas" pitchFamily="34" charset="-120"/>
              </a:rPr>
              <a:t>List&lt;Object&gt; objs = new ArrayList&lt;String&gt;();</a:t>
            </a:r>
            <a:pPr indent="0" marL="0">
              <a:spcAft>
                <a:spcPts val="400"/>
              </a:spcAft>
              <a:buNone/>
            </a:pPr>
            <a:r>
              <a:rPr lang="en-US" sz="850" dirty="0">
                <a:solidFill>
                  <a:srgbClr val="1F2A24"/>
                </a:solidFill>
                <a:latin typeface="Calibri" pitchFamily="34" charset="0"/>
                <a:ea typeface="Calibri" pitchFamily="34" charset="-122"/>
                <a:cs typeface="Calibri" pitchFamily="34" charset="-120"/>
              </a:rPr>
              <a:t> compile?</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Yes</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No — generics are invariant</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Only with a cast</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Only in Java 21</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Q5. A method only </a:t>
            </a:r>
            <a:pPr indent="0" marL="0">
              <a:spcAft>
                <a:spcPts val="400"/>
              </a:spcAft>
              <a:buNone/>
            </a:pPr>
            <a:r>
              <a:rPr lang="en-US" sz="850" i="1" dirty="0">
                <a:solidFill>
                  <a:srgbClr val="1F2A24"/>
                </a:solidFill>
                <a:latin typeface="Calibri" pitchFamily="34" charset="0"/>
                <a:ea typeface="Calibri" pitchFamily="34" charset="-122"/>
                <a:cs typeface="Calibri" pitchFamily="34" charset="-120"/>
              </a:rPr>
              <a:t>reads</a:t>
            </a:r>
            <a:pPr indent="0" marL="0">
              <a:spcAft>
                <a:spcPts val="400"/>
              </a:spcAft>
              <a:buNone/>
            </a:pPr>
            <a:r>
              <a:rPr lang="en-US" sz="850" dirty="0">
                <a:solidFill>
                  <a:srgbClr val="1F2A24"/>
                </a:solidFill>
                <a:latin typeface="Calibri" pitchFamily="34" charset="0"/>
                <a:ea typeface="Calibri" pitchFamily="34" charset="-122"/>
                <a:cs typeface="Calibri" pitchFamily="34" charset="-120"/>
              </a:rPr>
              <a:t> numbers from a list. The most flexible parameter type is:</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List&lt;Number&gt;</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List&lt;? super Number&gt;</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List&lt;? extends Number&gt;</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List&lt;Object&gt;</a:t>
            </a:r>
            <a:endParaRPr lang="en-US" sz="85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C9C43D"/>
          </a:solidFill>
          <a:ln w="12700">
            <a:solidFill>
              <a:srgbClr val="C9C43D"/>
            </a:solidFill>
            <a:prstDash val="solid"/>
          </a:ln>
        </p:spPr>
      </p:sp>
      <p:sp>
        <p:nvSpPr>
          <p:cNvPr id="3" name="Text 1"/>
          <p:cNvSpPr/>
          <p:nvPr/>
        </p:nvSpPr>
        <p:spPr>
          <a:xfrm>
            <a:off x="457200" y="256032"/>
            <a:ext cx="1463040" cy="292608"/>
          </a:xfrm>
          <a:prstGeom prst="roundRect">
            <a:avLst>
              <a:gd name="adj" fmla="val 18750"/>
            </a:avLst>
          </a:prstGeom>
          <a:solidFill>
            <a:srgbClr val="C99A2E"/>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SUMMARY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4</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Session 4 recap</a:t>
            </a:r>
            <a:endParaRPr lang="en-US" sz="2800" dirty="0"/>
          </a:p>
        </p:txBody>
      </p:sp>
      <p:sp>
        <p:nvSpPr>
          <p:cNvPr id="6" name="Text 4"/>
          <p:cNvSpPr/>
          <p:nvPr/>
        </p:nvSpPr>
        <p:spPr>
          <a:xfrm>
            <a:off x="457200" y="1261872"/>
            <a:ext cx="11277295" cy="5093208"/>
          </a:xfrm>
          <a:prstGeom prst="rect">
            <a:avLst/>
          </a:prstGeom>
          <a:noFill/>
          <a:ln/>
        </p:spPr>
        <p:txBody>
          <a:bodyPr wrap="square" rtlCol="0" anchor="t"/>
          <a:lstStyle/>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Program to interfaces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List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Set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Map</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Queue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Deque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choose implementations by access pattern.</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ArrayList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&gt;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LinkedList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in practice;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ArrayDeque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for queues and stacks;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PriorityQueue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 heap.</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Hash* = fast &amp; unordered, LinkedHash* = insertion order, Tree* = sorted with ranges.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Generics give compile-time type safety; remember bounds, wildcards (PECS), erasure and invariance.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Comparable = natural order, Comparator = custom order; hash collections need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equals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hashCode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a:t>
            </a:r>
            <a:endParaRPr lang="en-US" sz="1700" dirty="0"/>
          </a:p>
        </p:txBody>
      </p:sp>
      <p:sp>
        <p:nvSpPr>
          <p:cNvPr id="7" name="Text 5"/>
          <p:cNvSpPr/>
          <p:nvPr/>
        </p:nvSpPr>
        <p:spPr>
          <a:xfrm>
            <a:off x="457200" y="3867912"/>
            <a:ext cx="11277295" cy="2487168"/>
          </a:xfrm>
          <a:prstGeom prst="rect">
            <a:avLst/>
          </a:prstGeom>
          <a:noFill/>
          <a:ln/>
        </p:spPr>
        <p:txBody>
          <a:bodyPr wrap="square" rtlCol="0" anchor="t"/>
          <a:lstStyle/>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Fail-fast iterator</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Throws ConcurrentModificationException if the collection changes structurally during iteration.</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ArrayDeque</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Resizable array deque — the preferred queue and stack implementation.</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PriorityQueue</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Binary heap: O(log n) offer/poll, always yields the smallest element first.</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PECS</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Producer Extends, Consumer Super — choosing wildcard bounds.</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Type erasure</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Generic type info is removed after compilation; List&lt;String&gt; becomes List at runtime.</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Invariance</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List&lt;String&gt; is not a subtype of List&lt;Object&gt;.</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LinkedHashMap accessOrder</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Iteration follows access recency — the basis of an LRU cache.</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computeIfAbsent</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Gets a value or creates and stores it — idiomatic grouping.</a:t>
            </a:r>
            <a:endParaRPr lang="en-US" sz="13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C9C43D"/>
          </a:solidFill>
          <a:ln w="12700">
            <a:solidFill>
              <a:srgbClr val="C9C43D"/>
            </a:solidFill>
            <a:prstDash val="solid"/>
          </a:ln>
        </p:spPr>
      </p:sp>
      <p:sp>
        <p:nvSpPr>
          <p:cNvPr id="3" name="Text 1"/>
          <p:cNvSpPr/>
          <p:nvPr/>
        </p:nvSpPr>
        <p:spPr>
          <a:xfrm>
            <a:off x="457200" y="411480"/>
            <a:ext cx="7315200" cy="320040"/>
          </a:xfrm>
          <a:prstGeom prst="rect">
            <a:avLst/>
          </a:prstGeom>
          <a:noFill/>
          <a:ln/>
        </p:spPr>
        <p:txBody>
          <a:bodyPr wrap="square" rtlCol="0" anchor="ctr"/>
          <a:lstStyle/>
          <a:p>
            <a:pPr indent="0" marL="0">
              <a:buNone/>
            </a:pPr>
            <a:r>
              <a:rPr lang="en-US" sz="1200" b="1" dirty="0">
                <a:solidFill>
                  <a:srgbClr val="C9C43D"/>
                </a:solidFill>
                <a:latin typeface="Calibri" pitchFamily="34" charset="0"/>
                <a:ea typeface="Calibri" pitchFamily="34" charset="-122"/>
                <a:cs typeface="Calibri" pitchFamily="34" charset="-120"/>
              </a:rPr>
              <a:t>SESSION 5 OF 24  ·  MODULE 1</a:t>
            </a:r>
            <a:endParaRPr lang="en-US" sz="1200" dirty="0"/>
          </a:p>
        </p:txBody>
      </p:sp>
      <p:sp>
        <p:nvSpPr>
          <p:cNvPr id="4" name="Text 2"/>
          <p:cNvSpPr/>
          <p:nvPr/>
        </p:nvSpPr>
        <p:spPr>
          <a:xfrm>
            <a:off x="457200" y="777240"/>
            <a:ext cx="11277295" cy="1005840"/>
          </a:xfrm>
          <a:prstGeom prst="rect">
            <a:avLst/>
          </a:prstGeom>
          <a:noFill/>
          <a:ln/>
        </p:spPr>
        <p:txBody>
          <a:bodyPr wrap="square" rtlCol="0" anchor="t"/>
          <a:lstStyle/>
          <a:p>
            <a:pPr indent="0" marL="0">
              <a:buNone/>
            </a:pPr>
            <a:r>
              <a:rPr lang="en-US" sz="3000" b="1" dirty="0">
                <a:solidFill>
                  <a:srgbClr val="1F2A24"/>
                </a:solidFill>
                <a:latin typeface="Calibri" pitchFamily="34" charset="0"/>
                <a:ea typeface="Calibri" pitchFamily="34" charset="-122"/>
                <a:cs typeface="Calibri" pitchFamily="34" charset="-120"/>
              </a:rPr>
              <a:t>Streams API, HashMap Internals &amp; Hashing Algorithms</a:t>
            </a:r>
            <a:endParaRPr lang="en-US" sz="3000" dirty="0"/>
          </a:p>
        </p:txBody>
      </p:sp>
      <p:sp>
        <p:nvSpPr>
          <p:cNvPr id="5" name="Text 3"/>
          <p:cNvSpPr/>
          <p:nvPr/>
        </p:nvSpPr>
        <p:spPr>
          <a:xfrm>
            <a:off x="457200" y="1920240"/>
            <a:ext cx="5486400" cy="320040"/>
          </a:xfrm>
          <a:prstGeom prst="rect">
            <a:avLst/>
          </a:prstGeom>
          <a:noFill/>
          <a:ln/>
        </p:spPr>
        <p:txBody>
          <a:bodyPr wrap="square" rtlCol="0" anchor="ctr"/>
          <a:lstStyle/>
          <a:p>
            <a:pPr indent="0" marL="0">
              <a:buNone/>
            </a:pPr>
            <a:r>
              <a:rPr lang="en-US" sz="1300" b="1" dirty="0">
                <a:solidFill>
                  <a:srgbClr val="5B6B60"/>
                </a:solidFill>
                <a:latin typeface="Calibri" pitchFamily="34" charset="0"/>
                <a:ea typeface="Calibri" pitchFamily="34" charset="-122"/>
                <a:cs typeface="Calibri" pitchFamily="34" charset="-120"/>
              </a:rPr>
              <a:t>Brochure topics covered</a:t>
            </a:r>
            <a:endParaRPr lang="en-US" sz="1300" dirty="0"/>
          </a:p>
        </p:txBody>
      </p:sp>
      <p:sp>
        <p:nvSpPr>
          <p:cNvPr id="6" name="Text 4"/>
          <p:cNvSpPr/>
          <p:nvPr/>
        </p:nvSpPr>
        <p:spPr>
          <a:xfrm>
            <a:off x="457200" y="2240280"/>
            <a:ext cx="5577840" cy="1463040"/>
          </a:xfrm>
          <a:prstGeom prst="rect">
            <a:avLst/>
          </a:prstGeom>
          <a:noFill/>
          <a:ln/>
        </p:spPr>
        <p:txBody>
          <a:bodyPr wrap="square" rtlCol="0" anchor="t"/>
          <a:lstStyle/>
          <a:p>
            <a:pPr indent="0" marL="0">
              <a:spcAft>
                <a:spcPts val="400"/>
              </a:spcAft>
              <a:buNone/>
            </a:pPr>
            <a:r>
              <a:rPr lang="en-US" sz="1400" dirty="0">
                <a:solidFill>
                  <a:srgbClr val="1F2A24"/>
                </a:solidFill>
                <a:latin typeface="Calibri" pitchFamily="34" charset="0"/>
                <a:ea typeface="Calibri" pitchFamily="34" charset="-122"/>
                <a:cs typeface="Calibri" pitchFamily="34" charset="-120"/>
              </a:rPr>
              <a:t>✓ Streams API, HashMap &amp; hashing algorithms</a:t>
            </a:r>
            <a:endParaRPr lang="en-US" sz="1400" dirty="0"/>
          </a:p>
        </p:txBody>
      </p:sp>
      <p:sp>
        <p:nvSpPr>
          <p:cNvPr id="7" name="Text 5"/>
          <p:cNvSpPr/>
          <p:nvPr/>
        </p:nvSpPr>
        <p:spPr>
          <a:xfrm>
            <a:off x="457200" y="3749040"/>
            <a:ext cx="5486400" cy="320040"/>
          </a:xfrm>
          <a:prstGeom prst="rect">
            <a:avLst/>
          </a:prstGeom>
          <a:noFill/>
          <a:ln/>
        </p:spPr>
        <p:txBody>
          <a:bodyPr wrap="square" rtlCol="0" anchor="ctr"/>
          <a:lstStyle/>
          <a:p>
            <a:pPr indent="0" marL="0">
              <a:buNone/>
            </a:pPr>
            <a:r>
              <a:rPr lang="en-US" sz="1300" b="1" dirty="0">
                <a:solidFill>
                  <a:srgbClr val="5B6B60"/>
                </a:solidFill>
                <a:latin typeface="Calibri" pitchFamily="34" charset="0"/>
                <a:ea typeface="Calibri" pitchFamily="34" charset="-122"/>
                <a:cs typeface="Calibri" pitchFamily="34" charset="-120"/>
              </a:rPr>
              <a:t>Learning objectives</a:t>
            </a:r>
            <a:endParaRPr lang="en-US" sz="1300" dirty="0"/>
          </a:p>
        </p:txBody>
      </p:sp>
      <p:sp>
        <p:nvSpPr>
          <p:cNvPr id="8" name="Text 6"/>
          <p:cNvSpPr/>
          <p:nvPr/>
        </p:nvSpPr>
        <p:spPr>
          <a:xfrm>
            <a:off x="457200" y="4069080"/>
            <a:ext cx="5577840" cy="2286000"/>
          </a:xfrm>
          <a:prstGeom prst="rect">
            <a:avLst/>
          </a:prstGeom>
          <a:noFill/>
          <a:ln/>
        </p:spPr>
        <p:txBody>
          <a:bodyPr wrap="square" rtlCol="0" anchor="t"/>
          <a:lstStyle/>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Build declarative data pipelines with the Streams API (filter, map, sorted, reduce, flatMap).</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Aggregate data with Collectors: groupingBy, partitioningBy, toMap, joining, statistics.</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Explain hashing — hash functions, collisions, chaining — and how </a:t>
            </a:r>
            <a:endParaRPr lang="en-US" sz="1250" dirty="0"/>
          </a:p>
          <a:p>
            <a:pPr marL="177800" indent="-177800">
              <a:spcAft>
                <a:spcPts val="400"/>
              </a:spcAft>
              <a:buSzPct val="100000"/>
              <a:buChar char="•"/>
            </a:pPr>
            <a:r>
              <a:rPr lang="en-US" sz="1250" dirty="0">
                <a:solidFill>
                  <a:srgbClr val="B4235A"/>
                </a:solidFill>
                <a:latin typeface="Consolas" pitchFamily="34" charset="0"/>
                <a:ea typeface="Consolas" pitchFamily="34" charset="-122"/>
                <a:cs typeface="Consolas" pitchFamily="34" charset="-120"/>
              </a:rPr>
              <a:t>HashMap</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 stores, finds and resizes entries.</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Avoid HashMap bugs caused by mutable keys or a missing </a:t>
            </a:r>
            <a:endParaRPr lang="en-US" sz="1250" dirty="0"/>
          </a:p>
          <a:p>
            <a:pPr marL="177800" indent="-177800">
              <a:spcAft>
                <a:spcPts val="400"/>
              </a:spcAft>
              <a:buSzPct val="100000"/>
              <a:buChar char="•"/>
            </a:pPr>
            <a:r>
              <a:rPr lang="en-US" sz="1250" dirty="0">
                <a:solidFill>
                  <a:srgbClr val="B4235A"/>
                </a:solidFill>
                <a:latin typeface="Consolas" pitchFamily="34" charset="0"/>
                <a:ea typeface="Consolas" pitchFamily="34" charset="-122"/>
                <a:cs typeface="Consolas" pitchFamily="34" charset="-120"/>
              </a:rPr>
              <a:t>hashCode</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a:t>
            </a:r>
            <a:endParaRPr lang="en-US" sz="1250" dirty="0"/>
          </a:p>
        </p:txBody>
      </p:sp>
      <p:sp>
        <p:nvSpPr>
          <p:cNvPr id="9" name="Text 7"/>
          <p:cNvSpPr/>
          <p:nvPr/>
        </p:nvSpPr>
        <p:spPr>
          <a:xfrm>
            <a:off x="6400800" y="1920240"/>
            <a:ext cx="5303520" cy="320040"/>
          </a:xfrm>
          <a:prstGeom prst="rect">
            <a:avLst/>
          </a:prstGeom>
          <a:noFill/>
          <a:ln/>
        </p:spPr>
        <p:txBody>
          <a:bodyPr wrap="square" rtlCol="0" anchor="ctr"/>
          <a:lstStyle/>
          <a:p>
            <a:pPr indent="0" marL="0">
              <a:buNone/>
            </a:pPr>
            <a:r>
              <a:rPr lang="en-US" sz="1300" b="1" dirty="0">
                <a:solidFill>
                  <a:srgbClr val="5B6B60"/>
                </a:solidFill>
                <a:latin typeface="Calibri" pitchFamily="34" charset="0"/>
                <a:ea typeface="Calibri" pitchFamily="34" charset="-122"/>
                <a:cs typeface="Calibri" pitchFamily="34" charset="-120"/>
              </a:rPr>
              <a:t>Agenda</a:t>
            </a:r>
            <a:endParaRPr lang="en-US" sz="1300" dirty="0"/>
          </a:p>
        </p:txBody>
      </p:sp>
      <p:sp>
        <p:nvSpPr>
          <p:cNvPr id="10" name="Text 8"/>
          <p:cNvSpPr/>
          <p:nvPr/>
        </p:nvSpPr>
        <p:spPr>
          <a:xfrm>
            <a:off x="6400800" y="2240280"/>
            <a:ext cx="5303520" cy="4114800"/>
          </a:xfrm>
          <a:prstGeom prst="rect">
            <a:avLst/>
          </a:prstGeom>
          <a:noFill/>
          <a:ln/>
        </p:spPr>
        <p:txBody>
          <a:bodyPr wrap="square" rtlCol="0" anchor="t"/>
          <a:lstStyle/>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Streams: declarative data pipelines</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Practical: Stream operations on real data</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Practical: Collectors: grouping, partitioning &amp; reporting</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Laziness, short-circuiting &amp; stream pitfalls</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Hashing fundamentals</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Inside HashMap: buckets, chains &amp; trees</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Practical: Hash codes, buckets &amp; collisions in code</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Practical: Broken keys: the bugs hashing causes</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Map implementations compared</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Hands-on Lab: Lab: transaction analytics + build your own HashMap</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Quiz: Quiz: streams &amp; hashing</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Summary: Session 5 recap</a:t>
            </a:r>
            <a:endParaRPr lang="en-US" sz="125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C9C43D"/>
          </a:solidFill>
          <a:ln w="12700">
            <a:solidFill>
              <a:srgbClr val="C9C43D"/>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5</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Streams: declarative data pipelines</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A stream is a </a:t>
            </a:r>
            <a:pPr indent="0" marL="0">
              <a:buNone/>
            </a:pPr>
            <a:r>
              <a:rPr lang="en-US" sz="1350" b="1" dirty="0">
                <a:solidFill>
                  <a:srgbClr val="5B6B60"/>
                </a:solidFill>
                <a:latin typeface="Calibri" pitchFamily="34" charset="0"/>
                <a:ea typeface="Calibri" pitchFamily="34" charset="-122"/>
                <a:cs typeface="Calibri" pitchFamily="34" charset="-120"/>
              </a:rPr>
              <a:t>pipeline of operations</a:t>
            </a:r>
            <a:pPr indent="0" marL="0">
              <a:buNone/>
            </a:pPr>
            <a:r>
              <a:rPr lang="en-US" sz="1350" dirty="0">
                <a:solidFill>
                  <a:srgbClr val="5B6B60"/>
                </a:solidFill>
                <a:latin typeface="Calibri" pitchFamily="34" charset="0"/>
                <a:ea typeface="Calibri" pitchFamily="34" charset="-122"/>
                <a:cs typeface="Calibri" pitchFamily="34" charset="-120"/>
              </a:rPr>
              <a:t> over a data source. You describe </a:t>
            </a:r>
            <a:pPr indent="0" marL="0">
              <a:buNone/>
            </a:pPr>
            <a:r>
              <a:rPr lang="en-US" sz="1350" i="1" dirty="0">
                <a:solidFill>
                  <a:srgbClr val="5B6B60"/>
                </a:solidFill>
                <a:latin typeface="Calibri" pitchFamily="34" charset="0"/>
                <a:ea typeface="Calibri" pitchFamily="34" charset="-122"/>
                <a:cs typeface="Calibri" pitchFamily="34" charset="-120"/>
              </a:rPr>
              <a:t>what</a:t>
            </a:r>
            <a:pPr indent="0" marL="0">
              <a:buNone/>
            </a:pPr>
            <a:r>
              <a:rPr lang="en-US" sz="1350" dirty="0">
                <a:solidFill>
                  <a:srgbClr val="5B6B60"/>
                </a:solidFill>
                <a:latin typeface="Calibri" pitchFamily="34" charset="0"/>
                <a:ea typeface="Calibri" pitchFamily="34" charset="-122"/>
                <a:cs typeface="Calibri" pitchFamily="34" charset="-120"/>
              </a:rPr>
              <a:t> you want; the library decides </a:t>
            </a:r>
            <a:pPr indent="0" marL="0">
              <a:buNone/>
            </a:pPr>
            <a:r>
              <a:rPr lang="en-US" sz="1350" i="1" dirty="0">
                <a:solidFill>
                  <a:srgbClr val="5B6B60"/>
                </a:solidFill>
                <a:latin typeface="Calibri" pitchFamily="34" charset="0"/>
                <a:ea typeface="Calibri" pitchFamily="34" charset="-122"/>
                <a:cs typeface="Calibri" pitchFamily="34" charset="-120"/>
              </a:rPr>
              <a:t>how</a:t>
            </a:r>
            <a:pPr indent="0" marL="0">
              <a:buNone/>
            </a:pPr>
            <a:r>
              <a:rPr lang="en-US" sz="1350" dirty="0">
                <a:solidFill>
                  <a:srgbClr val="5B6B60"/>
                </a:solidFill>
                <a:latin typeface="Calibri" pitchFamily="34" charset="0"/>
                <a:ea typeface="Calibri" pitchFamily="34" charset="-122"/>
                <a:cs typeface="Calibri" pitchFamily="34" charset="-120"/>
              </a:rPr>
              <a:t> to iterate.</a:t>
            </a:r>
            <a:endParaRPr lang="en-US" sz="1350" dirty="0"/>
          </a:p>
        </p:txBody>
      </p:sp>
      <p:sp>
        <p:nvSpPr>
          <p:cNvPr id="7" name="Text 5"/>
          <p:cNvSpPr/>
          <p:nvPr/>
        </p:nvSpPr>
        <p:spPr>
          <a:xfrm>
            <a:off x="457200" y="1883664"/>
            <a:ext cx="5120640" cy="4471416"/>
          </a:xfrm>
          <a:prstGeom prst="rect">
            <a:avLst/>
          </a:prstGeom>
          <a:noFill/>
          <a:ln/>
        </p:spPr>
        <p:txBody>
          <a:bodyPr wrap="square" rtlCol="0" anchor="t"/>
          <a:lstStyle/>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Intermediate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ops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filter</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map</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sorted</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distinct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limit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return a new stream and are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lazy</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A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terminal</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op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toList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collect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forEach</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count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reduce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findFirst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runs the pipeline once.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A stream is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not a data structure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and can be consumed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only once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Elements flow through the pipeline one at a time; short-circuit ops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findFirst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anyMatch</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limit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stop early.</a:t>
            </a:r>
            <a:endParaRPr lang="en-US" sz="1700" dirty="0"/>
          </a:p>
        </p:txBody>
      </p:sp>
      <p:sp>
        <p:nvSpPr>
          <p:cNvPr id="8" name="Text 6"/>
          <p:cNvSpPr/>
          <p:nvPr/>
        </p:nvSpPr>
        <p:spPr>
          <a:xfrm>
            <a:off x="5852160" y="1975104"/>
            <a:ext cx="920435" cy="914400"/>
          </a:xfrm>
          <a:prstGeom prst="roundRect">
            <a:avLst>
              <a:gd name="adj" fmla="val 8000"/>
            </a:avLst>
          </a:prstGeom>
          <a:solidFill>
            <a:srgbClr val="EEF4F0"/>
          </a:solidFill>
          <a:ln w="12700">
            <a:solidFill>
              <a:srgbClr val="9FB8A8"/>
            </a:solidFill>
          </a:ln>
        </p:spPr>
        <p:txBody>
          <a:bodyPr wrap="square" rtlCol="0" anchor="ctr"/>
          <a:lstStyle/>
          <a:p>
            <a:pPr algn="ctr" indent="0" marL="0">
              <a:buNone/>
            </a:pPr>
            <a:r>
              <a:rPr lang="en-US" sz="1150" b="1" dirty="0">
                <a:solidFill>
                  <a:srgbClr val="1F2A24"/>
                </a:solidFill>
                <a:latin typeface="Calibri" pitchFamily="34" charset="0"/>
                <a:ea typeface="Calibri" pitchFamily="34" charset="-122"/>
                <a:cs typeface="Calibri" pitchFamily="34" charset="-120"/>
              </a:rPr>
              <a:t>Source</a:t>
            </a:r>
            <a:endParaRPr lang="en-US" sz="1150" dirty="0"/>
          </a:p>
          <a:p>
            <a:pPr algn="ctr" indent="0" marL="0">
              <a:buNone/>
            </a:pPr>
            <a:r>
              <a:rPr lang="en-US" sz="900" dirty="0">
                <a:solidFill>
                  <a:srgbClr val="5B6B60"/>
                </a:solidFill>
                <a:latin typeface="Calibri" pitchFamily="34" charset="0"/>
                <a:ea typeface="Calibri" pitchFamily="34" charset="-122"/>
                <a:cs typeface="Calibri" pitchFamily="34" charset="-120"/>
              </a:rPr>
              <a:t>list.stream(), Stream.of, IntStream.range</a:t>
            </a:r>
            <a:endParaRPr lang="en-US" sz="1150" dirty="0"/>
          </a:p>
        </p:txBody>
      </p:sp>
      <p:sp>
        <p:nvSpPr>
          <p:cNvPr id="9" name="Shape 7"/>
          <p:cNvSpPr/>
          <p:nvPr/>
        </p:nvSpPr>
        <p:spPr>
          <a:xfrm>
            <a:off x="6772595" y="2432304"/>
            <a:ext cx="320040" cy="0"/>
          </a:xfrm>
          <a:prstGeom prst="line">
            <a:avLst/>
          </a:prstGeom>
          <a:noFill/>
          <a:ln w="15875">
            <a:solidFill>
              <a:srgbClr val="6F8276"/>
            </a:solidFill>
            <a:prstDash val="solid"/>
            <a:tailEnd type="triangle"/>
          </a:ln>
        </p:spPr>
      </p:sp>
      <p:sp>
        <p:nvSpPr>
          <p:cNvPr id="10" name="Text 8"/>
          <p:cNvSpPr/>
          <p:nvPr/>
        </p:nvSpPr>
        <p:spPr>
          <a:xfrm>
            <a:off x="7092635" y="1975104"/>
            <a:ext cx="920435" cy="914400"/>
          </a:xfrm>
          <a:prstGeom prst="roundRect">
            <a:avLst>
              <a:gd name="adj" fmla="val 8000"/>
            </a:avLst>
          </a:prstGeom>
          <a:solidFill>
            <a:srgbClr val="EEF4F0"/>
          </a:solidFill>
          <a:ln w="12700">
            <a:solidFill>
              <a:srgbClr val="9FB8A8"/>
            </a:solidFill>
          </a:ln>
        </p:spPr>
        <p:txBody>
          <a:bodyPr wrap="square" rtlCol="0" anchor="ctr"/>
          <a:lstStyle/>
          <a:p>
            <a:pPr algn="ctr" indent="0" marL="0">
              <a:buNone/>
            </a:pPr>
            <a:r>
              <a:rPr lang="en-US" sz="1150" b="1" dirty="0">
                <a:solidFill>
                  <a:srgbClr val="1F2A24"/>
                </a:solidFill>
                <a:latin typeface="Calibri" pitchFamily="34" charset="0"/>
                <a:ea typeface="Calibri" pitchFamily="34" charset="-122"/>
                <a:cs typeface="Calibri" pitchFamily="34" charset="-120"/>
              </a:rPr>
              <a:t>filter</a:t>
            </a:r>
            <a:endParaRPr lang="en-US" sz="1150" dirty="0"/>
          </a:p>
          <a:p>
            <a:pPr algn="ctr" indent="0" marL="0">
              <a:buNone/>
            </a:pPr>
            <a:r>
              <a:rPr lang="en-US" sz="900" dirty="0">
                <a:solidFill>
                  <a:srgbClr val="5B6B60"/>
                </a:solidFill>
                <a:latin typeface="Calibri" pitchFamily="34" charset="0"/>
                <a:ea typeface="Calibri" pitchFamily="34" charset="-122"/>
                <a:cs typeface="Calibri" pitchFamily="34" charset="-120"/>
              </a:rPr>
              <a:t>intermediate (lazy)</a:t>
            </a:r>
            <a:endParaRPr lang="en-US" sz="1150" dirty="0"/>
          </a:p>
        </p:txBody>
      </p:sp>
      <p:sp>
        <p:nvSpPr>
          <p:cNvPr id="11" name="Shape 9"/>
          <p:cNvSpPr/>
          <p:nvPr/>
        </p:nvSpPr>
        <p:spPr>
          <a:xfrm>
            <a:off x="8013070" y="2432304"/>
            <a:ext cx="320040" cy="0"/>
          </a:xfrm>
          <a:prstGeom prst="line">
            <a:avLst/>
          </a:prstGeom>
          <a:noFill/>
          <a:ln w="15875">
            <a:solidFill>
              <a:srgbClr val="6F8276"/>
            </a:solidFill>
            <a:prstDash val="solid"/>
            <a:tailEnd type="triangle"/>
          </a:ln>
        </p:spPr>
      </p:sp>
      <p:sp>
        <p:nvSpPr>
          <p:cNvPr id="12" name="Text 10"/>
          <p:cNvSpPr/>
          <p:nvPr/>
        </p:nvSpPr>
        <p:spPr>
          <a:xfrm>
            <a:off x="8333110" y="1975104"/>
            <a:ext cx="920435" cy="914400"/>
          </a:xfrm>
          <a:prstGeom prst="roundRect">
            <a:avLst>
              <a:gd name="adj" fmla="val 8000"/>
            </a:avLst>
          </a:prstGeom>
          <a:solidFill>
            <a:srgbClr val="EEF4F0"/>
          </a:solidFill>
          <a:ln w="12700">
            <a:solidFill>
              <a:srgbClr val="9FB8A8"/>
            </a:solidFill>
          </a:ln>
        </p:spPr>
        <p:txBody>
          <a:bodyPr wrap="square" rtlCol="0" anchor="ctr"/>
          <a:lstStyle/>
          <a:p>
            <a:pPr algn="ctr" indent="0" marL="0">
              <a:buNone/>
            </a:pPr>
            <a:r>
              <a:rPr lang="en-US" sz="1150" b="1" dirty="0">
                <a:solidFill>
                  <a:srgbClr val="1F2A24"/>
                </a:solidFill>
                <a:latin typeface="Calibri" pitchFamily="34" charset="0"/>
                <a:ea typeface="Calibri" pitchFamily="34" charset="-122"/>
                <a:cs typeface="Calibri" pitchFamily="34" charset="-120"/>
              </a:rPr>
              <a:t>map</a:t>
            </a:r>
            <a:endParaRPr lang="en-US" sz="1150" dirty="0"/>
          </a:p>
          <a:p>
            <a:pPr algn="ctr" indent="0" marL="0">
              <a:buNone/>
            </a:pPr>
            <a:r>
              <a:rPr lang="en-US" sz="900" dirty="0">
                <a:solidFill>
                  <a:srgbClr val="5B6B60"/>
                </a:solidFill>
                <a:latin typeface="Calibri" pitchFamily="34" charset="0"/>
                <a:ea typeface="Calibri" pitchFamily="34" charset="-122"/>
                <a:cs typeface="Calibri" pitchFamily="34" charset="-120"/>
              </a:rPr>
              <a:t>intermediate (lazy)</a:t>
            </a:r>
            <a:endParaRPr lang="en-US" sz="1150" dirty="0"/>
          </a:p>
        </p:txBody>
      </p:sp>
      <p:sp>
        <p:nvSpPr>
          <p:cNvPr id="13" name="Shape 11"/>
          <p:cNvSpPr/>
          <p:nvPr/>
        </p:nvSpPr>
        <p:spPr>
          <a:xfrm>
            <a:off x="9253545" y="2432304"/>
            <a:ext cx="320040" cy="0"/>
          </a:xfrm>
          <a:prstGeom prst="line">
            <a:avLst/>
          </a:prstGeom>
          <a:noFill/>
          <a:ln w="15875">
            <a:solidFill>
              <a:srgbClr val="6F8276"/>
            </a:solidFill>
            <a:prstDash val="solid"/>
            <a:tailEnd type="triangle"/>
          </a:ln>
        </p:spPr>
      </p:sp>
      <p:sp>
        <p:nvSpPr>
          <p:cNvPr id="14" name="Text 12"/>
          <p:cNvSpPr/>
          <p:nvPr/>
        </p:nvSpPr>
        <p:spPr>
          <a:xfrm>
            <a:off x="9573585" y="1975104"/>
            <a:ext cx="920435" cy="914400"/>
          </a:xfrm>
          <a:prstGeom prst="roundRect">
            <a:avLst>
              <a:gd name="adj" fmla="val 8000"/>
            </a:avLst>
          </a:prstGeom>
          <a:solidFill>
            <a:srgbClr val="EEF4F0"/>
          </a:solidFill>
          <a:ln w="12700">
            <a:solidFill>
              <a:srgbClr val="9FB8A8"/>
            </a:solidFill>
          </a:ln>
        </p:spPr>
        <p:txBody>
          <a:bodyPr wrap="square" rtlCol="0" anchor="ctr"/>
          <a:lstStyle/>
          <a:p>
            <a:pPr algn="ctr" indent="0" marL="0">
              <a:buNone/>
            </a:pPr>
            <a:r>
              <a:rPr lang="en-US" sz="1150" b="1" dirty="0">
                <a:solidFill>
                  <a:srgbClr val="1F2A24"/>
                </a:solidFill>
                <a:latin typeface="Calibri" pitchFamily="34" charset="0"/>
                <a:ea typeface="Calibri" pitchFamily="34" charset="-122"/>
                <a:cs typeface="Calibri" pitchFamily="34" charset="-120"/>
              </a:rPr>
              <a:t>sorted</a:t>
            </a:r>
            <a:endParaRPr lang="en-US" sz="1150" dirty="0"/>
          </a:p>
          <a:p>
            <a:pPr algn="ctr" indent="0" marL="0">
              <a:buNone/>
            </a:pPr>
            <a:r>
              <a:rPr lang="en-US" sz="900" dirty="0">
                <a:solidFill>
                  <a:srgbClr val="5B6B60"/>
                </a:solidFill>
                <a:latin typeface="Calibri" pitchFamily="34" charset="0"/>
                <a:ea typeface="Calibri" pitchFamily="34" charset="-122"/>
                <a:cs typeface="Calibri" pitchFamily="34" charset="-120"/>
              </a:rPr>
              <a:t>intermediate, stateful</a:t>
            </a:r>
            <a:endParaRPr lang="en-US" sz="1150" dirty="0"/>
          </a:p>
        </p:txBody>
      </p:sp>
      <p:sp>
        <p:nvSpPr>
          <p:cNvPr id="15" name="Shape 13"/>
          <p:cNvSpPr/>
          <p:nvPr/>
        </p:nvSpPr>
        <p:spPr>
          <a:xfrm>
            <a:off x="10494020" y="2432304"/>
            <a:ext cx="320040" cy="0"/>
          </a:xfrm>
          <a:prstGeom prst="line">
            <a:avLst/>
          </a:prstGeom>
          <a:noFill/>
          <a:ln w="15875">
            <a:solidFill>
              <a:srgbClr val="6F8276"/>
            </a:solidFill>
            <a:prstDash val="solid"/>
            <a:tailEnd type="triangle"/>
          </a:ln>
        </p:spPr>
      </p:sp>
      <p:sp>
        <p:nvSpPr>
          <p:cNvPr id="16" name="Text 14"/>
          <p:cNvSpPr/>
          <p:nvPr/>
        </p:nvSpPr>
        <p:spPr>
          <a:xfrm>
            <a:off x="10814060" y="1975104"/>
            <a:ext cx="920435" cy="914400"/>
          </a:xfrm>
          <a:prstGeom prst="roundRect">
            <a:avLst>
              <a:gd name="adj" fmla="val 8000"/>
            </a:avLst>
          </a:prstGeom>
          <a:solidFill>
            <a:srgbClr val="EEF4F0"/>
          </a:solidFill>
          <a:ln w="12700">
            <a:solidFill>
              <a:srgbClr val="9FB8A8"/>
            </a:solidFill>
          </a:ln>
        </p:spPr>
        <p:txBody>
          <a:bodyPr wrap="square" rtlCol="0" anchor="ctr"/>
          <a:lstStyle/>
          <a:p>
            <a:pPr algn="ctr" indent="0" marL="0">
              <a:buNone/>
            </a:pPr>
            <a:r>
              <a:rPr lang="en-US" sz="1150" b="1" dirty="0">
                <a:solidFill>
                  <a:srgbClr val="1F2A24"/>
                </a:solidFill>
                <a:latin typeface="Calibri" pitchFamily="34" charset="0"/>
                <a:ea typeface="Calibri" pitchFamily="34" charset="-122"/>
                <a:cs typeface="Calibri" pitchFamily="34" charset="-120"/>
              </a:rPr>
              <a:t>collect / toList</a:t>
            </a:r>
            <a:endParaRPr lang="en-US" sz="1150" dirty="0"/>
          </a:p>
          <a:p>
            <a:pPr algn="ctr" indent="0" marL="0">
              <a:buNone/>
            </a:pPr>
            <a:r>
              <a:rPr lang="en-US" sz="900" dirty="0">
                <a:solidFill>
                  <a:srgbClr val="5B6B60"/>
                </a:solidFill>
                <a:latin typeface="Calibri" pitchFamily="34" charset="0"/>
                <a:ea typeface="Calibri" pitchFamily="34" charset="-122"/>
                <a:cs typeface="Calibri" pitchFamily="34" charset="-120"/>
              </a:rPr>
              <a:t>terminal: triggers work</a:t>
            </a:r>
            <a:endParaRPr lang="en-US" sz="115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C9C43D"/>
          </a:solidFill>
          <a:ln w="12700">
            <a:solidFill>
              <a:srgbClr val="C9C43D"/>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5</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Stream operations on real data</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One small order dataset, many questions answered in one expression each.</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StreamBasics.java</a:t>
            </a:r>
            <a:endParaRPr lang="en-US" sz="900" dirty="0"/>
          </a:p>
        </p:txBody>
      </p:sp>
      <p:sp>
        <p:nvSpPr>
          <p:cNvPr id="8" name="Text 6"/>
          <p:cNvSpPr/>
          <p:nvPr/>
        </p:nvSpPr>
        <p:spPr>
          <a:xfrm>
            <a:off x="457200" y="2157984"/>
            <a:ext cx="11277295" cy="419709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import java.util.*;</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java.util.stream.*;</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public class StreamBasics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record Order(String id, String customer, String city, double amount, String status) {}</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static final List&lt;Order&gt; ORDERS = List.of(</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new Order("O1", "asha", "Pune", 1200, "DELIVERED"),</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new Order("O2", "ravi", "Delhi", 450, "CANCELLED"),</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new Order("O3", "asha", "Pune", 3000, "DELIVERED"),</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new Order("O4", "meera", "Chennai", 800, "SHIPPED"),</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new Order("O5", "ravi", "Delhi", 2200, "DELIVERED"),</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new Order("O6", "zoya", "Chennai", 150, "DELIVERED"));</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public static void main(String[] args)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List&lt;String&gt; bigDelivered = ORDERS.stream()</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.filter(o -&gt; o.status().equals("DELIVERED"))       // lazy</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.filter(o -&gt; o.amount() &gt;= 1000)</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.sorted(Comparator.comparingDouble(Order::amount).reversed())</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.map(Order::id)</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.toList();                                         // terminal (Java 16+)</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full listing in the web notes</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C9C43D"/>
          </a:solidFill>
          <a:ln w="12700">
            <a:solidFill>
              <a:srgbClr val="C9C43D"/>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5</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Collectors: grouping, partitioning &amp; reporting</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B4235A"/>
                </a:solidFill>
                <a:latin typeface="Consolas" pitchFamily="34" charset="0"/>
                <a:ea typeface="Consolas" pitchFamily="34" charset="-122"/>
                <a:cs typeface="Consolas" pitchFamily="34" charset="-120"/>
              </a:rPr>
              <a:t>Collectors</a:t>
            </a:r>
            <a:pPr indent="0" marL="0">
              <a:buNone/>
            </a:pPr>
            <a:r>
              <a:rPr lang="en-US" sz="1350" dirty="0">
                <a:solidFill>
                  <a:srgbClr val="5B6B60"/>
                </a:solidFill>
                <a:latin typeface="Calibri" pitchFamily="34" charset="0"/>
                <a:ea typeface="Calibri" pitchFamily="34" charset="-122"/>
                <a:cs typeface="Calibri" pitchFamily="34" charset="-120"/>
              </a:rPr>
              <a:t> turn a stream into maps, summaries and strings — SQL's </a:t>
            </a:r>
            <a:pPr indent="0" marL="0">
              <a:buNone/>
            </a:pPr>
            <a:r>
              <a:rPr lang="en-US" sz="1350" dirty="0">
                <a:solidFill>
                  <a:srgbClr val="B4235A"/>
                </a:solidFill>
                <a:latin typeface="Consolas" pitchFamily="34" charset="0"/>
                <a:ea typeface="Consolas" pitchFamily="34" charset="-122"/>
                <a:cs typeface="Consolas" pitchFamily="34" charset="-120"/>
              </a:rPr>
              <a:t>GROUP BY</a:t>
            </a:r>
            <a:pPr indent="0" marL="0">
              <a:buNone/>
            </a:pPr>
            <a:r>
              <a:rPr lang="en-US" sz="1350" dirty="0">
                <a:solidFill>
                  <a:srgbClr val="5B6B60"/>
                </a:solidFill>
                <a:latin typeface="Calibri" pitchFamily="34" charset="0"/>
                <a:ea typeface="Calibri" pitchFamily="34" charset="-122"/>
                <a:cs typeface="Calibri" pitchFamily="34" charset="-120"/>
              </a:rPr>
              <a:t> in Java.</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CollectorsDemo.java</a:t>
            </a:r>
            <a:endParaRPr lang="en-US" sz="900" dirty="0"/>
          </a:p>
        </p:txBody>
      </p:sp>
      <p:sp>
        <p:nvSpPr>
          <p:cNvPr id="8" name="Text 6"/>
          <p:cNvSpPr/>
          <p:nvPr/>
        </p:nvSpPr>
        <p:spPr>
          <a:xfrm>
            <a:off x="457200" y="2157984"/>
            <a:ext cx="11277295" cy="245973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import java.util.*;</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static java.util.stream.Collectors.*;</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public class CollectorsDemo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record Order(String id, String customer, String city, double amount, String status) {}</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static final List&lt;Order&gt; ORDERS = List.of(</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new Order("O1", "asha", "Pune", 1200, "DELIVERED"),</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new Order("O2", "ravi", "Delhi", 450, "CANCELLED"),</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new Order("O3", "asha", "Pune", 3000, "DELIVERED"),</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new Order("O4", "meera", "Chennai", 800, "SHIPPED"),</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new Order("O5", "ravi", "Delhi", 2200, "DELIVERED"),</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full listing in the web notes</a:t>
            </a:r>
            <a:endParaRPr lang="en-US" sz="1100" dirty="0"/>
          </a:p>
        </p:txBody>
      </p:sp>
      <p:graphicFrame>
        <p:nvGraphicFramePr>
          <p:cNvPr id="62" name="Table 0"/>
          <p:cNvGraphicFramePr>
            <a:graphicFrameLocks noGrp="1"/>
          </p:cNvGraphicFramePr>
          <p:nvPr>
            <p:extLst>
              <p:ext uri="{D42A27DB-BD31-4B8C-83A1-F6EECF244321}">
                <p14:modId xmlns:p14="http://schemas.microsoft.com/office/powerpoint/2010/main" val="1579011935"/>
              </p:ext>
            </p:extLst>
          </p:nvPr>
        </p:nvGraphicFramePr>
        <p:xfrm>
          <a:off x="457200" y="4663440"/>
          <a:ext cx="11277295" cy="914400"/>
        </p:xfrm>
        <a:graphic>
          <a:graphicData uri="http://schemas.openxmlformats.org/drawingml/2006/table">
            <a:tbl>
              <a:tblPr/>
              <a:tblGrid>
                <a:gridCol w="5638648"/>
                <a:gridCol w="5638648"/>
              </a:tblGrid>
              <a:tr h="329184">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SQL</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Streams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WHERE status &lt;&gt; 'CANCELLED'</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.filter(o -&gt; !o.status().equals("CANCELLED"))</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GROUP BY customer + SUM(amount)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groupingBy(Order::customer, summingDouble(Order::amount))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COUNT() GROUP BY city</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groupingBy(Order::city, counting())</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ORDER BY amount DESC LIMIT 3</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.sorted(comparing(...).reversed()).limit(3)</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C9C43D"/>
          </a:solidFill>
          <a:ln w="12700">
            <a:solidFill>
              <a:srgbClr val="C9C43D"/>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5</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Laziness, short-circuiting &amp; stream pitfalls</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Nothing runs until a terminal operation is called — and then each element travels through the whole pipeline before the next one starts.</a:t>
            </a:r>
            <a:endParaRPr lang="en-US" sz="1350" dirty="0"/>
          </a:p>
        </p:txBody>
      </p:sp>
      <p:sp>
        <p:nvSpPr>
          <p:cNvPr id="7" name="Text 5"/>
          <p:cNvSpPr/>
          <p:nvPr/>
        </p:nvSpPr>
        <p:spPr>
          <a:xfrm>
            <a:off x="457200" y="1883664"/>
            <a:ext cx="5120640" cy="4471416"/>
          </a:xfrm>
          <a:prstGeom prst="rect">
            <a:avLst/>
          </a:prstGeom>
          <a:noFill/>
          <a:ln/>
        </p:spPr>
        <p:txBody>
          <a:bodyPr wrap="square" rtlCol="0" anchor="t"/>
          <a:lstStyle/>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dev</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and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esha</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are never even looked at — the pipeline stopped after finding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CHEN</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flatMap</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flattens nested structures (lists of lists, orders → line items).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Avoid side effects in lambdas (don't mutate shared collections inside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map</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filter</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parallelStream()</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only helps for large, CPU-bound work with no shared mutable state; it uses the common ForkJoinPool — measure before using it in a web server.</a:t>
            </a:r>
            <a:endParaRPr lang="en-US" sz="1700" dirty="0"/>
          </a:p>
        </p:txBody>
      </p:sp>
      <p:sp>
        <p:nvSpPr>
          <p:cNvPr id="8" name="Text 6"/>
          <p:cNvSpPr/>
          <p:nvPr/>
        </p:nvSpPr>
        <p:spPr>
          <a:xfrm>
            <a:off x="5852160" y="1883664"/>
            <a:ext cx="588233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LazyDemo.java</a:t>
            </a:r>
            <a:endParaRPr lang="en-US" sz="900" dirty="0"/>
          </a:p>
        </p:txBody>
      </p:sp>
      <p:sp>
        <p:nvSpPr>
          <p:cNvPr id="9" name="Text 7"/>
          <p:cNvSpPr/>
          <p:nvPr/>
        </p:nvSpPr>
        <p:spPr>
          <a:xfrm>
            <a:off x="5852160" y="2157984"/>
            <a:ext cx="5882335" cy="419709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867" dirty="0">
                <a:solidFill>
                  <a:srgbClr val="24292F"/>
                </a:solidFill>
                <a:latin typeface="Consolas" pitchFamily="34" charset="0"/>
                <a:ea typeface="Consolas" pitchFamily="34" charset="-122"/>
                <a:cs typeface="Consolas" pitchFamily="34" charset="-120"/>
              </a:rPr>
              <a:t>import java.util.List;</a:t>
            </a:r>
            <a:endParaRPr lang="en-US" sz="867" dirty="0"/>
          </a:p>
          <a:p>
            <a:pPr indent="0" marL="0">
              <a:buNone/>
            </a:pPr>
            <a:r>
              <a:rPr lang="en-US" sz="867" dirty="0">
                <a:solidFill>
                  <a:srgbClr val="24292F"/>
                </a:solidFill>
                <a:latin typeface="Consolas" pitchFamily="34" charset="0"/>
                <a:ea typeface="Consolas" pitchFamily="34" charset="-122"/>
                <a:cs typeface="Consolas" pitchFamily="34" charset="-120"/>
              </a:rPr>
              <a:t>import java.util.stream.Stream;</a:t>
            </a:r>
            <a:endParaRPr lang="en-US" sz="867" dirty="0"/>
          </a:p>
          <a:p>
            <a:pPr indent="0" marL="0">
              <a:buNone/>
            </a:pPr>
            <a:endParaRPr lang="en-US" sz="867" dirty="0"/>
          </a:p>
          <a:p>
            <a:pPr indent="0" marL="0">
              <a:buNone/>
            </a:pPr>
            <a:r>
              <a:rPr lang="en-US" sz="867" dirty="0">
                <a:solidFill>
                  <a:srgbClr val="24292F"/>
                </a:solidFill>
                <a:latin typeface="Consolas" pitchFamily="34" charset="0"/>
                <a:ea typeface="Consolas" pitchFamily="34" charset="-122"/>
                <a:cs typeface="Consolas" pitchFamily="34" charset="-120"/>
              </a:rPr>
              <a:t>public class LazyDemo {</a:t>
            </a:r>
            <a:endParaRPr lang="en-US" sz="867" dirty="0"/>
          </a:p>
          <a:p>
            <a:pPr indent="0" marL="0">
              <a:buNone/>
            </a:pPr>
            <a:r>
              <a:rPr lang="en-US" sz="867" dirty="0">
                <a:solidFill>
                  <a:srgbClr val="24292F"/>
                </a:solidFill>
                <a:latin typeface="Consolas" pitchFamily="34" charset="0"/>
                <a:ea typeface="Consolas" pitchFamily="34" charset="-122"/>
                <a:cs typeface="Consolas" pitchFamily="34" charset="-120"/>
              </a:rPr>
              <a:t>    public static void main(String[] args) {</a:t>
            </a:r>
            <a:endParaRPr lang="en-US" sz="867" dirty="0"/>
          </a:p>
          <a:p>
            <a:pPr indent="0" marL="0">
              <a:buNone/>
            </a:pPr>
            <a:r>
              <a:rPr lang="en-US" sz="867" dirty="0">
                <a:solidFill>
                  <a:srgbClr val="24292F"/>
                </a:solidFill>
                <a:latin typeface="Consolas" pitchFamily="34" charset="0"/>
                <a:ea typeface="Consolas" pitchFamily="34" charset="-122"/>
                <a:cs typeface="Consolas" pitchFamily="34" charset="-120"/>
              </a:rPr>
              <a:t>        List&lt;String&gt; names = List.of("asha", "bala", "chen", "dev", "esha");</a:t>
            </a:r>
            <a:endParaRPr lang="en-US" sz="867" dirty="0"/>
          </a:p>
          <a:p>
            <a:pPr indent="0" marL="0">
              <a:buNone/>
            </a:pPr>
            <a:r>
              <a:rPr lang="en-US" sz="867" dirty="0">
                <a:solidFill>
                  <a:srgbClr val="24292F"/>
                </a:solidFill>
                <a:latin typeface="Consolas" pitchFamily="34" charset="0"/>
                <a:ea typeface="Consolas" pitchFamily="34" charset="-122"/>
                <a:cs typeface="Consolas" pitchFamily="34" charset="-120"/>
              </a:rPr>
              <a:t>        String result = names.stream()</a:t>
            </a:r>
            <a:endParaRPr lang="en-US" sz="867" dirty="0"/>
          </a:p>
          <a:p>
            <a:pPr indent="0" marL="0">
              <a:buNone/>
            </a:pPr>
            <a:r>
              <a:rPr lang="en-US" sz="867" dirty="0">
                <a:solidFill>
                  <a:srgbClr val="24292F"/>
                </a:solidFill>
                <a:latin typeface="Consolas" pitchFamily="34" charset="0"/>
                <a:ea typeface="Consolas" pitchFamily="34" charset="-122"/>
                <a:cs typeface="Consolas" pitchFamily="34" charset="-120"/>
              </a:rPr>
              <a:t>                .peek(n -&gt; System.out.println("  saw " + n))</a:t>
            </a:r>
            <a:endParaRPr lang="en-US" sz="867" dirty="0"/>
          </a:p>
          <a:p>
            <a:pPr indent="0" marL="0">
              <a:buNone/>
            </a:pPr>
            <a:r>
              <a:rPr lang="en-US" sz="867" dirty="0">
                <a:solidFill>
                  <a:srgbClr val="24292F"/>
                </a:solidFill>
                <a:latin typeface="Consolas" pitchFamily="34" charset="0"/>
                <a:ea typeface="Consolas" pitchFamily="34" charset="-122"/>
                <a:cs typeface="Consolas" pitchFamily="34" charset="-120"/>
              </a:rPr>
              <a:t>                .filter(n -&gt; n.length() == 4)</a:t>
            </a:r>
            <a:endParaRPr lang="en-US" sz="867" dirty="0"/>
          </a:p>
          <a:p>
            <a:pPr indent="0" marL="0">
              <a:buNone/>
            </a:pPr>
            <a:r>
              <a:rPr lang="en-US" sz="867" dirty="0">
                <a:solidFill>
                  <a:srgbClr val="24292F"/>
                </a:solidFill>
                <a:latin typeface="Consolas" pitchFamily="34" charset="0"/>
                <a:ea typeface="Consolas" pitchFamily="34" charset="-122"/>
                <a:cs typeface="Consolas" pitchFamily="34" charset="-120"/>
              </a:rPr>
              <a:t>                .peek(n -&gt; System.out.println("  kept " + n))</a:t>
            </a:r>
            <a:endParaRPr lang="en-US" sz="867" dirty="0"/>
          </a:p>
          <a:p>
            <a:pPr indent="0" marL="0">
              <a:buNone/>
            </a:pPr>
            <a:r>
              <a:rPr lang="en-US" sz="867" dirty="0">
                <a:solidFill>
                  <a:srgbClr val="24292F"/>
                </a:solidFill>
                <a:latin typeface="Consolas" pitchFamily="34" charset="0"/>
                <a:ea typeface="Consolas" pitchFamily="34" charset="-122"/>
                <a:cs typeface="Consolas" pitchFamily="34" charset="-120"/>
              </a:rPr>
              <a:t>                .map(String::toUpperCase)</a:t>
            </a:r>
            <a:endParaRPr lang="en-US" sz="867" dirty="0"/>
          </a:p>
          <a:p>
            <a:pPr indent="0" marL="0">
              <a:buNone/>
            </a:pPr>
            <a:r>
              <a:rPr lang="en-US" sz="867" dirty="0">
                <a:solidFill>
                  <a:srgbClr val="24292F"/>
                </a:solidFill>
                <a:latin typeface="Consolas" pitchFamily="34" charset="0"/>
                <a:ea typeface="Consolas" pitchFamily="34" charset="-122"/>
                <a:cs typeface="Consolas" pitchFamily="34" charset="-120"/>
              </a:rPr>
              <a:t>                .filter(n -&gt; n.startsWith("C"))</a:t>
            </a:r>
            <a:endParaRPr lang="en-US" sz="867" dirty="0"/>
          </a:p>
          <a:p>
            <a:pPr indent="0" marL="0">
              <a:buNone/>
            </a:pPr>
            <a:r>
              <a:rPr lang="en-US" sz="867" dirty="0">
                <a:solidFill>
                  <a:srgbClr val="24292F"/>
                </a:solidFill>
                <a:latin typeface="Consolas" pitchFamily="34" charset="0"/>
                <a:ea typeface="Consolas" pitchFamily="34" charset="-122"/>
                <a:cs typeface="Consolas" pitchFamily="34" charset="-120"/>
              </a:rPr>
              <a:t>                .findFirst()                        // short-circuits at the first match</a:t>
            </a:r>
            <a:endParaRPr lang="en-US" sz="867" dirty="0"/>
          </a:p>
          <a:p>
            <a:pPr indent="0" marL="0">
              <a:buNone/>
            </a:pPr>
            <a:r>
              <a:rPr lang="en-US" sz="867" dirty="0">
                <a:solidFill>
                  <a:srgbClr val="24292F"/>
                </a:solidFill>
                <a:latin typeface="Consolas" pitchFamily="34" charset="0"/>
                <a:ea typeface="Consolas" pitchFamily="34" charset="-122"/>
                <a:cs typeface="Consolas" pitchFamily="34" charset="-120"/>
              </a:rPr>
              <a:t>                .orElse("none");</a:t>
            </a:r>
            <a:endParaRPr lang="en-US" sz="867" dirty="0"/>
          </a:p>
          <a:p>
            <a:pPr indent="0" marL="0">
              <a:buNone/>
            </a:pPr>
            <a:r>
              <a:rPr lang="en-US" sz="867" dirty="0">
                <a:solidFill>
                  <a:srgbClr val="24292F"/>
                </a:solidFill>
                <a:latin typeface="Consolas" pitchFamily="34" charset="0"/>
                <a:ea typeface="Consolas" pitchFamily="34" charset="-122"/>
                <a:cs typeface="Consolas" pitchFamily="34" charset="-120"/>
              </a:rPr>
              <a:t>        System.out.println("result = " + result);</a:t>
            </a:r>
            <a:endParaRPr lang="en-US" sz="867" dirty="0"/>
          </a:p>
          <a:p>
            <a:pPr indent="0" marL="0">
              <a:buNone/>
            </a:pPr>
            <a:endParaRPr lang="en-US" sz="867" dirty="0"/>
          </a:p>
          <a:p>
            <a:pPr indent="0" marL="0">
              <a:buNone/>
            </a:pPr>
            <a:r>
              <a:rPr lang="en-US" sz="867" dirty="0">
                <a:solidFill>
                  <a:srgbClr val="24292F"/>
                </a:solidFill>
                <a:latin typeface="Consolas" pitchFamily="34" charset="0"/>
                <a:ea typeface="Consolas" pitchFamily="34" charset="-122"/>
                <a:cs typeface="Consolas" pitchFamily="34" charset="-120"/>
              </a:rPr>
              <a:t>        Stream&lt;String&gt; s = names.stream().filter(n -&gt; n.contains("a"));</a:t>
            </a:r>
            <a:endParaRPr lang="en-US" sz="867" dirty="0"/>
          </a:p>
          <a:p>
            <a:pPr indent="0" marL="0">
              <a:buNone/>
            </a:pPr>
            <a:r>
              <a:rPr lang="en-US" sz="867" dirty="0">
                <a:solidFill>
                  <a:srgbClr val="24292F"/>
                </a:solidFill>
                <a:latin typeface="Consolas" pitchFamily="34" charset="0"/>
                <a:ea typeface="Consolas" pitchFamily="34" charset="-122"/>
                <a:cs typeface="Consolas" pitchFamily="34" charset="-120"/>
              </a:rPr>
              <a:t>        System.out.println("count = " + s.count());</a:t>
            </a:r>
            <a:endParaRPr lang="en-US" sz="867" dirty="0"/>
          </a:p>
          <a:p>
            <a:pPr indent="0" marL="0">
              <a:buNone/>
            </a:pPr>
            <a:r>
              <a:rPr lang="en-US" sz="867" dirty="0">
                <a:solidFill>
                  <a:srgbClr val="24292F"/>
                </a:solidFill>
                <a:latin typeface="Consolas" pitchFamily="34" charset="0"/>
                <a:ea typeface="Consolas" pitchFamily="34" charset="-122"/>
                <a:cs typeface="Consolas" pitchFamily="34" charset="-120"/>
              </a:rPr>
              <a:t>        try {</a:t>
            </a:r>
            <a:endParaRPr lang="en-US" sz="867" dirty="0"/>
          </a:p>
          <a:p>
            <a:pPr indent="0" marL="0">
              <a:buNone/>
            </a:pPr>
            <a:r>
              <a:rPr lang="en-US" sz="867" dirty="0">
                <a:solidFill>
                  <a:srgbClr val="24292F"/>
                </a:solidFill>
                <a:latin typeface="Consolas" pitchFamily="34" charset="0"/>
                <a:ea typeface="Consolas" pitchFamily="34" charset="-122"/>
                <a:cs typeface="Consolas" pitchFamily="34" charset="-120"/>
              </a:rPr>
              <a:t>            s.count();                              // a stream can be consumed only once</a:t>
            </a:r>
            <a:endParaRPr lang="en-US" sz="867" dirty="0"/>
          </a:p>
          <a:p>
            <a:pPr indent="0" marL="0">
              <a:buNone/>
            </a:pPr>
            <a:r>
              <a:rPr lang="en-US" sz="867" dirty="0">
                <a:solidFill>
                  <a:srgbClr val="24292F"/>
                </a:solidFill>
                <a:latin typeface="Consolas" pitchFamily="34" charset="0"/>
                <a:ea typeface="Consolas" pitchFamily="34" charset="-122"/>
                <a:cs typeface="Consolas" pitchFamily="34" charset="-120"/>
              </a:rPr>
              <a:t>        } catch (IllegalStateException e) {</a:t>
            </a:r>
            <a:endParaRPr lang="en-US" sz="867" dirty="0"/>
          </a:p>
          <a:p>
            <a:pPr indent="0" marL="0">
              <a:buNone/>
            </a:pPr>
            <a:r>
              <a:rPr lang="en-US" sz="867" dirty="0">
                <a:solidFill>
                  <a:srgbClr val="24292F"/>
                </a:solidFill>
                <a:latin typeface="Consolas" pitchFamily="34" charset="0"/>
                <a:ea typeface="Consolas" pitchFamily="34" charset="-122"/>
                <a:cs typeface="Consolas" pitchFamily="34" charset="-120"/>
              </a:rPr>
              <a:t>// … full listing in the web notes</a:t>
            </a:r>
            <a:endParaRPr lang="en-US" sz="867"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C9C43D"/>
          </a:solidFill>
          <a:ln w="12700">
            <a:solidFill>
              <a:srgbClr val="C9C43D"/>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5</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Hashing fundamentals</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A </a:t>
            </a:r>
            <a:pPr indent="0" marL="0">
              <a:buNone/>
            </a:pPr>
            <a:r>
              <a:rPr lang="en-US" sz="1350" b="1" dirty="0">
                <a:solidFill>
                  <a:srgbClr val="5B6B60"/>
                </a:solidFill>
                <a:latin typeface="Calibri" pitchFamily="34" charset="0"/>
                <a:ea typeface="Calibri" pitchFamily="34" charset="-122"/>
                <a:cs typeface="Calibri" pitchFamily="34" charset="-120"/>
              </a:rPr>
              <a:t>hash function</a:t>
            </a:r>
            <a:pPr indent="0" marL="0">
              <a:buNone/>
            </a:pPr>
            <a:r>
              <a:rPr lang="en-US" sz="1350" dirty="0">
                <a:solidFill>
                  <a:srgbClr val="5B6B60"/>
                </a:solidFill>
                <a:latin typeface="Calibri" pitchFamily="34" charset="0"/>
                <a:ea typeface="Calibri" pitchFamily="34" charset="-122"/>
                <a:cs typeface="Calibri" pitchFamily="34" charset="-120"/>
              </a:rPr>
              <a:t> maps a key to an integer; the integer picks a </a:t>
            </a:r>
            <a:pPr indent="0" marL="0">
              <a:buNone/>
            </a:pPr>
            <a:r>
              <a:rPr lang="en-US" sz="1350" b="1" dirty="0">
                <a:solidFill>
                  <a:srgbClr val="5B6B60"/>
                </a:solidFill>
                <a:latin typeface="Calibri" pitchFamily="34" charset="0"/>
                <a:ea typeface="Calibri" pitchFamily="34" charset="-122"/>
                <a:cs typeface="Calibri" pitchFamily="34" charset="-120"/>
              </a:rPr>
              <a:t>bucket</a:t>
            </a:r>
            <a:pPr indent="0" marL="0">
              <a:buNone/>
            </a:pPr>
            <a:r>
              <a:rPr lang="en-US" sz="1350" dirty="0">
                <a:solidFill>
                  <a:srgbClr val="5B6B60"/>
                </a:solidFill>
                <a:latin typeface="Calibri" pitchFamily="34" charset="0"/>
                <a:ea typeface="Calibri" pitchFamily="34" charset="-122"/>
                <a:cs typeface="Calibri" pitchFamily="34" charset="-120"/>
              </a:rPr>
              <a:t>. Good hashing makes lookups O(1) on average.</a:t>
            </a:r>
            <a:endParaRPr lang="en-US" sz="1350" dirty="0"/>
          </a:p>
        </p:txBody>
      </p:sp>
      <p:sp>
        <p:nvSpPr>
          <p:cNvPr id="7" name="Text 5"/>
          <p:cNvSpPr/>
          <p:nvPr/>
        </p:nvSpPr>
        <p:spPr>
          <a:xfrm>
            <a:off x="457200" y="1883664"/>
            <a:ext cx="5120640" cy="2734056"/>
          </a:xfrm>
          <a:prstGeom prst="rect">
            <a:avLst/>
          </a:prstGeom>
          <a:noFill/>
          <a:ln/>
        </p:spPr>
        <p:txBody>
          <a:bodyPr wrap="square" rtlCol="0" anchor="t"/>
          <a:lstStyle/>
          <a:p>
            <a:pPr marL="177800" indent="-177800">
              <a:spcAft>
                <a:spcPts val="400"/>
              </a:spcAft>
              <a:buSzPct val="100000"/>
              <a:buChar char="•"/>
            </a:pPr>
            <a:r>
              <a:rPr lang="en-US" sz="1400" dirty="0">
                <a:solidFill>
                  <a:srgbClr val="1F2A24"/>
                </a:solidFill>
                <a:latin typeface="Calibri" pitchFamily="34" charset="0"/>
                <a:ea typeface="Calibri" pitchFamily="34" charset="-122"/>
                <a:cs typeface="Calibri" pitchFamily="34" charset="-120"/>
              </a:rPr>
              <a:t>Properties of a good hash: </a:t>
            </a:r>
            <a:endParaRPr lang="en-US" sz="1400" dirty="0"/>
          </a:p>
          <a:p>
            <a:pPr marL="177800" indent="-177800">
              <a:spcAft>
                <a:spcPts val="400"/>
              </a:spcAft>
              <a:buSzPct val="100000"/>
              <a:buChar char="•"/>
            </a:pPr>
            <a:r>
              <a:rPr lang="en-US" sz="1400" b="1" dirty="0">
                <a:solidFill>
                  <a:srgbClr val="1F2A24"/>
                </a:solidFill>
                <a:latin typeface="Calibri" pitchFamily="34" charset="0"/>
                <a:ea typeface="Calibri" pitchFamily="34" charset="-122"/>
                <a:cs typeface="Calibri" pitchFamily="34" charset="-120"/>
              </a:rPr>
              <a:t>deterministic</a:t>
            </a:r>
            <a:endParaRPr lang="en-US" sz="1400" dirty="0"/>
          </a:p>
          <a:p>
            <a:pPr marL="177800" indent="-177800">
              <a:spcAft>
                <a:spcPts val="400"/>
              </a:spcAft>
              <a:buSzPct val="100000"/>
              <a:buChar char="•"/>
            </a:pPr>
            <a:r>
              <a:rPr lang="en-US" sz="1400" dirty="0">
                <a:solidFill>
                  <a:srgbClr val="1F2A24"/>
                </a:solidFill>
                <a:latin typeface="Calibri" pitchFamily="34" charset="0"/>
                <a:ea typeface="Calibri" pitchFamily="34" charset="-122"/>
                <a:cs typeface="Calibri" pitchFamily="34" charset="-120"/>
              </a:rPr>
              <a:t>, </a:t>
            </a:r>
            <a:endParaRPr lang="en-US" sz="1400" dirty="0"/>
          </a:p>
          <a:p>
            <a:pPr marL="177800" indent="-177800">
              <a:spcAft>
                <a:spcPts val="400"/>
              </a:spcAft>
              <a:buSzPct val="100000"/>
              <a:buChar char="•"/>
            </a:pPr>
            <a:r>
              <a:rPr lang="en-US" sz="1400" b="1" dirty="0">
                <a:solidFill>
                  <a:srgbClr val="1F2A24"/>
                </a:solidFill>
                <a:latin typeface="Calibri" pitchFamily="34" charset="0"/>
                <a:ea typeface="Calibri" pitchFamily="34" charset="-122"/>
                <a:cs typeface="Calibri" pitchFamily="34" charset="-120"/>
              </a:rPr>
              <a:t>fast</a:t>
            </a:r>
            <a:endParaRPr lang="en-US" sz="1400" dirty="0"/>
          </a:p>
          <a:p>
            <a:pPr marL="177800" indent="-177800">
              <a:spcAft>
                <a:spcPts val="400"/>
              </a:spcAft>
              <a:buSzPct val="100000"/>
              <a:buChar char="•"/>
            </a:pPr>
            <a:r>
              <a:rPr lang="en-US" sz="1400" dirty="0">
                <a:solidFill>
                  <a:srgbClr val="1F2A24"/>
                </a:solidFill>
                <a:latin typeface="Calibri" pitchFamily="34" charset="0"/>
                <a:ea typeface="Calibri" pitchFamily="34" charset="-122"/>
                <a:cs typeface="Calibri" pitchFamily="34" charset="-120"/>
              </a:rPr>
              <a:t>, </a:t>
            </a:r>
            <a:endParaRPr lang="en-US" sz="1400" dirty="0"/>
          </a:p>
          <a:p>
            <a:pPr marL="177800" indent="-177800">
              <a:spcAft>
                <a:spcPts val="400"/>
              </a:spcAft>
              <a:buSzPct val="100000"/>
              <a:buChar char="•"/>
            </a:pPr>
            <a:r>
              <a:rPr lang="en-US" sz="1400" b="1" dirty="0">
                <a:solidFill>
                  <a:srgbClr val="1F2A24"/>
                </a:solidFill>
                <a:latin typeface="Calibri" pitchFamily="34" charset="0"/>
                <a:ea typeface="Calibri" pitchFamily="34" charset="-122"/>
                <a:cs typeface="Calibri" pitchFamily="34" charset="-120"/>
              </a:rPr>
              <a:t>uniform</a:t>
            </a:r>
            <a:endParaRPr lang="en-US" sz="1400" dirty="0"/>
          </a:p>
          <a:p>
            <a:pPr marL="177800" indent="-177800">
              <a:spcAft>
                <a:spcPts val="400"/>
              </a:spcAft>
              <a:buSzPct val="100000"/>
              <a:buChar char="•"/>
            </a:pPr>
            <a:r>
              <a:rPr lang="en-US" sz="1400" dirty="0">
                <a:solidFill>
                  <a:srgbClr val="1F2A24"/>
                </a:solidFill>
                <a:latin typeface="Calibri" pitchFamily="34" charset="0"/>
                <a:ea typeface="Calibri" pitchFamily="34" charset="-122"/>
                <a:cs typeface="Calibri" pitchFamily="34" charset="-120"/>
              </a:rPr>
              <a:t> spread across buckets.</a:t>
            </a:r>
            <a:endParaRPr lang="en-US" sz="1400" dirty="0"/>
          </a:p>
          <a:p>
            <a:pPr marL="177800" indent="-177800">
              <a:spcAft>
                <a:spcPts val="400"/>
              </a:spcAft>
              <a:buSzPct val="100000"/>
              <a:buChar char="•"/>
            </a:pPr>
            <a:r>
              <a:rPr lang="en-US" sz="1400" b="1" dirty="0">
                <a:solidFill>
                  <a:srgbClr val="1F2A24"/>
                </a:solidFill>
                <a:latin typeface="Calibri" pitchFamily="34" charset="0"/>
                <a:ea typeface="Calibri" pitchFamily="34" charset="-122"/>
                <a:cs typeface="Calibri" pitchFamily="34" charset="-120"/>
              </a:rPr>
              <a:t>Collisions</a:t>
            </a:r>
            <a:endParaRPr lang="en-US" sz="1400" dirty="0"/>
          </a:p>
          <a:p>
            <a:pPr marL="177800" indent="-177800">
              <a:spcAft>
                <a:spcPts val="400"/>
              </a:spcAft>
              <a:buSzPct val="100000"/>
              <a:buChar char="•"/>
            </a:pPr>
            <a:r>
              <a:rPr lang="en-US" sz="1400" dirty="0">
                <a:solidFill>
                  <a:srgbClr val="1F2A24"/>
                </a:solidFill>
                <a:latin typeface="Calibri" pitchFamily="34" charset="0"/>
                <a:ea typeface="Calibri" pitchFamily="34" charset="-122"/>
                <a:cs typeface="Calibri" pitchFamily="34" charset="-120"/>
              </a:rPr>
              <a:t> are unavoidable (infinitely many keys, finitely many buckets — the pigeonhole principle).</a:t>
            </a:r>
            <a:endParaRPr lang="en-US" sz="1400" dirty="0"/>
          </a:p>
          <a:p>
            <a:pPr marL="177800" indent="-177800">
              <a:spcAft>
                <a:spcPts val="400"/>
              </a:spcAft>
              <a:buSzPct val="100000"/>
              <a:buChar char="•"/>
            </a:pPr>
            <a:r>
              <a:rPr lang="en-US" sz="1400" dirty="0">
                <a:solidFill>
                  <a:srgbClr val="1F2A24"/>
                </a:solidFill>
                <a:latin typeface="Calibri" pitchFamily="34" charset="0"/>
                <a:ea typeface="Calibri" pitchFamily="34" charset="-122"/>
                <a:cs typeface="Calibri" pitchFamily="34" charset="-120"/>
              </a:rPr>
              <a:t>Resolution strategies: </a:t>
            </a:r>
            <a:endParaRPr lang="en-US" sz="1400" dirty="0"/>
          </a:p>
          <a:p>
            <a:pPr marL="177800" indent="-177800">
              <a:spcAft>
                <a:spcPts val="400"/>
              </a:spcAft>
              <a:buSzPct val="100000"/>
              <a:buChar char="•"/>
            </a:pPr>
            <a:r>
              <a:rPr lang="en-US" sz="1400" b="1" dirty="0">
                <a:solidFill>
                  <a:srgbClr val="1F2A24"/>
                </a:solidFill>
                <a:latin typeface="Calibri" pitchFamily="34" charset="0"/>
                <a:ea typeface="Calibri" pitchFamily="34" charset="-122"/>
                <a:cs typeface="Calibri" pitchFamily="34" charset="-120"/>
              </a:rPr>
              <a:t>separate chaining</a:t>
            </a:r>
            <a:endParaRPr lang="en-US" sz="1400" dirty="0"/>
          </a:p>
          <a:p>
            <a:pPr marL="177800" indent="-177800">
              <a:spcAft>
                <a:spcPts val="400"/>
              </a:spcAft>
              <a:buSzPct val="100000"/>
              <a:buChar char="•"/>
            </a:pPr>
            <a:r>
              <a:rPr lang="en-US" sz="1400" dirty="0">
                <a:solidFill>
                  <a:srgbClr val="1F2A24"/>
                </a:solidFill>
                <a:latin typeface="Calibri" pitchFamily="34" charset="0"/>
                <a:ea typeface="Calibri" pitchFamily="34" charset="-122"/>
                <a:cs typeface="Calibri" pitchFamily="34" charset="-120"/>
              </a:rPr>
              <a:t> (a list per bucket — Java's </a:t>
            </a:r>
            <a:endParaRPr lang="en-US" sz="1400" dirty="0"/>
          </a:p>
          <a:p>
            <a:pPr marL="177800" indent="-177800">
              <a:spcAft>
                <a:spcPts val="400"/>
              </a:spcAft>
              <a:buSzPct val="100000"/>
              <a:buChar char="•"/>
            </a:pPr>
            <a:r>
              <a:rPr lang="en-US" sz="1400" dirty="0">
                <a:solidFill>
                  <a:srgbClr val="B4235A"/>
                </a:solidFill>
                <a:latin typeface="Consolas" pitchFamily="34" charset="0"/>
                <a:ea typeface="Consolas" pitchFamily="34" charset="-122"/>
                <a:cs typeface="Consolas" pitchFamily="34" charset="-120"/>
              </a:rPr>
              <a:t>HashMap</a:t>
            </a:r>
            <a:endParaRPr lang="en-US" sz="1400" dirty="0"/>
          </a:p>
          <a:p>
            <a:pPr marL="177800" indent="-177800">
              <a:spcAft>
                <a:spcPts val="400"/>
              </a:spcAft>
              <a:buSzPct val="100000"/>
              <a:buChar char="•"/>
            </a:pPr>
            <a:r>
              <a:rPr lang="en-US" sz="1400" dirty="0">
                <a:solidFill>
                  <a:srgbClr val="1F2A24"/>
                </a:solidFill>
                <a:latin typeface="Calibri" pitchFamily="34" charset="0"/>
                <a:ea typeface="Calibri" pitchFamily="34" charset="-122"/>
                <a:cs typeface="Calibri" pitchFamily="34" charset="-120"/>
              </a:rPr>
              <a:t>) or </a:t>
            </a:r>
            <a:endParaRPr lang="en-US" sz="1400" dirty="0"/>
          </a:p>
          <a:p>
            <a:pPr marL="177800" indent="-177800">
              <a:spcAft>
                <a:spcPts val="400"/>
              </a:spcAft>
              <a:buSzPct val="100000"/>
              <a:buChar char="•"/>
            </a:pPr>
            <a:r>
              <a:rPr lang="en-US" sz="1400" b="1" dirty="0">
                <a:solidFill>
                  <a:srgbClr val="1F2A24"/>
                </a:solidFill>
                <a:latin typeface="Calibri" pitchFamily="34" charset="0"/>
                <a:ea typeface="Calibri" pitchFamily="34" charset="-122"/>
                <a:cs typeface="Calibri" pitchFamily="34" charset="-120"/>
              </a:rPr>
              <a:t>open addressing</a:t>
            </a:r>
            <a:endParaRPr lang="en-US" sz="1400" dirty="0"/>
          </a:p>
          <a:p>
            <a:pPr marL="177800" indent="-177800">
              <a:spcAft>
                <a:spcPts val="400"/>
              </a:spcAft>
              <a:buSzPct val="100000"/>
              <a:buChar char="•"/>
            </a:pPr>
            <a:r>
              <a:rPr lang="en-US" sz="1400" dirty="0">
                <a:solidFill>
                  <a:srgbClr val="1F2A24"/>
                </a:solidFill>
                <a:latin typeface="Calibri" pitchFamily="34" charset="0"/>
                <a:ea typeface="Calibri" pitchFamily="34" charset="-122"/>
                <a:cs typeface="Calibri" pitchFamily="34" charset="-120"/>
              </a:rPr>
              <a:t> (probe the next free slot — e.g. </a:t>
            </a:r>
            <a:endParaRPr lang="en-US" sz="1400" dirty="0"/>
          </a:p>
          <a:p>
            <a:pPr marL="177800" indent="-177800">
              <a:spcAft>
                <a:spcPts val="400"/>
              </a:spcAft>
              <a:buSzPct val="100000"/>
              <a:buChar char="•"/>
            </a:pPr>
            <a:r>
              <a:rPr lang="en-US" sz="1400" dirty="0">
                <a:solidFill>
                  <a:srgbClr val="B4235A"/>
                </a:solidFill>
                <a:latin typeface="Consolas" pitchFamily="34" charset="0"/>
                <a:ea typeface="Consolas" pitchFamily="34" charset="-122"/>
                <a:cs typeface="Consolas" pitchFamily="34" charset="-120"/>
              </a:rPr>
              <a:t>IdentityHashMap</a:t>
            </a:r>
            <a:endParaRPr lang="en-US" sz="1400" dirty="0"/>
          </a:p>
          <a:p>
            <a:pPr marL="177800" indent="-177800">
              <a:spcAft>
                <a:spcPts val="400"/>
              </a:spcAft>
              <a:buSzPct val="100000"/>
              <a:buChar char="•"/>
            </a:pPr>
            <a:r>
              <a:rPr lang="en-US" sz="1400" dirty="0">
                <a:solidFill>
                  <a:srgbClr val="1F2A24"/>
                </a:solidFill>
                <a:latin typeface="Calibri" pitchFamily="34" charset="0"/>
                <a:ea typeface="Calibri" pitchFamily="34" charset="-122"/>
                <a:cs typeface="Calibri" pitchFamily="34" charset="-120"/>
              </a:rPr>
              <a:t>, Python dicts).</a:t>
            </a:r>
            <a:endParaRPr lang="en-US" sz="1400" dirty="0"/>
          </a:p>
          <a:p>
            <a:pPr marL="177800" indent="-177800">
              <a:spcAft>
                <a:spcPts val="400"/>
              </a:spcAft>
              <a:buSzPct val="100000"/>
              <a:buChar char="•"/>
            </a:pPr>
            <a:r>
              <a:rPr lang="en-US" sz="1400" dirty="0">
                <a:solidFill>
                  <a:srgbClr val="B4235A"/>
                </a:solidFill>
                <a:latin typeface="Consolas" pitchFamily="34" charset="0"/>
                <a:ea typeface="Consolas" pitchFamily="34" charset="-122"/>
                <a:cs typeface="Consolas" pitchFamily="34" charset="-120"/>
              </a:rPr>
              <a:t>String.hashCode()</a:t>
            </a:r>
            <a:endParaRPr lang="en-US" sz="1400" dirty="0"/>
          </a:p>
          <a:p>
            <a:pPr marL="177800" indent="-177800">
              <a:spcAft>
                <a:spcPts val="400"/>
              </a:spcAft>
              <a:buSzPct val="100000"/>
              <a:buChar char="•"/>
            </a:pPr>
            <a:r>
              <a:rPr lang="en-US" sz="1400" dirty="0">
                <a:solidFill>
                  <a:srgbClr val="1F2A24"/>
                </a:solidFill>
                <a:latin typeface="Calibri" pitchFamily="34" charset="0"/>
                <a:ea typeface="Calibri" pitchFamily="34" charset="-122"/>
                <a:cs typeface="Calibri" pitchFamily="34" charset="-120"/>
              </a:rPr>
              <a:t> = s[0]·31ⁿ⁻¹ + s[1]·31ⁿ⁻² + … + s[n−1] (computed with int overflow).</a:t>
            </a:r>
            <a:endParaRPr lang="en-US" sz="1400" dirty="0"/>
          </a:p>
        </p:txBody>
      </p:sp>
      <p:sp>
        <p:nvSpPr>
          <p:cNvPr id="8" name="Text 6"/>
          <p:cNvSpPr/>
          <p:nvPr/>
        </p:nvSpPr>
        <p:spPr>
          <a:xfrm>
            <a:off x="5852160" y="1975104"/>
            <a:ext cx="920435" cy="914400"/>
          </a:xfrm>
          <a:prstGeom prst="roundRect">
            <a:avLst>
              <a:gd name="adj" fmla="val 8000"/>
            </a:avLst>
          </a:prstGeom>
          <a:solidFill>
            <a:srgbClr val="EEF4F0"/>
          </a:solidFill>
          <a:ln w="12700">
            <a:solidFill>
              <a:srgbClr val="9FB8A8"/>
            </a:solidFill>
          </a:ln>
        </p:spPr>
        <p:txBody>
          <a:bodyPr wrap="square" rtlCol="0" anchor="ctr"/>
          <a:lstStyle/>
          <a:p>
            <a:pPr algn="ctr" indent="0" marL="0">
              <a:buNone/>
            </a:pPr>
            <a:r>
              <a:rPr lang="en-US" sz="1150" b="1" dirty="0">
                <a:solidFill>
                  <a:srgbClr val="1F2A24"/>
                </a:solidFill>
                <a:latin typeface="Calibri" pitchFamily="34" charset="0"/>
                <a:ea typeface="Calibri" pitchFamily="34" charset="-122"/>
                <a:cs typeface="Calibri" pitchFamily="34" charset="-120"/>
              </a:rPr>
              <a:t>"goa"</a:t>
            </a:r>
            <a:endParaRPr lang="en-US" sz="1150" dirty="0"/>
          </a:p>
          <a:p>
            <a:pPr algn="ctr" indent="0" marL="0">
              <a:buNone/>
            </a:pPr>
            <a:r>
              <a:rPr lang="en-US" sz="900" dirty="0">
                <a:solidFill>
                  <a:srgbClr val="5B6B60"/>
                </a:solidFill>
                <a:latin typeface="Calibri" pitchFamily="34" charset="0"/>
                <a:ea typeface="Calibri" pitchFamily="34" charset="-122"/>
                <a:cs typeface="Calibri" pitchFamily="34" charset="-120"/>
              </a:rPr>
              <a:t>key</a:t>
            </a:r>
            <a:endParaRPr lang="en-US" sz="1150" dirty="0"/>
          </a:p>
        </p:txBody>
      </p:sp>
      <p:sp>
        <p:nvSpPr>
          <p:cNvPr id="9" name="Shape 7"/>
          <p:cNvSpPr/>
          <p:nvPr/>
        </p:nvSpPr>
        <p:spPr>
          <a:xfrm>
            <a:off x="6772595" y="2432304"/>
            <a:ext cx="320040" cy="0"/>
          </a:xfrm>
          <a:prstGeom prst="line">
            <a:avLst/>
          </a:prstGeom>
          <a:noFill/>
          <a:ln w="15875">
            <a:solidFill>
              <a:srgbClr val="6F8276"/>
            </a:solidFill>
            <a:prstDash val="solid"/>
            <a:tailEnd type="triangle"/>
          </a:ln>
        </p:spPr>
      </p:sp>
      <p:sp>
        <p:nvSpPr>
          <p:cNvPr id="10" name="Text 8"/>
          <p:cNvSpPr/>
          <p:nvPr/>
        </p:nvSpPr>
        <p:spPr>
          <a:xfrm>
            <a:off x="7092635" y="1975104"/>
            <a:ext cx="920435" cy="914400"/>
          </a:xfrm>
          <a:prstGeom prst="roundRect">
            <a:avLst>
              <a:gd name="adj" fmla="val 8000"/>
            </a:avLst>
          </a:prstGeom>
          <a:solidFill>
            <a:srgbClr val="EEF4F0"/>
          </a:solidFill>
          <a:ln w="12700">
            <a:solidFill>
              <a:srgbClr val="9FB8A8"/>
            </a:solidFill>
          </a:ln>
        </p:spPr>
        <p:txBody>
          <a:bodyPr wrap="square" rtlCol="0" anchor="ctr"/>
          <a:lstStyle/>
          <a:p>
            <a:pPr algn="ctr" indent="0" marL="0">
              <a:buNone/>
            </a:pPr>
            <a:r>
              <a:rPr lang="en-US" sz="1150" b="1" dirty="0">
                <a:solidFill>
                  <a:srgbClr val="1F2A24"/>
                </a:solidFill>
                <a:latin typeface="Calibri" pitchFamily="34" charset="0"/>
                <a:ea typeface="Calibri" pitchFamily="34" charset="-122"/>
                <a:cs typeface="Calibri" pitchFamily="34" charset="-120"/>
              </a:rPr>
              <a:t>hashCode()</a:t>
            </a:r>
            <a:endParaRPr lang="en-US" sz="1150" dirty="0"/>
          </a:p>
          <a:p>
            <a:pPr algn="ctr" indent="0" marL="0">
              <a:buNone/>
            </a:pPr>
            <a:r>
              <a:rPr lang="en-US" sz="900" dirty="0">
                <a:solidFill>
                  <a:srgbClr val="5B6B60"/>
                </a:solidFill>
                <a:latin typeface="Calibri" pitchFamily="34" charset="0"/>
                <a:ea typeface="Calibri" pitchFamily="34" charset="-122"/>
                <a:cs typeface="Calibri" pitchFamily="34" charset="-120"/>
              </a:rPr>
              <a:t>102521</a:t>
            </a:r>
            <a:endParaRPr lang="en-US" sz="1150" dirty="0"/>
          </a:p>
        </p:txBody>
      </p:sp>
      <p:sp>
        <p:nvSpPr>
          <p:cNvPr id="11" name="Shape 9"/>
          <p:cNvSpPr/>
          <p:nvPr/>
        </p:nvSpPr>
        <p:spPr>
          <a:xfrm>
            <a:off x="8013070" y="2432304"/>
            <a:ext cx="320040" cy="0"/>
          </a:xfrm>
          <a:prstGeom prst="line">
            <a:avLst/>
          </a:prstGeom>
          <a:noFill/>
          <a:ln w="15875">
            <a:solidFill>
              <a:srgbClr val="6F8276"/>
            </a:solidFill>
            <a:prstDash val="solid"/>
            <a:tailEnd type="triangle"/>
          </a:ln>
        </p:spPr>
      </p:sp>
      <p:sp>
        <p:nvSpPr>
          <p:cNvPr id="12" name="Text 10"/>
          <p:cNvSpPr/>
          <p:nvPr/>
        </p:nvSpPr>
        <p:spPr>
          <a:xfrm>
            <a:off x="8333110" y="1975104"/>
            <a:ext cx="920435" cy="914400"/>
          </a:xfrm>
          <a:prstGeom prst="roundRect">
            <a:avLst>
              <a:gd name="adj" fmla="val 8000"/>
            </a:avLst>
          </a:prstGeom>
          <a:solidFill>
            <a:srgbClr val="EEF4F0"/>
          </a:solidFill>
          <a:ln w="12700">
            <a:solidFill>
              <a:srgbClr val="9FB8A8"/>
            </a:solidFill>
          </a:ln>
        </p:spPr>
        <p:txBody>
          <a:bodyPr wrap="square" rtlCol="0" anchor="ctr"/>
          <a:lstStyle/>
          <a:p>
            <a:pPr algn="ctr" indent="0" marL="0">
              <a:buNone/>
            </a:pPr>
            <a:r>
              <a:rPr lang="en-US" sz="1150" b="1" dirty="0">
                <a:solidFill>
                  <a:srgbClr val="1F2A24"/>
                </a:solidFill>
                <a:latin typeface="Calibri" pitchFamily="34" charset="0"/>
                <a:ea typeface="Calibri" pitchFamily="34" charset="-122"/>
                <a:cs typeface="Calibri" pitchFamily="34" charset="-120"/>
              </a:rPr>
              <a:t>spread</a:t>
            </a:r>
            <a:endParaRPr lang="en-US" sz="1150" dirty="0"/>
          </a:p>
          <a:p>
            <a:pPr algn="ctr" indent="0" marL="0">
              <a:buNone/>
            </a:pPr>
            <a:r>
              <a:rPr lang="en-US" sz="900" dirty="0">
                <a:solidFill>
                  <a:srgbClr val="5B6B60"/>
                </a:solidFill>
                <a:latin typeface="Calibri" pitchFamily="34" charset="0"/>
                <a:ea typeface="Calibri" pitchFamily="34" charset="-122"/>
                <a:cs typeface="Calibri" pitchFamily="34" charset="-120"/>
              </a:rPr>
              <a:t>h ^ (h &gt;&gt;&gt; 16) 102520</a:t>
            </a:r>
            <a:endParaRPr lang="en-US" sz="1150" dirty="0"/>
          </a:p>
        </p:txBody>
      </p:sp>
      <p:sp>
        <p:nvSpPr>
          <p:cNvPr id="13" name="Shape 11"/>
          <p:cNvSpPr/>
          <p:nvPr/>
        </p:nvSpPr>
        <p:spPr>
          <a:xfrm>
            <a:off x="9253545" y="2432304"/>
            <a:ext cx="320040" cy="0"/>
          </a:xfrm>
          <a:prstGeom prst="line">
            <a:avLst/>
          </a:prstGeom>
          <a:noFill/>
          <a:ln w="15875">
            <a:solidFill>
              <a:srgbClr val="6F8276"/>
            </a:solidFill>
            <a:prstDash val="solid"/>
            <a:tailEnd type="triangle"/>
          </a:ln>
        </p:spPr>
      </p:sp>
      <p:sp>
        <p:nvSpPr>
          <p:cNvPr id="14" name="Text 12"/>
          <p:cNvSpPr/>
          <p:nvPr/>
        </p:nvSpPr>
        <p:spPr>
          <a:xfrm>
            <a:off x="9573585" y="1975104"/>
            <a:ext cx="920435" cy="914400"/>
          </a:xfrm>
          <a:prstGeom prst="roundRect">
            <a:avLst>
              <a:gd name="adj" fmla="val 8000"/>
            </a:avLst>
          </a:prstGeom>
          <a:solidFill>
            <a:srgbClr val="EEF4F0"/>
          </a:solidFill>
          <a:ln w="12700">
            <a:solidFill>
              <a:srgbClr val="9FB8A8"/>
            </a:solidFill>
          </a:ln>
        </p:spPr>
        <p:txBody>
          <a:bodyPr wrap="square" rtlCol="0" anchor="ctr"/>
          <a:lstStyle/>
          <a:p>
            <a:pPr algn="ctr" indent="0" marL="0">
              <a:buNone/>
            </a:pPr>
            <a:r>
              <a:rPr lang="en-US" sz="1150" b="1" dirty="0">
                <a:solidFill>
                  <a:srgbClr val="1F2A24"/>
                </a:solidFill>
                <a:latin typeface="Calibri" pitchFamily="34" charset="0"/>
                <a:ea typeface="Calibri" pitchFamily="34" charset="-122"/>
                <a:cs typeface="Calibri" pitchFamily="34" charset="-120"/>
              </a:rPr>
              <a:t>index</a:t>
            </a:r>
            <a:endParaRPr lang="en-US" sz="1150" dirty="0"/>
          </a:p>
          <a:p>
            <a:pPr algn="ctr" indent="0" marL="0">
              <a:buNone/>
            </a:pPr>
            <a:r>
              <a:rPr lang="en-US" sz="900" dirty="0">
                <a:solidFill>
                  <a:srgbClr val="5B6B60"/>
                </a:solidFill>
                <a:latin typeface="Calibri" pitchFamily="34" charset="0"/>
                <a:ea typeface="Calibri" pitchFamily="34" charset="-122"/>
                <a:cs typeface="Calibri" pitchFamily="34" charset="-120"/>
              </a:rPr>
              <a:t>(16 − 1) &amp; hash 8</a:t>
            </a:r>
            <a:endParaRPr lang="en-US" sz="1150" dirty="0"/>
          </a:p>
        </p:txBody>
      </p:sp>
      <p:sp>
        <p:nvSpPr>
          <p:cNvPr id="15" name="Shape 13"/>
          <p:cNvSpPr/>
          <p:nvPr/>
        </p:nvSpPr>
        <p:spPr>
          <a:xfrm>
            <a:off x="10494020" y="2432304"/>
            <a:ext cx="320040" cy="0"/>
          </a:xfrm>
          <a:prstGeom prst="line">
            <a:avLst/>
          </a:prstGeom>
          <a:noFill/>
          <a:ln w="15875">
            <a:solidFill>
              <a:srgbClr val="6F8276"/>
            </a:solidFill>
            <a:prstDash val="solid"/>
            <a:tailEnd type="triangle"/>
          </a:ln>
        </p:spPr>
      </p:sp>
      <p:sp>
        <p:nvSpPr>
          <p:cNvPr id="16" name="Text 14"/>
          <p:cNvSpPr/>
          <p:nvPr/>
        </p:nvSpPr>
        <p:spPr>
          <a:xfrm>
            <a:off x="10814060" y="1975104"/>
            <a:ext cx="920435" cy="914400"/>
          </a:xfrm>
          <a:prstGeom prst="roundRect">
            <a:avLst>
              <a:gd name="adj" fmla="val 8000"/>
            </a:avLst>
          </a:prstGeom>
          <a:solidFill>
            <a:srgbClr val="EEF4F0"/>
          </a:solidFill>
          <a:ln w="12700">
            <a:solidFill>
              <a:srgbClr val="9FB8A8"/>
            </a:solidFill>
          </a:ln>
        </p:spPr>
        <p:txBody>
          <a:bodyPr wrap="square" rtlCol="0" anchor="ctr"/>
          <a:lstStyle/>
          <a:p>
            <a:pPr algn="ctr" indent="0" marL="0">
              <a:buNone/>
            </a:pPr>
            <a:r>
              <a:rPr lang="en-US" sz="1150" b="1" dirty="0">
                <a:solidFill>
                  <a:srgbClr val="1F2A24"/>
                </a:solidFill>
                <a:latin typeface="Calibri" pitchFamily="34" charset="0"/>
                <a:ea typeface="Calibri" pitchFamily="34" charset="-122"/>
                <a:cs typeface="Calibri" pitchFamily="34" charset="-120"/>
              </a:rPr>
              <a:t>bucket [8]</a:t>
            </a:r>
            <a:endParaRPr lang="en-US" sz="1150" dirty="0"/>
          </a:p>
          <a:p>
            <a:pPr algn="ctr" indent="0" marL="0">
              <a:buNone/>
            </a:pPr>
            <a:r>
              <a:rPr lang="en-US" sz="900" dirty="0">
                <a:solidFill>
                  <a:srgbClr val="5B6B60"/>
                </a:solidFill>
                <a:latin typeface="Calibri" pitchFamily="34" charset="0"/>
                <a:ea typeface="Calibri" pitchFamily="34" charset="-122"/>
                <a:cs typeface="Calibri" pitchFamily="34" charset="-120"/>
              </a:rPr>
              <a:t>table slot</a:t>
            </a:r>
            <a:endParaRPr lang="en-US" sz="1150" dirty="0"/>
          </a:p>
        </p:txBody>
      </p:sp>
      <p:graphicFrame>
        <p:nvGraphicFramePr>
          <p:cNvPr id="64" name="Table 0"/>
          <p:cNvGraphicFramePr>
            <a:graphicFrameLocks noGrp="1"/>
          </p:cNvGraphicFramePr>
          <p:nvPr>
            <p:extLst>
              <p:ext uri="{D42A27DB-BD31-4B8C-83A1-F6EECF244321}">
                <p14:modId xmlns:p14="http://schemas.microsoft.com/office/powerpoint/2010/main" val="1579011935"/>
              </p:ext>
            </p:extLst>
          </p:nvPr>
        </p:nvGraphicFramePr>
        <p:xfrm>
          <a:off x="457200" y="4663440"/>
          <a:ext cx="11277295" cy="914400"/>
        </p:xfrm>
        <a:graphic>
          <a:graphicData uri="http://schemas.openxmlformats.org/drawingml/2006/table">
            <a:tbl>
              <a:tblPr/>
              <a:tblGrid>
                <a:gridCol w="3759098"/>
                <a:gridCol w="3759098"/>
                <a:gridCol w="3759098"/>
              </a:tblGrid>
              <a:tr h="329184">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Kind</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Examples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Used for</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Non-cryptographic</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hashCode(), MurmurHash, xxHash</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hash tables, partitioning (Kafka keys!), caches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Cryptographic</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SHA-256, SHA-3</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integrity checks, signatures, idempotency keys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Password hashing</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BCrypt, Argon2, PBKDF2</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storing passwords — slow on purpose (Session 16)</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Consistent hashing</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hash ring</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distributing keys across servers (Redis Cluster, Session 15)</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C9C43D"/>
          </a:solidFill>
          <a:ln w="12700">
            <a:solidFill>
              <a:srgbClr val="C9C43D"/>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5</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Inside HashMap: buckets, chains &amp; trees</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A </a:t>
            </a:r>
            <a:pPr indent="0" marL="0">
              <a:buNone/>
            </a:pPr>
            <a:r>
              <a:rPr lang="en-US" sz="1350" dirty="0">
                <a:solidFill>
                  <a:srgbClr val="B4235A"/>
                </a:solidFill>
                <a:latin typeface="Consolas" pitchFamily="34" charset="0"/>
                <a:ea typeface="Consolas" pitchFamily="34" charset="-122"/>
                <a:cs typeface="Consolas" pitchFamily="34" charset="-120"/>
              </a:rPr>
              <a:t>HashMap</a:t>
            </a:r>
            <a:pPr indent="0" marL="0">
              <a:buNone/>
            </a:pPr>
            <a:r>
              <a:rPr lang="en-US" sz="1350" dirty="0">
                <a:solidFill>
                  <a:srgbClr val="5B6B60"/>
                </a:solidFill>
                <a:latin typeface="Calibri" pitchFamily="34" charset="0"/>
                <a:ea typeface="Calibri" pitchFamily="34" charset="-122"/>
                <a:cs typeface="Calibri" pitchFamily="34" charset="-120"/>
              </a:rPr>
              <a:t> is an array of buckets. Each bucket holds a linked list of nodes — upgraded to a </a:t>
            </a:r>
            <a:pPr indent="0" marL="0">
              <a:buNone/>
            </a:pPr>
            <a:r>
              <a:rPr lang="en-US" sz="1350" b="1" dirty="0">
                <a:solidFill>
                  <a:srgbClr val="5B6B60"/>
                </a:solidFill>
                <a:latin typeface="Calibri" pitchFamily="34" charset="0"/>
                <a:ea typeface="Calibri" pitchFamily="34" charset="-122"/>
                <a:cs typeface="Calibri" pitchFamily="34" charset="-120"/>
              </a:rPr>
              <a:t>red-black tree</a:t>
            </a:r>
            <a:pPr indent="0" marL="0">
              <a:buNone/>
            </a:pPr>
            <a:r>
              <a:rPr lang="en-US" sz="1350" dirty="0">
                <a:solidFill>
                  <a:srgbClr val="5B6B60"/>
                </a:solidFill>
                <a:latin typeface="Calibri" pitchFamily="34" charset="0"/>
                <a:ea typeface="Calibri" pitchFamily="34" charset="-122"/>
                <a:cs typeface="Calibri" pitchFamily="34" charset="-120"/>
              </a:rPr>
              <a:t> when it gets long.</a:t>
            </a:r>
            <a:endParaRPr lang="en-US" sz="1350" dirty="0"/>
          </a:p>
        </p:txBody>
      </p:sp>
      <p:sp>
        <p:nvSpPr>
          <p:cNvPr id="7" name="Text 5"/>
          <p:cNvSpPr/>
          <p:nvPr/>
        </p:nvSpPr>
        <p:spPr>
          <a:xfrm>
            <a:off x="457200" y="1883664"/>
            <a:ext cx="5120640" cy="3877056"/>
          </a:xfrm>
          <a:prstGeom prst="rect">
            <a:avLst/>
          </a:prstGeom>
          <a:noFill/>
          <a:ln/>
        </p:spPr>
        <p:txBody>
          <a:bodyPr wrap="square" rtlCol="0" anchor="t"/>
          <a:lstStyle/>
          <a:p>
            <a:pPr marL="177800" indent="-177800">
              <a:spcAft>
                <a:spcPts val="400"/>
              </a:spcAft>
              <a:buSzPct val="100000"/>
              <a:buChar char="•"/>
            </a:pPr>
            <a:r>
              <a:rPr lang="en-US" sz="1600" dirty="0">
                <a:solidFill>
                  <a:srgbClr val="1F2A24"/>
                </a:solidFill>
                <a:latin typeface="Calibri" pitchFamily="34" charset="0"/>
                <a:ea typeface="Calibri" pitchFamily="34" charset="-122"/>
                <a:cs typeface="Calibri" pitchFamily="34" charset="-120"/>
              </a:rPr>
              <a:t>Default capacity </a:t>
            </a:r>
            <a:endParaRPr lang="en-US" sz="1600" dirty="0"/>
          </a:p>
          <a:p>
            <a:pPr marL="177800" indent="-177800">
              <a:spcAft>
                <a:spcPts val="400"/>
              </a:spcAft>
              <a:buSzPct val="100000"/>
              <a:buChar char="•"/>
            </a:pPr>
            <a:r>
              <a:rPr lang="en-US" sz="1600" b="1" dirty="0">
                <a:solidFill>
                  <a:srgbClr val="1F2A24"/>
                </a:solidFill>
                <a:latin typeface="Calibri" pitchFamily="34" charset="0"/>
                <a:ea typeface="Calibri" pitchFamily="34" charset="-122"/>
                <a:cs typeface="Calibri" pitchFamily="34" charset="-120"/>
              </a:rPr>
              <a:t>16</a:t>
            </a:r>
            <a:endParaRPr lang="en-US" sz="1600" dirty="0"/>
          </a:p>
          <a:p>
            <a:pPr marL="177800" indent="-177800">
              <a:spcAft>
                <a:spcPts val="400"/>
              </a:spcAft>
              <a:buSzPct val="100000"/>
              <a:buChar char="•"/>
            </a:pPr>
            <a:r>
              <a:rPr lang="en-US" sz="1600" dirty="0">
                <a:solidFill>
                  <a:srgbClr val="1F2A24"/>
                </a:solidFill>
                <a:latin typeface="Calibri" pitchFamily="34" charset="0"/>
                <a:ea typeface="Calibri" pitchFamily="34" charset="-122"/>
                <a:cs typeface="Calibri" pitchFamily="34" charset="-120"/>
              </a:rPr>
              <a:t>, load factor </a:t>
            </a:r>
            <a:endParaRPr lang="en-US" sz="1600" dirty="0"/>
          </a:p>
          <a:p>
            <a:pPr marL="177800" indent="-177800">
              <a:spcAft>
                <a:spcPts val="400"/>
              </a:spcAft>
              <a:buSzPct val="100000"/>
              <a:buChar char="•"/>
            </a:pPr>
            <a:r>
              <a:rPr lang="en-US" sz="1600" b="1" dirty="0">
                <a:solidFill>
                  <a:srgbClr val="1F2A24"/>
                </a:solidFill>
                <a:latin typeface="Calibri" pitchFamily="34" charset="0"/>
                <a:ea typeface="Calibri" pitchFamily="34" charset="-122"/>
                <a:cs typeface="Calibri" pitchFamily="34" charset="-120"/>
              </a:rPr>
              <a:t>0.75</a:t>
            </a:r>
            <a:endParaRPr lang="en-US" sz="1600" dirty="0"/>
          </a:p>
          <a:p>
            <a:pPr marL="177800" indent="-177800">
              <a:spcAft>
                <a:spcPts val="400"/>
              </a:spcAft>
              <a:buSzPct val="100000"/>
              <a:buChar char="•"/>
            </a:pPr>
            <a:r>
              <a:rPr lang="en-US" sz="1600" dirty="0">
                <a:solidFill>
                  <a:srgbClr val="1F2A24"/>
                </a:solidFill>
                <a:latin typeface="Calibri" pitchFamily="34" charset="0"/>
                <a:ea typeface="Calibri" pitchFamily="34" charset="-122"/>
                <a:cs typeface="Calibri" pitchFamily="34" charset="-120"/>
              </a:rPr>
              <a:t> → resize when size exceeds </a:t>
            </a:r>
            <a:endParaRPr lang="en-US" sz="1600" dirty="0"/>
          </a:p>
          <a:p>
            <a:pPr marL="177800" indent="-177800">
              <a:spcAft>
                <a:spcPts val="400"/>
              </a:spcAft>
              <a:buSzPct val="100000"/>
              <a:buChar char="•"/>
            </a:pPr>
            <a:r>
              <a:rPr lang="en-US" sz="1600" b="1" dirty="0">
                <a:solidFill>
                  <a:srgbClr val="1F2A24"/>
                </a:solidFill>
                <a:latin typeface="Calibri" pitchFamily="34" charset="0"/>
                <a:ea typeface="Calibri" pitchFamily="34" charset="-122"/>
                <a:cs typeface="Calibri" pitchFamily="34" charset="-120"/>
              </a:rPr>
              <a:t>12</a:t>
            </a:r>
            <a:endParaRPr lang="en-US" sz="1600" dirty="0"/>
          </a:p>
          <a:p>
            <a:pPr marL="177800" indent="-177800">
              <a:spcAft>
                <a:spcPts val="400"/>
              </a:spcAft>
              <a:buSzPct val="100000"/>
              <a:buChar char="•"/>
            </a:pPr>
            <a:r>
              <a:rPr lang="en-US" sz="1600" dirty="0">
                <a:solidFill>
                  <a:srgbClr val="1F2A24"/>
                </a:solidFill>
                <a:latin typeface="Calibri" pitchFamily="34" charset="0"/>
                <a:ea typeface="Calibri" pitchFamily="34" charset="-122"/>
                <a:cs typeface="Calibri" pitchFamily="34" charset="-120"/>
              </a:rPr>
              <a:t>; capacity always a power of two.</a:t>
            </a:r>
            <a:endParaRPr lang="en-US" sz="1600" dirty="0"/>
          </a:p>
          <a:p>
            <a:pPr marL="177800" indent="-177800">
              <a:spcAft>
                <a:spcPts val="400"/>
              </a:spcAft>
              <a:buSzPct val="100000"/>
              <a:buChar char="•"/>
            </a:pPr>
            <a:r>
              <a:rPr lang="en-US" sz="1600" b="1" dirty="0">
                <a:solidFill>
                  <a:srgbClr val="1F2A24"/>
                </a:solidFill>
                <a:latin typeface="Calibri" pitchFamily="34" charset="0"/>
                <a:ea typeface="Calibri" pitchFamily="34" charset="-122"/>
                <a:cs typeface="Calibri" pitchFamily="34" charset="-120"/>
              </a:rPr>
              <a:t>Resize</a:t>
            </a:r>
            <a:endParaRPr lang="en-US" sz="1600" dirty="0"/>
          </a:p>
          <a:p>
            <a:pPr marL="177800" indent="-177800">
              <a:spcAft>
                <a:spcPts val="400"/>
              </a:spcAft>
              <a:buSzPct val="100000"/>
              <a:buChar char="•"/>
            </a:pPr>
            <a:r>
              <a:rPr lang="en-US" sz="1600" dirty="0">
                <a:solidFill>
                  <a:srgbClr val="1F2A24"/>
                </a:solidFill>
                <a:latin typeface="Calibri" pitchFamily="34" charset="0"/>
                <a:ea typeface="Calibri" pitchFamily="34" charset="-122"/>
                <a:cs typeface="Calibri" pitchFamily="34" charset="-120"/>
              </a:rPr>
              <a:t> doubles the table and re-distributes nodes: each node stays at index </a:t>
            </a:r>
            <a:endParaRPr lang="en-US" sz="1600" dirty="0"/>
          </a:p>
          <a:p>
            <a:pPr marL="177800" indent="-177800">
              <a:spcAft>
                <a:spcPts val="400"/>
              </a:spcAft>
              <a:buSzPct val="100000"/>
              <a:buChar char="•"/>
            </a:pPr>
            <a:r>
              <a:rPr lang="en-US" sz="1600" i="1" dirty="0">
                <a:solidFill>
                  <a:srgbClr val="1F2A24"/>
                </a:solidFill>
                <a:latin typeface="Calibri" pitchFamily="34" charset="0"/>
                <a:ea typeface="Calibri" pitchFamily="34" charset="-122"/>
                <a:cs typeface="Calibri" pitchFamily="34" charset="-120"/>
              </a:rPr>
              <a:t>i</a:t>
            </a:r>
            <a:endParaRPr lang="en-US" sz="1600" dirty="0"/>
          </a:p>
          <a:p>
            <a:pPr marL="177800" indent="-177800">
              <a:spcAft>
                <a:spcPts val="400"/>
              </a:spcAft>
              <a:buSzPct val="100000"/>
              <a:buChar char="•"/>
            </a:pPr>
            <a:r>
              <a:rPr lang="en-US" sz="1600" dirty="0">
                <a:solidFill>
                  <a:srgbClr val="1F2A24"/>
                </a:solidFill>
                <a:latin typeface="Calibri" pitchFamily="34" charset="0"/>
                <a:ea typeface="Calibri" pitchFamily="34" charset="-122"/>
                <a:cs typeface="Calibri" pitchFamily="34" charset="-120"/>
              </a:rPr>
              <a:t> or moves to </a:t>
            </a:r>
            <a:endParaRPr lang="en-US" sz="1600" dirty="0"/>
          </a:p>
          <a:p>
            <a:pPr marL="177800" indent="-177800">
              <a:spcAft>
                <a:spcPts val="400"/>
              </a:spcAft>
              <a:buSzPct val="100000"/>
              <a:buChar char="•"/>
            </a:pPr>
            <a:r>
              <a:rPr lang="en-US" sz="1600" i="1" dirty="0">
                <a:solidFill>
                  <a:srgbClr val="1F2A24"/>
                </a:solidFill>
                <a:latin typeface="Calibri" pitchFamily="34" charset="0"/>
                <a:ea typeface="Calibri" pitchFamily="34" charset="-122"/>
                <a:cs typeface="Calibri" pitchFamily="34" charset="-120"/>
              </a:rPr>
              <a:t>i + oldCapacity</a:t>
            </a:r>
            <a:endParaRPr lang="en-US" sz="1600" dirty="0"/>
          </a:p>
          <a:p>
            <a:pPr marL="177800" indent="-177800">
              <a:spcAft>
                <a:spcPts val="400"/>
              </a:spcAft>
              <a:buSzPct val="100000"/>
              <a:buChar char="•"/>
            </a:pPr>
            <a:r>
              <a:rPr lang="en-US" sz="1600" dirty="0">
                <a:solidFill>
                  <a:srgbClr val="1F2A24"/>
                </a:solidFill>
                <a:latin typeface="Calibri" pitchFamily="34" charset="0"/>
                <a:ea typeface="Calibri" pitchFamily="34" charset="-122"/>
                <a:cs typeface="Calibri" pitchFamily="34" charset="-120"/>
              </a:rPr>
              <a:t>.</a:t>
            </a:r>
            <a:endParaRPr lang="en-US" sz="1600" dirty="0"/>
          </a:p>
          <a:p>
            <a:pPr marL="177800" indent="-177800">
              <a:spcAft>
                <a:spcPts val="400"/>
              </a:spcAft>
              <a:buSzPct val="100000"/>
              <a:buChar char="•"/>
            </a:pPr>
            <a:r>
              <a:rPr lang="en-US" sz="1600" dirty="0">
                <a:solidFill>
                  <a:srgbClr val="1F2A24"/>
                </a:solidFill>
                <a:latin typeface="Calibri" pitchFamily="34" charset="0"/>
                <a:ea typeface="Calibri" pitchFamily="34" charset="-122"/>
                <a:cs typeface="Calibri" pitchFamily="34" charset="-120"/>
              </a:rPr>
              <a:t>A bucket with ≥ </a:t>
            </a:r>
            <a:endParaRPr lang="en-US" sz="1600" dirty="0"/>
          </a:p>
          <a:p>
            <a:pPr marL="177800" indent="-177800">
              <a:spcAft>
                <a:spcPts val="400"/>
              </a:spcAft>
              <a:buSzPct val="100000"/>
              <a:buChar char="•"/>
            </a:pPr>
            <a:r>
              <a:rPr lang="en-US" sz="1600" b="1" dirty="0">
                <a:solidFill>
                  <a:srgbClr val="1F2A24"/>
                </a:solidFill>
                <a:latin typeface="Calibri" pitchFamily="34" charset="0"/>
                <a:ea typeface="Calibri" pitchFamily="34" charset="-122"/>
                <a:cs typeface="Calibri" pitchFamily="34" charset="-120"/>
              </a:rPr>
              <a:t>8</a:t>
            </a:r>
            <a:endParaRPr lang="en-US" sz="1600" dirty="0"/>
          </a:p>
          <a:p>
            <a:pPr marL="177800" indent="-177800">
              <a:spcAft>
                <a:spcPts val="400"/>
              </a:spcAft>
              <a:buSzPct val="100000"/>
              <a:buChar char="•"/>
            </a:pPr>
            <a:r>
              <a:rPr lang="en-US" sz="1600" dirty="0">
                <a:solidFill>
                  <a:srgbClr val="1F2A24"/>
                </a:solidFill>
                <a:latin typeface="Calibri" pitchFamily="34" charset="0"/>
                <a:ea typeface="Calibri" pitchFamily="34" charset="-122"/>
                <a:cs typeface="Calibri" pitchFamily="34" charset="-120"/>
              </a:rPr>
              <a:t> nodes is </a:t>
            </a:r>
            <a:endParaRPr lang="en-US" sz="1600" dirty="0"/>
          </a:p>
          <a:p>
            <a:pPr marL="177800" indent="-177800">
              <a:spcAft>
                <a:spcPts val="400"/>
              </a:spcAft>
              <a:buSzPct val="100000"/>
              <a:buChar char="•"/>
            </a:pPr>
            <a:r>
              <a:rPr lang="en-US" sz="1600" i="1" dirty="0">
                <a:solidFill>
                  <a:srgbClr val="1F2A24"/>
                </a:solidFill>
                <a:latin typeface="Calibri" pitchFamily="34" charset="0"/>
                <a:ea typeface="Calibri" pitchFamily="34" charset="-122"/>
                <a:cs typeface="Calibri" pitchFamily="34" charset="-120"/>
              </a:rPr>
              <a:t>treeified</a:t>
            </a:r>
            <a:endParaRPr lang="en-US" sz="1600" dirty="0"/>
          </a:p>
          <a:p>
            <a:pPr marL="177800" indent="-177800">
              <a:spcAft>
                <a:spcPts val="400"/>
              </a:spcAft>
              <a:buSzPct val="100000"/>
              <a:buChar char="•"/>
            </a:pPr>
            <a:r>
              <a:rPr lang="en-US" sz="1600" dirty="0">
                <a:solidFill>
                  <a:srgbClr val="1F2A24"/>
                </a:solidFill>
                <a:latin typeface="Calibri" pitchFamily="34" charset="0"/>
                <a:ea typeface="Calibri" pitchFamily="34" charset="-122"/>
                <a:cs typeface="Calibri" pitchFamily="34" charset="-120"/>
              </a:rPr>
              <a:t> (if capacity ≥ 64), so the worst case is O(log n) instead of O(n).</a:t>
            </a:r>
            <a:endParaRPr lang="en-US" sz="1600" dirty="0"/>
          </a:p>
          <a:p>
            <a:pPr marL="177800" indent="-177800">
              <a:spcAft>
                <a:spcPts val="400"/>
              </a:spcAft>
              <a:buSzPct val="100000"/>
              <a:buChar char="•"/>
            </a:pPr>
            <a:r>
              <a:rPr lang="en-US" sz="1600" dirty="0">
                <a:solidFill>
                  <a:srgbClr val="B4235A"/>
                </a:solidFill>
                <a:latin typeface="Consolas" pitchFamily="34" charset="0"/>
                <a:ea typeface="Consolas" pitchFamily="34" charset="-122"/>
                <a:cs typeface="Consolas" pitchFamily="34" charset="-120"/>
              </a:rPr>
              <a:t>put</a:t>
            </a:r>
            <a:endParaRPr lang="en-US" sz="1600" dirty="0"/>
          </a:p>
          <a:p>
            <a:pPr marL="177800" indent="-177800">
              <a:spcAft>
                <a:spcPts val="400"/>
              </a:spcAft>
              <a:buSzPct val="100000"/>
              <a:buChar char="•"/>
            </a:pPr>
            <a:r>
              <a:rPr lang="en-US" sz="1600" dirty="0">
                <a:solidFill>
                  <a:srgbClr val="1F2A24"/>
                </a:solidFill>
                <a:latin typeface="Calibri" pitchFamily="34" charset="0"/>
                <a:ea typeface="Calibri" pitchFamily="34" charset="-122"/>
                <a:cs typeface="Calibri" pitchFamily="34" charset="-120"/>
              </a:rPr>
              <a:t>: hash → index → walk the bucket; same hash </a:t>
            </a:r>
            <a:endParaRPr lang="en-US" sz="1600" dirty="0"/>
          </a:p>
          <a:p>
            <a:pPr marL="177800" indent="-177800">
              <a:spcAft>
                <a:spcPts val="400"/>
              </a:spcAft>
              <a:buSzPct val="100000"/>
              <a:buChar char="•"/>
            </a:pPr>
            <a:r>
              <a:rPr lang="en-US" sz="1600" b="1" dirty="0">
                <a:solidFill>
                  <a:srgbClr val="1F2A24"/>
                </a:solidFill>
                <a:latin typeface="Calibri" pitchFamily="34" charset="0"/>
                <a:ea typeface="Calibri" pitchFamily="34" charset="-122"/>
                <a:cs typeface="Calibri" pitchFamily="34" charset="-120"/>
              </a:rPr>
              <a:t>and</a:t>
            </a:r>
            <a:endParaRPr lang="en-US" sz="1600" dirty="0"/>
          </a:p>
          <a:p>
            <a:pPr marL="177800" indent="-177800">
              <a:spcAft>
                <a:spcPts val="400"/>
              </a:spcAft>
              <a:buSzPct val="100000"/>
              <a:buChar char="•"/>
            </a:pPr>
            <a:r>
              <a:rPr lang="en-US" sz="1600" dirty="0">
                <a:solidFill>
                  <a:srgbClr val="1F2A24"/>
                </a:solidFill>
                <a:latin typeface="Calibri" pitchFamily="34" charset="0"/>
                <a:ea typeface="Calibri" pitchFamily="34" charset="-122"/>
                <a:cs typeface="Calibri" pitchFamily="34" charset="-120"/>
              </a:rPr>
              <a:t> </a:t>
            </a:r>
            <a:endParaRPr lang="en-US" sz="1600" dirty="0"/>
          </a:p>
          <a:p>
            <a:pPr marL="177800" indent="-177800">
              <a:spcAft>
                <a:spcPts val="400"/>
              </a:spcAft>
              <a:buSzPct val="100000"/>
              <a:buChar char="•"/>
            </a:pPr>
            <a:r>
              <a:rPr lang="en-US" sz="1600" dirty="0">
                <a:solidFill>
                  <a:srgbClr val="B4235A"/>
                </a:solidFill>
                <a:latin typeface="Consolas" pitchFamily="34" charset="0"/>
                <a:ea typeface="Consolas" pitchFamily="34" charset="-122"/>
                <a:cs typeface="Consolas" pitchFamily="34" charset="-120"/>
              </a:rPr>
              <a:t>equals</a:t>
            </a:r>
            <a:endParaRPr lang="en-US" sz="1600" dirty="0"/>
          </a:p>
          <a:p>
            <a:pPr marL="177800" indent="-177800">
              <a:spcAft>
                <a:spcPts val="400"/>
              </a:spcAft>
              <a:buSzPct val="100000"/>
              <a:buChar char="•"/>
            </a:pPr>
            <a:r>
              <a:rPr lang="en-US" sz="1600" dirty="0">
                <a:solidFill>
                  <a:srgbClr val="1F2A24"/>
                </a:solidFill>
                <a:latin typeface="Calibri" pitchFamily="34" charset="0"/>
                <a:ea typeface="Calibri" pitchFamily="34" charset="-122"/>
                <a:cs typeface="Calibri" pitchFamily="34" charset="-120"/>
              </a:rPr>
              <a:t> → replace the value, otherwise append a node.</a:t>
            </a:r>
            <a:endParaRPr lang="en-US" sz="1600" dirty="0"/>
          </a:p>
        </p:txBody>
      </p:sp>
      <p:sp>
        <p:nvSpPr>
          <p:cNvPr id="8" name="Text 6"/>
          <p:cNvSpPr/>
          <p:nvPr/>
        </p:nvSpPr>
        <p:spPr>
          <a:xfrm>
            <a:off x="5852160" y="1883664"/>
            <a:ext cx="5882335" cy="3877056"/>
          </a:xfrm>
          <a:prstGeom prst="rect">
            <a:avLst/>
          </a:prstGeom>
          <a:solidFill>
            <a:srgbClr val="F7F9F8"/>
          </a:solidFill>
          <a:ln w="9525">
            <a:solidFill>
              <a:srgbClr val="D5DDD7"/>
            </a:solidFill>
          </a:ln>
        </p:spPr>
        <p:txBody>
          <a:bodyPr wrap="square" lIns="1524" tIns="1524" rIns="1524" bIns="1524" rtlCol="0" anchor="t"/>
          <a:lstStyle/>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[0] null</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[1] mumbai=1 → jaipur=8</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[2–6] null</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[7] kochi=7</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[8] goa=3 → agra=5 → pune=4</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[9–10] null</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[11] chennai=6</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[12] delhi=2</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[13–15] null</a:t>
            </a:r>
            <a:endParaRPr lang="en-US" sz="1300" dirty="0"/>
          </a:p>
        </p:txBody>
      </p:sp>
      <p:sp>
        <p:nvSpPr>
          <p:cNvPr id="9" name="Text 7"/>
          <p:cNvSpPr/>
          <p:nvPr/>
        </p:nvSpPr>
        <p:spPr>
          <a:xfrm>
            <a:off x="457200" y="5806440"/>
            <a:ext cx="11277295" cy="530352"/>
          </a:xfrm>
          <a:prstGeom prst="rect">
            <a:avLst/>
          </a:prstGeom>
          <a:solidFill>
            <a:srgbClr val="FFF8E1"/>
          </a:solidFill>
          <a:ln w="9525">
            <a:solidFill>
              <a:srgbClr val="E9C46A"/>
            </a:solidFill>
          </a:ln>
        </p:spPr>
        <p:txBody>
          <a:bodyPr wrap="square" lIns="1016" tIns="1016" rIns="1016" bIns="1016" rtlCol="0" anchor="ctr"/>
          <a:lstStyle/>
          <a:p>
            <a:pPr indent="0" marL="0">
              <a:buNone/>
            </a:pPr>
            <a:r>
              <a:rPr lang="en-US" sz="1100" b="1" dirty="0">
                <a:solidFill>
                  <a:srgbClr val="1F2A24"/>
                </a:solidFill>
                <a:latin typeface="Calibri" pitchFamily="34" charset="0"/>
                <a:ea typeface="Calibri" pitchFamily="34" charset="-122"/>
                <a:cs typeface="Calibri" pitchFamily="34" charset="-120"/>
              </a:rPr>
              <a:t>INTERVIEW: </a:t>
            </a:r>
            <a:pPr indent="0" marL="0">
              <a:buNone/>
            </a:pPr>
            <a:r>
              <a:rPr lang="en-US" sz="1100" i="1" dirty="0">
                <a:solidFill>
                  <a:srgbClr val="1F2A24"/>
                </a:solidFill>
                <a:latin typeface="Calibri" pitchFamily="34" charset="0"/>
                <a:ea typeface="Calibri" pitchFamily="34" charset="-122"/>
                <a:cs typeface="Calibri" pitchFamily="34" charset="-120"/>
              </a:rPr>
              <a:t>How does HashMap.get() work?</a:t>
            </a:r>
            <a:pPr indent="0" marL="0">
              <a:buNone/>
            </a:pPr>
            <a:r>
              <a:rPr lang="en-US" sz="1100" dirty="0">
                <a:solidFill>
                  <a:srgbClr val="1F2A24"/>
                </a:solidFill>
                <a:latin typeface="Calibri" pitchFamily="34" charset="0"/>
                <a:ea typeface="Calibri" pitchFamily="34" charset="-122"/>
                <a:cs typeface="Calibri" pitchFamily="34" charset="-120"/>
              </a:rPr>
              <a:t> Compute </a:t>
            </a:r>
            <a:pPr indent="0" marL="0">
              <a:buNone/>
            </a:pPr>
            <a:r>
              <a:rPr lang="en-US" sz="1100" dirty="0">
                <a:solidFill>
                  <a:srgbClr val="B4235A"/>
                </a:solidFill>
                <a:latin typeface="Consolas" pitchFamily="34" charset="0"/>
                <a:ea typeface="Consolas" pitchFamily="34" charset="-122"/>
                <a:cs typeface="Consolas" pitchFamily="34" charset="-120"/>
              </a:rPr>
              <a:t>hash(key)</a:t>
            </a:r>
            <a:pPr indent="0" marL="0">
              <a:buNone/>
            </a:pPr>
            <a:r>
              <a:rPr lang="en-US" sz="1100" dirty="0">
                <a:solidFill>
                  <a:srgbClr val="1F2A24"/>
                </a:solidFill>
                <a:latin typeface="Calibri" pitchFamily="34" charset="0"/>
                <a:ea typeface="Calibri" pitchFamily="34" charset="-122"/>
                <a:cs typeface="Calibri" pitchFamily="34" charset="-120"/>
              </a:rPr>
              <a:t>, find the bucket with </a:t>
            </a:r>
            <a:pPr indent="0" marL="0">
              <a:buNone/>
            </a:pPr>
            <a:r>
              <a:rPr lang="en-US" sz="1100" dirty="0">
                <a:solidFill>
                  <a:srgbClr val="B4235A"/>
                </a:solidFill>
                <a:latin typeface="Consolas" pitchFamily="34" charset="0"/>
                <a:ea typeface="Consolas" pitchFamily="34" charset="-122"/>
                <a:cs typeface="Consolas" pitchFamily="34" charset="-120"/>
              </a:rPr>
              <a:t>(n − 1) &amp; hash</a:t>
            </a:r>
            <a:pPr indent="0" marL="0">
              <a:buNone/>
            </a:pPr>
            <a:r>
              <a:rPr lang="en-US" sz="1100" dirty="0">
                <a:solidFill>
                  <a:srgbClr val="1F2A24"/>
                </a:solidFill>
                <a:latin typeface="Calibri" pitchFamily="34" charset="0"/>
                <a:ea typeface="Calibri" pitchFamily="34" charset="-122"/>
                <a:cs typeface="Calibri" pitchFamily="34" charset="-120"/>
              </a:rPr>
              <a:t>, then compare each node: first the stored hash, then </a:t>
            </a:r>
            <a:pPr indent="0" marL="0">
              <a:buNone/>
            </a:pPr>
            <a:r>
              <a:rPr lang="en-US" sz="1100" dirty="0">
                <a:solidFill>
                  <a:srgbClr val="B4235A"/>
                </a:solidFill>
                <a:latin typeface="Consolas" pitchFamily="34" charset="0"/>
                <a:ea typeface="Consolas" pitchFamily="34" charset="-122"/>
                <a:cs typeface="Consolas" pitchFamily="34" charset="-120"/>
              </a:rPr>
              <a:t>==</a:t>
            </a:r>
            <a:pPr indent="0" marL="0">
              <a:buNone/>
            </a:pPr>
            <a:r>
              <a:rPr lang="en-US" sz="1100" dirty="0">
                <a:solidFill>
                  <a:srgbClr val="1F2A24"/>
                </a:solidFill>
                <a:latin typeface="Calibri" pitchFamily="34" charset="0"/>
                <a:ea typeface="Calibri" pitchFamily="34" charset="-122"/>
                <a:cs typeface="Calibri" pitchFamily="34" charset="-120"/>
              </a:rPr>
              <a:t> or </a:t>
            </a:r>
            <a:pPr indent="0" marL="0">
              <a:buNone/>
            </a:pPr>
            <a:r>
              <a:rPr lang="en-US" sz="1100" dirty="0">
                <a:solidFill>
                  <a:srgbClr val="B4235A"/>
                </a:solidFill>
                <a:latin typeface="Consolas" pitchFamily="34" charset="0"/>
                <a:ea typeface="Consolas" pitchFamily="34" charset="-122"/>
                <a:cs typeface="Consolas" pitchFamily="34" charset="-120"/>
              </a:rPr>
              <a:t>equals</a:t>
            </a:r>
            <a:pPr indent="0" marL="0">
              <a:buNone/>
            </a:pPr>
            <a:r>
              <a:rPr lang="en-US" sz="1100" dirty="0">
                <a:solidFill>
                  <a:srgbClr val="1F2A24"/>
                </a:solidFill>
                <a:latin typeface="Calibri" pitchFamily="34" charset="0"/>
                <a:ea typeface="Calibri" pitchFamily="34" charset="-122"/>
                <a:cs typeface="Calibri" pitchFamily="34" charset="-120"/>
              </a:rPr>
              <a:t>. That is why both </a:t>
            </a:r>
            <a:pPr indent="0" marL="0">
              <a:buNone/>
            </a:pPr>
            <a:r>
              <a:rPr lang="en-US" sz="1100" dirty="0">
                <a:solidFill>
                  <a:srgbClr val="B4235A"/>
                </a:solidFill>
                <a:latin typeface="Consolas" pitchFamily="34" charset="0"/>
                <a:ea typeface="Consolas" pitchFamily="34" charset="-122"/>
                <a:cs typeface="Consolas" pitchFamily="34" charset="-120"/>
              </a:rPr>
              <a:t>hashCode</a:t>
            </a:r>
            <a:pPr indent="0" marL="0">
              <a:buNone/>
            </a:pPr>
            <a:r>
              <a:rPr lang="en-US" sz="1100" dirty="0">
                <a:solidFill>
                  <a:srgbClr val="1F2A24"/>
                </a:solidFill>
                <a:latin typeface="Calibri" pitchFamily="34" charset="0"/>
                <a:ea typeface="Calibri" pitchFamily="34" charset="-122"/>
                <a:cs typeface="Calibri" pitchFamily="34" charset="-120"/>
              </a:rPr>
              <a:t> and </a:t>
            </a:r>
            <a:pPr indent="0" marL="0">
              <a:buNone/>
            </a:pPr>
            <a:r>
              <a:rPr lang="en-US" sz="1100" dirty="0">
                <a:solidFill>
                  <a:srgbClr val="B4235A"/>
                </a:solidFill>
                <a:latin typeface="Consolas" pitchFamily="34" charset="0"/>
                <a:ea typeface="Consolas" pitchFamily="34" charset="-122"/>
                <a:cs typeface="Consolas" pitchFamily="34" charset="-120"/>
              </a:rPr>
              <a:t>equals</a:t>
            </a:r>
            <a:pPr indent="0" marL="0">
              <a:buNone/>
            </a:pPr>
            <a:r>
              <a:rPr lang="en-US" sz="1100" dirty="0">
                <a:solidFill>
                  <a:srgbClr val="1F2A24"/>
                </a:solidFill>
                <a:latin typeface="Calibri" pitchFamily="34" charset="0"/>
                <a:ea typeface="Calibri" pitchFamily="34" charset="-122"/>
                <a:cs typeface="Calibri" pitchFamily="34" charset="-120"/>
              </a:rPr>
              <a:t> must be correct.</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C9C43D"/>
          </a:solidFill>
          <a:ln w="12700">
            <a:solidFill>
              <a:srgbClr val="C9C43D"/>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5</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Hash codes, buckets &amp; collisions in code</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Reproduce HashMap's index calculation and watch two different keys collide — yet both are retrieved correctly.</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HashingDemo.java</a:t>
            </a:r>
            <a:endParaRPr lang="en-US" sz="900" dirty="0"/>
          </a:p>
        </p:txBody>
      </p:sp>
      <p:sp>
        <p:nvSpPr>
          <p:cNvPr id="8" name="Text 6"/>
          <p:cNvSpPr/>
          <p:nvPr/>
        </p:nvSpPr>
        <p:spPr>
          <a:xfrm>
            <a:off x="457200" y="2157984"/>
            <a:ext cx="11277295" cy="419709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import java.util.*;</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public class HashingDemo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static int spread(int h) { return h ^ (h &gt;&gt;&gt; 16); }          // what HashMap.hash() does</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static int bucket(Object key, int capacity) { return (capacity - 1) &amp; spread(key.hashCode()); }</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public static void main(String[] args)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for (String k : List.of("goa", "agra", "delhi", "Aa", "BB"))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System.out.printf("%-6s hashCode=%-9d bucket(16)=%d%n", k, k.hashCode(), bucket(k, 16));</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Map&lt;String, Integer&gt; map = new HashMap&lt;&gt;();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map.put("Aa", 1);</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map.put("BB", 2);                     // identical hashCode -&gt; same bucket...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System.out.println(map.get("Aa") + " " + map.get("BB") + " size=" + map.size());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System.out.println("\"Aa\".equals(\"BB\") = " + "Aa".equals("BB"));   // ...equals() separates them</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C9C43D"/>
          </a:solidFill>
          <a:ln w="12700">
            <a:solidFill>
              <a:srgbClr val="C9C43D"/>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5</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Broken keys: the bugs hashing causes</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Mutating a key after insertion strands the entry; overriding </a:t>
            </a:r>
            <a:pPr indent="0" marL="0">
              <a:buNone/>
            </a:pPr>
            <a:r>
              <a:rPr lang="en-US" sz="1350" dirty="0">
                <a:solidFill>
                  <a:srgbClr val="B4235A"/>
                </a:solidFill>
                <a:latin typeface="Consolas" pitchFamily="34" charset="0"/>
                <a:ea typeface="Consolas" pitchFamily="34" charset="-122"/>
                <a:cs typeface="Consolas" pitchFamily="34" charset="-120"/>
              </a:rPr>
              <a:t>equals</a:t>
            </a:r>
            <a:pPr indent="0" marL="0">
              <a:buNone/>
            </a:pPr>
            <a:r>
              <a:rPr lang="en-US" sz="1350" dirty="0">
                <a:solidFill>
                  <a:srgbClr val="5B6B60"/>
                </a:solidFill>
                <a:latin typeface="Calibri" pitchFamily="34" charset="0"/>
                <a:ea typeface="Calibri" pitchFamily="34" charset="-122"/>
                <a:cs typeface="Calibri" pitchFamily="34" charset="-120"/>
              </a:rPr>
              <a:t> without </a:t>
            </a:r>
            <a:pPr indent="0" marL="0">
              <a:buNone/>
            </a:pPr>
            <a:r>
              <a:rPr lang="en-US" sz="1350" dirty="0">
                <a:solidFill>
                  <a:srgbClr val="B4235A"/>
                </a:solidFill>
                <a:latin typeface="Consolas" pitchFamily="34" charset="0"/>
                <a:ea typeface="Consolas" pitchFamily="34" charset="-122"/>
                <a:cs typeface="Consolas" pitchFamily="34" charset="-120"/>
              </a:rPr>
              <a:t>hashCode</a:t>
            </a:r>
            <a:pPr indent="0" marL="0">
              <a:buNone/>
            </a:pPr>
            <a:r>
              <a:rPr lang="en-US" sz="1350" dirty="0">
                <a:solidFill>
                  <a:srgbClr val="5B6B60"/>
                </a:solidFill>
                <a:latin typeface="Calibri" pitchFamily="34" charset="0"/>
                <a:ea typeface="Calibri" pitchFamily="34" charset="-122"/>
                <a:cs typeface="Calibri" pitchFamily="34" charset="-120"/>
              </a:rPr>
              <a:t> breaks de-duplication.</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BrokenKeys.java</a:t>
            </a:r>
            <a:endParaRPr lang="en-US" sz="900" dirty="0"/>
          </a:p>
        </p:txBody>
      </p:sp>
      <p:sp>
        <p:nvSpPr>
          <p:cNvPr id="8" name="Text 6"/>
          <p:cNvSpPr/>
          <p:nvPr/>
        </p:nvSpPr>
        <p:spPr>
          <a:xfrm>
            <a:off x="457200" y="2157984"/>
            <a:ext cx="11277295" cy="360273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import java.util.*;</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java.util.concurrent.ConcurrentHashMap;</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public class BrokenKeys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static class MutableKey {                         // equals/hashCode use a MUTABLE field</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String code;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MutableKey(String code) { this.code = code;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@Override public boolean equals(Object o) { return o instanceof MutableKey k &amp;&amp; k.code.equals(code);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@Override public int hashCode() { return code.hashCode();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static class NoHashCode {                         // equals WITHOUT hashCode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final String id;</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NoHashCode(String id) { this.id = id;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@Override public boolean equals(Object o) { return o instanceof NoHashCode n &amp;&amp; n.id.equals(id);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public static void main(String[] args)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full listing in the web notes</a:t>
            </a:r>
            <a:endParaRPr lang="en-US" sz="1100" dirty="0"/>
          </a:p>
        </p:txBody>
      </p:sp>
      <p:sp>
        <p:nvSpPr>
          <p:cNvPr id="9" name="Text 7"/>
          <p:cNvSpPr/>
          <p:nvPr/>
        </p:nvSpPr>
        <p:spPr>
          <a:xfrm>
            <a:off x="457200" y="5806440"/>
            <a:ext cx="11277295" cy="530352"/>
          </a:xfrm>
          <a:prstGeom prst="rect">
            <a:avLst/>
          </a:prstGeom>
          <a:solidFill>
            <a:srgbClr val="FFF8E1"/>
          </a:solidFill>
          <a:ln w="9525">
            <a:solidFill>
              <a:srgbClr val="E9C46A"/>
            </a:solidFill>
          </a:ln>
        </p:spPr>
        <p:txBody>
          <a:bodyPr wrap="square" lIns="1016" tIns="1016" rIns="1016" bIns="1016" rtlCol="0" anchor="ctr"/>
          <a:lstStyle/>
          <a:p>
            <a:pPr indent="0" marL="0">
              <a:buNone/>
            </a:pPr>
            <a:r>
              <a:rPr lang="en-US" sz="1100" b="1" dirty="0">
                <a:solidFill>
                  <a:srgbClr val="1F2A24"/>
                </a:solidFill>
                <a:latin typeface="Calibri" pitchFamily="34" charset="0"/>
                <a:ea typeface="Calibri" pitchFamily="34" charset="-122"/>
                <a:cs typeface="Calibri" pitchFamily="34" charset="-120"/>
              </a:rPr>
              <a:t>BEST: </a:t>
            </a:r>
            <a:pPr indent="0" marL="0">
              <a:buNone/>
            </a:pPr>
            <a:r>
              <a:rPr lang="en-US" sz="1100" dirty="0">
                <a:solidFill>
                  <a:srgbClr val="1F2A24"/>
                </a:solidFill>
                <a:latin typeface="Calibri" pitchFamily="34" charset="0"/>
                <a:ea typeface="Calibri" pitchFamily="34" charset="-122"/>
                <a:cs typeface="Calibri" pitchFamily="34" charset="-120"/>
              </a:rPr>
              <a:t>Use </a:t>
            </a:r>
            <a:pPr indent="0" marL="0">
              <a:buNone/>
            </a:pPr>
            <a:r>
              <a:rPr lang="en-US" sz="1100" b="1" dirty="0">
                <a:solidFill>
                  <a:srgbClr val="1F2A24"/>
                </a:solidFill>
                <a:latin typeface="Calibri" pitchFamily="34" charset="0"/>
                <a:ea typeface="Calibri" pitchFamily="34" charset="-122"/>
                <a:cs typeface="Calibri" pitchFamily="34" charset="-120"/>
              </a:rPr>
              <a:t>immutable</a:t>
            </a:r>
            <a:pPr indent="0" marL="0">
              <a:buNone/>
            </a:pPr>
            <a:r>
              <a:rPr lang="en-US" sz="1100" dirty="0">
                <a:solidFill>
                  <a:srgbClr val="1F2A24"/>
                </a:solidFill>
                <a:latin typeface="Calibri" pitchFamily="34" charset="0"/>
                <a:ea typeface="Calibri" pitchFamily="34" charset="-122"/>
                <a:cs typeface="Calibri" pitchFamily="34" charset="-120"/>
              </a:rPr>
              <a:t> keys: </a:t>
            </a:r>
            <a:pPr indent="0" marL="0">
              <a:buNone/>
            </a:pPr>
            <a:r>
              <a:rPr lang="en-US" sz="1100" dirty="0">
                <a:solidFill>
                  <a:srgbClr val="B4235A"/>
                </a:solidFill>
                <a:latin typeface="Consolas" pitchFamily="34" charset="0"/>
                <a:ea typeface="Consolas" pitchFamily="34" charset="-122"/>
                <a:cs typeface="Consolas" pitchFamily="34" charset="-120"/>
              </a:rPr>
              <a:t>String</a:t>
            </a:r>
            <a:pPr indent="0" marL="0">
              <a:buNone/>
            </a:pPr>
            <a:r>
              <a:rPr lang="en-US" sz="1100" dirty="0">
                <a:solidFill>
                  <a:srgbClr val="1F2A24"/>
                </a:solidFill>
                <a:latin typeface="Calibri" pitchFamily="34" charset="0"/>
                <a:ea typeface="Calibri" pitchFamily="34" charset="-122"/>
                <a:cs typeface="Calibri" pitchFamily="34" charset="-120"/>
              </a:rPr>
              <a:t>, </a:t>
            </a:r>
            <a:pPr indent="0" marL="0">
              <a:buNone/>
            </a:pPr>
            <a:r>
              <a:rPr lang="en-US" sz="1100" dirty="0">
                <a:solidFill>
                  <a:srgbClr val="B4235A"/>
                </a:solidFill>
                <a:latin typeface="Consolas" pitchFamily="34" charset="0"/>
                <a:ea typeface="Consolas" pitchFamily="34" charset="-122"/>
                <a:cs typeface="Consolas" pitchFamily="34" charset="-120"/>
              </a:rPr>
              <a:t>Integer</a:t>
            </a:r>
            <a:pPr indent="0" marL="0">
              <a:buNone/>
            </a:pPr>
            <a:r>
              <a:rPr lang="en-US" sz="1100" dirty="0">
                <a:solidFill>
                  <a:srgbClr val="1F2A24"/>
                </a:solidFill>
                <a:latin typeface="Calibri" pitchFamily="34" charset="0"/>
                <a:ea typeface="Calibri" pitchFamily="34" charset="-122"/>
                <a:cs typeface="Calibri" pitchFamily="34" charset="-120"/>
              </a:rPr>
              <a:t>, enums, or </a:t>
            </a:r>
            <a:pPr indent="0" marL="0">
              <a:buNone/>
            </a:pPr>
            <a:r>
              <a:rPr lang="en-US" sz="1100" b="1" dirty="0">
                <a:solidFill>
                  <a:srgbClr val="1F2A24"/>
                </a:solidFill>
                <a:latin typeface="Calibri" pitchFamily="34" charset="0"/>
                <a:ea typeface="Calibri" pitchFamily="34" charset="-122"/>
                <a:cs typeface="Calibri" pitchFamily="34" charset="-120"/>
              </a:rPr>
              <a:t>records</a:t>
            </a:r>
            <a:pPr indent="0" marL="0">
              <a:buNone/>
            </a:pPr>
            <a:r>
              <a:rPr lang="en-US" sz="1100" dirty="0">
                <a:solidFill>
                  <a:srgbClr val="1F2A24"/>
                </a:solidFill>
                <a:latin typeface="Calibri" pitchFamily="34" charset="0"/>
                <a:ea typeface="Calibri" pitchFamily="34" charset="-122"/>
                <a:cs typeface="Calibri" pitchFamily="34" charset="-120"/>
              </a:rPr>
              <a:t> with immutable components. Never let fields used in </a:t>
            </a:r>
            <a:pPr indent="0" marL="0">
              <a:buNone/>
            </a:pPr>
            <a:r>
              <a:rPr lang="en-US" sz="1100" dirty="0">
                <a:solidFill>
                  <a:srgbClr val="B4235A"/>
                </a:solidFill>
                <a:latin typeface="Consolas" pitchFamily="34" charset="0"/>
                <a:ea typeface="Consolas" pitchFamily="34" charset="-122"/>
                <a:cs typeface="Consolas" pitchFamily="34" charset="-120"/>
              </a:rPr>
              <a:t>equals</a:t>
            </a:r>
            <a:pPr indent="0" marL="0">
              <a:buNone/>
            </a:pPr>
            <a:r>
              <a:rPr lang="en-US" sz="1100" dirty="0">
                <a:solidFill>
                  <a:srgbClr val="1F2A24"/>
                </a:solidFill>
                <a:latin typeface="Calibri" pitchFamily="34" charset="0"/>
                <a:ea typeface="Calibri" pitchFamily="34" charset="-122"/>
                <a:cs typeface="Calibri" pitchFamily="34" charset="-120"/>
              </a:rPr>
              <a:t>/</a:t>
            </a:r>
            <a:pPr indent="0" marL="0">
              <a:buNone/>
            </a:pPr>
            <a:r>
              <a:rPr lang="en-US" sz="1100" dirty="0">
                <a:solidFill>
                  <a:srgbClr val="B4235A"/>
                </a:solidFill>
                <a:latin typeface="Consolas" pitchFamily="34" charset="0"/>
                <a:ea typeface="Consolas" pitchFamily="34" charset="-122"/>
                <a:cs typeface="Consolas" pitchFamily="34" charset="-120"/>
              </a:rPr>
              <a:t>hashCode</a:t>
            </a:r>
            <a:pPr indent="0" marL="0">
              <a:buNone/>
            </a:pPr>
            <a:r>
              <a:rPr lang="en-US" sz="1100" dirty="0">
                <a:solidFill>
                  <a:srgbClr val="1F2A24"/>
                </a:solidFill>
                <a:latin typeface="Calibri" pitchFamily="34" charset="0"/>
                <a:ea typeface="Calibri" pitchFamily="34" charset="-122"/>
                <a:cs typeface="Calibri" pitchFamily="34" charset="-120"/>
              </a:rPr>
              <a:t> change while the object is inside a hash collection.</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C9C43D"/>
          </a:solidFill>
          <a:ln w="12700">
            <a:solidFill>
              <a:srgbClr val="C9C43D"/>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5</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Map implementations compared</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Same </a:t>
            </a:r>
            <a:pPr indent="0" marL="0">
              <a:buNone/>
            </a:pPr>
            <a:r>
              <a:rPr lang="en-US" sz="1350" dirty="0">
                <a:solidFill>
                  <a:srgbClr val="B4235A"/>
                </a:solidFill>
                <a:latin typeface="Consolas" pitchFamily="34" charset="0"/>
                <a:ea typeface="Consolas" pitchFamily="34" charset="-122"/>
                <a:cs typeface="Consolas" pitchFamily="34" charset="-120"/>
              </a:rPr>
              <a:t>Map</a:t>
            </a:r>
            <a:pPr indent="0" marL="0">
              <a:buNone/>
            </a:pPr>
            <a:r>
              <a:rPr lang="en-US" sz="1350" dirty="0">
                <a:solidFill>
                  <a:srgbClr val="5B6B60"/>
                </a:solidFill>
                <a:latin typeface="Calibri" pitchFamily="34" charset="0"/>
                <a:ea typeface="Calibri" pitchFamily="34" charset="-122"/>
                <a:cs typeface="Calibri" pitchFamily="34" charset="-120"/>
              </a:rPr>
              <a:t> interface, different guarantees.</a:t>
            </a:r>
            <a:endParaRPr lang="en-US" sz="1350" dirty="0"/>
          </a:p>
        </p:txBody>
      </p:sp>
      <p:sp>
        <p:nvSpPr>
          <p:cNvPr id="7" name="Text 5"/>
          <p:cNvSpPr/>
          <p:nvPr/>
        </p:nvSpPr>
        <p:spPr>
          <a:xfrm>
            <a:off x="457200" y="1883664"/>
            <a:ext cx="11277295" cy="2734056"/>
          </a:xfrm>
          <a:prstGeom prst="rect">
            <a:avLst/>
          </a:prstGeom>
          <a:noFill/>
          <a:ln/>
        </p:spPr>
        <p:txBody>
          <a:bodyPr wrap="square" rtlCol="0" anchor="t"/>
          <a:lstStyle/>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Java 8 changed HashMap: tree bins for long chains and a faster resize that preserves node order.</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For counters shared between threads: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ConcurrentHashMap.merge(key, 1, Integer::sum)</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or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LongAdder</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values.</a:t>
            </a:r>
            <a:endParaRPr lang="en-US" sz="1700" dirty="0"/>
          </a:p>
        </p:txBody>
      </p:sp>
      <p:graphicFrame>
        <p:nvGraphicFramePr>
          <p:cNvPr id="68" name="Table 0"/>
          <p:cNvGraphicFramePr>
            <a:graphicFrameLocks noGrp="1"/>
          </p:cNvGraphicFramePr>
          <p:nvPr>
            <p:extLst>
              <p:ext uri="{D42A27DB-BD31-4B8C-83A1-F6EECF244321}">
                <p14:modId xmlns:p14="http://schemas.microsoft.com/office/powerpoint/2010/main" val="1579011935"/>
              </p:ext>
            </p:extLst>
          </p:nvPr>
        </p:nvGraphicFramePr>
        <p:xfrm>
          <a:off x="457200" y="4663440"/>
          <a:ext cx="11277295" cy="914400"/>
        </p:xfrm>
        <a:graphic>
          <a:graphicData uri="http://schemas.openxmlformats.org/drawingml/2006/table">
            <a:tbl>
              <a:tblPr/>
              <a:tblGrid>
                <a:gridCol w="1879549"/>
                <a:gridCol w="1879549"/>
                <a:gridCol w="1879549"/>
                <a:gridCol w="1879549"/>
                <a:gridCol w="1879549"/>
                <a:gridCol w="1879549"/>
              </a:tblGrid>
              <a:tr h="274320">
                <a:tc>
                  <a:txBody>
                    <a:bodyPr/>
                    <a:lstStyle/>
                    <a:p>
                      <a:pPr indent="0" marL="0">
                        <a:buNone/>
                      </a:pP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HashMap</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LinkedHashMap</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TreeMap</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ConcurrentHashMap</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Hashtable</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r>
              <a:tr h="274320">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Ordering</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none</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insertion / access</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sorted</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none</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none</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get/put</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O(1) avg</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O(1) avg</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O(log n)</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O(1) avg</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O(1) avg</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null key/value</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1 key / ✅</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1 key / ✅</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no null key / ✅</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 / ❌</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 / ❌</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Thread-safe</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 fine-grained</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 one lock (legacy)</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Use it for</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default choice</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LRU, stable order</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ranges, sorted reports</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shared caches, counters</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nothing new — legacy</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C9C43D"/>
          </a:solidFill>
          <a:ln w="12700">
            <a:solidFill>
              <a:srgbClr val="C9C43D"/>
            </a:solidFill>
            <a:prstDash val="solid"/>
          </a:ln>
        </p:spPr>
      </p:sp>
      <p:sp>
        <p:nvSpPr>
          <p:cNvPr id="3" name="Text 1"/>
          <p:cNvSpPr/>
          <p:nvPr/>
        </p:nvSpPr>
        <p:spPr>
          <a:xfrm>
            <a:off x="457200" y="256032"/>
            <a:ext cx="1463040" cy="292608"/>
          </a:xfrm>
          <a:prstGeom prst="roundRect">
            <a:avLst>
              <a:gd name="adj" fmla="val 18750"/>
            </a:avLst>
          </a:prstGeom>
          <a:solidFill>
            <a:srgbClr val="E8892E"/>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HANDS-ON LAB</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5</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Lab: transaction analytics + build your own HashMap</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Use streams to analyse transactions, then implement a hash table with separate chaining and resizing.</a:t>
            </a:r>
            <a:endParaRPr lang="en-US" sz="1350" dirty="0"/>
          </a:p>
        </p:txBody>
      </p:sp>
      <p:sp>
        <p:nvSpPr>
          <p:cNvPr id="7" name="Text 5"/>
          <p:cNvSpPr/>
          <p:nvPr/>
        </p:nvSpPr>
        <p:spPr>
          <a:xfrm>
            <a:off x="457200" y="1883664"/>
            <a:ext cx="5577840" cy="4471416"/>
          </a:xfrm>
          <a:prstGeom prst="rect">
            <a:avLst/>
          </a:prstGeom>
          <a:noFill/>
          <a:ln/>
        </p:spPr>
        <p:txBody>
          <a:bodyPr wrap="square" rtlCol="0" anchor="t"/>
          <a:lstStyle/>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Create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record Txn(String id, String user, String merchant, double amount, LocalDate date)</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 and a list of ~15 sample transactions.</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With streams: total spend per user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groupingBy</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 +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summingDouble</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 printed in descending order of spend.</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Find the top 2 merchants by revenue, and partition transactions into ≥ ₹1,000 and &lt; ₹1,000.</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Detect duplicate transactions (same user, merchant, amount, date) with a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record TxnKey(...)</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 in a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HashSet</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 — explain why records make safe keys.</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Implement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SimpleHashMap&lt;K,V&gt;</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 with a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Node[]</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 table, separate chaining,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put</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 (insert/update),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get</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 and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resize()</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 at load factor 0.75.</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Print the bucket layout before and after a resize and confirm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get</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 still finds every key.</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Insert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"Aa"</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 and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"BB"</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 and confirm both are stored and retrievable.</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Stretch: add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remove(K)</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 time 1,000,000 puts into your map vs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HashMap</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 with </a:t>
            </a:r>
            <a:endParaRPr lang="en-US" sz="1300" dirty="0"/>
          </a:p>
          <a:p>
            <a:pPr marL="342900" indent="-342900">
              <a:spcAft>
                <a:spcPts val="400"/>
              </a:spcAft>
              <a:buSzPct val="100000"/>
              <a:buFont typeface="+mj-lt"/>
              <a:buAutoNum type="arabicPeriod" startAt="1"/>
            </a:pPr>
            <a:r>
              <a:rPr lang="en-US" sz="1300" dirty="0">
                <a:solidFill>
                  <a:srgbClr val="B4235A"/>
                </a:solidFill>
                <a:latin typeface="Consolas" pitchFamily="34" charset="0"/>
                <a:ea typeface="Consolas" pitchFamily="34" charset="-122"/>
                <a:cs typeface="Consolas" pitchFamily="34" charset="-120"/>
              </a:rPr>
              <a:t>System.nanoTime()</a:t>
            </a:r>
            <a:endParaRPr lang="en-US" sz="1300" dirty="0"/>
          </a:p>
          <a:p>
            <a:pPr marL="342900" indent="-342900">
              <a:spcAft>
                <a:spcPts val="400"/>
              </a:spcAft>
              <a:buSzPct val="100000"/>
              <a:buFont typeface="+mj-lt"/>
              <a:buAutoNum type="arabicPeriod" startAt="1"/>
            </a:pPr>
            <a:r>
              <a:rPr lang="en-US" sz="1300" dirty="0">
                <a:solidFill>
                  <a:srgbClr val="1F2A24"/>
                </a:solidFill>
                <a:latin typeface="Calibri" pitchFamily="34" charset="0"/>
                <a:ea typeface="Calibri" pitchFamily="34" charset="-122"/>
                <a:cs typeface="Calibri" pitchFamily="34" charset="-120"/>
              </a:rPr>
              <a:t>.</a:t>
            </a:r>
            <a:endParaRPr lang="en-US" sz="1300" dirty="0"/>
          </a:p>
        </p:txBody>
      </p:sp>
      <p:sp>
        <p:nvSpPr>
          <p:cNvPr id="8" name="Text 6"/>
          <p:cNvSpPr/>
          <p:nvPr/>
        </p:nvSpPr>
        <p:spPr>
          <a:xfrm>
            <a:off x="6217920" y="1883664"/>
            <a:ext cx="551657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SimpleHashMap.java</a:t>
            </a:r>
            <a:endParaRPr lang="en-US" sz="900" dirty="0"/>
          </a:p>
        </p:txBody>
      </p:sp>
      <p:sp>
        <p:nvSpPr>
          <p:cNvPr id="9" name="Text 7"/>
          <p:cNvSpPr/>
          <p:nvPr/>
        </p:nvSpPr>
        <p:spPr>
          <a:xfrm>
            <a:off x="6217920" y="2157984"/>
            <a:ext cx="5516575" cy="419709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750" dirty="0">
                <a:solidFill>
                  <a:srgbClr val="24292F"/>
                </a:solidFill>
                <a:latin typeface="Consolas" pitchFamily="34" charset="0"/>
                <a:ea typeface="Consolas" pitchFamily="34" charset="-122"/>
                <a:cs typeface="Consolas" pitchFamily="34" charset="-120"/>
              </a:rPr>
              <a:t>public class SimpleHashMap&lt;K, V&gt; {</a:t>
            </a:r>
            <a:endParaRPr lang="en-US" sz="750" dirty="0"/>
          </a:p>
          <a:p>
            <a:pPr indent="0" marL="0">
              <a:buNone/>
            </a:pPr>
            <a:r>
              <a:rPr lang="en-US" sz="750" dirty="0">
                <a:solidFill>
                  <a:srgbClr val="24292F"/>
                </a:solidFill>
                <a:latin typeface="Consolas" pitchFamily="34" charset="0"/>
                <a:ea typeface="Consolas" pitchFamily="34" charset="-122"/>
                <a:cs typeface="Consolas" pitchFamily="34" charset="-120"/>
              </a:rPr>
              <a:t>    private static final class Node&lt;K, V&gt; {</a:t>
            </a:r>
            <a:endParaRPr lang="en-US" sz="750" dirty="0"/>
          </a:p>
          <a:p>
            <a:pPr indent="0" marL="0">
              <a:buNone/>
            </a:pPr>
            <a:r>
              <a:rPr lang="en-US" sz="750" dirty="0">
                <a:solidFill>
                  <a:srgbClr val="24292F"/>
                </a:solidFill>
                <a:latin typeface="Consolas" pitchFamily="34" charset="0"/>
                <a:ea typeface="Consolas" pitchFamily="34" charset="-122"/>
                <a:cs typeface="Consolas" pitchFamily="34" charset="-120"/>
              </a:rPr>
              <a:t>        final int hash; final K key; V value; Node&lt;K, V&gt; next;</a:t>
            </a:r>
            <a:endParaRPr lang="en-US" sz="750" dirty="0"/>
          </a:p>
          <a:p>
            <a:pPr indent="0" marL="0">
              <a:buNone/>
            </a:pPr>
            <a:r>
              <a:rPr lang="en-US" sz="750" dirty="0">
                <a:solidFill>
                  <a:srgbClr val="24292F"/>
                </a:solidFill>
                <a:latin typeface="Consolas" pitchFamily="34" charset="0"/>
                <a:ea typeface="Consolas" pitchFamily="34" charset="-122"/>
                <a:cs typeface="Consolas" pitchFamily="34" charset="-120"/>
              </a:rPr>
              <a:t>        Node(int hash, K key, V value, Node&lt;K, V&gt; next) {</a:t>
            </a:r>
            <a:endParaRPr lang="en-US" sz="750" dirty="0"/>
          </a:p>
          <a:p>
            <a:pPr indent="0" marL="0">
              <a:buNone/>
            </a:pPr>
            <a:r>
              <a:rPr lang="en-US" sz="750" dirty="0">
                <a:solidFill>
                  <a:srgbClr val="24292F"/>
                </a:solidFill>
                <a:latin typeface="Consolas" pitchFamily="34" charset="0"/>
                <a:ea typeface="Consolas" pitchFamily="34" charset="-122"/>
                <a:cs typeface="Consolas" pitchFamily="34" charset="-120"/>
              </a:rPr>
              <a:t>            this.hash = hash; this.key = key; this.value = value; this.next = next;</a:t>
            </a:r>
            <a:endParaRPr lang="en-US" sz="750" dirty="0"/>
          </a:p>
          <a:p>
            <a:pPr indent="0" marL="0">
              <a:buNone/>
            </a:pPr>
            <a:r>
              <a:rPr lang="en-US" sz="750" dirty="0">
                <a:solidFill>
                  <a:srgbClr val="24292F"/>
                </a:solidFill>
                <a:latin typeface="Consolas" pitchFamily="34" charset="0"/>
                <a:ea typeface="Consolas" pitchFamily="34" charset="-122"/>
                <a:cs typeface="Consolas" pitchFamily="34" charset="-120"/>
              </a:rPr>
              <a:t>        }</a:t>
            </a:r>
            <a:endParaRPr lang="en-US" sz="750" dirty="0"/>
          </a:p>
          <a:p>
            <a:pPr indent="0" marL="0">
              <a:buNone/>
            </a:pPr>
            <a:r>
              <a:rPr lang="en-US" sz="750" dirty="0">
                <a:solidFill>
                  <a:srgbClr val="24292F"/>
                </a:solidFill>
                <a:latin typeface="Consolas" pitchFamily="34" charset="0"/>
                <a:ea typeface="Consolas" pitchFamily="34" charset="-122"/>
                <a:cs typeface="Consolas" pitchFamily="34" charset="-120"/>
              </a:rPr>
              <a:t>    }</a:t>
            </a:r>
            <a:endParaRPr lang="en-US" sz="750" dirty="0"/>
          </a:p>
          <a:p>
            <a:pPr indent="0" marL="0">
              <a:buNone/>
            </a:pPr>
            <a:endParaRPr lang="en-US" sz="750" dirty="0"/>
          </a:p>
          <a:p>
            <a:pPr indent="0" marL="0">
              <a:buNone/>
            </a:pPr>
            <a:r>
              <a:rPr lang="en-US" sz="750" dirty="0">
                <a:solidFill>
                  <a:srgbClr val="24292F"/>
                </a:solidFill>
                <a:latin typeface="Consolas" pitchFamily="34" charset="0"/>
                <a:ea typeface="Consolas" pitchFamily="34" charset="-122"/>
                <a:cs typeface="Consolas" pitchFamily="34" charset="-120"/>
              </a:rPr>
              <a:t>    private Node&lt;K, V&gt;[] table;</a:t>
            </a:r>
            <a:endParaRPr lang="en-US" sz="750" dirty="0"/>
          </a:p>
          <a:p>
            <a:pPr indent="0" marL="0">
              <a:buNone/>
            </a:pPr>
            <a:r>
              <a:rPr lang="en-US" sz="750" dirty="0">
                <a:solidFill>
                  <a:srgbClr val="24292F"/>
                </a:solidFill>
                <a:latin typeface="Consolas" pitchFamily="34" charset="0"/>
                <a:ea typeface="Consolas" pitchFamily="34" charset="-122"/>
                <a:cs typeface="Consolas" pitchFamily="34" charset="-120"/>
              </a:rPr>
              <a:t>    private int size;</a:t>
            </a:r>
            <a:endParaRPr lang="en-US" sz="750" dirty="0"/>
          </a:p>
          <a:p>
            <a:pPr indent="0" marL="0">
              <a:buNone/>
            </a:pPr>
            <a:r>
              <a:rPr lang="en-US" sz="750" dirty="0">
                <a:solidFill>
                  <a:srgbClr val="24292F"/>
                </a:solidFill>
                <a:latin typeface="Consolas" pitchFamily="34" charset="0"/>
                <a:ea typeface="Consolas" pitchFamily="34" charset="-122"/>
                <a:cs typeface="Consolas" pitchFamily="34" charset="-120"/>
              </a:rPr>
              <a:t>    private static final float LOAD_FACTOR = 0.75f;</a:t>
            </a:r>
            <a:endParaRPr lang="en-US" sz="750" dirty="0"/>
          </a:p>
          <a:p>
            <a:pPr indent="0" marL="0">
              <a:buNone/>
            </a:pPr>
            <a:endParaRPr lang="en-US" sz="750" dirty="0"/>
          </a:p>
          <a:p>
            <a:pPr indent="0" marL="0">
              <a:buNone/>
            </a:pPr>
            <a:r>
              <a:rPr lang="en-US" sz="750" dirty="0">
                <a:solidFill>
                  <a:srgbClr val="24292F"/>
                </a:solidFill>
                <a:latin typeface="Consolas" pitchFamily="34" charset="0"/>
                <a:ea typeface="Consolas" pitchFamily="34" charset="-122"/>
                <a:cs typeface="Consolas" pitchFamily="34" charset="-120"/>
              </a:rPr>
              <a:t>    @SuppressWarnings("unchecked")</a:t>
            </a:r>
            <a:endParaRPr lang="en-US" sz="750" dirty="0"/>
          </a:p>
          <a:p>
            <a:pPr indent="0" marL="0">
              <a:buNone/>
            </a:pPr>
            <a:r>
              <a:rPr lang="en-US" sz="750" dirty="0">
                <a:solidFill>
                  <a:srgbClr val="24292F"/>
                </a:solidFill>
                <a:latin typeface="Consolas" pitchFamily="34" charset="0"/>
                <a:ea typeface="Consolas" pitchFamily="34" charset="-122"/>
                <a:cs typeface="Consolas" pitchFamily="34" charset="-120"/>
              </a:rPr>
              <a:t>    public SimpleHashMap(int capacity) { table = (Node&lt;K, V&gt;[]) new Node[capacity]; }  // power of two</a:t>
            </a:r>
            <a:endParaRPr lang="en-US" sz="750" dirty="0"/>
          </a:p>
          <a:p>
            <a:pPr indent="0" marL="0">
              <a:buNone/>
            </a:pPr>
            <a:endParaRPr lang="en-US" sz="750" dirty="0"/>
          </a:p>
          <a:p>
            <a:pPr indent="0" marL="0">
              <a:buNone/>
            </a:pPr>
            <a:r>
              <a:rPr lang="en-US" sz="750" dirty="0">
                <a:solidFill>
                  <a:srgbClr val="24292F"/>
                </a:solidFill>
                <a:latin typeface="Consolas" pitchFamily="34" charset="0"/>
                <a:ea typeface="Consolas" pitchFamily="34" charset="-122"/>
                <a:cs typeface="Consolas" pitchFamily="34" charset="-120"/>
              </a:rPr>
              <a:t>    private static int hash(Object key) { int h = key.hashCode(); return h ^ (h &gt;&gt;&gt; 16); }</a:t>
            </a:r>
            <a:endParaRPr lang="en-US" sz="750" dirty="0"/>
          </a:p>
          <a:p>
            <a:pPr indent="0" marL="0">
              <a:buNone/>
            </a:pPr>
            <a:r>
              <a:rPr lang="en-US" sz="750" dirty="0">
                <a:solidFill>
                  <a:srgbClr val="24292F"/>
                </a:solidFill>
                <a:latin typeface="Consolas" pitchFamily="34" charset="0"/>
                <a:ea typeface="Consolas" pitchFamily="34" charset="-122"/>
                <a:cs typeface="Consolas" pitchFamily="34" charset="-120"/>
              </a:rPr>
              <a:t>    private static int index(int hash, int length) { return hash &amp; (length - 1); }</a:t>
            </a:r>
            <a:endParaRPr lang="en-US" sz="750" dirty="0"/>
          </a:p>
          <a:p>
            <a:pPr indent="0" marL="0">
              <a:buNone/>
            </a:pPr>
            <a:endParaRPr lang="en-US" sz="750" dirty="0"/>
          </a:p>
          <a:p>
            <a:pPr indent="0" marL="0">
              <a:buNone/>
            </a:pPr>
            <a:r>
              <a:rPr lang="en-US" sz="750" dirty="0">
                <a:solidFill>
                  <a:srgbClr val="24292F"/>
                </a:solidFill>
                <a:latin typeface="Consolas" pitchFamily="34" charset="0"/>
                <a:ea typeface="Consolas" pitchFamily="34" charset="-122"/>
                <a:cs typeface="Consolas" pitchFamily="34" charset="-120"/>
              </a:rPr>
              <a:t>    public V put(K key, V value) {</a:t>
            </a:r>
            <a:endParaRPr lang="en-US" sz="750" dirty="0"/>
          </a:p>
          <a:p>
            <a:pPr indent="0" marL="0">
              <a:buNone/>
            </a:pPr>
            <a:r>
              <a:rPr lang="en-US" sz="750" dirty="0">
                <a:solidFill>
                  <a:srgbClr val="24292F"/>
                </a:solidFill>
                <a:latin typeface="Consolas" pitchFamily="34" charset="0"/>
                <a:ea typeface="Consolas" pitchFamily="34" charset="-122"/>
                <a:cs typeface="Consolas" pitchFamily="34" charset="-120"/>
              </a:rPr>
              <a:t>        int h = hash(key), i = index(h, table.length);</a:t>
            </a:r>
            <a:endParaRPr lang="en-US" sz="750" dirty="0"/>
          </a:p>
          <a:p>
            <a:pPr indent="0" marL="0">
              <a:buNone/>
            </a:pPr>
            <a:r>
              <a:rPr lang="en-US" sz="750" dirty="0">
                <a:solidFill>
                  <a:srgbClr val="24292F"/>
                </a:solidFill>
                <a:latin typeface="Consolas" pitchFamily="34" charset="0"/>
                <a:ea typeface="Consolas" pitchFamily="34" charset="-122"/>
                <a:cs typeface="Consolas" pitchFamily="34" charset="-120"/>
              </a:rPr>
              <a:t>        for (Node&lt;K, V&gt; n = table[i]; n != null; n = n.next) {</a:t>
            </a:r>
            <a:endParaRPr lang="en-US" sz="750" dirty="0"/>
          </a:p>
          <a:p>
            <a:pPr indent="0" marL="0">
              <a:buNone/>
            </a:pPr>
            <a:r>
              <a:rPr lang="en-US" sz="750" dirty="0">
                <a:solidFill>
                  <a:srgbClr val="24292F"/>
                </a:solidFill>
                <a:latin typeface="Consolas" pitchFamily="34" charset="0"/>
                <a:ea typeface="Consolas" pitchFamily="34" charset="-122"/>
                <a:cs typeface="Consolas" pitchFamily="34" charset="-120"/>
              </a:rPr>
              <a:t>// … full listing in the web notes</a:t>
            </a:r>
            <a:endParaRPr lang="en-US" sz="75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C9C43D"/>
          </a:solidFill>
          <a:ln w="12700">
            <a:solidFill>
              <a:srgbClr val="C9C43D"/>
            </a:solidFill>
            <a:prstDash val="solid"/>
          </a:ln>
        </p:spPr>
      </p:sp>
      <p:sp>
        <p:nvSpPr>
          <p:cNvPr id="3" name="Text 1"/>
          <p:cNvSpPr/>
          <p:nvPr/>
        </p:nvSpPr>
        <p:spPr>
          <a:xfrm>
            <a:off x="457200" y="256032"/>
            <a:ext cx="1463040" cy="292608"/>
          </a:xfrm>
          <a:prstGeom prst="roundRect">
            <a:avLst>
              <a:gd name="adj" fmla="val 18750"/>
            </a:avLst>
          </a:prstGeom>
          <a:solidFill>
            <a:srgbClr val="9B6BF0"/>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QUIZ</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5</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Quiz: streams &amp; hashing</a:t>
            </a:r>
            <a:endParaRPr lang="en-US" sz="2800" dirty="0"/>
          </a:p>
        </p:txBody>
      </p:sp>
      <p:sp>
        <p:nvSpPr>
          <p:cNvPr id="6" name="Text 4"/>
          <p:cNvSpPr/>
          <p:nvPr/>
        </p:nvSpPr>
        <p:spPr>
          <a:xfrm>
            <a:off x="457200" y="1261872"/>
            <a:ext cx="11277295" cy="5093208"/>
          </a:xfrm>
          <a:prstGeom prst="rect">
            <a:avLst/>
          </a:prstGeom>
          <a:noFill/>
          <a:ln/>
        </p:spPr>
        <p:txBody>
          <a:bodyPr wrap="square" rtlCol="0" anchor="t"/>
          <a:lstStyle/>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Q1. Which of these is an </a:t>
            </a:r>
            <a:pPr indent="0" marL="0">
              <a:spcAft>
                <a:spcPts val="400"/>
              </a:spcAft>
              <a:buNone/>
            </a:pPr>
            <a:r>
              <a:rPr lang="en-US" sz="850" i="1" dirty="0">
                <a:solidFill>
                  <a:srgbClr val="1F2A24"/>
                </a:solidFill>
                <a:latin typeface="Calibri" pitchFamily="34" charset="0"/>
                <a:ea typeface="Calibri" pitchFamily="34" charset="-122"/>
                <a:cs typeface="Calibri" pitchFamily="34" charset="-120"/>
              </a:rPr>
              <a:t>intermediate</a:t>
            </a:r>
            <a:pPr indent="0" marL="0">
              <a:spcAft>
                <a:spcPts val="400"/>
              </a:spcAft>
              <a:buNone/>
            </a:pPr>
            <a:r>
              <a:rPr lang="en-US" sz="850" dirty="0">
                <a:solidFill>
                  <a:srgbClr val="1F2A24"/>
                </a:solidFill>
                <a:latin typeface="Calibri" pitchFamily="34" charset="0"/>
                <a:ea typeface="Calibri" pitchFamily="34" charset="-122"/>
                <a:cs typeface="Calibri" pitchFamily="34" charset="-120"/>
              </a:rPr>
              <a:t> (lazy) stream operation?</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collect</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map</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forEach</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count</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Q2. What happens if you call </a:t>
            </a:r>
            <a:pPr indent="0" marL="0">
              <a:spcAft>
                <a:spcPts val="400"/>
              </a:spcAft>
              <a:buNone/>
            </a:pPr>
            <a:r>
              <a:rPr lang="en-US" sz="850" dirty="0">
                <a:solidFill>
                  <a:srgbClr val="B4235A"/>
                </a:solidFill>
                <a:latin typeface="Consolas" pitchFamily="34" charset="0"/>
                <a:ea typeface="Consolas" pitchFamily="34" charset="-122"/>
                <a:cs typeface="Consolas" pitchFamily="34" charset="-120"/>
              </a:rPr>
              <a:t>count()</a:t>
            </a:r>
            <a:pPr indent="0" marL="0">
              <a:spcAft>
                <a:spcPts val="400"/>
              </a:spcAft>
              <a:buNone/>
            </a:pPr>
            <a:r>
              <a:rPr lang="en-US" sz="850" dirty="0">
                <a:solidFill>
                  <a:srgbClr val="1F2A24"/>
                </a:solidFill>
                <a:latin typeface="Calibri" pitchFamily="34" charset="0"/>
                <a:ea typeface="Calibri" pitchFamily="34" charset="-122"/>
                <a:cs typeface="Calibri" pitchFamily="34" charset="-120"/>
              </a:rPr>
              <a:t> twice on the same Stream object?</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Returns the same number twice</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Returns 0 the second time</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IllegalStateException</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NullPointerException</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Q3. Default initial capacity and load factor of HashMap?</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10 and 0.5</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16 and 0.75</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32 and 1.0</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8 and 0.8</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Q4. Since Java 8, what happens to a bucket that accumulates many colliding keys?</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Keys are rejected</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The map throws</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It becomes a red-black tree (when ≥ 8 nodes and capacity ≥ 64)</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The hash function changes</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Q5. You put an object in a HashSet, then change a field used by its hashCode(). What happens?</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The set rehashes automatically</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contains() may return false and the element is effectively lost</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A ConcurrentModificationException</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Nothing</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Q6. Which collector counts orders per city?</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partitioningBy(Order::city)</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groupingBy(Order::city, counting())</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toMap(Order::city, 1)</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mapping(Order::city, toList())</a:t>
            </a:r>
            <a:endParaRPr lang="en-US" sz="85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C9C43D"/>
          </a:solidFill>
          <a:ln w="12700">
            <a:solidFill>
              <a:srgbClr val="C9C43D"/>
            </a:solidFill>
            <a:prstDash val="solid"/>
          </a:ln>
        </p:spPr>
      </p:sp>
      <p:sp>
        <p:nvSpPr>
          <p:cNvPr id="3" name="Text 1"/>
          <p:cNvSpPr/>
          <p:nvPr/>
        </p:nvSpPr>
        <p:spPr>
          <a:xfrm>
            <a:off x="457200" y="256032"/>
            <a:ext cx="1463040" cy="292608"/>
          </a:xfrm>
          <a:prstGeom prst="roundRect">
            <a:avLst>
              <a:gd name="adj" fmla="val 18750"/>
            </a:avLst>
          </a:prstGeom>
          <a:solidFill>
            <a:srgbClr val="C99A2E"/>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SUMMARY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5</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Session 5 recap</a:t>
            </a:r>
            <a:endParaRPr lang="en-US" sz="2800" dirty="0"/>
          </a:p>
        </p:txBody>
      </p:sp>
      <p:sp>
        <p:nvSpPr>
          <p:cNvPr id="6" name="Text 4"/>
          <p:cNvSpPr/>
          <p:nvPr/>
        </p:nvSpPr>
        <p:spPr>
          <a:xfrm>
            <a:off x="457200" y="1261872"/>
            <a:ext cx="11277295" cy="5093208"/>
          </a:xfrm>
          <a:prstGeom prst="rect">
            <a:avLst/>
          </a:prstGeom>
          <a:noFill/>
          <a:ln/>
        </p:spPr>
        <p:txBody>
          <a:bodyPr wrap="square" rtlCol="0" anchor="t"/>
          <a:lstStyle/>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Streams = source → lazy intermediate ops → one terminal op; vertical, short-circuiting, single-use.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Collectors: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groupingBy</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partitioningBy</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toMap</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(with merge!),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joining</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summarizing*</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Hashing maps keys to buckets; collisions are normal and resolved by chaining (and tree bins).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HashMap: capacity 16, load factor 0.75, power-of-two table,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(n−1) &amp; spread(hash)</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resize doubles.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Correct keys = consistent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equals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hashCode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on immutable data (records are ideal).</a:t>
            </a:r>
            <a:endParaRPr lang="en-US" sz="1700" dirty="0"/>
          </a:p>
        </p:txBody>
      </p:sp>
      <p:sp>
        <p:nvSpPr>
          <p:cNvPr id="7" name="Text 5"/>
          <p:cNvSpPr/>
          <p:nvPr/>
        </p:nvSpPr>
        <p:spPr>
          <a:xfrm>
            <a:off x="457200" y="3867912"/>
            <a:ext cx="11277295" cy="2487168"/>
          </a:xfrm>
          <a:prstGeom prst="rect">
            <a:avLst/>
          </a:prstGeom>
          <a:noFill/>
          <a:ln/>
        </p:spPr>
        <p:txBody>
          <a:bodyPr wrap="square" rtlCol="0" anchor="t"/>
          <a:lstStyle/>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Lazy evaluation</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Intermediate operations run only when a terminal operation pulls elements.</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Short-circuiting</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findFirst/anyMatch/limit stop processing as soon as the answer is known.</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groupingBy</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Collector that groups elements into a Map by a classifier, with an optional downstream collector.</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Load factor</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Fill ratio that triggers a resize; 0.75 by default.</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Separate chaining</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Each bucket holds a linked list (or tree) of colliding entries.</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Treeify threshold</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8 nodes in one bucket (with capacity ≥ 64) → red-black tree.</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Hash spreading</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h ^ (h &gt;&gt;&gt; 16): mixes high bits into the low bits used for indexing.</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Hash flooding</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Attack using many colliding keys to degrade hash-table performance.</a:t>
            </a:r>
            <a:endParaRPr lang="en-US" sz="13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C9C43D"/>
          </a:solidFill>
          <a:ln w="12700">
            <a:solidFill>
              <a:srgbClr val="C9C43D"/>
            </a:solidFill>
            <a:prstDash val="solid"/>
          </a:ln>
        </p:spPr>
      </p:sp>
      <p:sp>
        <p:nvSpPr>
          <p:cNvPr id="3" name="Text 1"/>
          <p:cNvSpPr/>
          <p:nvPr/>
        </p:nvSpPr>
        <p:spPr>
          <a:xfrm>
            <a:off x="457200" y="411480"/>
            <a:ext cx="7315200" cy="320040"/>
          </a:xfrm>
          <a:prstGeom prst="rect">
            <a:avLst/>
          </a:prstGeom>
          <a:noFill/>
          <a:ln/>
        </p:spPr>
        <p:txBody>
          <a:bodyPr wrap="square" rtlCol="0" anchor="ctr"/>
          <a:lstStyle/>
          <a:p>
            <a:pPr indent="0" marL="0">
              <a:buNone/>
            </a:pPr>
            <a:r>
              <a:rPr lang="en-US" sz="1200" b="1" dirty="0">
                <a:solidFill>
                  <a:srgbClr val="C9C43D"/>
                </a:solidFill>
                <a:latin typeface="Calibri" pitchFamily="34" charset="0"/>
                <a:ea typeface="Calibri" pitchFamily="34" charset="-122"/>
                <a:cs typeface="Calibri" pitchFamily="34" charset="-120"/>
              </a:rPr>
              <a:t>SESSION 6 OF 24  ·  MODULE 1</a:t>
            </a:r>
            <a:endParaRPr lang="en-US" sz="1200" dirty="0"/>
          </a:p>
        </p:txBody>
      </p:sp>
      <p:sp>
        <p:nvSpPr>
          <p:cNvPr id="4" name="Text 2"/>
          <p:cNvSpPr/>
          <p:nvPr/>
        </p:nvSpPr>
        <p:spPr>
          <a:xfrm>
            <a:off x="457200" y="777240"/>
            <a:ext cx="11277295" cy="1005840"/>
          </a:xfrm>
          <a:prstGeom prst="rect">
            <a:avLst/>
          </a:prstGeom>
          <a:noFill/>
          <a:ln/>
        </p:spPr>
        <p:txBody>
          <a:bodyPr wrap="square" rtlCol="0" anchor="t"/>
          <a:lstStyle/>
          <a:p>
            <a:pPr indent="0" marL="0">
              <a:buNone/>
            </a:pPr>
            <a:r>
              <a:rPr lang="en-US" sz="3000" b="1" dirty="0">
                <a:solidFill>
                  <a:srgbClr val="1F2A24"/>
                </a:solidFill>
                <a:latin typeface="Calibri" pitchFamily="34" charset="0"/>
                <a:ea typeface="Calibri" pitchFamily="34" charset="-122"/>
                <a:cs typeface="Calibri" pitchFamily="34" charset="-120"/>
              </a:rPr>
              <a:t>Multithreading, Thread Pools, Synchronization, ExecutorService &amp; Maven Lifecycle</a:t>
            </a:r>
            <a:endParaRPr lang="en-US" sz="3000" dirty="0"/>
          </a:p>
        </p:txBody>
      </p:sp>
      <p:sp>
        <p:nvSpPr>
          <p:cNvPr id="5" name="Text 3"/>
          <p:cNvSpPr/>
          <p:nvPr/>
        </p:nvSpPr>
        <p:spPr>
          <a:xfrm>
            <a:off x="457200" y="1920240"/>
            <a:ext cx="5486400" cy="320040"/>
          </a:xfrm>
          <a:prstGeom prst="rect">
            <a:avLst/>
          </a:prstGeom>
          <a:noFill/>
          <a:ln/>
        </p:spPr>
        <p:txBody>
          <a:bodyPr wrap="square" rtlCol="0" anchor="ctr"/>
          <a:lstStyle/>
          <a:p>
            <a:pPr indent="0" marL="0">
              <a:buNone/>
            </a:pPr>
            <a:r>
              <a:rPr lang="en-US" sz="1300" b="1" dirty="0">
                <a:solidFill>
                  <a:srgbClr val="5B6B60"/>
                </a:solidFill>
                <a:latin typeface="Calibri" pitchFamily="34" charset="0"/>
                <a:ea typeface="Calibri" pitchFamily="34" charset="-122"/>
                <a:cs typeface="Calibri" pitchFamily="34" charset="-120"/>
              </a:rPr>
              <a:t>Brochure topics covered</a:t>
            </a:r>
            <a:endParaRPr lang="en-US" sz="1300" dirty="0"/>
          </a:p>
        </p:txBody>
      </p:sp>
      <p:sp>
        <p:nvSpPr>
          <p:cNvPr id="6" name="Text 4"/>
          <p:cNvSpPr/>
          <p:nvPr/>
        </p:nvSpPr>
        <p:spPr>
          <a:xfrm>
            <a:off x="457200" y="2240280"/>
            <a:ext cx="5577840" cy="1463040"/>
          </a:xfrm>
          <a:prstGeom prst="rect">
            <a:avLst/>
          </a:prstGeom>
          <a:noFill/>
          <a:ln/>
        </p:spPr>
        <p:txBody>
          <a:bodyPr wrap="square" rtlCol="0" anchor="t"/>
          <a:lstStyle/>
          <a:p>
            <a:pPr indent="0" marL="0">
              <a:spcAft>
                <a:spcPts val="400"/>
              </a:spcAft>
              <a:buNone/>
            </a:pPr>
            <a:r>
              <a:rPr lang="en-US" sz="1400" dirty="0">
                <a:solidFill>
                  <a:srgbClr val="1F2A24"/>
                </a:solidFill>
                <a:latin typeface="Calibri" pitchFamily="34" charset="0"/>
                <a:ea typeface="Calibri" pitchFamily="34" charset="-122"/>
                <a:cs typeface="Calibri" pitchFamily="34" charset="-120"/>
              </a:rPr>
              <a:t>✓ Multithreading, thread pools &amp; synchronization</a:t>
            </a:r>
            <a:endParaRPr lang="en-US" sz="1400" dirty="0"/>
          </a:p>
          <a:p>
            <a:pPr indent="0" marL="0">
              <a:spcAft>
                <a:spcPts val="400"/>
              </a:spcAft>
              <a:buNone/>
            </a:pPr>
            <a:r>
              <a:rPr lang="en-US" sz="1400" dirty="0">
                <a:solidFill>
                  <a:srgbClr val="1F2A24"/>
                </a:solidFill>
                <a:latin typeface="Calibri" pitchFamily="34" charset="0"/>
                <a:ea typeface="Calibri" pitchFamily="34" charset="-122"/>
                <a:cs typeface="Calibri" pitchFamily="34" charset="-120"/>
              </a:rPr>
              <a:t>✓ ExecutorService, Maven POM.xml &amp; lifecycle management</a:t>
            </a:r>
            <a:endParaRPr lang="en-US" sz="1400" dirty="0"/>
          </a:p>
        </p:txBody>
      </p:sp>
      <p:sp>
        <p:nvSpPr>
          <p:cNvPr id="7" name="Text 5"/>
          <p:cNvSpPr/>
          <p:nvPr/>
        </p:nvSpPr>
        <p:spPr>
          <a:xfrm>
            <a:off x="457200" y="3749040"/>
            <a:ext cx="5486400" cy="320040"/>
          </a:xfrm>
          <a:prstGeom prst="rect">
            <a:avLst/>
          </a:prstGeom>
          <a:noFill/>
          <a:ln/>
        </p:spPr>
        <p:txBody>
          <a:bodyPr wrap="square" rtlCol="0" anchor="ctr"/>
          <a:lstStyle/>
          <a:p>
            <a:pPr indent="0" marL="0">
              <a:buNone/>
            </a:pPr>
            <a:r>
              <a:rPr lang="en-US" sz="1300" b="1" dirty="0">
                <a:solidFill>
                  <a:srgbClr val="5B6B60"/>
                </a:solidFill>
                <a:latin typeface="Calibri" pitchFamily="34" charset="0"/>
                <a:ea typeface="Calibri" pitchFamily="34" charset="-122"/>
                <a:cs typeface="Calibri" pitchFamily="34" charset="-120"/>
              </a:rPr>
              <a:t>Learning objectives</a:t>
            </a:r>
            <a:endParaRPr lang="en-US" sz="1300" dirty="0"/>
          </a:p>
        </p:txBody>
      </p:sp>
      <p:sp>
        <p:nvSpPr>
          <p:cNvPr id="8" name="Text 6"/>
          <p:cNvSpPr/>
          <p:nvPr/>
        </p:nvSpPr>
        <p:spPr>
          <a:xfrm>
            <a:off x="457200" y="4069080"/>
            <a:ext cx="5577840" cy="2286000"/>
          </a:xfrm>
          <a:prstGeom prst="rect">
            <a:avLst/>
          </a:prstGeom>
          <a:noFill/>
          <a:ln/>
        </p:spPr>
        <p:txBody>
          <a:bodyPr wrap="square" rtlCol="0" anchor="t"/>
          <a:lstStyle/>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Create and coordinate threads; explain thread states, race conditions and the Java Memory Model basics.</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Protect shared state with </a:t>
            </a:r>
            <a:endParaRPr lang="en-US" sz="1250" dirty="0"/>
          </a:p>
          <a:p>
            <a:pPr marL="177800" indent="-177800">
              <a:spcAft>
                <a:spcPts val="400"/>
              </a:spcAft>
              <a:buSzPct val="100000"/>
              <a:buChar char="•"/>
            </a:pPr>
            <a:r>
              <a:rPr lang="en-US" sz="1250" dirty="0">
                <a:solidFill>
                  <a:srgbClr val="B4235A"/>
                </a:solidFill>
                <a:latin typeface="Consolas" pitchFamily="34" charset="0"/>
                <a:ea typeface="Consolas" pitchFamily="34" charset="-122"/>
                <a:cs typeface="Consolas" pitchFamily="34" charset="-120"/>
              </a:rPr>
              <a:t>synchronized</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 locks, atomics and concurrent collections; recognise deadlocks.</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Run work on thread pools with </a:t>
            </a:r>
            <a:endParaRPr lang="en-US" sz="1250" dirty="0"/>
          </a:p>
          <a:p>
            <a:pPr marL="177800" indent="-177800">
              <a:spcAft>
                <a:spcPts val="400"/>
              </a:spcAft>
              <a:buSzPct val="100000"/>
              <a:buChar char="•"/>
            </a:pPr>
            <a:r>
              <a:rPr lang="en-US" sz="1250" dirty="0">
                <a:solidFill>
                  <a:srgbClr val="B4235A"/>
                </a:solidFill>
                <a:latin typeface="Consolas" pitchFamily="34" charset="0"/>
                <a:ea typeface="Consolas" pitchFamily="34" charset="-122"/>
                <a:cs typeface="Consolas" pitchFamily="34" charset="-120"/>
              </a:rPr>
              <a:t>ExecutorService</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 </a:t>
            </a:r>
            <a:endParaRPr lang="en-US" sz="1250" dirty="0"/>
          </a:p>
          <a:p>
            <a:pPr marL="177800" indent="-177800">
              <a:spcAft>
                <a:spcPts val="400"/>
              </a:spcAft>
              <a:buSzPct val="100000"/>
              <a:buChar char="•"/>
            </a:pPr>
            <a:r>
              <a:rPr lang="en-US" sz="1250" dirty="0">
                <a:solidFill>
                  <a:srgbClr val="B4235A"/>
                </a:solidFill>
                <a:latin typeface="Consolas" pitchFamily="34" charset="0"/>
                <a:ea typeface="Consolas" pitchFamily="34" charset="-122"/>
                <a:cs typeface="Consolas" pitchFamily="34" charset="-120"/>
              </a:rPr>
              <a:t>Callable</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a:t>
            </a:r>
            <a:endParaRPr lang="en-US" sz="1250" dirty="0"/>
          </a:p>
          <a:p>
            <a:pPr marL="177800" indent="-177800">
              <a:spcAft>
                <a:spcPts val="400"/>
              </a:spcAft>
              <a:buSzPct val="100000"/>
              <a:buChar char="•"/>
            </a:pPr>
            <a:r>
              <a:rPr lang="en-US" sz="1250" dirty="0">
                <a:solidFill>
                  <a:srgbClr val="B4235A"/>
                </a:solidFill>
                <a:latin typeface="Consolas" pitchFamily="34" charset="0"/>
                <a:ea typeface="Consolas" pitchFamily="34" charset="-122"/>
                <a:cs typeface="Consolas" pitchFamily="34" charset="-120"/>
              </a:rPr>
              <a:t>Future</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 </a:t>
            </a:r>
            <a:endParaRPr lang="en-US" sz="1250" dirty="0"/>
          </a:p>
          <a:p>
            <a:pPr marL="177800" indent="-177800">
              <a:spcAft>
                <a:spcPts val="400"/>
              </a:spcAft>
              <a:buSzPct val="100000"/>
              <a:buChar char="•"/>
            </a:pPr>
            <a:r>
              <a:rPr lang="en-US" sz="1250" dirty="0">
                <a:solidFill>
                  <a:srgbClr val="B4235A"/>
                </a:solidFill>
                <a:latin typeface="Consolas" pitchFamily="34" charset="0"/>
                <a:ea typeface="Consolas" pitchFamily="34" charset="-122"/>
                <a:cs typeface="Consolas" pitchFamily="34" charset="-120"/>
              </a:rPr>
              <a:t>CompletableFuture</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 and virtual threads.</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Read and write a </a:t>
            </a:r>
            <a:endParaRPr lang="en-US" sz="1250" dirty="0"/>
          </a:p>
          <a:p>
            <a:pPr marL="177800" indent="-177800">
              <a:spcAft>
                <a:spcPts val="400"/>
              </a:spcAft>
              <a:buSzPct val="100000"/>
              <a:buChar char="•"/>
            </a:pPr>
            <a:r>
              <a:rPr lang="en-US" sz="1250" dirty="0">
                <a:solidFill>
                  <a:srgbClr val="B4235A"/>
                </a:solidFill>
                <a:latin typeface="Consolas" pitchFamily="34" charset="0"/>
                <a:ea typeface="Consolas" pitchFamily="34" charset="-122"/>
                <a:cs typeface="Consolas" pitchFamily="34" charset="-120"/>
              </a:rPr>
              <a:t>pom.xml</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 and drive builds through Maven's lifecycle phases.</a:t>
            </a:r>
            <a:endParaRPr lang="en-US" sz="1250" dirty="0"/>
          </a:p>
        </p:txBody>
      </p:sp>
      <p:sp>
        <p:nvSpPr>
          <p:cNvPr id="9" name="Text 7"/>
          <p:cNvSpPr/>
          <p:nvPr/>
        </p:nvSpPr>
        <p:spPr>
          <a:xfrm>
            <a:off x="6400800" y="1920240"/>
            <a:ext cx="5303520" cy="320040"/>
          </a:xfrm>
          <a:prstGeom prst="rect">
            <a:avLst/>
          </a:prstGeom>
          <a:noFill/>
          <a:ln/>
        </p:spPr>
        <p:txBody>
          <a:bodyPr wrap="square" rtlCol="0" anchor="ctr"/>
          <a:lstStyle/>
          <a:p>
            <a:pPr indent="0" marL="0">
              <a:buNone/>
            </a:pPr>
            <a:r>
              <a:rPr lang="en-US" sz="1300" b="1" dirty="0">
                <a:solidFill>
                  <a:srgbClr val="5B6B60"/>
                </a:solidFill>
                <a:latin typeface="Calibri" pitchFamily="34" charset="0"/>
                <a:ea typeface="Calibri" pitchFamily="34" charset="-122"/>
                <a:cs typeface="Calibri" pitchFamily="34" charset="-120"/>
              </a:rPr>
              <a:t>Agenda</a:t>
            </a:r>
            <a:endParaRPr lang="en-US" sz="1300" dirty="0"/>
          </a:p>
        </p:txBody>
      </p:sp>
      <p:sp>
        <p:nvSpPr>
          <p:cNvPr id="10" name="Text 8"/>
          <p:cNvSpPr/>
          <p:nvPr/>
        </p:nvSpPr>
        <p:spPr>
          <a:xfrm>
            <a:off x="6400800" y="2240280"/>
            <a:ext cx="5303520" cy="4114800"/>
          </a:xfrm>
          <a:prstGeom prst="rect">
            <a:avLst/>
          </a:prstGeom>
          <a:noFill/>
          <a:ln/>
        </p:spPr>
        <p:txBody>
          <a:bodyPr wrap="square" rtlCol="0" anchor="t"/>
          <a:lstStyle/>
          <a:p>
            <a:pPr marL="342900" indent="-342900">
              <a:spcAft>
                <a:spcPts val="400"/>
              </a:spcAft>
              <a:buSzPct val="100000"/>
              <a:buFont typeface="+mj-lt"/>
              <a:buAutoNum type="arabicPeriod" startAt="1"/>
            </a:pPr>
            <a:r>
              <a:rPr lang="en-US" sz="1050" dirty="0">
                <a:solidFill>
                  <a:srgbClr val="1F2A24"/>
                </a:solidFill>
                <a:latin typeface="Calibri" pitchFamily="34" charset="0"/>
                <a:ea typeface="Calibri" pitchFamily="34" charset="-122"/>
                <a:cs typeface="Calibri" pitchFamily="34" charset="-120"/>
              </a:rPr>
              <a:t>Theory: Processes, threads &amp; why backends need concurrency</a:t>
            </a:r>
            <a:endParaRPr lang="en-US" sz="1050" dirty="0"/>
          </a:p>
          <a:p>
            <a:pPr marL="342900" indent="-342900">
              <a:spcAft>
                <a:spcPts val="400"/>
              </a:spcAft>
              <a:buSzPct val="100000"/>
              <a:buFont typeface="+mj-lt"/>
              <a:buAutoNum type="arabicPeriod" startAt="1"/>
            </a:pPr>
            <a:r>
              <a:rPr lang="en-US" sz="1050" dirty="0">
                <a:solidFill>
                  <a:srgbClr val="1F2A24"/>
                </a:solidFill>
                <a:latin typeface="Calibri" pitchFamily="34" charset="0"/>
                <a:ea typeface="Calibri" pitchFamily="34" charset="-122"/>
                <a:cs typeface="Calibri" pitchFamily="34" charset="-120"/>
              </a:rPr>
              <a:t>Practical: Creating, starting &amp; joining threads</a:t>
            </a:r>
            <a:endParaRPr lang="en-US" sz="1050" dirty="0"/>
          </a:p>
          <a:p>
            <a:pPr marL="342900" indent="-342900">
              <a:spcAft>
                <a:spcPts val="400"/>
              </a:spcAft>
              <a:buSzPct val="100000"/>
              <a:buFont typeface="+mj-lt"/>
              <a:buAutoNum type="arabicPeriod" startAt="1"/>
            </a:pPr>
            <a:r>
              <a:rPr lang="en-US" sz="1050" dirty="0">
                <a:solidFill>
                  <a:srgbClr val="1F2A24"/>
                </a:solidFill>
                <a:latin typeface="Calibri" pitchFamily="34" charset="0"/>
                <a:ea typeface="Calibri" pitchFamily="34" charset="-122"/>
                <a:cs typeface="Calibri" pitchFamily="34" charset="-120"/>
              </a:rPr>
              <a:t>Theory: Race conditions &amp; the Java Memory Model</a:t>
            </a:r>
            <a:endParaRPr lang="en-US" sz="1050" dirty="0"/>
          </a:p>
          <a:p>
            <a:pPr marL="342900" indent="-342900">
              <a:spcAft>
                <a:spcPts val="400"/>
              </a:spcAft>
              <a:buSzPct val="100000"/>
              <a:buFont typeface="+mj-lt"/>
              <a:buAutoNum type="arabicPeriod" startAt="1"/>
            </a:pPr>
            <a:r>
              <a:rPr lang="en-US" sz="1050" dirty="0">
                <a:solidFill>
                  <a:srgbClr val="1F2A24"/>
                </a:solidFill>
                <a:latin typeface="Calibri" pitchFamily="34" charset="0"/>
                <a:ea typeface="Calibri" pitchFamily="34" charset="-122"/>
                <a:cs typeface="Calibri" pitchFamily="34" charset="-120"/>
              </a:rPr>
              <a:t>Practical: Lost updates — and four ways to fix a counter</a:t>
            </a:r>
            <a:endParaRPr lang="en-US" sz="1050" dirty="0"/>
          </a:p>
          <a:p>
            <a:pPr marL="342900" indent="-342900">
              <a:spcAft>
                <a:spcPts val="400"/>
              </a:spcAft>
              <a:buSzPct val="100000"/>
              <a:buFont typeface="+mj-lt"/>
              <a:buAutoNum type="arabicPeriod" startAt="1"/>
            </a:pPr>
            <a:r>
              <a:rPr lang="en-US" sz="1050" dirty="0">
                <a:solidFill>
                  <a:srgbClr val="1F2A24"/>
                </a:solidFill>
                <a:latin typeface="Calibri" pitchFamily="34" charset="0"/>
                <a:ea typeface="Calibri" pitchFamily="34" charset="-122"/>
                <a:cs typeface="Calibri" pitchFamily="34" charset="-120"/>
              </a:rPr>
              <a:t>Theory: Synchronization toolkit &amp; deadlocks</a:t>
            </a:r>
            <a:endParaRPr lang="en-US" sz="1050" dirty="0"/>
          </a:p>
          <a:p>
            <a:pPr marL="342900" indent="-342900">
              <a:spcAft>
                <a:spcPts val="400"/>
              </a:spcAft>
              <a:buSzPct val="100000"/>
              <a:buFont typeface="+mj-lt"/>
              <a:buAutoNum type="arabicPeriod" startAt="1"/>
            </a:pPr>
            <a:r>
              <a:rPr lang="en-US" sz="1050" dirty="0">
                <a:solidFill>
                  <a:srgbClr val="1F2A24"/>
                </a:solidFill>
                <a:latin typeface="Calibri" pitchFamily="34" charset="0"/>
                <a:ea typeface="Calibri" pitchFamily="34" charset="-122"/>
                <a:cs typeface="Calibri" pitchFamily="34" charset="-120"/>
              </a:rPr>
              <a:t>Practical: Producer–consumer with a BlockingQueue</a:t>
            </a:r>
            <a:endParaRPr lang="en-US" sz="1050" dirty="0"/>
          </a:p>
          <a:p>
            <a:pPr marL="342900" indent="-342900">
              <a:spcAft>
                <a:spcPts val="400"/>
              </a:spcAft>
              <a:buSzPct val="100000"/>
              <a:buFont typeface="+mj-lt"/>
              <a:buAutoNum type="arabicPeriod" startAt="1"/>
            </a:pPr>
            <a:r>
              <a:rPr lang="en-US" sz="1050" dirty="0">
                <a:solidFill>
                  <a:srgbClr val="1F2A24"/>
                </a:solidFill>
                <a:latin typeface="Calibri" pitchFamily="34" charset="0"/>
                <a:ea typeface="Calibri" pitchFamily="34" charset="-122"/>
                <a:cs typeface="Calibri" pitchFamily="34" charset="-120"/>
              </a:rPr>
              <a:t>Theory: Thread pools &amp; ExecutorService</a:t>
            </a:r>
            <a:endParaRPr lang="en-US" sz="1050" dirty="0"/>
          </a:p>
          <a:p>
            <a:pPr marL="342900" indent="-342900">
              <a:spcAft>
                <a:spcPts val="400"/>
              </a:spcAft>
              <a:buSzPct val="100000"/>
              <a:buFont typeface="+mj-lt"/>
              <a:buAutoNum type="arabicPeriod" startAt="1"/>
            </a:pPr>
            <a:r>
              <a:rPr lang="en-US" sz="1050" dirty="0">
                <a:solidFill>
                  <a:srgbClr val="1F2A24"/>
                </a:solidFill>
                <a:latin typeface="Calibri" pitchFamily="34" charset="0"/>
                <a:ea typeface="Calibri" pitchFamily="34" charset="-122"/>
                <a:cs typeface="Calibri" pitchFamily="34" charset="-120"/>
              </a:rPr>
              <a:t>Practical: ExecutorService with Callable &amp; Future</a:t>
            </a:r>
            <a:endParaRPr lang="en-US" sz="1050" dirty="0"/>
          </a:p>
          <a:p>
            <a:pPr marL="342900" indent="-342900">
              <a:spcAft>
                <a:spcPts val="400"/>
              </a:spcAft>
              <a:buSzPct val="100000"/>
              <a:buFont typeface="+mj-lt"/>
              <a:buAutoNum type="arabicPeriod" startAt="1"/>
            </a:pPr>
            <a:r>
              <a:rPr lang="en-US" sz="1050" dirty="0">
                <a:solidFill>
                  <a:srgbClr val="1F2A24"/>
                </a:solidFill>
                <a:latin typeface="Calibri" pitchFamily="34" charset="0"/>
                <a:ea typeface="Calibri" pitchFamily="34" charset="-122"/>
                <a:cs typeface="Calibri" pitchFamily="34" charset="-120"/>
              </a:rPr>
              <a:t>Practical: CompletableFuture &amp; virtual threads</a:t>
            </a:r>
            <a:endParaRPr lang="en-US" sz="1050" dirty="0"/>
          </a:p>
          <a:p>
            <a:pPr marL="342900" indent="-342900">
              <a:spcAft>
                <a:spcPts val="400"/>
              </a:spcAft>
              <a:buSzPct val="100000"/>
              <a:buFont typeface="+mj-lt"/>
              <a:buAutoNum type="arabicPeriod" startAt="1"/>
            </a:pPr>
            <a:r>
              <a:rPr lang="en-US" sz="1050" dirty="0">
                <a:solidFill>
                  <a:srgbClr val="1F2A24"/>
                </a:solidFill>
                <a:latin typeface="Calibri" pitchFamily="34" charset="0"/>
                <a:ea typeface="Calibri" pitchFamily="34" charset="-122"/>
                <a:cs typeface="Calibri" pitchFamily="34" charset="-120"/>
              </a:rPr>
              <a:t>Theory: Maven: build tool &amp; dependency manager</a:t>
            </a:r>
            <a:endParaRPr lang="en-US" sz="1050" dirty="0"/>
          </a:p>
          <a:p>
            <a:pPr marL="342900" indent="-342900">
              <a:spcAft>
                <a:spcPts val="400"/>
              </a:spcAft>
              <a:buSzPct val="100000"/>
              <a:buFont typeface="+mj-lt"/>
              <a:buAutoNum type="arabicPeriod" startAt="1"/>
            </a:pPr>
            <a:r>
              <a:rPr lang="en-US" sz="1050" dirty="0">
                <a:solidFill>
                  <a:srgbClr val="1F2A24"/>
                </a:solidFill>
                <a:latin typeface="Calibri" pitchFamily="34" charset="0"/>
                <a:ea typeface="Calibri" pitchFamily="34" charset="-122"/>
                <a:cs typeface="Calibri" pitchFamily="34" charset="-120"/>
              </a:rPr>
              <a:t>Practical: Anatomy of a pom.xml</a:t>
            </a:r>
            <a:endParaRPr lang="en-US" sz="1050" dirty="0"/>
          </a:p>
          <a:p>
            <a:pPr marL="342900" indent="-342900">
              <a:spcAft>
                <a:spcPts val="400"/>
              </a:spcAft>
              <a:buSzPct val="100000"/>
              <a:buFont typeface="+mj-lt"/>
              <a:buAutoNum type="arabicPeriod" startAt="1"/>
            </a:pPr>
            <a:r>
              <a:rPr lang="en-US" sz="1050" dirty="0">
                <a:solidFill>
                  <a:srgbClr val="1F2A24"/>
                </a:solidFill>
                <a:latin typeface="Calibri" pitchFamily="34" charset="0"/>
                <a:ea typeface="Calibri" pitchFamily="34" charset="-122"/>
                <a:cs typeface="Calibri" pitchFamily="34" charset="-120"/>
              </a:rPr>
              <a:t>Theory: The Maven build lifecycle</a:t>
            </a:r>
            <a:endParaRPr lang="en-US" sz="1050" dirty="0"/>
          </a:p>
          <a:p>
            <a:pPr marL="342900" indent="-342900">
              <a:spcAft>
                <a:spcPts val="400"/>
              </a:spcAft>
              <a:buSzPct val="100000"/>
              <a:buFont typeface="+mj-lt"/>
              <a:buAutoNum type="arabicPeriod" startAt="1"/>
            </a:pPr>
            <a:r>
              <a:rPr lang="en-US" sz="1050" dirty="0">
                <a:solidFill>
                  <a:srgbClr val="1F2A24"/>
                </a:solidFill>
                <a:latin typeface="Calibri" pitchFamily="34" charset="0"/>
                <a:ea typeface="Calibri" pitchFamily="34" charset="-122"/>
                <a:cs typeface="Calibri" pitchFamily="34" charset="-120"/>
              </a:rPr>
              <a:t>Practical: Maven on the command line</a:t>
            </a:r>
            <a:endParaRPr lang="en-US" sz="1050" dirty="0"/>
          </a:p>
          <a:p>
            <a:pPr marL="342900" indent="-342900">
              <a:spcAft>
                <a:spcPts val="400"/>
              </a:spcAft>
              <a:buSzPct val="100000"/>
              <a:buFont typeface="+mj-lt"/>
              <a:buAutoNum type="arabicPeriod" startAt="1"/>
            </a:pPr>
            <a:r>
              <a:rPr lang="en-US" sz="1050" dirty="0">
                <a:solidFill>
                  <a:srgbClr val="1F2A24"/>
                </a:solidFill>
                <a:latin typeface="Calibri" pitchFamily="34" charset="0"/>
                <a:ea typeface="Calibri" pitchFamily="34" charset="-122"/>
                <a:cs typeface="Calibri" pitchFamily="34" charset="-120"/>
              </a:rPr>
              <a:t>Hands-on Lab: Lab: a parallel order processor, built with Maven</a:t>
            </a:r>
            <a:endParaRPr lang="en-US" sz="1050" dirty="0"/>
          </a:p>
          <a:p>
            <a:pPr marL="342900" indent="-342900">
              <a:spcAft>
                <a:spcPts val="400"/>
              </a:spcAft>
              <a:buSzPct val="100000"/>
              <a:buFont typeface="+mj-lt"/>
              <a:buAutoNum type="arabicPeriod" startAt="1"/>
            </a:pPr>
            <a:r>
              <a:rPr lang="en-US" sz="1050" dirty="0">
                <a:solidFill>
                  <a:srgbClr val="1F2A24"/>
                </a:solidFill>
                <a:latin typeface="Calibri" pitchFamily="34" charset="0"/>
                <a:ea typeface="Calibri" pitchFamily="34" charset="-122"/>
                <a:cs typeface="Calibri" pitchFamily="34" charset="-120"/>
              </a:rPr>
              <a:t>Quiz: Quiz: concurrency &amp; Maven</a:t>
            </a:r>
            <a:endParaRPr lang="en-US" sz="1050" dirty="0"/>
          </a:p>
          <a:p>
            <a:pPr marL="342900" indent="-342900">
              <a:spcAft>
                <a:spcPts val="400"/>
              </a:spcAft>
              <a:buSzPct val="100000"/>
              <a:buFont typeface="+mj-lt"/>
              <a:buAutoNum type="arabicPeriod" startAt="1"/>
            </a:pPr>
            <a:r>
              <a:rPr lang="en-US" sz="1050" dirty="0">
                <a:solidFill>
                  <a:srgbClr val="1F2A24"/>
                </a:solidFill>
                <a:latin typeface="Calibri" pitchFamily="34" charset="0"/>
                <a:ea typeface="Calibri" pitchFamily="34" charset="-122"/>
                <a:cs typeface="Calibri" pitchFamily="34" charset="-120"/>
              </a:rPr>
              <a:t>Summary: Session 6 recap — and Module 1 complete</a:t>
            </a:r>
            <a:endParaRPr lang="en-US" sz="105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C9C43D"/>
          </a:solidFill>
          <a:ln w="12700">
            <a:solidFill>
              <a:srgbClr val="C9C43D"/>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6</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Processes, threads &amp; why backends need concurrency</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A </a:t>
            </a:r>
            <a:pPr indent="0" marL="0">
              <a:buNone/>
            </a:pPr>
            <a:r>
              <a:rPr lang="en-US" sz="1350" b="1" dirty="0">
                <a:solidFill>
                  <a:srgbClr val="5B6B60"/>
                </a:solidFill>
                <a:latin typeface="Calibri" pitchFamily="34" charset="0"/>
                <a:ea typeface="Calibri" pitchFamily="34" charset="-122"/>
                <a:cs typeface="Calibri" pitchFamily="34" charset="-120"/>
              </a:rPr>
              <a:t>process</a:t>
            </a:r>
            <a:pPr indent="0" marL="0">
              <a:buNone/>
            </a:pPr>
            <a:r>
              <a:rPr lang="en-US" sz="1350" dirty="0">
                <a:solidFill>
                  <a:srgbClr val="5B6B60"/>
                </a:solidFill>
                <a:latin typeface="Calibri" pitchFamily="34" charset="0"/>
                <a:ea typeface="Calibri" pitchFamily="34" charset="-122"/>
                <a:cs typeface="Calibri" pitchFamily="34" charset="-120"/>
              </a:rPr>
              <a:t> has its own memory; its </a:t>
            </a:r>
            <a:pPr indent="0" marL="0">
              <a:buNone/>
            </a:pPr>
            <a:r>
              <a:rPr lang="en-US" sz="1350" b="1" dirty="0">
                <a:solidFill>
                  <a:srgbClr val="5B6B60"/>
                </a:solidFill>
                <a:latin typeface="Calibri" pitchFamily="34" charset="0"/>
                <a:ea typeface="Calibri" pitchFamily="34" charset="-122"/>
                <a:cs typeface="Calibri" pitchFamily="34" charset="-120"/>
              </a:rPr>
              <a:t>threads</a:t>
            </a:r>
            <a:pPr indent="0" marL="0">
              <a:buNone/>
            </a:pPr>
            <a:r>
              <a:rPr lang="en-US" sz="1350" dirty="0">
                <a:solidFill>
                  <a:srgbClr val="5B6B60"/>
                </a:solidFill>
                <a:latin typeface="Calibri" pitchFamily="34" charset="0"/>
                <a:ea typeface="Calibri" pitchFamily="34" charset="-122"/>
                <a:cs typeface="Calibri" pitchFamily="34" charset="-120"/>
              </a:rPr>
              <a:t> share the heap but each has its own stack. A web server handles many requests at once by running them on different threads.</a:t>
            </a:r>
            <a:endParaRPr lang="en-US" sz="1350" dirty="0"/>
          </a:p>
        </p:txBody>
      </p:sp>
      <p:sp>
        <p:nvSpPr>
          <p:cNvPr id="7" name="Text 5"/>
          <p:cNvSpPr/>
          <p:nvPr/>
        </p:nvSpPr>
        <p:spPr>
          <a:xfrm>
            <a:off x="457200" y="1883664"/>
            <a:ext cx="5120640" cy="4471416"/>
          </a:xfrm>
          <a:prstGeom prst="rect">
            <a:avLst/>
          </a:prstGeom>
          <a:noFill/>
          <a:ln/>
        </p:spPr>
        <p:txBody>
          <a:bodyPr wrap="square" rtlCol="0" anchor="t"/>
          <a:lstStyle/>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Concurrency</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 dealing with many things at once;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parallelism</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 doing many things at the same instant on multiple cores.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Backend uses: one request per thread (Tomcat), parallel calls to other services, background jobs, async messaging.</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Threads are cheap compared to processes, but a platform thread still costs ~1 MB of stack and an OS thread — hence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pools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and, since Java 21,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virtual threads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a:t>
            </a:r>
            <a:endParaRPr lang="en-US" sz="1700" dirty="0"/>
          </a:p>
        </p:txBody>
      </p:sp>
      <p:sp>
        <p:nvSpPr>
          <p:cNvPr id="8" name="Text 6"/>
          <p:cNvSpPr/>
          <p:nvPr/>
        </p:nvSpPr>
        <p:spPr>
          <a:xfrm>
            <a:off x="5852160" y="1883664"/>
            <a:ext cx="5882335" cy="4471416"/>
          </a:xfrm>
          <a:prstGeom prst="rect">
            <a:avLst/>
          </a:prstGeom>
          <a:solidFill>
            <a:srgbClr val="F7F9F8"/>
          </a:solidFill>
          <a:ln w="9525">
            <a:solidFill>
              <a:srgbClr val="D5DDD7"/>
            </a:solidFill>
          </a:ln>
        </p:spPr>
        <p:txBody>
          <a:bodyPr wrap="square" lIns="1524" tIns="1524" rIns="1524" bIns="1524" rtlCol="0" anchor="t"/>
          <a:lstStyle/>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NEW → RUNNABLE  (start())</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RUNNABLE → BLOCKED</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BLOCKED → RUNNABLE</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RUNNABLE → WAITING</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WAITING → RUNNABLE</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RUNNABLE → TIMED_WAITING</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TIMED_WAITING → RUNNABLE</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RUNNABLE → TERMINATED  (finishes)</a:t>
            </a:r>
            <a:endParaRPr lang="en-US" sz="13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C9C43D"/>
          </a:solidFill>
          <a:ln w="12700">
            <a:solidFill>
              <a:srgbClr val="C9C43D"/>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6</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Creating, starting &amp; joining threads</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Give a </a:t>
            </a:r>
            <a:pPr indent="0" marL="0">
              <a:buNone/>
            </a:pPr>
            <a:r>
              <a:rPr lang="en-US" sz="1350" dirty="0">
                <a:solidFill>
                  <a:srgbClr val="B4235A"/>
                </a:solidFill>
                <a:latin typeface="Consolas" pitchFamily="34" charset="0"/>
                <a:ea typeface="Consolas" pitchFamily="34" charset="-122"/>
                <a:cs typeface="Consolas" pitchFamily="34" charset="-120"/>
              </a:rPr>
              <a:t>Thread</a:t>
            </a:r>
            <a:pPr indent="0" marL="0">
              <a:buNone/>
            </a:pPr>
            <a:r>
              <a:rPr lang="en-US" sz="1350" dirty="0">
                <a:solidFill>
                  <a:srgbClr val="5B6B60"/>
                </a:solidFill>
                <a:latin typeface="Calibri" pitchFamily="34" charset="0"/>
                <a:ea typeface="Calibri" pitchFamily="34" charset="-122"/>
                <a:cs typeface="Calibri" pitchFamily="34" charset="-120"/>
              </a:rPr>
              <a:t> a </a:t>
            </a:r>
            <a:pPr indent="0" marL="0">
              <a:buNone/>
            </a:pPr>
            <a:r>
              <a:rPr lang="en-US" sz="1350" dirty="0">
                <a:solidFill>
                  <a:srgbClr val="B4235A"/>
                </a:solidFill>
                <a:latin typeface="Consolas" pitchFamily="34" charset="0"/>
                <a:ea typeface="Consolas" pitchFamily="34" charset="-122"/>
                <a:cs typeface="Consolas" pitchFamily="34" charset="-120"/>
              </a:rPr>
              <a:t>Runnable</a:t>
            </a:r>
            <a:pPr indent="0" marL="0">
              <a:buNone/>
            </a:pPr>
            <a:r>
              <a:rPr lang="en-US" sz="1350" dirty="0">
                <a:solidFill>
                  <a:srgbClr val="5B6B60"/>
                </a:solidFill>
                <a:latin typeface="Calibri" pitchFamily="34" charset="0"/>
                <a:ea typeface="Calibri" pitchFamily="34" charset="-122"/>
                <a:cs typeface="Calibri" pitchFamily="34" charset="-120"/>
              </a:rPr>
              <a:t> (usually a lambda), call </a:t>
            </a:r>
            <a:pPr indent="0" marL="0">
              <a:buNone/>
            </a:pPr>
            <a:r>
              <a:rPr lang="en-US" sz="1350" dirty="0">
                <a:solidFill>
                  <a:srgbClr val="B4235A"/>
                </a:solidFill>
                <a:latin typeface="Consolas" pitchFamily="34" charset="0"/>
                <a:ea typeface="Consolas" pitchFamily="34" charset="-122"/>
                <a:cs typeface="Consolas" pitchFamily="34" charset="-120"/>
              </a:rPr>
              <a:t>start()</a:t>
            </a:r>
            <a:pPr indent="0" marL="0">
              <a:buNone/>
            </a:pPr>
            <a:r>
              <a:rPr lang="en-US" sz="1350" dirty="0">
                <a:solidFill>
                  <a:srgbClr val="5B6B60"/>
                </a:solidFill>
                <a:latin typeface="Calibri" pitchFamily="34" charset="0"/>
                <a:ea typeface="Calibri" pitchFamily="34" charset="-122"/>
                <a:cs typeface="Calibri" pitchFamily="34" charset="-120"/>
              </a:rPr>
              <a:t>, and use </a:t>
            </a:r>
            <a:pPr indent="0" marL="0">
              <a:buNone/>
            </a:pPr>
            <a:r>
              <a:rPr lang="en-US" sz="1350" dirty="0">
                <a:solidFill>
                  <a:srgbClr val="B4235A"/>
                </a:solidFill>
                <a:latin typeface="Consolas" pitchFamily="34" charset="0"/>
                <a:ea typeface="Consolas" pitchFamily="34" charset="-122"/>
                <a:cs typeface="Consolas" pitchFamily="34" charset="-120"/>
              </a:rPr>
              <a:t>join()</a:t>
            </a:r>
            <a:pPr indent="0" marL="0">
              <a:buNone/>
            </a:pPr>
            <a:r>
              <a:rPr lang="en-US" sz="1350" dirty="0">
                <a:solidFill>
                  <a:srgbClr val="5B6B60"/>
                </a:solidFill>
                <a:latin typeface="Calibri" pitchFamily="34" charset="0"/>
                <a:ea typeface="Calibri" pitchFamily="34" charset="-122"/>
                <a:cs typeface="Calibri" pitchFamily="34" charset="-120"/>
              </a:rPr>
              <a:t> to wait for it.</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ThreadBasics.java</a:t>
            </a:r>
            <a:endParaRPr lang="en-US" sz="900" dirty="0"/>
          </a:p>
        </p:txBody>
      </p:sp>
      <p:sp>
        <p:nvSpPr>
          <p:cNvPr id="8" name="Text 6"/>
          <p:cNvSpPr/>
          <p:nvPr/>
        </p:nvSpPr>
        <p:spPr>
          <a:xfrm>
            <a:off x="457200" y="2157984"/>
            <a:ext cx="11277295" cy="360273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public class ThreadBasics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static long sumRange(long from, long to)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long s = 0;</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for (long i = from; i &lt;= to; i++) s += i;</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return s;</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public static void main(String[] args) throws InterruptedException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long[] partial = new long[2];</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Thread t1 = new Thread(() -&gt; partial[0] = sumRange(1, 50_000_000), "worker-1");</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Thread t2 = new Thread(() -&gt; partial[1] = sumRange(50_000_001, 100_000_000), "worker-2");</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System.out.println(t1.getName() + " state before start: " + t1.getState());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t1.start();                          // start() creates a new thread of execution</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t2.start();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t1.join();                           // wait for both halves</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t2.join();</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System.out.println(t1.getName() + " state after join: " + t1.getState());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System.out.println("total = " + (partial[0] + partial[1]));</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full listing in the web notes</a:t>
            </a:r>
            <a:endParaRPr lang="en-US" sz="1100" dirty="0"/>
          </a:p>
        </p:txBody>
      </p:sp>
      <p:sp>
        <p:nvSpPr>
          <p:cNvPr id="9" name="Text 7"/>
          <p:cNvSpPr/>
          <p:nvPr/>
        </p:nvSpPr>
        <p:spPr>
          <a:xfrm>
            <a:off x="457200" y="5806440"/>
            <a:ext cx="11277295" cy="530352"/>
          </a:xfrm>
          <a:prstGeom prst="rect">
            <a:avLst/>
          </a:prstGeom>
          <a:solidFill>
            <a:srgbClr val="FFF8E1"/>
          </a:solidFill>
          <a:ln w="9525">
            <a:solidFill>
              <a:srgbClr val="E9C46A"/>
            </a:solidFill>
          </a:ln>
        </p:spPr>
        <p:txBody>
          <a:bodyPr wrap="square" lIns="1016" tIns="1016" rIns="1016" bIns="1016" rtlCol="0" anchor="ctr"/>
          <a:lstStyle/>
          <a:p>
            <a:pPr indent="0" marL="0">
              <a:buNone/>
            </a:pPr>
            <a:r>
              <a:rPr lang="en-US" sz="1100" b="1" dirty="0">
                <a:solidFill>
                  <a:srgbClr val="1F2A24"/>
                </a:solidFill>
                <a:latin typeface="Calibri" pitchFamily="34" charset="0"/>
                <a:ea typeface="Calibri" pitchFamily="34" charset="-122"/>
                <a:cs typeface="Calibri" pitchFamily="34" charset="-120"/>
              </a:rPr>
              <a:t>INTERVIEW: </a:t>
            </a:r>
            <a:pPr indent="0" marL="0">
              <a:buNone/>
            </a:pPr>
            <a:r>
              <a:rPr lang="en-US" sz="1100" i="1" dirty="0">
                <a:solidFill>
                  <a:srgbClr val="1F2A24"/>
                </a:solidFill>
                <a:latin typeface="Calibri" pitchFamily="34" charset="0"/>
                <a:ea typeface="Calibri" pitchFamily="34" charset="-122"/>
                <a:cs typeface="Calibri" pitchFamily="34" charset="-120"/>
              </a:rPr>
              <a:t>start() vs run()?</a:t>
            </a:r>
            <a:pPr indent="0" marL="0">
              <a:buNone/>
            </a:pPr>
            <a:r>
              <a:rPr lang="en-US" sz="1100" dirty="0">
                <a:solidFill>
                  <a:srgbClr val="1F2A24"/>
                </a:solidFill>
                <a:latin typeface="Calibri" pitchFamily="34" charset="0"/>
                <a:ea typeface="Calibri" pitchFamily="34" charset="-122"/>
                <a:cs typeface="Calibri" pitchFamily="34" charset="-120"/>
              </a:rPr>
              <a:t> </a:t>
            </a:r>
            <a:pPr indent="0" marL="0">
              <a:buNone/>
            </a:pPr>
            <a:r>
              <a:rPr lang="en-US" sz="1100" dirty="0">
                <a:solidFill>
                  <a:srgbClr val="B4235A"/>
                </a:solidFill>
                <a:latin typeface="Consolas" pitchFamily="34" charset="0"/>
                <a:ea typeface="Consolas" pitchFamily="34" charset="-122"/>
                <a:cs typeface="Consolas" pitchFamily="34" charset="-120"/>
              </a:rPr>
              <a:t>start()</a:t>
            </a:r>
            <a:pPr indent="0" marL="0">
              <a:buNone/>
            </a:pPr>
            <a:r>
              <a:rPr lang="en-US" sz="1100" dirty="0">
                <a:solidFill>
                  <a:srgbClr val="1F2A24"/>
                </a:solidFill>
                <a:latin typeface="Calibri" pitchFamily="34" charset="0"/>
                <a:ea typeface="Calibri" pitchFamily="34" charset="-122"/>
                <a:cs typeface="Calibri" pitchFamily="34" charset="-120"/>
              </a:rPr>
              <a:t> asks the JVM to create a new thread that then calls </a:t>
            </a:r>
            <a:pPr indent="0" marL="0">
              <a:buNone/>
            </a:pPr>
            <a:r>
              <a:rPr lang="en-US" sz="1100" dirty="0">
                <a:solidFill>
                  <a:srgbClr val="B4235A"/>
                </a:solidFill>
                <a:latin typeface="Consolas" pitchFamily="34" charset="0"/>
                <a:ea typeface="Consolas" pitchFamily="34" charset="-122"/>
                <a:cs typeface="Consolas" pitchFamily="34" charset="-120"/>
              </a:rPr>
              <a:t>run()</a:t>
            </a:r>
            <a:pPr indent="0" marL="0">
              <a:buNone/>
            </a:pPr>
            <a:r>
              <a:rPr lang="en-US" sz="1100" dirty="0">
                <a:solidFill>
                  <a:srgbClr val="1F2A24"/>
                </a:solidFill>
                <a:latin typeface="Calibri" pitchFamily="34" charset="0"/>
                <a:ea typeface="Calibri" pitchFamily="34" charset="-122"/>
                <a:cs typeface="Calibri" pitchFamily="34" charset="-120"/>
              </a:rPr>
              <a:t>. Calling </a:t>
            </a:r>
            <a:pPr indent="0" marL="0">
              <a:buNone/>
            </a:pPr>
            <a:r>
              <a:rPr lang="en-US" sz="1100" dirty="0">
                <a:solidFill>
                  <a:srgbClr val="B4235A"/>
                </a:solidFill>
                <a:latin typeface="Consolas" pitchFamily="34" charset="0"/>
                <a:ea typeface="Consolas" pitchFamily="34" charset="-122"/>
                <a:cs typeface="Consolas" pitchFamily="34" charset="-120"/>
              </a:rPr>
              <a:t>run()</a:t>
            </a:r>
            <a:pPr indent="0" marL="0">
              <a:buNone/>
            </a:pPr>
            <a:r>
              <a:rPr lang="en-US" sz="1100" dirty="0">
                <a:solidFill>
                  <a:srgbClr val="1F2A24"/>
                </a:solidFill>
                <a:latin typeface="Calibri" pitchFamily="34" charset="0"/>
                <a:ea typeface="Calibri" pitchFamily="34" charset="-122"/>
                <a:cs typeface="Calibri" pitchFamily="34" charset="-120"/>
              </a:rPr>
              <a:t> directly is an ordinary method call on the current thread — no concurrency at all.</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C9C43D"/>
          </a:solidFill>
          <a:ln w="12700">
            <a:solidFill>
              <a:srgbClr val="C9C43D"/>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6</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Race conditions &amp; the Java Memory Model</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When threads share </a:t>
            </a:r>
            <a:pPr indent="0" marL="0">
              <a:buNone/>
            </a:pPr>
            <a:r>
              <a:rPr lang="en-US" sz="1350" b="1" dirty="0">
                <a:solidFill>
                  <a:srgbClr val="5B6B60"/>
                </a:solidFill>
                <a:latin typeface="Calibri" pitchFamily="34" charset="0"/>
                <a:ea typeface="Calibri" pitchFamily="34" charset="-122"/>
                <a:cs typeface="Calibri" pitchFamily="34" charset="-120"/>
              </a:rPr>
              <a:t>mutable</a:t>
            </a:r>
            <a:pPr indent="0" marL="0">
              <a:buNone/>
            </a:pPr>
            <a:r>
              <a:rPr lang="en-US" sz="1350" dirty="0">
                <a:solidFill>
                  <a:srgbClr val="5B6B60"/>
                </a:solidFill>
                <a:latin typeface="Calibri" pitchFamily="34" charset="0"/>
                <a:ea typeface="Calibri" pitchFamily="34" charset="-122"/>
                <a:cs typeface="Calibri" pitchFamily="34" charset="-120"/>
              </a:rPr>
              <a:t> state without coordination, results depend on timing. Two separate problems: </a:t>
            </a:r>
            <a:pPr indent="0" marL="0">
              <a:buNone/>
            </a:pPr>
            <a:r>
              <a:rPr lang="en-US" sz="1350" b="1" dirty="0">
                <a:solidFill>
                  <a:srgbClr val="5B6B60"/>
                </a:solidFill>
                <a:latin typeface="Calibri" pitchFamily="34" charset="0"/>
                <a:ea typeface="Calibri" pitchFamily="34" charset="-122"/>
                <a:cs typeface="Calibri" pitchFamily="34" charset="-120"/>
              </a:rPr>
              <a:t>atomicity</a:t>
            </a:r>
            <a:pPr indent="0" marL="0">
              <a:buNone/>
            </a:pPr>
            <a:r>
              <a:rPr lang="en-US" sz="1350" dirty="0">
                <a:solidFill>
                  <a:srgbClr val="5B6B60"/>
                </a:solidFill>
                <a:latin typeface="Calibri" pitchFamily="34" charset="0"/>
                <a:ea typeface="Calibri" pitchFamily="34" charset="-122"/>
                <a:cs typeface="Calibri" pitchFamily="34" charset="-120"/>
              </a:rPr>
              <a:t> and </a:t>
            </a:r>
            <a:pPr indent="0" marL="0">
              <a:buNone/>
            </a:pPr>
            <a:r>
              <a:rPr lang="en-US" sz="1350" b="1" dirty="0">
                <a:solidFill>
                  <a:srgbClr val="5B6B60"/>
                </a:solidFill>
                <a:latin typeface="Calibri" pitchFamily="34" charset="0"/>
                <a:ea typeface="Calibri" pitchFamily="34" charset="-122"/>
                <a:cs typeface="Calibri" pitchFamily="34" charset="-120"/>
              </a:rPr>
              <a:t>visibility</a:t>
            </a:r>
            <a:pPr indent="0" marL="0">
              <a:buNone/>
            </a:pPr>
            <a:r>
              <a:rPr lang="en-US" sz="1350" dirty="0">
                <a:solidFill>
                  <a:srgbClr val="5B6B60"/>
                </a:solidFill>
                <a:latin typeface="Calibri" pitchFamily="34" charset="0"/>
                <a:ea typeface="Calibri" pitchFamily="34" charset="-122"/>
                <a:cs typeface="Calibri" pitchFamily="34" charset="-120"/>
              </a:rPr>
              <a:t>.</a:t>
            </a:r>
            <a:endParaRPr lang="en-US" sz="1350" dirty="0"/>
          </a:p>
        </p:txBody>
      </p:sp>
      <p:sp>
        <p:nvSpPr>
          <p:cNvPr id="7" name="Text 5"/>
          <p:cNvSpPr/>
          <p:nvPr/>
        </p:nvSpPr>
        <p:spPr>
          <a:xfrm>
            <a:off x="457200" y="1883664"/>
            <a:ext cx="5120640" cy="2734056"/>
          </a:xfrm>
          <a:prstGeom prst="rect">
            <a:avLst/>
          </a:prstGeom>
          <a:noFill/>
          <a:ln/>
        </p:spPr>
        <p:txBody>
          <a:bodyPr wrap="square" rtlCol="0" anchor="t"/>
          <a:lstStyle/>
          <a:p>
            <a:pPr marL="177800" indent="-177800">
              <a:spcAft>
                <a:spcPts val="400"/>
              </a:spcAft>
              <a:buSzPct val="100000"/>
              <a:buChar char="•"/>
            </a:pPr>
            <a:r>
              <a:rPr lang="en-US" sz="1300" dirty="0">
                <a:solidFill>
                  <a:srgbClr val="B4235A"/>
                </a:solidFill>
                <a:latin typeface="Consolas" pitchFamily="34" charset="0"/>
                <a:ea typeface="Consolas" pitchFamily="34" charset="-122"/>
                <a:cs typeface="Consolas" pitchFamily="34" charset="-120"/>
              </a:rPr>
              <a:t>count++</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is three steps — read, add, write. Two threads can interleave and </a:t>
            </a:r>
            <a:endParaRPr lang="en-US" sz="1300" dirty="0"/>
          </a:p>
          <a:p>
            <a:pPr marL="177800" indent="-177800">
              <a:spcAft>
                <a:spcPts val="400"/>
              </a:spcAft>
              <a:buSzPct val="100000"/>
              <a:buChar char="•"/>
            </a:pPr>
            <a:r>
              <a:rPr lang="en-US" sz="1300" i="1" dirty="0">
                <a:solidFill>
                  <a:srgbClr val="1F2A24"/>
                </a:solidFill>
                <a:latin typeface="Calibri" pitchFamily="34" charset="0"/>
                <a:ea typeface="Calibri" pitchFamily="34" charset="-122"/>
                <a:cs typeface="Calibri" pitchFamily="34" charset="-120"/>
              </a:rPr>
              <a:t>lose</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an update.</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Each core may cache values; without a happens-before relationship one thread may </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never see</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another's write.</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Happens-before</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edges: unlocking → later locking the same monitor, writing → reading a </a:t>
            </a:r>
            <a:endParaRPr lang="en-US" sz="1300" dirty="0"/>
          </a:p>
          <a:p>
            <a:pPr marL="177800" indent="-177800">
              <a:spcAft>
                <a:spcPts val="400"/>
              </a:spcAft>
              <a:buSzPct val="100000"/>
              <a:buChar char="•"/>
            </a:pPr>
            <a:r>
              <a:rPr lang="en-US" sz="1300" dirty="0">
                <a:solidFill>
                  <a:srgbClr val="B4235A"/>
                </a:solidFill>
                <a:latin typeface="Consolas" pitchFamily="34" charset="0"/>
                <a:ea typeface="Consolas" pitchFamily="34" charset="-122"/>
                <a:cs typeface="Consolas" pitchFamily="34" charset="-120"/>
              </a:rPr>
              <a:t>volatile</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a:t>
            </a:r>
            <a:endParaRPr lang="en-US" sz="1300" dirty="0"/>
          </a:p>
          <a:p>
            <a:pPr marL="177800" indent="-177800">
              <a:spcAft>
                <a:spcPts val="400"/>
              </a:spcAft>
              <a:buSzPct val="100000"/>
              <a:buChar char="•"/>
            </a:pPr>
            <a:r>
              <a:rPr lang="en-US" sz="1300" dirty="0">
                <a:solidFill>
                  <a:srgbClr val="B4235A"/>
                </a:solidFill>
                <a:latin typeface="Consolas" pitchFamily="34" charset="0"/>
                <a:ea typeface="Consolas" pitchFamily="34" charset="-122"/>
                <a:cs typeface="Consolas" pitchFamily="34" charset="-120"/>
              </a:rPr>
              <a:t>start()</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a:t>
            </a:r>
            <a:endParaRPr lang="en-US" sz="1300" dirty="0"/>
          </a:p>
          <a:p>
            <a:pPr marL="177800" indent="-177800">
              <a:spcAft>
                <a:spcPts val="400"/>
              </a:spcAft>
              <a:buSzPct val="100000"/>
              <a:buChar char="•"/>
            </a:pPr>
            <a:r>
              <a:rPr lang="en-US" sz="1300" dirty="0">
                <a:solidFill>
                  <a:srgbClr val="B4235A"/>
                </a:solidFill>
                <a:latin typeface="Consolas" pitchFamily="34" charset="0"/>
                <a:ea typeface="Consolas" pitchFamily="34" charset="-122"/>
                <a:cs typeface="Consolas" pitchFamily="34" charset="-120"/>
              </a:rPr>
              <a:t>join()</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concurrent collections, </a:t>
            </a:r>
            <a:endParaRPr lang="en-US" sz="1300" dirty="0"/>
          </a:p>
          <a:p>
            <a:pPr marL="177800" indent="-177800">
              <a:spcAft>
                <a:spcPts val="400"/>
              </a:spcAft>
              <a:buSzPct val="100000"/>
              <a:buChar char="•"/>
            </a:pPr>
            <a:r>
              <a:rPr lang="en-US" sz="1300" dirty="0">
                <a:solidFill>
                  <a:srgbClr val="B4235A"/>
                </a:solidFill>
                <a:latin typeface="Consolas" pitchFamily="34" charset="0"/>
                <a:ea typeface="Consolas" pitchFamily="34" charset="-122"/>
                <a:cs typeface="Consolas" pitchFamily="34" charset="-120"/>
              </a:rPr>
              <a:t>Future.get()</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Safest strategies: </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don't share</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(confine to one thread), </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don't mutate</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(immutable objects/records), or </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synchronize correctly</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a:t>
            </a:r>
            <a:endParaRPr lang="en-US" sz="1300" dirty="0"/>
          </a:p>
        </p:txBody>
      </p:sp>
      <p:sp>
        <p:nvSpPr>
          <p:cNvPr id="8" name="Text 6"/>
          <p:cNvSpPr/>
          <p:nvPr/>
        </p:nvSpPr>
        <p:spPr>
          <a:xfrm>
            <a:off x="5852160" y="1883664"/>
            <a:ext cx="5882335" cy="2734056"/>
          </a:xfrm>
          <a:prstGeom prst="rect">
            <a:avLst/>
          </a:prstGeom>
          <a:solidFill>
            <a:srgbClr val="F7F9F8"/>
          </a:solidFill>
          <a:ln w="9525">
            <a:solidFill>
              <a:srgbClr val="D5DDD7"/>
            </a:solidFill>
          </a:ln>
        </p:spPr>
        <p:txBody>
          <a:bodyPr wrap="square" lIns="1524" tIns="1524" rIns="1524" bIns="1524" rtlCol="0" anchor="t"/>
          <a:lstStyle/>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1. Thread A → count (heap): read count = 5</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2. Thread B → count (heap): read count = 5</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3. Thread A: compute 5 + 1</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4. Thread B: compute 5 + 1</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5. Thread A → count (heap): write 6</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6. Thread B → count (heap): write 6   (one increment lost!)</a:t>
            </a:r>
            <a:endParaRPr lang="en-US" sz="1300" dirty="0"/>
          </a:p>
        </p:txBody>
      </p:sp>
      <p:graphicFrame>
        <p:nvGraphicFramePr>
          <p:cNvPr id="75" name="Table 0"/>
          <p:cNvGraphicFramePr>
            <a:graphicFrameLocks noGrp="1"/>
          </p:cNvGraphicFramePr>
          <p:nvPr>
            <p:extLst>
              <p:ext uri="{D42A27DB-BD31-4B8C-83A1-F6EECF244321}">
                <p14:modId xmlns:p14="http://schemas.microsoft.com/office/powerpoint/2010/main" val="1579011935"/>
              </p:ext>
            </p:extLst>
          </p:nvPr>
        </p:nvGraphicFramePr>
        <p:xfrm>
          <a:off x="457200" y="4663440"/>
          <a:ext cx="11277295" cy="914400"/>
        </p:xfrm>
        <a:graphic>
          <a:graphicData uri="http://schemas.openxmlformats.org/drawingml/2006/table">
            <a:tbl>
              <a:tblPr/>
              <a:tblGrid>
                <a:gridCol w="2819324"/>
                <a:gridCol w="2819324"/>
                <a:gridCol w="2819324"/>
                <a:gridCol w="2819324"/>
              </a:tblGrid>
              <a:tr h="329184">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Tool</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Atomicity</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Visibility</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Typical use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volatile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 (single reads/writes only)</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flags such as running false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synchronized / Lock</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protect invariants over several fields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AtomicInteger, LongAdder</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 (CAS)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counters, sequence numbers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ConcurrentHashMap, BlockingQueue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 per operation</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shared caches, work queues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C9C43D"/>
          </a:solidFill>
          <a:ln w="12700">
            <a:solidFill>
              <a:srgbClr val="C9C43D"/>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6</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Lost updates — and four ways to fix a counter</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Four threads each increment four counters 100,000 times. Only the unsynchronized one is wrong.</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CounterDemo.java</a:t>
            </a:r>
            <a:endParaRPr lang="en-US" sz="900" dirty="0"/>
          </a:p>
        </p:txBody>
      </p:sp>
      <p:sp>
        <p:nvSpPr>
          <p:cNvPr id="8" name="Text 6"/>
          <p:cNvSpPr/>
          <p:nvPr/>
        </p:nvSpPr>
        <p:spPr>
          <a:xfrm>
            <a:off x="457200" y="2157984"/>
            <a:ext cx="11277295" cy="419709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import java.util.concurrent.*;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java.util.concurrent.atomic.*;</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public class CounterDemo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static int unsafeCount = 0;</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static int syncCount = 0;</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static final Object LOCK = new Object();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static final AtomicInteger atomicCount = new AtomicInteger();</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static final LongAdder adder = new LongAdder();</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public static void main(String[] args)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int threads = 4, perThread = 100_000;</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try (ExecutorService pool = Executors.newFixedThreadPool(threads))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for (int t = 0; t &lt; threads; t++)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pool.submit(() -&gt;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for (int i = 0; i &lt; perThread; i++)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unsafeCount++;                          // read-modify-write: NOT atomic</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synchronized (LOCK) { syncCount++; }    // mutual exclusion + visibility</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atomicCount.incrementAndGet();          // lock-free CAS</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adder.increment();                      // scales best under contention</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full listing in the web notes</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C9C43D"/>
          </a:solidFill>
          <a:ln w="12700">
            <a:solidFill>
              <a:srgbClr val="C9C43D"/>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6</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Synchronization toolkit &amp; deadlocks</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Pick the simplest tool that preserves your invariants, and always acquire multiple locks in a consistent order.</a:t>
            </a:r>
            <a:endParaRPr lang="en-US" sz="1350" dirty="0"/>
          </a:p>
        </p:txBody>
      </p:sp>
      <p:sp>
        <p:nvSpPr>
          <p:cNvPr id="7" name="Text 5"/>
          <p:cNvSpPr/>
          <p:nvPr/>
        </p:nvSpPr>
        <p:spPr>
          <a:xfrm>
            <a:off x="457200" y="1883664"/>
            <a:ext cx="5120640" cy="2734056"/>
          </a:xfrm>
          <a:prstGeom prst="rect">
            <a:avLst/>
          </a:prstGeom>
          <a:noFill/>
          <a:ln/>
        </p:spPr>
        <p:txBody>
          <a:bodyPr wrap="square" rtlCol="0" anchor="t"/>
          <a:lstStyle/>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Deadlock</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needs four conditions together: mutual exclusion, hold-and-wait, no preemption, circular wait.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Break the cycle: global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lock ordering</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tryLock</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with a timeout, or fewer/coarser locks.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Other liveness problems: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starvation</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 thread never gets the lock) and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livelock</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(threads keep reacting to each other without progress).</a:t>
            </a:r>
            <a:endParaRPr lang="en-US" sz="1700" dirty="0"/>
          </a:p>
        </p:txBody>
      </p:sp>
      <p:sp>
        <p:nvSpPr>
          <p:cNvPr id="8" name="Text 6"/>
          <p:cNvSpPr/>
          <p:nvPr/>
        </p:nvSpPr>
        <p:spPr>
          <a:xfrm>
            <a:off x="5852160" y="1883664"/>
            <a:ext cx="588233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Deadlock &amp; the lock-ordering fix</a:t>
            </a:r>
            <a:endParaRPr lang="en-US" sz="900" dirty="0"/>
          </a:p>
        </p:txBody>
      </p:sp>
      <p:sp>
        <p:nvSpPr>
          <p:cNvPr id="9" name="Text 7"/>
          <p:cNvSpPr/>
          <p:nvPr/>
        </p:nvSpPr>
        <p:spPr>
          <a:xfrm>
            <a:off x="5852160" y="2157984"/>
            <a:ext cx="5882335" cy="245973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908" dirty="0">
                <a:solidFill>
                  <a:srgbClr val="24292F"/>
                </a:solidFill>
                <a:latin typeface="Consolas" pitchFamily="34" charset="0"/>
                <a:ea typeface="Consolas" pitchFamily="34" charset="-122"/>
                <a:cs typeface="Consolas" pitchFamily="34" charset="-120"/>
              </a:rPr>
              <a:t>// Thread A runs transfer(acc1, acc2) while thread B runs transfer(acc2, acc1):</a:t>
            </a:r>
            <a:endParaRPr lang="en-US" sz="908" dirty="0"/>
          </a:p>
          <a:p>
            <a:pPr indent="0" marL="0">
              <a:buNone/>
            </a:pPr>
            <a:r>
              <a:rPr lang="en-US" sz="908" dirty="0">
                <a:solidFill>
                  <a:srgbClr val="24292F"/>
                </a:solidFill>
                <a:latin typeface="Consolas" pitchFamily="34" charset="0"/>
                <a:ea typeface="Consolas" pitchFamily="34" charset="-122"/>
                <a:cs typeface="Consolas" pitchFamily="34" charset="-120"/>
              </a:rPr>
              <a:t>// A holds acc1 and waits for acc2; B holds acc2 and waits for acc1 -&gt; stuck forever.</a:t>
            </a:r>
            <a:endParaRPr lang="en-US" sz="908" dirty="0"/>
          </a:p>
          <a:p>
            <a:pPr indent="0" marL="0">
              <a:buNone/>
            </a:pPr>
            <a:r>
              <a:rPr lang="en-US" sz="908" dirty="0">
                <a:solidFill>
                  <a:srgbClr val="24292F"/>
                </a:solidFill>
                <a:latin typeface="Consolas" pitchFamily="34" charset="0"/>
                <a:ea typeface="Consolas" pitchFamily="34" charset="-122"/>
                <a:cs typeface="Consolas" pitchFamily="34" charset="-120"/>
              </a:rPr>
              <a:t>void transfer(Account from, Account to, long amount) {</a:t>
            </a:r>
            <a:endParaRPr lang="en-US" sz="908" dirty="0"/>
          </a:p>
          <a:p>
            <a:pPr indent="0" marL="0">
              <a:buNone/>
            </a:pPr>
            <a:r>
              <a:rPr lang="en-US" sz="908" dirty="0">
                <a:solidFill>
                  <a:srgbClr val="24292F"/>
                </a:solidFill>
                <a:latin typeface="Consolas" pitchFamily="34" charset="0"/>
                <a:ea typeface="Consolas" pitchFamily="34" charset="-122"/>
                <a:cs typeface="Consolas" pitchFamily="34" charset="-120"/>
              </a:rPr>
              <a:t>    synchronized (from) {</a:t>
            </a:r>
            <a:endParaRPr lang="en-US" sz="908" dirty="0"/>
          </a:p>
          <a:p>
            <a:pPr indent="0" marL="0">
              <a:buNone/>
            </a:pPr>
            <a:r>
              <a:rPr lang="en-US" sz="908" dirty="0">
                <a:solidFill>
                  <a:srgbClr val="24292F"/>
                </a:solidFill>
                <a:latin typeface="Consolas" pitchFamily="34" charset="0"/>
                <a:ea typeface="Consolas" pitchFamily="34" charset="-122"/>
                <a:cs typeface="Consolas" pitchFamily="34" charset="-120"/>
              </a:rPr>
              <a:t>        synchronized (to) {</a:t>
            </a:r>
            <a:endParaRPr lang="en-US" sz="908" dirty="0"/>
          </a:p>
          <a:p>
            <a:pPr indent="0" marL="0">
              <a:buNone/>
            </a:pPr>
            <a:r>
              <a:rPr lang="en-US" sz="908" dirty="0">
                <a:solidFill>
                  <a:srgbClr val="24292F"/>
                </a:solidFill>
                <a:latin typeface="Consolas" pitchFamily="34" charset="0"/>
                <a:ea typeface="Consolas" pitchFamily="34" charset="-122"/>
                <a:cs typeface="Consolas" pitchFamily="34" charset="-120"/>
              </a:rPr>
              <a:t>            from.debit(amount);</a:t>
            </a:r>
            <a:endParaRPr lang="en-US" sz="908" dirty="0"/>
          </a:p>
          <a:p>
            <a:pPr indent="0" marL="0">
              <a:buNone/>
            </a:pPr>
            <a:r>
              <a:rPr lang="en-US" sz="908" dirty="0">
                <a:solidFill>
                  <a:srgbClr val="24292F"/>
                </a:solidFill>
                <a:latin typeface="Consolas" pitchFamily="34" charset="0"/>
                <a:ea typeface="Consolas" pitchFamily="34" charset="-122"/>
                <a:cs typeface="Consolas" pitchFamily="34" charset="-120"/>
              </a:rPr>
              <a:t>            to.credit(amount);</a:t>
            </a:r>
            <a:endParaRPr lang="en-US" sz="908" dirty="0"/>
          </a:p>
          <a:p>
            <a:pPr indent="0" marL="0">
              <a:buNone/>
            </a:pPr>
            <a:r>
              <a:rPr lang="en-US" sz="908" dirty="0">
                <a:solidFill>
                  <a:srgbClr val="24292F"/>
                </a:solidFill>
                <a:latin typeface="Consolas" pitchFamily="34" charset="0"/>
                <a:ea typeface="Consolas" pitchFamily="34" charset="-122"/>
                <a:cs typeface="Consolas" pitchFamily="34" charset="-120"/>
              </a:rPr>
              <a:t>        }</a:t>
            </a:r>
            <a:endParaRPr lang="en-US" sz="908" dirty="0"/>
          </a:p>
          <a:p>
            <a:pPr indent="0" marL="0">
              <a:buNone/>
            </a:pPr>
            <a:r>
              <a:rPr lang="en-US" sz="908" dirty="0">
                <a:solidFill>
                  <a:srgbClr val="24292F"/>
                </a:solidFill>
                <a:latin typeface="Consolas" pitchFamily="34" charset="0"/>
                <a:ea typeface="Consolas" pitchFamily="34" charset="-122"/>
                <a:cs typeface="Consolas" pitchFamily="34" charset="-120"/>
              </a:rPr>
              <a:t>    }</a:t>
            </a:r>
            <a:endParaRPr lang="en-US" sz="908" dirty="0"/>
          </a:p>
          <a:p>
            <a:pPr indent="0" marL="0">
              <a:buNone/>
            </a:pPr>
            <a:r>
              <a:rPr lang="en-US" sz="908" dirty="0">
                <a:solidFill>
                  <a:srgbClr val="24292F"/>
                </a:solidFill>
                <a:latin typeface="Consolas" pitchFamily="34" charset="0"/>
                <a:ea typeface="Consolas" pitchFamily="34" charset="-122"/>
                <a:cs typeface="Consolas" pitchFamily="34" charset="-120"/>
              </a:rPr>
              <a:t>}</a:t>
            </a:r>
            <a:endParaRPr lang="en-US" sz="908" dirty="0"/>
          </a:p>
          <a:p>
            <a:pPr indent="0" marL="0">
              <a:buNone/>
            </a:pPr>
            <a:endParaRPr lang="en-US" sz="908" dirty="0"/>
          </a:p>
          <a:p>
            <a:pPr indent="0" marL="0">
              <a:buNone/>
            </a:pPr>
            <a:r>
              <a:rPr lang="en-US" sz="908" dirty="0">
                <a:solidFill>
                  <a:srgbClr val="24292F"/>
                </a:solidFill>
                <a:latin typeface="Consolas" pitchFamily="34" charset="0"/>
                <a:ea typeface="Consolas" pitchFamily="34" charset="-122"/>
                <a:cs typeface="Consolas" pitchFamily="34" charset="-120"/>
              </a:rPr>
              <a:t>// Fix: every thread locks accounts in the same global order (by id)</a:t>
            </a:r>
            <a:endParaRPr lang="en-US" sz="908" dirty="0"/>
          </a:p>
          <a:p>
            <a:pPr indent="0" marL="0">
              <a:buNone/>
            </a:pPr>
            <a:r>
              <a:rPr lang="en-US" sz="908" dirty="0">
                <a:solidFill>
                  <a:srgbClr val="24292F"/>
                </a:solidFill>
                <a:latin typeface="Consolas" pitchFamily="34" charset="0"/>
                <a:ea typeface="Consolas" pitchFamily="34" charset="-122"/>
                <a:cs typeface="Consolas" pitchFamily="34" charset="-120"/>
              </a:rPr>
              <a:t>// … full listing in the web notes</a:t>
            </a:r>
            <a:endParaRPr lang="en-US" sz="908" dirty="0"/>
          </a:p>
        </p:txBody>
      </p:sp>
      <p:graphicFrame>
        <p:nvGraphicFramePr>
          <p:cNvPr id="77" name="Table 0"/>
          <p:cNvGraphicFramePr>
            <a:graphicFrameLocks noGrp="1"/>
          </p:cNvGraphicFramePr>
          <p:nvPr>
            <p:extLst>
              <p:ext uri="{D42A27DB-BD31-4B8C-83A1-F6EECF244321}">
                <p14:modId xmlns:p14="http://schemas.microsoft.com/office/powerpoint/2010/main" val="1579011935"/>
              </p:ext>
            </p:extLst>
          </p:nvPr>
        </p:nvGraphicFramePr>
        <p:xfrm>
          <a:off x="457200" y="4663440"/>
          <a:ext cx="11277295" cy="914400"/>
        </p:xfrm>
        <a:graphic>
          <a:graphicData uri="http://schemas.openxmlformats.org/drawingml/2006/table">
            <a:tbl>
              <a:tblPr/>
              <a:tblGrid>
                <a:gridCol w="5638648"/>
                <a:gridCol w="5638648"/>
              </a:tblGrid>
              <a:tr h="235131">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Tool</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it gives you</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r>
              <a:tr h="235131">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synchronized method/block</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Re-entrant intrinsic lock; simplest; released automatically, even on exceptions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35131">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ReentrantLock</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tryLock(timeout), interruptible waits, fairness option — release in finally</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35131">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ReadWriteLock / StampedLock</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Many concurrent readers, exclusive writers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35131">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Semaphore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Limit concurrent access to N permits (e.g. max 10 calls to a slow API)</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35131">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CountDownLatch / CyclicBarrier</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Wait for N events / let N threads meet at a point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35131">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BlockingQueue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Hand work from producers to consumers safely (with back-pressure)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C9C43D"/>
          </a:solidFill>
          <a:ln w="12700">
            <a:solidFill>
              <a:srgbClr val="C9C43D"/>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6</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Producer–consumer with a BlockingQueue</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A bounded queue decouples a fast producer from a slower consumer and applies </a:t>
            </a:r>
            <a:pPr indent="0" marL="0">
              <a:buNone/>
            </a:pPr>
            <a:r>
              <a:rPr lang="en-US" sz="1350" b="1" dirty="0">
                <a:solidFill>
                  <a:srgbClr val="5B6B60"/>
                </a:solidFill>
                <a:latin typeface="Calibri" pitchFamily="34" charset="0"/>
                <a:ea typeface="Calibri" pitchFamily="34" charset="-122"/>
                <a:cs typeface="Calibri" pitchFamily="34" charset="-120"/>
              </a:rPr>
              <a:t>back-pressure</a:t>
            </a:r>
            <a:pPr indent="0" marL="0">
              <a:buNone/>
            </a:pPr>
            <a:r>
              <a:rPr lang="en-US" sz="1350" dirty="0">
                <a:solidFill>
                  <a:srgbClr val="5B6B60"/>
                </a:solidFill>
                <a:latin typeface="Calibri" pitchFamily="34" charset="0"/>
                <a:ea typeface="Calibri" pitchFamily="34" charset="-122"/>
                <a:cs typeface="Calibri" pitchFamily="34" charset="-120"/>
              </a:rPr>
              <a:t> automatically.</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ProducerConsumer.java</a:t>
            </a:r>
            <a:endParaRPr lang="en-US" sz="900" dirty="0"/>
          </a:p>
        </p:txBody>
      </p:sp>
      <p:sp>
        <p:nvSpPr>
          <p:cNvPr id="8" name="Text 6"/>
          <p:cNvSpPr/>
          <p:nvPr/>
        </p:nvSpPr>
        <p:spPr>
          <a:xfrm>
            <a:off x="457200" y="2157984"/>
            <a:ext cx="11277295" cy="419709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import java.util.*;</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java.util.concurrent.*;</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public class ProducerConsumer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record Order(int id)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static final Order POISON = new Order(-1);               // "no more work" marker</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public static void main(String[] args) throws InterruptedException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BlockingQueue&lt;Order&gt; queue = new ArrayBlockingQueue&lt;&gt;(5);      // bounded</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List&lt;String&gt; processed = Collections.synchronizedList(new ArrayList&lt;&gt;());</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Thread producer = new Thread(() -&gt;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try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for (int i = 1; i &lt;= 10; i++) queue.put(new Order(i));   // blocks when full</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queue.put(POISON);</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catch (InterruptedException e) { Thread.currentThread().interrupt();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"producer");</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Thread consumer = new Thread(() -&gt;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try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while (true)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full listing in the web notes</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C9C43D"/>
          </a:solidFill>
          <a:ln w="12700">
            <a:solidFill>
              <a:srgbClr val="C9C43D"/>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6</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Thread pools &amp; ExecutorService</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Creating a thread per task is expensive and unbounded. A </a:t>
            </a:r>
            <a:pPr indent="0" marL="0">
              <a:buNone/>
            </a:pPr>
            <a:r>
              <a:rPr lang="en-US" sz="1350" b="1" dirty="0">
                <a:solidFill>
                  <a:srgbClr val="5B6B60"/>
                </a:solidFill>
                <a:latin typeface="Calibri" pitchFamily="34" charset="0"/>
                <a:ea typeface="Calibri" pitchFamily="34" charset="-122"/>
                <a:cs typeface="Calibri" pitchFamily="34" charset="-120"/>
              </a:rPr>
              <a:t>pool</a:t>
            </a:r>
            <a:pPr indent="0" marL="0">
              <a:buNone/>
            </a:pPr>
            <a:r>
              <a:rPr lang="en-US" sz="1350" dirty="0">
                <a:solidFill>
                  <a:srgbClr val="5B6B60"/>
                </a:solidFill>
                <a:latin typeface="Calibri" pitchFamily="34" charset="0"/>
                <a:ea typeface="Calibri" pitchFamily="34" charset="-122"/>
                <a:cs typeface="Calibri" pitchFamily="34" charset="-120"/>
              </a:rPr>
              <a:t> reuses a fixed set of worker threads that pull tasks from a queue.</a:t>
            </a:r>
            <a:endParaRPr lang="en-US" sz="1350" dirty="0"/>
          </a:p>
        </p:txBody>
      </p:sp>
      <p:sp>
        <p:nvSpPr>
          <p:cNvPr id="7" name="Text 5"/>
          <p:cNvSpPr/>
          <p:nvPr/>
        </p:nvSpPr>
        <p:spPr>
          <a:xfrm>
            <a:off x="457200" y="1975104"/>
            <a:ext cx="11277295" cy="272491"/>
          </a:xfrm>
          <a:prstGeom prst="roundRect">
            <a:avLst>
              <a:gd name="adj" fmla="val 26846"/>
            </a:avLst>
          </a:prstGeom>
          <a:solidFill>
            <a:srgbClr val="EEF4F0"/>
          </a:solidFill>
          <a:ln w="12700">
            <a:solidFill>
              <a:srgbClr val="9FB8A8"/>
            </a:solidFill>
          </a:ln>
        </p:spPr>
        <p:txBody>
          <a:bodyPr wrap="square" rtlCol="0" anchor="ctr"/>
          <a:lstStyle/>
          <a:p>
            <a:pPr algn="ctr" indent="0" marL="0">
              <a:buNone/>
            </a:pPr>
            <a:r>
              <a:rPr lang="en-US" sz="1200" b="1" dirty="0">
                <a:solidFill>
                  <a:srgbClr val="1F2A24"/>
                </a:solidFill>
                <a:latin typeface="Calibri" pitchFamily="34" charset="0"/>
                <a:ea typeface="Calibri" pitchFamily="34" charset="-122"/>
                <a:cs typeface="Calibri" pitchFamily="34" charset="-120"/>
              </a:rPr>
              <a:t>submit(task)</a:t>
            </a:r>
            <a:endParaRPr lang="en-US" sz="1200" dirty="0"/>
          </a:p>
          <a:p>
            <a:pPr algn="ctr" indent="0" marL="0">
              <a:buNone/>
            </a:pPr>
            <a:r>
              <a:rPr lang="en-US" sz="950" dirty="0">
                <a:solidFill>
                  <a:srgbClr val="5B6B60"/>
                </a:solidFill>
                <a:latin typeface="Calibri" pitchFamily="34" charset="0"/>
                <a:ea typeface="Calibri" pitchFamily="34" charset="-122"/>
                <a:cs typeface="Calibri" pitchFamily="34" charset="-120"/>
              </a:rPr>
              <a:t>Runnable or Callable</a:t>
            </a:r>
            <a:endParaRPr lang="en-US" sz="1200" dirty="0"/>
          </a:p>
        </p:txBody>
      </p:sp>
      <p:sp>
        <p:nvSpPr>
          <p:cNvPr id="8" name="Shape 6"/>
          <p:cNvSpPr/>
          <p:nvPr/>
        </p:nvSpPr>
        <p:spPr>
          <a:xfrm>
            <a:off x="6095848" y="2247595"/>
            <a:ext cx="0" cy="320040"/>
          </a:xfrm>
          <a:prstGeom prst="line">
            <a:avLst/>
          </a:prstGeom>
          <a:noFill/>
          <a:ln w="15875">
            <a:solidFill>
              <a:srgbClr val="6F8276"/>
            </a:solidFill>
            <a:prstDash val="solid"/>
            <a:tailEnd type="triangle"/>
          </a:ln>
        </p:spPr>
      </p:sp>
      <p:sp>
        <p:nvSpPr>
          <p:cNvPr id="9" name="Text 7"/>
          <p:cNvSpPr/>
          <p:nvPr/>
        </p:nvSpPr>
        <p:spPr>
          <a:xfrm>
            <a:off x="457200" y="2567635"/>
            <a:ext cx="11277295" cy="272491"/>
          </a:xfrm>
          <a:prstGeom prst="roundRect">
            <a:avLst>
              <a:gd name="adj" fmla="val 26846"/>
            </a:avLst>
          </a:prstGeom>
          <a:solidFill>
            <a:srgbClr val="EEF4F0"/>
          </a:solidFill>
          <a:ln w="12700">
            <a:solidFill>
              <a:srgbClr val="9FB8A8"/>
            </a:solidFill>
          </a:ln>
        </p:spPr>
        <p:txBody>
          <a:bodyPr wrap="square" rtlCol="0" anchor="ctr"/>
          <a:lstStyle/>
          <a:p>
            <a:pPr algn="ctr" indent="0" marL="0">
              <a:buNone/>
            </a:pPr>
            <a:r>
              <a:rPr lang="en-US" sz="1200" b="1" dirty="0">
                <a:solidFill>
                  <a:srgbClr val="1F2A24"/>
                </a:solidFill>
                <a:latin typeface="Calibri" pitchFamily="34" charset="0"/>
                <a:ea typeface="Calibri" pitchFamily="34" charset="-122"/>
                <a:cs typeface="Calibri" pitchFamily="34" charset="-120"/>
              </a:rPr>
              <a:t>Core threads</a:t>
            </a:r>
            <a:endParaRPr lang="en-US" sz="1200" dirty="0"/>
          </a:p>
          <a:p>
            <a:pPr algn="ctr" indent="0" marL="0">
              <a:buNone/>
            </a:pPr>
            <a:r>
              <a:rPr lang="en-US" sz="950" dirty="0">
                <a:solidFill>
                  <a:srgbClr val="5B6B60"/>
                </a:solidFill>
                <a:latin typeface="Calibri" pitchFamily="34" charset="0"/>
                <a:ea typeface="Calibri" pitchFamily="34" charset="-122"/>
                <a:cs typeface="Calibri" pitchFamily="34" charset="-120"/>
              </a:rPr>
              <a:t>run it immediately if a core thread is free</a:t>
            </a:r>
            <a:endParaRPr lang="en-US" sz="1200" dirty="0"/>
          </a:p>
        </p:txBody>
      </p:sp>
      <p:sp>
        <p:nvSpPr>
          <p:cNvPr id="10" name="Shape 8"/>
          <p:cNvSpPr/>
          <p:nvPr/>
        </p:nvSpPr>
        <p:spPr>
          <a:xfrm>
            <a:off x="6095848" y="2840126"/>
            <a:ext cx="0" cy="320040"/>
          </a:xfrm>
          <a:prstGeom prst="line">
            <a:avLst/>
          </a:prstGeom>
          <a:noFill/>
          <a:ln w="15875">
            <a:solidFill>
              <a:srgbClr val="6F8276"/>
            </a:solidFill>
            <a:prstDash val="solid"/>
            <a:tailEnd type="triangle"/>
          </a:ln>
        </p:spPr>
      </p:sp>
      <p:sp>
        <p:nvSpPr>
          <p:cNvPr id="11" name="Text 9"/>
          <p:cNvSpPr/>
          <p:nvPr/>
        </p:nvSpPr>
        <p:spPr>
          <a:xfrm>
            <a:off x="457200" y="3160166"/>
            <a:ext cx="11277295" cy="272491"/>
          </a:xfrm>
          <a:prstGeom prst="roundRect">
            <a:avLst>
              <a:gd name="adj" fmla="val 26846"/>
            </a:avLst>
          </a:prstGeom>
          <a:solidFill>
            <a:srgbClr val="EEF4F0"/>
          </a:solidFill>
          <a:ln w="12700">
            <a:solidFill>
              <a:srgbClr val="9FB8A8"/>
            </a:solidFill>
          </a:ln>
        </p:spPr>
        <p:txBody>
          <a:bodyPr wrap="square" rtlCol="0" anchor="ctr"/>
          <a:lstStyle/>
          <a:p>
            <a:pPr algn="ctr" indent="0" marL="0">
              <a:buNone/>
            </a:pPr>
            <a:r>
              <a:rPr lang="en-US" sz="1200" b="1" dirty="0">
                <a:solidFill>
                  <a:srgbClr val="1F2A24"/>
                </a:solidFill>
                <a:latin typeface="Calibri" pitchFamily="34" charset="0"/>
                <a:ea typeface="Calibri" pitchFamily="34" charset="-122"/>
                <a:cs typeface="Calibri" pitchFamily="34" charset="-120"/>
              </a:rPr>
              <a:t>Work queue</a:t>
            </a:r>
            <a:endParaRPr lang="en-US" sz="1200" dirty="0"/>
          </a:p>
          <a:p>
            <a:pPr algn="ctr" indent="0" marL="0">
              <a:buNone/>
            </a:pPr>
            <a:r>
              <a:rPr lang="en-US" sz="950" dirty="0">
                <a:solidFill>
                  <a:srgbClr val="5B6B60"/>
                </a:solidFill>
                <a:latin typeface="Calibri" pitchFamily="34" charset="0"/>
                <a:ea typeface="Calibri" pitchFamily="34" charset="-122"/>
                <a:cs typeface="Calibri" pitchFamily="34" charset="-120"/>
              </a:rPr>
              <a:t>otherwise wait in the queue (bounded!)</a:t>
            </a:r>
            <a:endParaRPr lang="en-US" sz="1200" dirty="0"/>
          </a:p>
        </p:txBody>
      </p:sp>
      <p:sp>
        <p:nvSpPr>
          <p:cNvPr id="12" name="Shape 10"/>
          <p:cNvSpPr/>
          <p:nvPr/>
        </p:nvSpPr>
        <p:spPr>
          <a:xfrm>
            <a:off x="6095848" y="3432658"/>
            <a:ext cx="0" cy="320040"/>
          </a:xfrm>
          <a:prstGeom prst="line">
            <a:avLst/>
          </a:prstGeom>
          <a:noFill/>
          <a:ln w="15875">
            <a:solidFill>
              <a:srgbClr val="6F8276"/>
            </a:solidFill>
            <a:prstDash val="solid"/>
            <a:tailEnd type="triangle"/>
          </a:ln>
        </p:spPr>
      </p:sp>
      <p:sp>
        <p:nvSpPr>
          <p:cNvPr id="13" name="Text 11"/>
          <p:cNvSpPr/>
          <p:nvPr/>
        </p:nvSpPr>
        <p:spPr>
          <a:xfrm>
            <a:off x="457200" y="3752698"/>
            <a:ext cx="11277295" cy="272491"/>
          </a:xfrm>
          <a:prstGeom prst="roundRect">
            <a:avLst>
              <a:gd name="adj" fmla="val 26846"/>
            </a:avLst>
          </a:prstGeom>
          <a:solidFill>
            <a:srgbClr val="EEF4F0"/>
          </a:solidFill>
          <a:ln w="12700">
            <a:solidFill>
              <a:srgbClr val="9FB8A8"/>
            </a:solidFill>
          </a:ln>
        </p:spPr>
        <p:txBody>
          <a:bodyPr wrap="square" rtlCol="0" anchor="ctr"/>
          <a:lstStyle/>
          <a:p>
            <a:pPr algn="ctr" indent="0" marL="0">
              <a:buNone/>
            </a:pPr>
            <a:r>
              <a:rPr lang="en-US" sz="1200" b="1" dirty="0">
                <a:solidFill>
                  <a:srgbClr val="1F2A24"/>
                </a:solidFill>
                <a:latin typeface="Calibri" pitchFamily="34" charset="0"/>
                <a:ea typeface="Calibri" pitchFamily="34" charset="-122"/>
                <a:cs typeface="Calibri" pitchFamily="34" charset="-120"/>
              </a:rPr>
              <a:t>Extra threads up to max</a:t>
            </a:r>
            <a:endParaRPr lang="en-US" sz="1200" dirty="0"/>
          </a:p>
          <a:p>
            <a:pPr algn="ctr" indent="0" marL="0">
              <a:buNone/>
            </a:pPr>
            <a:r>
              <a:rPr lang="en-US" sz="950" dirty="0">
                <a:solidFill>
                  <a:srgbClr val="5B6B60"/>
                </a:solidFill>
                <a:latin typeface="Calibri" pitchFamily="34" charset="0"/>
                <a:ea typeface="Calibri" pitchFamily="34" charset="-122"/>
                <a:cs typeface="Calibri" pitchFamily="34" charset="-120"/>
              </a:rPr>
              <a:t>only when the queue is full</a:t>
            </a:r>
            <a:endParaRPr lang="en-US" sz="1200" dirty="0"/>
          </a:p>
        </p:txBody>
      </p:sp>
      <p:sp>
        <p:nvSpPr>
          <p:cNvPr id="14" name="Shape 12"/>
          <p:cNvSpPr/>
          <p:nvPr/>
        </p:nvSpPr>
        <p:spPr>
          <a:xfrm>
            <a:off x="6095848" y="4025189"/>
            <a:ext cx="0" cy="320040"/>
          </a:xfrm>
          <a:prstGeom prst="line">
            <a:avLst/>
          </a:prstGeom>
          <a:noFill/>
          <a:ln w="15875">
            <a:solidFill>
              <a:srgbClr val="6F8276"/>
            </a:solidFill>
            <a:prstDash val="solid"/>
            <a:tailEnd type="triangle"/>
          </a:ln>
        </p:spPr>
      </p:sp>
      <p:sp>
        <p:nvSpPr>
          <p:cNvPr id="15" name="Text 13"/>
          <p:cNvSpPr/>
          <p:nvPr/>
        </p:nvSpPr>
        <p:spPr>
          <a:xfrm>
            <a:off x="457200" y="4345229"/>
            <a:ext cx="11277295" cy="272491"/>
          </a:xfrm>
          <a:prstGeom prst="roundRect">
            <a:avLst>
              <a:gd name="adj" fmla="val 26846"/>
            </a:avLst>
          </a:prstGeom>
          <a:solidFill>
            <a:srgbClr val="EEF4F0"/>
          </a:solidFill>
          <a:ln w="12700">
            <a:solidFill>
              <a:srgbClr val="9FB8A8"/>
            </a:solidFill>
          </a:ln>
        </p:spPr>
        <p:txBody>
          <a:bodyPr wrap="square" rtlCol="0" anchor="ctr"/>
          <a:lstStyle/>
          <a:p>
            <a:pPr algn="ctr" indent="0" marL="0">
              <a:buNone/>
            </a:pPr>
            <a:r>
              <a:rPr lang="en-US" sz="1200" b="1" dirty="0">
                <a:solidFill>
                  <a:srgbClr val="1F2A24"/>
                </a:solidFill>
                <a:latin typeface="Calibri" pitchFamily="34" charset="0"/>
                <a:ea typeface="Calibri" pitchFamily="34" charset="-122"/>
                <a:cs typeface="Calibri" pitchFamily="34" charset="-120"/>
              </a:rPr>
              <a:t>RejectedExecutionHandler</a:t>
            </a:r>
            <a:endParaRPr lang="en-US" sz="1200" dirty="0"/>
          </a:p>
          <a:p>
            <a:pPr algn="ctr" indent="0" marL="0">
              <a:buNone/>
            </a:pPr>
            <a:r>
              <a:rPr lang="en-US" sz="950" dirty="0">
                <a:solidFill>
                  <a:srgbClr val="5B6B60"/>
                </a:solidFill>
                <a:latin typeface="Calibri" pitchFamily="34" charset="0"/>
                <a:ea typeface="Calibri" pitchFamily="34" charset="-122"/>
                <a:cs typeface="Calibri" pitchFamily="34" charset="-120"/>
              </a:rPr>
              <a:t>queue full + max reached: abort / caller-runs / discard</a:t>
            </a:r>
            <a:endParaRPr lang="en-US" sz="1200" dirty="0"/>
          </a:p>
        </p:txBody>
      </p:sp>
      <p:graphicFrame>
        <p:nvGraphicFramePr>
          <p:cNvPr id="79" name="Table 0"/>
          <p:cNvGraphicFramePr>
            <a:graphicFrameLocks noGrp="1"/>
          </p:cNvGraphicFramePr>
          <p:nvPr>
            <p:extLst>
              <p:ext uri="{D42A27DB-BD31-4B8C-83A1-F6EECF244321}">
                <p14:modId xmlns:p14="http://schemas.microsoft.com/office/powerpoint/2010/main" val="1579011935"/>
              </p:ext>
            </p:extLst>
          </p:nvPr>
        </p:nvGraphicFramePr>
        <p:xfrm>
          <a:off x="457200" y="4663440"/>
          <a:ext cx="11277295" cy="914400"/>
        </p:xfrm>
        <a:graphic>
          <a:graphicData uri="http://schemas.openxmlformats.org/drawingml/2006/table">
            <a:tbl>
              <a:tblPr/>
              <a:tblGrid>
                <a:gridCol w="3759098"/>
                <a:gridCol w="3759098"/>
                <a:gridCol w="3759098"/>
              </a:tblGrid>
              <a:tr h="27432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Factory</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Behaviour</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Watch out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newFixedThreadPool(n)</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n threads, shared queue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queue is unbounded → memory risk</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newCachedThreadPool()</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grows on demand, idle threads die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can create thousands of threads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newScheduledThreadPool(n)</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delayed / periodic tasks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long tasks delay others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newVirtualThreadPerTaskExecutor()</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one cheap virtual thread per task (Java 21)</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great for blocking I/O, not CPU-bound work</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new ThreadPoolExecutor(...)</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full control: core, max, queue, rejection policy</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production-grade choice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C9C43D"/>
          </a:solidFill>
          <a:ln w="12700">
            <a:solidFill>
              <a:srgbClr val="C9C43D"/>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6</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ExecutorService with Callable &amp; Future</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Query three vendors in parallel: total time ≈ the </a:t>
            </a:r>
            <a:pPr indent="0" marL="0">
              <a:buNone/>
            </a:pPr>
            <a:r>
              <a:rPr lang="en-US" sz="1350" b="1" dirty="0">
                <a:solidFill>
                  <a:srgbClr val="5B6B60"/>
                </a:solidFill>
                <a:latin typeface="Calibri" pitchFamily="34" charset="0"/>
                <a:ea typeface="Calibri" pitchFamily="34" charset="-122"/>
                <a:cs typeface="Calibri" pitchFamily="34" charset="-120"/>
              </a:rPr>
              <a:t>slowest</a:t>
            </a:r>
            <a:pPr indent="0" marL="0">
              <a:buNone/>
            </a:pPr>
            <a:r>
              <a:rPr lang="en-US" sz="1350" dirty="0">
                <a:solidFill>
                  <a:srgbClr val="5B6B60"/>
                </a:solidFill>
                <a:latin typeface="Calibri" pitchFamily="34" charset="0"/>
                <a:ea typeface="Calibri" pitchFamily="34" charset="-122"/>
                <a:cs typeface="Calibri" pitchFamily="34" charset="-120"/>
              </a:rPr>
              <a:t> call, not the sum.</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ExecutorDemo.java</a:t>
            </a:r>
            <a:endParaRPr lang="en-US" sz="900" dirty="0"/>
          </a:p>
        </p:txBody>
      </p:sp>
      <p:sp>
        <p:nvSpPr>
          <p:cNvPr id="8" name="Text 6"/>
          <p:cNvSpPr/>
          <p:nvPr/>
        </p:nvSpPr>
        <p:spPr>
          <a:xfrm>
            <a:off x="457200" y="2157984"/>
            <a:ext cx="11277295" cy="419709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import java.util.*;</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java.util.concurrent.*;</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public class ExecutorDemo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record Quote(String vendor, int price) {}</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static Quote fetchQuote(String vendor, int price, long latencyMs) throws InterruptedException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Thread.sleep(latencyMs);                           // simulate a remote API call</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return new Quote(vendor, price);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public static void main(String[] args) throws Exception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List&lt;Callable&lt;Quote&gt;&gt; calls = List.of(</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-&gt; fetchQuote("AirIndia", 5400, 300),</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-&gt; fetchQuote("IndiGo", 4900, 200),</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-&gt; fetchQuote("Vistara", 6100, 250));</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long start = System.nanoTime();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try (ExecutorService pool = Executors.newFixedThreadPool(3))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List&lt;Future&lt;Quote&gt;&gt; futures = pool.invokeAll(calls);  // run all, wait for all</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Quote best = null;</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full listing in the web notes</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C9C43D"/>
          </a:solidFill>
          <a:ln w="12700">
            <a:solidFill>
              <a:srgbClr val="C9C43D"/>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6</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CompletableFuture &amp; virtual threads</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Compose asynchronous steps without blocking, handle failures with fallbacks, and run thousands of blocking tasks on virtual threads.</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AsyncDemo.java</a:t>
            </a:r>
            <a:endParaRPr lang="en-US" sz="900" dirty="0"/>
          </a:p>
        </p:txBody>
      </p:sp>
      <p:sp>
        <p:nvSpPr>
          <p:cNvPr id="8" name="Text 6"/>
          <p:cNvSpPr/>
          <p:nvPr/>
        </p:nvSpPr>
        <p:spPr>
          <a:xfrm>
            <a:off x="457200" y="2157984"/>
            <a:ext cx="11277295" cy="419709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import java.util.*;</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java.util.concurrent.*;</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public class AsyncDemo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static void sleep(long ms)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try { Thread.sleep(ms); } catch (InterruptedException e) { throw new RuntimeException(e);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static int price(String sku) { sleep(200); return sku.equals("SKU-1") ? 1000 : 500;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static double discount(String tier) { sleep(150); return tier.equals("gold") ? 0.2 : 0.05;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static int stock() { throw new IllegalStateException("inventory service down"); }</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public static void main(String[] args) throws Exception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try (ExecutorService io = Executors.newVirtualThreadPerTaskExecutor())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CompletableFuture&lt;Integer&gt; priceF = CompletableFuture.supplyAsync(() -&gt; price("SKU-1"), io);</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CompletableFuture&lt;Double&gt; discountF = CompletableFuture.supplyAsync(() -&gt; discount("gold"), io);</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String quote = priceF</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.thenCombine(discountF, (p, d) -&gt; p * (1 - d))   // both ran concurrently</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.thenApply(total -&gt; "final price = " + total)</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.join();</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System.out.println(quote);</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full listing in the web notes</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C9C43D"/>
          </a:solidFill>
          <a:ln w="12700">
            <a:solidFill>
              <a:srgbClr val="C9C43D"/>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6</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Maven: build tool &amp; dependency manager</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Maven turns source code into a tested, packaged artifact using </a:t>
            </a:r>
            <a:pPr indent="0" marL="0">
              <a:buNone/>
            </a:pPr>
            <a:r>
              <a:rPr lang="en-US" sz="1350" b="1" dirty="0">
                <a:solidFill>
                  <a:srgbClr val="5B6B60"/>
                </a:solidFill>
                <a:latin typeface="Calibri" pitchFamily="34" charset="0"/>
                <a:ea typeface="Calibri" pitchFamily="34" charset="-122"/>
                <a:cs typeface="Calibri" pitchFamily="34" charset="-120"/>
              </a:rPr>
              <a:t>conventions</a:t>
            </a:r>
            <a:pPr indent="0" marL="0">
              <a:buNone/>
            </a:pPr>
            <a:r>
              <a:rPr lang="en-US" sz="1350" dirty="0">
                <a:solidFill>
                  <a:srgbClr val="5B6B60"/>
                </a:solidFill>
                <a:latin typeface="Calibri" pitchFamily="34" charset="0"/>
                <a:ea typeface="Calibri" pitchFamily="34" charset="-122"/>
                <a:cs typeface="Calibri" pitchFamily="34" charset="-120"/>
              </a:rPr>
              <a:t>, a declarative </a:t>
            </a:r>
            <a:pPr indent="0" marL="0">
              <a:buNone/>
            </a:pPr>
            <a:r>
              <a:rPr lang="en-US" sz="1350" b="1" dirty="0">
                <a:solidFill>
                  <a:srgbClr val="5B6B60"/>
                </a:solidFill>
                <a:latin typeface="Calibri" pitchFamily="34" charset="0"/>
                <a:ea typeface="Calibri" pitchFamily="34" charset="-122"/>
                <a:cs typeface="Calibri" pitchFamily="34" charset="-120"/>
              </a:rPr>
              <a:t>POM</a:t>
            </a:r>
            <a:pPr indent="0" marL="0">
              <a:buNone/>
            </a:pPr>
            <a:r>
              <a:rPr lang="en-US" sz="1350" dirty="0">
                <a:solidFill>
                  <a:srgbClr val="5B6B60"/>
                </a:solidFill>
                <a:latin typeface="Calibri" pitchFamily="34" charset="0"/>
                <a:ea typeface="Calibri" pitchFamily="34" charset="-122"/>
                <a:cs typeface="Calibri" pitchFamily="34" charset="-120"/>
              </a:rPr>
              <a:t>, and a central </a:t>
            </a:r>
            <a:pPr indent="0" marL="0">
              <a:buNone/>
            </a:pPr>
            <a:r>
              <a:rPr lang="en-US" sz="1350" b="1" dirty="0">
                <a:solidFill>
                  <a:srgbClr val="5B6B60"/>
                </a:solidFill>
                <a:latin typeface="Calibri" pitchFamily="34" charset="0"/>
                <a:ea typeface="Calibri" pitchFamily="34" charset="-122"/>
                <a:cs typeface="Calibri" pitchFamily="34" charset="-120"/>
              </a:rPr>
              <a:t>repository</a:t>
            </a:r>
            <a:pPr indent="0" marL="0">
              <a:buNone/>
            </a:pPr>
            <a:r>
              <a:rPr lang="en-US" sz="1350" dirty="0">
                <a:solidFill>
                  <a:srgbClr val="5B6B60"/>
                </a:solidFill>
                <a:latin typeface="Calibri" pitchFamily="34" charset="0"/>
                <a:ea typeface="Calibri" pitchFamily="34" charset="-122"/>
                <a:cs typeface="Calibri" pitchFamily="34" charset="-120"/>
              </a:rPr>
              <a:t> of libraries.</a:t>
            </a:r>
            <a:endParaRPr lang="en-US" sz="1350" dirty="0"/>
          </a:p>
        </p:txBody>
      </p:sp>
      <p:sp>
        <p:nvSpPr>
          <p:cNvPr id="7" name="Text 5"/>
          <p:cNvSpPr/>
          <p:nvPr/>
        </p:nvSpPr>
        <p:spPr>
          <a:xfrm>
            <a:off x="457200" y="1883664"/>
            <a:ext cx="5120640" cy="4471416"/>
          </a:xfrm>
          <a:prstGeom prst="rect">
            <a:avLst/>
          </a:prstGeom>
          <a:noFill/>
          <a:ln/>
        </p:spPr>
        <p:txBody>
          <a:bodyPr wrap="square" rtlCol="0" anchor="t"/>
          <a:lstStyle/>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Coordinates (GAV):</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groupId:artifactId:version</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uniquely identify every artifact, e.g.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org.junit.jupiter:junit-jupiter:6.1.3</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Dependencies are downloaded from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Maven Central</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into your local repository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~/.m2/repository</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Transitive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dependencies come along automatically; conflicts resolve to the </a:t>
            </a:r>
            <a:endParaRPr lang="en-US" sz="1700" dirty="0"/>
          </a:p>
          <a:p>
            <a:pPr marL="177800" indent="-177800">
              <a:spcAft>
                <a:spcPts val="400"/>
              </a:spcAft>
              <a:buSzPct val="100000"/>
              <a:buChar char="•"/>
            </a:pPr>
            <a:r>
              <a:rPr lang="en-US" sz="1700" i="1" dirty="0">
                <a:solidFill>
                  <a:srgbClr val="1F2A24"/>
                </a:solidFill>
                <a:latin typeface="Calibri" pitchFamily="34" charset="0"/>
                <a:ea typeface="Calibri" pitchFamily="34" charset="-122"/>
                <a:cs typeface="Calibri" pitchFamily="34" charset="-120"/>
              </a:rPr>
              <a:t>nearest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definition.</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Scopes: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compile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(default),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provided</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runtime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test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 control which classpath a jar is on.</a:t>
            </a:r>
            <a:endParaRPr lang="en-US" sz="1700" dirty="0"/>
          </a:p>
        </p:txBody>
      </p:sp>
      <p:sp>
        <p:nvSpPr>
          <p:cNvPr id="8" name="Text 6"/>
          <p:cNvSpPr/>
          <p:nvPr/>
        </p:nvSpPr>
        <p:spPr>
          <a:xfrm>
            <a:off x="5852160" y="1883664"/>
            <a:ext cx="5882335" cy="4471416"/>
          </a:xfrm>
          <a:prstGeom prst="rect">
            <a:avLst/>
          </a:prstGeom>
          <a:solidFill>
            <a:srgbClr val="F7F9F8"/>
          </a:solidFill>
          <a:ln w="9525">
            <a:solidFill>
              <a:srgbClr val="D5DDD7"/>
            </a:solidFill>
          </a:ln>
        </p:spPr>
        <p:txBody>
          <a:bodyPr wrap="square" lIns="1524" tIns="1524" rIns="1524" bIns="1524" rtlCol="0" anchor="t"/>
          <a:lstStyle/>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order-processor/</a:t>
            </a:r>
            <a:endParaRPr lang="en-US" sz="1300" dirty="0"/>
          </a:p>
          <a:p>
            <a:pPr lvl="1" marL="3556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pom.xml</a:t>
            </a:r>
            <a:endParaRPr lang="en-US" sz="1300" dirty="0"/>
          </a:p>
          <a:p>
            <a:pPr lvl="1" marL="3556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mvnw, .mvn/</a:t>
            </a:r>
            <a:endParaRPr lang="en-US" sz="1300" dirty="0"/>
          </a:p>
          <a:p>
            <a:pPr lvl="1" marL="3556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src/main/java/</a:t>
            </a:r>
            <a:endParaRPr lang="en-US" sz="1300" dirty="0"/>
          </a:p>
          <a:p>
            <a:pPr lvl="2" marL="5334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com/example/orders/App.java</a:t>
            </a:r>
            <a:endParaRPr lang="en-US" sz="1300" dirty="0"/>
          </a:p>
          <a:p>
            <a:pPr lvl="1" marL="3556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src/main/resources/</a:t>
            </a:r>
            <a:endParaRPr lang="en-US" sz="1300" dirty="0"/>
          </a:p>
          <a:p>
            <a:pPr lvl="1" marL="3556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src/test/java/</a:t>
            </a:r>
            <a:endParaRPr lang="en-US" sz="1300" dirty="0"/>
          </a:p>
          <a:p>
            <a:pPr lvl="1" marL="3556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target/</a:t>
            </a:r>
            <a:endParaRPr lang="en-US" sz="13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C9C43D"/>
          </a:solidFill>
          <a:ln w="12700">
            <a:solidFill>
              <a:srgbClr val="C9C43D"/>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6</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Anatomy of a pom.xml</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Coordinates, properties, managed versions, dependencies and plugins — the five parts you edit most.</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pom.xml</a:t>
            </a:r>
            <a:endParaRPr lang="en-US" sz="900" dirty="0"/>
          </a:p>
        </p:txBody>
      </p:sp>
      <p:sp>
        <p:nvSpPr>
          <p:cNvPr id="8" name="Text 6"/>
          <p:cNvSpPr/>
          <p:nvPr/>
        </p:nvSpPr>
        <p:spPr>
          <a:xfrm>
            <a:off x="457200" y="2157984"/>
            <a:ext cx="11277295" cy="245973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&lt;?xml version="1.0" encoding="UTF-8"?&gt;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&lt;project xmlns="http://maven.apache.org/POM/4.0.0"</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xmlns:xsi="http://www.w3.org/2001/XMLSchema-instance"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xsi:schemaLocation="http://maven.apache.org/POM/4.0.0 https://maven.apache.org/xsd/maven-4.0.0.xsd"&gt;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&lt;modelVersion&gt;4.0.0&lt;/modelVersion&gt;</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&lt;!-- 1. Coordinates (GAV) --&gt;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&lt;groupId&gt;com.example.orders&lt;/groupId&gt;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&lt;artifactId&gt;order-processor&lt;/artifactId&gt;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&lt;version&gt;1.0.0-SNAPSHOT&lt;/version&gt;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&lt;packaging&gt;jar&lt;/packaging&gt;</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full listing in the web notes</a:t>
            </a:r>
            <a:endParaRPr lang="en-US" sz="1100" dirty="0"/>
          </a:p>
        </p:txBody>
      </p:sp>
      <p:graphicFrame>
        <p:nvGraphicFramePr>
          <p:cNvPr id="83" name="Table 0"/>
          <p:cNvGraphicFramePr>
            <a:graphicFrameLocks noGrp="1"/>
          </p:cNvGraphicFramePr>
          <p:nvPr>
            <p:extLst>
              <p:ext uri="{D42A27DB-BD31-4B8C-83A1-F6EECF244321}">
                <p14:modId xmlns:p14="http://schemas.microsoft.com/office/powerpoint/2010/main" val="1579011935"/>
              </p:ext>
            </p:extLst>
          </p:nvPr>
        </p:nvGraphicFramePr>
        <p:xfrm>
          <a:off x="457200" y="4663440"/>
          <a:ext cx="11277295" cy="914400"/>
        </p:xfrm>
        <a:graphic>
          <a:graphicData uri="http://schemas.openxmlformats.org/drawingml/2006/table">
            <a:tbl>
              <a:tblPr/>
              <a:tblGrid>
                <a:gridCol w="2255459"/>
                <a:gridCol w="2255459"/>
                <a:gridCol w="2255459"/>
                <a:gridCol w="2255459"/>
                <a:gridCol w="2255459"/>
              </a:tblGrid>
              <a:tr h="329184">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Scope</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Compile</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Test</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Runtime / packaged</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Example</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r>
              <a:tr h="329184">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compile</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Jackson, Guava</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provided</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 (container supplies it)</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Servlet API on an app server, Lombok</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runtime</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JDBC driver (mysql-connector-j)</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test</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JUnit, Mockito, Testcontainers</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C9C43D"/>
          </a:solidFill>
          <a:ln w="12700">
            <a:solidFill>
              <a:srgbClr val="C9C43D"/>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6</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The Maven build lifecycle</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A lifecycle is an ordered list of </a:t>
            </a:r>
            <a:pPr indent="0" marL="0">
              <a:buNone/>
            </a:pPr>
            <a:r>
              <a:rPr lang="en-US" sz="1350" b="1" dirty="0">
                <a:solidFill>
                  <a:srgbClr val="5B6B60"/>
                </a:solidFill>
                <a:latin typeface="Calibri" pitchFamily="34" charset="0"/>
                <a:ea typeface="Calibri" pitchFamily="34" charset="-122"/>
                <a:cs typeface="Calibri" pitchFamily="34" charset="-120"/>
              </a:rPr>
              <a:t>phases</a:t>
            </a:r>
            <a:pPr indent="0" marL="0">
              <a:buNone/>
            </a:pPr>
            <a:r>
              <a:rPr lang="en-US" sz="1350" dirty="0">
                <a:solidFill>
                  <a:srgbClr val="5B6B60"/>
                </a:solidFill>
                <a:latin typeface="Calibri" pitchFamily="34" charset="0"/>
                <a:ea typeface="Calibri" pitchFamily="34" charset="-122"/>
                <a:cs typeface="Calibri" pitchFamily="34" charset="-120"/>
              </a:rPr>
              <a:t>. Running a phase runs </a:t>
            </a:r>
            <a:pPr indent="0" marL="0">
              <a:buNone/>
            </a:pPr>
            <a:r>
              <a:rPr lang="en-US" sz="1350" b="1" dirty="0">
                <a:solidFill>
                  <a:srgbClr val="5B6B60"/>
                </a:solidFill>
                <a:latin typeface="Calibri" pitchFamily="34" charset="0"/>
                <a:ea typeface="Calibri" pitchFamily="34" charset="-122"/>
                <a:cs typeface="Calibri" pitchFamily="34" charset="-120"/>
              </a:rPr>
              <a:t>every phase before it</a:t>
            </a:r>
            <a:pPr indent="0" marL="0">
              <a:buNone/>
            </a:pPr>
            <a:r>
              <a:rPr lang="en-US" sz="1350" dirty="0">
                <a:solidFill>
                  <a:srgbClr val="5B6B60"/>
                </a:solidFill>
                <a:latin typeface="Calibri" pitchFamily="34" charset="0"/>
                <a:ea typeface="Calibri" pitchFamily="34" charset="-122"/>
                <a:cs typeface="Calibri" pitchFamily="34" charset="-120"/>
              </a:rPr>
              <a:t>; plugin </a:t>
            </a:r>
            <a:pPr indent="0" marL="0">
              <a:buNone/>
            </a:pPr>
            <a:r>
              <a:rPr lang="en-US" sz="1350" b="1" dirty="0">
                <a:solidFill>
                  <a:srgbClr val="5B6B60"/>
                </a:solidFill>
                <a:latin typeface="Calibri" pitchFamily="34" charset="0"/>
                <a:ea typeface="Calibri" pitchFamily="34" charset="-122"/>
                <a:cs typeface="Calibri" pitchFamily="34" charset="-120"/>
              </a:rPr>
              <a:t>goals</a:t>
            </a:r>
            <a:pPr indent="0" marL="0">
              <a:buNone/>
            </a:pPr>
            <a:r>
              <a:rPr lang="en-US" sz="1350" dirty="0">
                <a:solidFill>
                  <a:srgbClr val="5B6B60"/>
                </a:solidFill>
                <a:latin typeface="Calibri" pitchFamily="34" charset="0"/>
                <a:ea typeface="Calibri" pitchFamily="34" charset="-122"/>
                <a:cs typeface="Calibri" pitchFamily="34" charset="-120"/>
              </a:rPr>
              <a:t> bound to each phase do the actual work.</a:t>
            </a:r>
            <a:endParaRPr lang="en-US" sz="1350" dirty="0"/>
          </a:p>
        </p:txBody>
      </p:sp>
      <p:sp>
        <p:nvSpPr>
          <p:cNvPr id="7" name="Text 5"/>
          <p:cNvSpPr/>
          <p:nvPr/>
        </p:nvSpPr>
        <p:spPr>
          <a:xfrm>
            <a:off x="457200" y="1883664"/>
            <a:ext cx="5120640" cy="4471416"/>
          </a:xfrm>
          <a:prstGeom prst="rect">
            <a:avLst/>
          </a:prstGeom>
          <a:noFill/>
          <a:ln/>
        </p:spPr>
        <p:txBody>
          <a:bodyPr wrap="square" rtlCol="0" anchor="t"/>
          <a:lstStyle/>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Three built-in lifecycles: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clean</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(delete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target/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default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(build),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site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(docs).</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mvn package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 validate → compile → test → package.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mvn clean install</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 clean, then everything up to install.</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A goal can also run directly: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mvn dependency:tree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mvn spring-boot:run</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mvn versions:display-dependency-updates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Use the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Maven Wrapper</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./mvnw</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so every developer and CI server uses the same Maven version (3.9/3.10 today).</a:t>
            </a:r>
            <a:endParaRPr lang="en-US" sz="1700" dirty="0"/>
          </a:p>
        </p:txBody>
      </p:sp>
      <p:sp>
        <p:nvSpPr>
          <p:cNvPr id="8" name="Text 6"/>
          <p:cNvSpPr/>
          <p:nvPr/>
        </p:nvSpPr>
        <p:spPr>
          <a:xfrm>
            <a:off x="5852160" y="1975104"/>
            <a:ext cx="566014" cy="914400"/>
          </a:xfrm>
          <a:prstGeom prst="roundRect">
            <a:avLst>
              <a:gd name="adj" fmla="val 12924"/>
            </a:avLst>
          </a:prstGeom>
          <a:solidFill>
            <a:srgbClr val="EEF4F0"/>
          </a:solidFill>
          <a:ln w="12700">
            <a:solidFill>
              <a:srgbClr val="9FB8A8"/>
            </a:solidFill>
          </a:ln>
        </p:spPr>
        <p:txBody>
          <a:bodyPr wrap="square" rtlCol="0" anchor="ctr"/>
          <a:lstStyle/>
          <a:p>
            <a:pPr algn="ctr" indent="0" marL="0">
              <a:buNone/>
            </a:pPr>
            <a:r>
              <a:rPr lang="en-US" sz="1150" b="1" dirty="0">
                <a:solidFill>
                  <a:srgbClr val="1F2A24"/>
                </a:solidFill>
                <a:latin typeface="Calibri" pitchFamily="34" charset="0"/>
                <a:ea typeface="Calibri" pitchFamily="34" charset="-122"/>
                <a:cs typeface="Calibri" pitchFamily="34" charset="-120"/>
              </a:rPr>
              <a:t>validate</a:t>
            </a:r>
            <a:endParaRPr lang="en-US" sz="1150" dirty="0"/>
          </a:p>
          <a:p>
            <a:pPr algn="ctr" indent="0" marL="0">
              <a:buNone/>
            </a:pPr>
            <a:r>
              <a:rPr lang="en-US" sz="900" dirty="0">
                <a:solidFill>
                  <a:srgbClr val="5B6B60"/>
                </a:solidFill>
                <a:latin typeface="Calibri" pitchFamily="34" charset="0"/>
                <a:ea typeface="Calibri" pitchFamily="34" charset="-122"/>
                <a:cs typeface="Calibri" pitchFamily="34" charset="-120"/>
              </a:rPr>
              <a:t>POM is correct</a:t>
            </a:r>
            <a:endParaRPr lang="en-US" sz="1150" dirty="0"/>
          </a:p>
        </p:txBody>
      </p:sp>
      <p:sp>
        <p:nvSpPr>
          <p:cNvPr id="9" name="Shape 7"/>
          <p:cNvSpPr/>
          <p:nvPr/>
        </p:nvSpPr>
        <p:spPr>
          <a:xfrm>
            <a:off x="6418174" y="2432304"/>
            <a:ext cx="320040" cy="0"/>
          </a:xfrm>
          <a:prstGeom prst="line">
            <a:avLst/>
          </a:prstGeom>
          <a:noFill/>
          <a:ln w="15875">
            <a:solidFill>
              <a:srgbClr val="6F8276"/>
            </a:solidFill>
            <a:prstDash val="solid"/>
            <a:tailEnd type="triangle"/>
          </a:ln>
        </p:spPr>
      </p:sp>
      <p:sp>
        <p:nvSpPr>
          <p:cNvPr id="10" name="Text 8"/>
          <p:cNvSpPr/>
          <p:nvPr/>
        </p:nvSpPr>
        <p:spPr>
          <a:xfrm>
            <a:off x="6738214" y="1975104"/>
            <a:ext cx="566014" cy="914400"/>
          </a:xfrm>
          <a:prstGeom prst="roundRect">
            <a:avLst>
              <a:gd name="adj" fmla="val 12924"/>
            </a:avLst>
          </a:prstGeom>
          <a:solidFill>
            <a:srgbClr val="EEF4F0"/>
          </a:solidFill>
          <a:ln w="12700">
            <a:solidFill>
              <a:srgbClr val="9FB8A8"/>
            </a:solidFill>
          </a:ln>
        </p:spPr>
        <p:txBody>
          <a:bodyPr wrap="square" rtlCol="0" anchor="ctr"/>
          <a:lstStyle/>
          <a:p>
            <a:pPr algn="ctr" indent="0" marL="0">
              <a:buNone/>
            </a:pPr>
            <a:r>
              <a:rPr lang="en-US" sz="1150" b="1" dirty="0">
                <a:solidFill>
                  <a:srgbClr val="1F2A24"/>
                </a:solidFill>
                <a:latin typeface="Calibri" pitchFamily="34" charset="0"/>
                <a:ea typeface="Calibri" pitchFamily="34" charset="-122"/>
                <a:cs typeface="Calibri" pitchFamily="34" charset="-120"/>
              </a:rPr>
              <a:t>compile</a:t>
            </a:r>
            <a:endParaRPr lang="en-US" sz="1150" dirty="0"/>
          </a:p>
          <a:p>
            <a:pPr algn="ctr" indent="0" marL="0">
              <a:buNone/>
            </a:pPr>
            <a:r>
              <a:rPr lang="en-US" sz="900" dirty="0">
                <a:solidFill>
                  <a:srgbClr val="5B6B60"/>
                </a:solidFill>
                <a:latin typeface="Calibri" pitchFamily="34" charset="0"/>
                <a:ea typeface="Calibri" pitchFamily="34" charset="-122"/>
                <a:cs typeface="Calibri" pitchFamily="34" charset="-120"/>
              </a:rPr>
              <a:t>compiler:compile</a:t>
            </a:r>
            <a:endParaRPr lang="en-US" sz="1150" dirty="0"/>
          </a:p>
        </p:txBody>
      </p:sp>
      <p:sp>
        <p:nvSpPr>
          <p:cNvPr id="11" name="Shape 9"/>
          <p:cNvSpPr/>
          <p:nvPr/>
        </p:nvSpPr>
        <p:spPr>
          <a:xfrm>
            <a:off x="7304227" y="2432304"/>
            <a:ext cx="320040" cy="0"/>
          </a:xfrm>
          <a:prstGeom prst="line">
            <a:avLst/>
          </a:prstGeom>
          <a:noFill/>
          <a:ln w="15875">
            <a:solidFill>
              <a:srgbClr val="6F8276"/>
            </a:solidFill>
            <a:prstDash val="solid"/>
            <a:tailEnd type="triangle"/>
          </a:ln>
        </p:spPr>
      </p:sp>
      <p:sp>
        <p:nvSpPr>
          <p:cNvPr id="12" name="Text 10"/>
          <p:cNvSpPr/>
          <p:nvPr/>
        </p:nvSpPr>
        <p:spPr>
          <a:xfrm>
            <a:off x="7624267" y="1975104"/>
            <a:ext cx="566014" cy="914400"/>
          </a:xfrm>
          <a:prstGeom prst="roundRect">
            <a:avLst>
              <a:gd name="adj" fmla="val 12924"/>
            </a:avLst>
          </a:prstGeom>
          <a:solidFill>
            <a:srgbClr val="EEF4F0"/>
          </a:solidFill>
          <a:ln w="12700">
            <a:solidFill>
              <a:srgbClr val="9FB8A8"/>
            </a:solidFill>
          </a:ln>
        </p:spPr>
        <p:txBody>
          <a:bodyPr wrap="square" rtlCol="0" anchor="ctr"/>
          <a:lstStyle/>
          <a:p>
            <a:pPr algn="ctr" indent="0" marL="0">
              <a:buNone/>
            </a:pPr>
            <a:r>
              <a:rPr lang="en-US" sz="1150" b="1" dirty="0">
                <a:solidFill>
                  <a:srgbClr val="1F2A24"/>
                </a:solidFill>
                <a:latin typeface="Calibri" pitchFamily="34" charset="0"/>
                <a:ea typeface="Calibri" pitchFamily="34" charset="-122"/>
                <a:cs typeface="Calibri" pitchFamily="34" charset="-120"/>
              </a:rPr>
              <a:t>test</a:t>
            </a:r>
            <a:endParaRPr lang="en-US" sz="1150" dirty="0"/>
          </a:p>
          <a:p>
            <a:pPr algn="ctr" indent="0" marL="0">
              <a:buNone/>
            </a:pPr>
            <a:r>
              <a:rPr lang="en-US" sz="900" dirty="0">
                <a:solidFill>
                  <a:srgbClr val="5B6B60"/>
                </a:solidFill>
                <a:latin typeface="Calibri" pitchFamily="34" charset="0"/>
                <a:ea typeface="Calibri" pitchFamily="34" charset="-122"/>
                <a:cs typeface="Calibri" pitchFamily="34" charset="-120"/>
              </a:rPr>
              <a:t>surefire:test</a:t>
            </a:r>
            <a:endParaRPr lang="en-US" sz="1150" dirty="0"/>
          </a:p>
        </p:txBody>
      </p:sp>
      <p:sp>
        <p:nvSpPr>
          <p:cNvPr id="13" name="Shape 11"/>
          <p:cNvSpPr/>
          <p:nvPr/>
        </p:nvSpPr>
        <p:spPr>
          <a:xfrm>
            <a:off x="8190281" y="2432304"/>
            <a:ext cx="320040" cy="0"/>
          </a:xfrm>
          <a:prstGeom prst="line">
            <a:avLst/>
          </a:prstGeom>
          <a:noFill/>
          <a:ln w="15875">
            <a:solidFill>
              <a:srgbClr val="6F8276"/>
            </a:solidFill>
            <a:prstDash val="solid"/>
            <a:tailEnd type="triangle"/>
          </a:ln>
        </p:spPr>
      </p:sp>
      <p:sp>
        <p:nvSpPr>
          <p:cNvPr id="14" name="Text 12"/>
          <p:cNvSpPr/>
          <p:nvPr/>
        </p:nvSpPr>
        <p:spPr>
          <a:xfrm>
            <a:off x="8510321" y="1975104"/>
            <a:ext cx="566014" cy="914400"/>
          </a:xfrm>
          <a:prstGeom prst="roundRect">
            <a:avLst>
              <a:gd name="adj" fmla="val 12924"/>
            </a:avLst>
          </a:prstGeom>
          <a:solidFill>
            <a:srgbClr val="EEF4F0"/>
          </a:solidFill>
          <a:ln w="12700">
            <a:solidFill>
              <a:srgbClr val="9FB8A8"/>
            </a:solidFill>
          </a:ln>
        </p:spPr>
        <p:txBody>
          <a:bodyPr wrap="square" rtlCol="0" anchor="ctr"/>
          <a:lstStyle/>
          <a:p>
            <a:pPr algn="ctr" indent="0" marL="0">
              <a:buNone/>
            </a:pPr>
            <a:r>
              <a:rPr lang="en-US" sz="1150" b="1" dirty="0">
                <a:solidFill>
                  <a:srgbClr val="1F2A24"/>
                </a:solidFill>
                <a:latin typeface="Calibri" pitchFamily="34" charset="0"/>
                <a:ea typeface="Calibri" pitchFamily="34" charset="-122"/>
                <a:cs typeface="Calibri" pitchFamily="34" charset="-120"/>
              </a:rPr>
              <a:t>package</a:t>
            </a:r>
            <a:endParaRPr lang="en-US" sz="1150" dirty="0"/>
          </a:p>
          <a:p>
            <a:pPr algn="ctr" indent="0" marL="0">
              <a:buNone/>
            </a:pPr>
            <a:r>
              <a:rPr lang="en-US" sz="900" dirty="0">
                <a:solidFill>
                  <a:srgbClr val="5B6B60"/>
                </a:solidFill>
                <a:latin typeface="Calibri" pitchFamily="34" charset="0"/>
                <a:ea typeface="Calibri" pitchFamily="34" charset="-122"/>
                <a:cs typeface="Calibri" pitchFamily="34" charset="-120"/>
              </a:rPr>
              <a:t>jar:jar</a:t>
            </a:r>
            <a:endParaRPr lang="en-US" sz="1150" dirty="0"/>
          </a:p>
        </p:txBody>
      </p:sp>
      <p:sp>
        <p:nvSpPr>
          <p:cNvPr id="15" name="Shape 13"/>
          <p:cNvSpPr/>
          <p:nvPr/>
        </p:nvSpPr>
        <p:spPr>
          <a:xfrm>
            <a:off x="9076334" y="2432304"/>
            <a:ext cx="320040" cy="0"/>
          </a:xfrm>
          <a:prstGeom prst="line">
            <a:avLst/>
          </a:prstGeom>
          <a:noFill/>
          <a:ln w="15875">
            <a:solidFill>
              <a:srgbClr val="6F8276"/>
            </a:solidFill>
            <a:prstDash val="solid"/>
            <a:tailEnd type="triangle"/>
          </a:ln>
        </p:spPr>
      </p:sp>
      <p:sp>
        <p:nvSpPr>
          <p:cNvPr id="16" name="Text 14"/>
          <p:cNvSpPr/>
          <p:nvPr/>
        </p:nvSpPr>
        <p:spPr>
          <a:xfrm>
            <a:off x="9396374" y="1975104"/>
            <a:ext cx="566014" cy="914400"/>
          </a:xfrm>
          <a:prstGeom prst="roundRect">
            <a:avLst>
              <a:gd name="adj" fmla="val 12924"/>
            </a:avLst>
          </a:prstGeom>
          <a:solidFill>
            <a:srgbClr val="EEF4F0"/>
          </a:solidFill>
          <a:ln w="12700">
            <a:solidFill>
              <a:srgbClr val="9FB8A8"/>
            </a:solidFill>
          </a:ln>
        </p:spPr>
        <p:txBody>
          <a:bodyPr wrap="square" rtlCol="0" anchor="ctr"/>
          <a:lstStyle/>
          <a:p>
            <a:pPr algn="ctr" indent="0" marL="0">
              <a:buNone/>
            </a:pPr>
            <a:r>
              <a:rPr lang="en-US" sz="1150" b="1" dirty="0">
                <a:solidFill>
                  <a:srgbClr val="1F2A24"/>
                </a:solidFill>
                <a:latin typeface="Calibri" pitchFamily="34" charset="0"/>
                <a:ea typeface="Calibri" pitchFamily="34" charset="-122"/>
                <a:cs typeface="Calibri" pitchFamily="34" charset="-120"/>
              </a:rPr>
              <a:t>verify</a:t>
            </a:r>
            <a:endParaRPr lang="en-US" sz="1150" dirty="0"/>
          </a:p>
          <a:p>
            <a:pPr algn="ctr" indent="0" marL="0">
              <a:buNone/>
            </a:pPr>
            <a:r>
              <a:rPr lang="en-US" sz="900" dirty="0">
                <a:solidFill>
                  <a:srgbClr val="5B6B60"/>
                </a:solidFill>
                <a:latin typeface="Calibri" pitchFamily="34" charset="0"/>
                <a:ea typeface="Calibri" pitchFamily="34" charset="-122"/>
                <a:cs typeface="Calibri" pitchFamily="34" charset="-120"/>
              </a:rPr>
              <a:t>integration checks</a:t>
            </a:r>
            <a:endParaRPr lang="en-US" sz="1150" dirty="0"/>
          </a:p>
        </p:txBody>
      </p:sp>
      <p:sp>
        <p:nvSpPr>
          <p:cNvPr id="17" name="Shape 15"/>
          <p:cNvSpPr/>
          <p:nvPr/>
        </p:nvSpPr>
        <p:spPr>
          <a:xfrm>
            <a:off x="9962388" y="2432304"/>
            <a:ext cx="320040" cy="0"/>
          </a:xfrm>
          <a:prstGeom prst="line">
            <a:avLst/>
          </a:prstGeom>
          <a:noFill/>
          <a:ln w="15875">
            <a:solidFill>
              <a:srgbClr val="6F8276"/>
            </a:solidFill>
            <a:prstDash val="solid"/>
            <a:tailEnd type="triangle"/>
          </a:ln>
        </p:spPr>
      </p:sp>
      <p:sp>
        <p:nvSpPr>
          <p:cNvPr id="18" name="Text 16"/>
          <p:cNvSpPr/>
          <p:nvPr/>
        </p:nvSpPr>
        <p:spPr>
          <a:xfrm>
            <a:off x="10282428" y="1975104"/>
            <a:ext cx="566014" cy="914400"/>
          </a:xfrm>
          <a:prstGeom prst="roundRect">
            <a:avLst>
              <a:gd name="adj" fmla="val 12924"/>
            </a:avLst>
          </a:prstGeom>
          <a:solidFill>
            <a:srgbClr val="EEF4F0"/>
          </a:solidFill>
          <a:ln w="12700">
            <a:solidFill>
              <a:srgbClr val="9FB8A8"/>
            </a:solidFill>
          </a:ln>
        </p:spPr>
        <p:txBody>
          <a:bodyPr wrap="square" rtlCol="0" anchor="ctr"/>
          <a:lstStyle/>
          <a:p>
            <a:pPr algn="ctr" indent="0" marL="0">
              <a:buNone/>
            </a:pPr>
            <a:r>
              <a:rPr lang="en-US" sz="1150" b="1" dirty="0">
                <a:solidFill>
                  <a:srgbClr val="1F2A24"/>
                </a:solidFill>
                <a:latin typeface="Calibri" pitchFamily="34" charset="0"/>
                <a:ea typeface="Calibri" pitchFamily="34" charset="-122"/>
                <a:cs typeface="Calibri" pitchFamily="34" charset="-120"/>
              </a:rPr>
              <a:t>install</a:t>
            </a:r>
            <a:endParaRPr lang="en-US" sz="1150" dirty="0"/>
          </a:p>
          <a:p>
            <a:pPr algn="ctr" indent="0" marL="0">
              <a:buNone/>
            </a:pPr>
            <a:r>
              <a:rPr lang="en-US" sz="900" dirty="0">
                <a:solidFill>
                  <a:srgbClr val="5B6B60"/>
                </a:solidFill>
                <a:latin typeface="Calibri" pitchFamily="34" charset="0"/>
                <a:ea typeface="Calibri" pitchFamily="34" charset="-122"/>
                <a:cs typeface="Calibri" pitchFamily="34" charset="-120"/>
              </a:rPr>
              <a:t>copy to ~/.m2</a:t>
            </a:r>
            <a:endParaRPr lang="en-US" sz="1150" dirty="0"/>
          </a:p>
        </p:txBody>
      </p:sp>
      <p:sp>
        <p:nvSpPr>
          <p:cNvPr id="19" name="Shape 17"/>
          <p:cNvSpPr/>
          <p:nvPr/>
        </p:nvSpPr>
        <p:spPr>
          <a:xfrm>
            <a:off x="10848442" y="2432304"/>
            <a:ext cx="320040" cy="0"/>
          </a:xfrm>
          <a:prstGeom prst="line">
            <a:avLst/>
          </a:prstGeom>
          <a:noFill/>
          <a:ln w="15875">
            <a:solidFill>
              <a:srgbClr val="6F8276"/>
            </a:solidFill>
            <a:prstDash val="solid"/>
            <a:tailEnd type="triangle"/>
          </a:ln>
        </p:spPr>
      </p:sp>
      <p:sp>
        <p:nvSpPr>
          <p:cNvPr id="20" name="Text 18"/>
          <p:cNvSpPr/>
          <p:nvPr/>
        </p:nvSpPr>
        <p:spPr>
          <a:xfrm>
            <a:off x="11168482" y="1975104"/>
            <a:ext cx="566014" cy="914400"/>
          </a:xfrm>
          <a:prstGeom prst="roundRect">
            <a:avLst>
              <a:gd name="adj" fmla="val 12924"/>
            </a:avLst>
          </a:prstGeom>
          <a:solidFill>
            <a:srgbClr val="EEF4F0"/>
          </a:solidFill>
          <a:ln w="12700">
            <a:solidFill>
              <a:srgbClr val="9FB8A8"/>
            </a:solidFill>
          </a:ln>
        </p:spPr>
        <p:txBody>
          <a:bodyPr wrap="square" rtlCol="0" anchor="ctr"/>
          <a:lstStyle/>
          <a:p>
            <a:pPr algn="ctr" indent="0" marL="0">
              <a:buNone/>
            </a:pPr>
            <a:r>
              <a:rPr lang="en-US" sz="1150" b="1" dirty="0">
                <a:solidFill>
                  <a:srgbClr val="1F2A24"/>
                </a:solidFill>
                <a:latin typeface="Calibri" pitchFamily="34" charset="0"/>
                <a:ea typeface="Calibri" pitchFamily="34" charset="-122"/>
                <a:cs typeface="Calibri" pitchFamily="34" charset="-120"/>
              </a:rPr>
              <a:t>deploy</a:t>
            </a:r>
            <a:endParaRPr lang="en-US" sz="1150" dirty="0"/>
          </a:p>
          <a:p>
            <a:pPr algn="ctr" indent="0" marL="0">
              <a:buNone/>
            </a:pPr>
            <a:r>
              <a:rPr lang="en-US" sz="900" dirty="0">
                <a:solidFill>
                  <a:srgbClr val="5B6B60"/>
                </a:solidFill>
                <a:latin typeface="Calibri" pitchFamily="34" charset="0"/>
                <a:ea typeface="Calibri" pitchFamily="34" charset="-122"/>
                <a:cs typeface="Calibri" pitchFamily="34" charset="-120"/>
              </a:rPr>
              <a:t>push to remote repo</a:t>
            </a:r>
            <a:endParaRPr lang="en-US" sz="115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C9C43D"/>
          </a:solidFill>
          <a:ln w="12700">
            <a:solidFill>
              <a:srgbClr val="C9C43D"/>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6</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Maven on the command line</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The commands you will run every day, with the output you should expect.</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Terminal</a:t>
            </a:r>
            <a:endParaRPr lang="en-US" sz="900" dirty="0"/>
          </a:p>
        </p:txBody>
      </p:sp>
      <p:sp>
        <p:nvSpPr>
          <p:cNvPr id="8" name="Text 6"/>
          <p:cNvSpPr/>
          <p:nvPr/>
        </p:nvSpPr>
        <p:spPr>
          <a:xfrm>
            <a:off x="457200" y="2157984"/>
            <a:ext cx="11277295" cy="419709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 mvn -v</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Apache Maven 3.9.16</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Java version: 21.0.8, vendor: Eclipse Adoptium</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./mvnw clean package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[INFO] --- compiler:3.16.0:compile (default-compile) @ order-processor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[INFO] Compiling 3 source files with javac [debug release 21] to target/classes</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[INFO] --- surefire:3.6.0:test (default-test) @ order-processor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[INFO] Tests run: 4, Failures: 0, Errors: 0, Skipped: 0</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[INFO] --- jar:3.5.1:jar (default-jar) @ order-processor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[INFO] Building jar: target/order-processor-1.0.0-SNAPSHOT.jar</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[INFO] BUILD SUCCESS</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java -jar target/order-processor-1.0.0-SNAPSHOT.jar     # Main-Class from the manifest</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./mvnw dependency:tree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[INFO] com.example.orders:order-processor:jar:1.0.0-SNAPSHOT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[INFO] \- org.junit.jupiter:junit-jupiter:jar:6.1.3:test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[INFO]    +- org.junit.jupiter:junit-jupiter-api:jar:6.1.3:test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[INFO]    |  +- org.opentest4j:opentest4j:jar:1.3.0:test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[INFO]    |  \- org.junit.platform:junit-platform-commons:jar:6.1.3:test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full listing in the web notes</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C9C43D"/>
          </a:solidFill>
          <a:ln w="12700">
            <a:solidFill>
              <a:srgbClr val="C9C43D"/>
            </a:solidFill>
            <a:prstDash val="solid"/>
          </a:ln>
        </p:spPr>
      </p:sp>
      <p:sp>
        <p:nvSpPr>
          <p:cNvPr id="3" name="Text 1"/>
          <p:cNvSpPr/>
          <p:nvPr/>
        </p:nvSpPr>
        <p:spPr>
          <a:xfrm>
            <a:off x="457200" y="256032"/>
            <a:ext cx="1463040" cy="292608"/>
          </a:xfrm>
          <a:prstGeom prst="roundRect">
            <a:avLst>
              <a:gd name="adj" fmla="val 18750"/>
            </a:avLst>
          </a:prstGeom>
          <a:solidFill>
            <a:srgbClr val="E8892E"/>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HANDS-ON LAB</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6</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Lab: a parallel order processor, built with Maven</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Process 1,000 orders on a thread pool, prove the result is identical to a single-threaded run, and package it with Maven.</a:t>
            </a:r>
            <a:endParaRPr lang="en-US" sz="1350" dirty="0"/>
          </a:p>
        </p:txBody>
      </p:sp>
      <p:sp>
        <p:nvSpPr>
          <p:cNvPr id="7" name="Text 5"/>
          <p:cNvSpPr/>
          <p:nvPr/>
        </p:nvSpPr>
        <p:spPr>
          <a:xfrm>
            <a:off x="457200" y="1883664"/>
            <a:ext cx="5577840" cy="4471416"/>
          </a:xfrm>
          <a:prstGeom prst="rect">
            <a:avLst/>
          </a:prstGeom>
          <a:noFill/>
          <a:ln/>
        </p:spPr>
        <p:txBody>
          <a:bodyPr wrap="square" rtlCol="0" anchor="t"/>
          <a:lstStyle/>
          <a:p>
            <a:pPr marL="342900" indent="-342900">
              <a:spcAft>
                <a:spcPts val="400"/>
              </a:spcAft>
              <a:buSzPct val="100000"/>
              <a:buFont typeface="+mj-lt"/>
              <a:buAutoNum type="arabicPeriod" startAt="1"/>
            </a:pPr>
            <a:r>
              <a:rPr lang="en-US" sz="1200" dirty="0">
                <a:solidFill>
                  <a:srgbClr val="1F2A24"/>
                </a:solidFill>
                <a:latin typeface="Calibri" pitchFamily="34" charset="0"/>
                <a:ea typeface="Calibri" pitchFamily="34" charset="-122"/>
                <a:cs typeface="Calibri" pitchFamily="34" charset="-120"/>
              </a:rPr>
              <a:t>Generate a project: </a:t>
            </a:r>
            <a:endParaRPr lang="en-US" sz="1200" dirty="0"/>
          </a:p>
          <a:p>
            <a:pPr marL="342900" indent="-342900">
              <a:spcAft>
                <a:spcPts val="400"/>
              </a:spcAft>
              <a:buSzPct val="100000"/>
              <a:buFont typeface="+mj-lt"/>
              <a:buAutoNum type="arabicPeriod" startAt="1"/>
            </a:pPr>
            <a:r>
              <a:rPr lang="en-US" sz="1200" dirty="0">
                <a:solidFill>
                  <a:srgbClr val="B4235A"/>
                </a:solidFill>
                <a:latin typeface="Consolas" pitchFamily="34" charset="0"/>
                <a:ea typeface="Consolas" pitchFamily="34" charset="-122"/>
                <a:cs typeface="Consolas" pitchFamily="34" charset="-120"/>
              </a:rPr>
              <a:t>mvn archetype:generate -DgroupId=com.example.orders -DartifactId=order-processor -DarchetypeArtifactId=maven-archetype-quickstart -DinteractiveMode=false</a:t>
            </a:r>
            <a:endParaRPr lang="en-US" sz="1200" dirty="0"/>
          </a:p>
          <a:p>
            <a:pPr marL="342900" indent="-342900">
              <a:spcAft>
                <a:spcPts val="400"/>
              </a:spcAft>
              <a:buSzPct val="100000"/>
              <a:buFont typeface="+mj-lt"/>
              <a:buAutoNum type="arabicPeriod" startAt="1"/>
            </a:pPr>
            <a:r>
              <a:rPr lang="en-US" sz="1200" dirty="0">
                <a:solidFill>
                  <a:srgbClr val="1F2A24"/>
                </a:solidFill>
                <a:latin typeface="Calibri" pitchFamily="34" charset="0"/>
                <a:ea typeface="Calibri" pitchFamily="34" charset="-122"/>
                <a:cs typeface="Calibri" pitchFamily="34" charset="-120"/>
              </a:rPr>
              <a:t> (archetypes are covered in depth next session).</a:t>
            </a:r>
            <a:endParaRPr lang="en-US" sz="1200" dirty="0"/>
          </a:p>
          <a:p>
            <a:pPr marL="342900" indent="-342900">
              <a:spcAft>
                <a:spcPts val="400"/>
              </a:spcAft>
              <a:buSzPct val="100000"/>
              <a:buFont typeface="+mj-lt"/>
              <a:buAutoNum type="arabicPeriod" startAt="1"/>
            </a:pPr>
            <a:r>
              <a:rPr lang="en-US" sz="1200" dirty="0">
                <a:solidFill>
                  <a:srgbClr val="1F2A24"/>
                </a:solidFill>
                <a:latin typeface="Calibri" pitchFamily="34" charset="0"/>
                <a:ea typeface="Calibri" pitchFamily="34" charset="-122"/>
                <a:cs typeface="Calibri" pitchFamily="34" charset="-120"/>
              </a:rPr>
              <a:t>Replace the generated </a:t>
            </a:r>
            <a:endParaRPr lang="en-US" sz="1200" dirty="0"/>
          </a:p>
          <a:p>
            <a:pPr marL="342900" indent="-342900">
              <a:spcAft>
                <a:spcPts val="400"/>
              </a:spcAft>
              <a:buSzPct val="100000"/>
              <a:buFont typeface="+mj-lt"/>
              <a:buAutoNum type="arabicPeriod" startAt="1"/>
            </a:pPr>
            <a:r>
              <a:rPr lang="en-US" sz="1200" dirty="0">
                <a:solidFill>
                  <a:srgbClr val="B4235A"/>
                </a:solidFill>
                <a:latin typeface="Consolas" pitchFamily="34" charset="0"/>
                <a:ea typeface="Consolas" pitchFamily="34" charset="-122"/>
                <a:cs typeface="Consolas" pitchFamily="34" charset="-120"/>
              </a:rPr>
              <a:t>pom.xml</a:t>
            </a:r>
            <a:endParaRPr lang="en-US" sz="1200" dirty="0"/>
          </a:p>
          <a:p>
            <a:pPr marL="342900" indent="-342900">
              <a:spcAft>
                <a:spcPts val="400"/>
              </a:spcAft>
              <a:buSzPct val="100000"/>
              <a:buFont typeface="+mj-lt"/>
              <a:buAutoNum type="arabicPeriod" startAt="1"/>
            </a:pPr>
            <a:r>
              <a:rPr lang="en-US" sz="1200" dirty="0">
                <a:solidFill>
                  <a:srgbClr val="1F2A24"/>
                </a:solidFill>
                <a:latin typeface="Calibri" pitchFamily="34" charset="0"/>
                <a:ea typeface="Calibri" pitchFamily="34" charset="-122"/>
                <a:cs typeface="Calibri" pitchFamily="34" charset="-120"/>
              </a:rPr>
              <a:t> with the one from the 'Anatomy of a pom.xml' slide; run </a:t>
            </a:r>
            <a:endParaRPr lang="en-US" sz="1200" dirty="0"/>
          </a:p>
          <a:p>
            <a:pPr marL="342900" indent="-342900">
              <a:spcAft>
                <a:spcPts val="400"/>
              </a:spcAft>
              <a:buSzPct val="100000"/>
              <a:buFont typeface="+mj-lt"/>
              <a:buAutoNum type="arabicPeriod" startAt="1"/>
            </a:pPr>
            <a:r>
              <a:rPr lang="en-US" sz="1200" dirty="0">
                <a:solidFill>
                  <a:srgbClr val="B4235A"/>
                </a:solidFill>
                <a:latin typeface="Consolas" pitchFamily="34" charset="0"/>
                <a:ea typeface="Consolas" pitchFamily="34" charset="-122"/>
                <a:cs typeface="Consolas" pitchFamily="34" charset="-120"/>
              </a:rPr>
              <a:t>./mvnw -v</a:t>
            </a:r>
            <a:endParaRPr lang="en-US" sz="1200" dirty="0"/>
          </a:p>
          <a:p>
            <a:pPr marL="342900" indent="-342900">
              <a:spcAft>
                <a:spcPts val="400"/>
              </a:spcAft>
              <a:buSzPct val="100000"/>
              <a:buFont typeface="+mj-lt"/>
              <a:buAutoNum type="arabicPeriod" startAt="1"/>
            </a:pPr>
            <a:r>
              <a:rPr lang="en-US" sz="1200" dirty="0">
                <a:solidFill>
                  <a:srgbClr val="1F2A24"/>
                </a:solidFill>
                <a:latin typeface="Calibri" pitchFamily="34" charset="0"/>
                <a:ea typeface="Calibri" pitchFamily="34" charset="-122"/>
                <a:cs typeface="Calibri" pitchFamily="34" charset="-120"/>
              </a:rPr>
              <a:t> or </a:t>
            </a:r>
            <a:endParaRPr lang="en-US" sz="1200" dirty="0"/>
          </a:p>
          <a:p>
            <a:pPr marL="342900" indent="-342900">
              <a:spcAft>
                <a:spcPts val="400"/>
              </a:spcAft>
              <a:buSzPct val="100000"/>
              <a:buFont typeface="+mj-lt"/>
              <a:buAutoNum type="arabicPeriod" startAt="1"/>
            </a:pPr>
            <a:r>
              <a:rPr lang="en-US" sz="1200" dirty="0">
                <a:solidFill>
                  <a:srgbClr val="B4235A"/>
                </a:solidFill>
                <a:latin typeface="Consolas" pitchFamily="34" charset="0"/>
                <a:ea typeface="Consolas" pitchFamily="34" charset="-122"/>
                <a:cs typeface="Consolas" pitchFamily="34" charset="-120"/>
              </a:rPr>
              <a:t>mvn -v</a:t>
            </a:r>
            <a:endParaRPr lang="en-US" sz="1200" dirty="0"/>
          </a:p>
          <a:p>
            <a:pPr marL="342900" indent="-342900">
              <a:spcAft>
                <a:spcPts val="400"/>
              </a:spcAft>
              <a:buSzPct val="100000"/>
              <a:buFont typeface="+mj-lt"/>
              <a:buAutoNum type="arabicPeriod" startAt="1"/>
            </a:pPr>
            <a:r>
              <a:rPr lang="en-US" sz="1200" dirty="0">
                <a:solidFill>
                  <a:srgbClr val="1F2A24"/>
                </a:solidFill>
                <a:latin typeface="Calibri" pitchFamily="34" charset="0"/>
                <a:ea typeface="Calibri" pitchFamily="34" charset="-122"/>
                <a:cs typeface="Calibri" pitchFamily="34" charset="-120"/>
              </a:rPr>
              <a:t> to check your setup.</a:t>
            </a:r>
            <a:endParaRPr lang="en-US" sz="1200" dirty="0"/>
          </a:p>
          <a:p>
            <a:pPr marL="342900" indent="-342900">
              <a:spcAft>
                <a:spcPts val="400"/>
              </a:spcAft>
              <a:buSzPct val="100000"/>
              <a:buFont typeface="+mj-lt"/>
              <a:buAutoNum type="arabicPeriod" startAt="1"/>
            </a:pPr>
            <a:r>
              <a:rPr lang="en-US" sz="1200" dirty="0">
                <a:solidFill>
                  <a:srgbClr val="1F2A24"/>
                </a:solidFill>
                <a:latin typeface="Calibri" pitchFamily="34" charset="0"/>
                <a:ea typeface="Calibri" pitchFamily="34" charset="-122"/>
                <a:cs typeface="Calibri" pitchFamily="34" charset="-120"/>
              </a:rPr>
              <a:t>Implement </a:t>
            </a:r>
            <a:endParaRPr lang="en-US" sz="1200" dirty="0"/>
          </a:p>
          <a:p>
            <a:pPr marL="342900" indent="-342900">
              <a:spcAft>
                <a:spcPts val="400"/>
              </a:spcAft>
              <a:buSzPct val="100000"/>
              <a:buFont typeface="+mj-lt"/>
              <a:buAutoNum type="arabicPeriod" startAt="1"/>
            </a:pPr>
            <a:r>
              <a:rPr lang="en-US" sz="1200" dirty="0">
                <a:solidFill>
                  <a:srgbClr val="B4235A"/>
                </a:solidFill>
                <a:latin typeface="Consolas" pitchFamily="34" charset="0"/>
                <a:ea typeface="Consolas" pitchFamily="34" charset="-122"/>
                <a:cs typeface="Consolas" pitchFamily="34" charset="-120"/>
              </a:rPr>
              <a:t>OrderProcessor.process(orders, threads)</a:t>
            </a:r>
            <a:endParaRPr lang="en-US" sz="1200" dirty="0"/>
          </a:p>
          <a:p>
            <a:pPr marL="342900" indent="-342900">
              <a:spcAft>
                <a:spcPts val="400"/>
              </a:spcAft>
              <a:buSzPct val="100000"/>
              <a:buFont typeface="+mj-lt"/>
              <a:buAutoNum type="arabicPeriod" startAt="1"/>
            </a:pPr>
            <a:r>
              <a:rPr lang="en-US" sz="1200" dirty="0">
                <a:solidFill>
                  <a:srgbClr val="1F2A24"/>
                </a:solidFill>
                <a:latin typeface="Calibri" pitchFamily="34" charset="0"/>
                <a:ea typeface="Calibri" pitchFamily="34" charset="-122"/>
                <a:cs typeface="Calibri" pitchFamily="34" charset="-120"/>
              </a:rPr>
              <a:t> that submits one </a:t>
            </a:r>
            <a:endParaRPr lang="en-US" sz="1200" dirty="0"/>
          </a:p>
          <a:p>
            <a:pPr marL="342900" indent="-342900">
              <a:spcAft>
                <a:spcPts val="400"/>
              </a:spcAft>
              <a:buSzPct val="100000"/>
              <a:buFont typeface="+mj-lt"/>
              <a:buAutoNum type="arabicPeriod" startAt="1"/>
            </a:pPr>
            <a:r>
              <a:rPr lang="en-US" sz="1200" dirty="0">
                <a:solidFill>
                  <a:srgbClr val="B4235A"/>
                </a:solidFill>
                <a:latin typeface="Consolas" pitchFamily="34" charset="0"/>
                <a:ea typeface="Consolas" pitchFamily="34" charset="-122"/>
                <a:cs typeface="Consolas" pitchFamily="34" charset="-120"/>
              </a:rPr>
              <a:t>Callable</a:t>
            </a:r>
            <a:endParaRPr lang="en-US" sz="1200" dirty="0"/>
          </a:p>
          <a:p>
            <a:pPr marL="342900" indent="-342900">
              <a:spcAft>
                <a:spcPts val="400"/>
              </a:spcAft>
              <a:buSzPct val="100000"/>
              <a:buFont typeface="+mj-lt"/>
              <a:buAutoNum type="arabicPeriod" startAt="1"/>
            </a:pPr>
            <a:r>
              <a:rPr lang="en-US" sz="1200" dirty="0">
                <a:solidFill>
                  <a:srgbClr val="1F2A24"/>
                </a:solidFill>
                <a:latin typeface="Calibri" pitchFamily="34" charset="0"/>
                <a:ea typeface="Calibri" pitchFamily="34" charset="-122"/>
                <a:cs typeface="Calibri" pitchFamily="34" charset="-120"/>
              </a:rPr>
              <a:t> per order to a fixed pool via </a:t>
            </a:r>
            <a:endParaRPr lang="en-US" sz="1200" dirty="0"/>
          </a:p>
          <a:p>
            <a:pPr marL="342900" indent="-342900">
              <a:spcAft>
                <a:spcPts val="400"/>
              </a:spcAft>
              <a:buSzPct val="100000"/>
              <a:buFont typeface="+mj-lt"/>
              <a:buAutoNum type="arabicPeriod" startAt="1"/>
            </a:pPr>
            <a:r>
              <a:rPr lang="en-US" sz="1200" dirty="0">
                <a:solidFill>
                  <a:srgbClr val="B4235A"/>
                </a:solidFill>
                <a:latin typeface="Consolas" pitchFamily="34" charset="0"/>
                <a:ea typeface="Consolas" pitchFamily="34" charset="-122"/>
                <a:cs typeface="Consolas" pitchFamily="34" charset="-120"/>
              </a:rPr>
              <a:t>invokeAll</a:t>
            </a:r>
            <a:endParaRPr lang="en-US" sz="1200" dirty="0"/>
          </a:p>
          <a:p>
            <a:pPr marL="342900" indent="-342900">
              <a:spcAft>
                <a:spcPts val="400"/>
              </a:spcAft>
              <a:buSzPct val="100000"/>
              <a:buFont typeface="+mj-lt"/>
              <a:buAutoNum type="arabicPeriod" startAt="1"/>
            </a:pPr>
            <a:r>
              <a:rPr lang="en-US" sz="1200" dirty="0">
                <a:solidFill>
                  <a:srgbClr val="1F2A24"/>
                </a:solidFill>
                <a:latin typeface="Calibri" pitchFamily="34" charset="0"/>
                <a:ea typeface="Calibri" pitchFamily="34" charset="-122"/>
                <a:cs typeface="Calibri" pitchFamily="34" charset="-120"/>
              </a:rPr>
              <a:t>.</a:t>
            </a:r>
            <a:endParaRPr lang="en-US" sz="1200" dirty="0"/>
          </a:p>
          <a:p>
            <a:pPr marL="342900" indent="-342900">
              <a:spcAft>
                <a:spcPts val="400"/>
              </a:spcAft>
              <a:buSzPct val="100000"/>
              <a:buFont typeface="+mj-lt"/>
              <a:buAutoNum type="arabicPeriod" startAt="1"/>
            </a:pPr>
            <a:r>
              <a:rPr lang="en-US" sz="1200" dirty="0">
                <a:solidFill>
                  <a:srgbClr val="1F2A24"/>
                </a:solidFill>
                <a:latin typeface="Calibri" pitchFamily="34" charset="0"/>
                <a:ea typeface="Calibri" pitchFamily="34" charset="-122"/>
                <a:cs typeface="Calibri" pitchFamily="34" charset="-120"/>
              </a:rPr>
              <a:t>Count orders per status with </a:t>
            </a:r>
            <a:endParaRPr lang="en-US" sz="1200" dirty="0"/>
          </a:p>
          <a:p>
            <a:pPr marL="342900" indent="-342900">
              <a:spcAft>
                <a:spcPts val="400"/>
              </a:spcAft>
              <a:buSzPct val="100000"/>
              <a:buFont typeface="+mj-lt"/>
              <a:buAutoNum type="arabicPeriod" startAt="1"/>
            </a:pPr>
            <a:r>
              <a:rPr lang="en-US" sz="1200" dirty="0">
                <a:solidFill>
                  <a:srgbClr val="B4235A"/>
                </a:solidFill>
                <a:latin typeface="Consolas" pitchFamily="34" charset="0"/>
                <a:ea typeface="Consolas" pitchFamily="34" charset="-122"/>
                <a:cs typeface="Consolas" pitchFamily="34" charset="-120"/>
              </a:rPr>
              <a:t>ConcurrentHashMap.merge</a:t>
            </a:r>
            <a:endParaRPr lang="en-US" sz="1200" dirty="0"/>
          </a:p>
          <a:p>
            <a:pPr marL="342900" indent="-342900">
              <a:spcAft>
                <a:spcPts val="400"/>
              </a:spcAft>
              <a:buSzPct val="100000"/>
              <a:buFont typeface="+mj-lt"/>
              <a:buAutoNum type="arabicPeriod" startAt="1"/>
            </a:pPr>
            <a:r>
              <a:rPr lang="en-US" sz="1200" dirty="0">
                <a:solidFill>
                  <a:srgbClr val="1F2A24"/>
                </a:solidFill>
                <a:latin typeface="Calibri" pitchFamily="34" charset="0"/>
                <a:ea typeface="Calibri" pitchFamily="34" charset="-122"/>
                <a:cs typeface="Calibri" pitchFamily="34" charset="-120"/>
              </a:rPr>
              <a:t> and add revenue (+18% GST) to a </a:t>
            </a:r>
            <a:endParaRPr lang="en-US" sz="1200" dirty="0"/>
          </a:p>
          <a:p>
            <a:pPr marL="342900" indent="-342900">
              <a:spcAft>
                <a:spcPts val="400"/>
              </a:spcAft>
              <a:buSzPct val="100000"/>
              <a:buFont typeface="+mj-lt"/>
              <a:buAutoNum type="arabicPeriod" startAt="1"/>
            </a:pPr>
            <a:r>
              <a:rPr lang="en-US" sz="1200" dirty="0">
                <a:solidFill>
                  <a:srgbClr val="B4235A"/>
                </a:solidFill>
                <a:latin typeface="Consolas" pitchFamily="34" charset="0"/>
                <a:ea typeface="Consolas" pitchFamily="34" charset="-122"/>
                <a:cs typeface="Consolas" pitchFamily="34" charset="-120"/>
              </a:rPr>
              <a:t>LongAdder</a:t>
            </a:r>
            <a:endParaRPr lang="en-US" sz="1200" dirty="0"/>
          </a:p>
          <a:p>
            <a:pPr marL="342900" indent="-342900">
              <a:spcAft>
                <a:spcPts val="400"/>
              </a:spcAft>
              <a:buSzPct val="100000"/>
              <a:buFont typeface="+mj-lt"/>
              <a:buAutoNum type="arabicPeriod" startAt="1"/>
            </a:pPr>
            <a:r>
              <a:rPr lang="en-US" sz="1200" dirty="0">
                <a:solidFill>
                  <a:srgbClr val="1F2A24"/>
                </a:solidFill>
                <a:latin typeface="Calibri" pitchFamily="34" charset="0"/>
                <a:ea typeface="Calibri" pitchFamily="34" charset="-122"/>
                <a:cs typeface="Calibri" pitchFamily="34" charset="-120"/>
              </a:rPr>
              <a:t>.</a:t>
            </a:r>
            <a:endParaRPr lang="en-US" sz="1200" dirty="0"/>
          </a:p>
          <a:p>
            <a:pPr marL="342900" indent="-342900">
              <a:spcAft>
                <a:spcPts val="400"/>
              </a:spcAft>
              <a:buSzPct val="100000"/>
              <a:buFont typeface="+mj-lt"/>
              <a:buAutoNum type="arabicPeriod" startAt="1"/>
            </a:pPr>
            <a:r>
              <a:rPr lang="en-US" sz="1200" dirty="0">
                <a:solidFill>
                  <a:srgbClr val="1F2A24"/>
                </a:solidFill>
                <a:latin typeface="Calibri" pitchFamily="34" charset="0"/>
                <a:ea typeface="Calibri" pitchFamily="34" charset="-122"/>
                <a:cs typeface="Calibri" pitchFamily="34" charset="-120"/>
              </a:rPr>
              <a:t>Print the result for 1 thread and 8 threads and confirm they are equal.</a:t>
            </a:r>
            <a:endParaRPr lang="en-US" sz="1200" dirty="0"/>
          </a:p>
          <a:p>
            <a:pPr marL="342900" indent="-342900">
              <a:spcAft>
                <a:spcPts val="400"/>
              </a:spcAft>
              <a:buSzPct val="100000"/>
              <a:buFont typeface="+mj-lt"/>
              <a:buAutoNum type="arabicPeriod" startAt="1"/>
            </a:pPr>
            <a:r>
              <a:rPr lang="en-US" sz="1200" dirty="0">
                <a:solidFill>
                  <a:srgbClr val="1F2A24"/>
                </a:solidFill>
                <a:latin typeface="Calibri" pitchFamily="34" charset="0"/>
                <a:ea typeface="Calibri" pitchFamily="34" charset="-122"/>
                <a:cs typeface="Calibri" pitchFamily="34" charset="-120"/>
              </a:rPr>
              <a:t>Write a JUnit test asserting that </a:t>
            </a:r>
            <a:endParaRPr lang="en-US" sz="1200" dirty="0"/>
          </a:p>
          <a:p>
            <a:pPr marL="342900" indent="-342900">
              <a:spcAft>
                <a:spcPts val="400"/>
              </a:spcAft>
              <a:buSzPct val="100000"/>
              <a:buFont typeface="+mj-lt"/>
              <a:buAutoNum type="arabicPeriod" startAt="1"/>
            </a:pPr>
            <a:r>
              <a:rPr lang="en-US" sz="1200" dirty="0">
                <a:solidFill>
                  <a:srgbClr val="B4235A"/>
                </a:solidFill>
                <a:latin typeface="Consolas" pitchFamily="34" charset="0"/>
                <a:ea typeface="Consolas" pitchFamily="34" charset="-122"/>
                <a:cs typeface="Consolas" pitchFamily="34" charset="-120"/>
              </a:rPr>
              <a:t>process(orders, 1)</a:t>
            </a:r>
            <a:endParaRPr lang="en-US" sz="1200" dirty="0"/>
          </a:p>
          <a:p>
            <a:pPr marL="342900" indent="-342900">
              <a:spcAft>
                <a:spcPts val="400"/>
              </a:spcAft>
              <a:buSzPct val="100000"/>
              <a:buFont typeface="+mj-lt"/>
              <a:buAutoNum type="arabicPeriod" startAt="1"/>
            </a:pPr>
            <a:r>
              <a:rPr lang="en-US" sz="1200" dirty="0">
                <a:solidFill>
                  <a:srgbClr val="1F2A24"/>
                </a:solidFill>
                <a:latin typeface="Calibri" pitchFamily="34" charset="0"/>
                <a:ea typeface="Calibri" pitchFamily="34" charset="-122"/>
                <a:cs typeface="Calibri" pitchFamily="34" charset="-120"/>
              </a:rPr>
              <a:t> equals </a:t>
            </a:r>
            <a:endParaRPr lang="en-US" sz="1200" dirty="0"/>
          </a:p>
          <a:p>
            <a:pPr marL="342900" indent="-342900">
              <a:spcAft>
                <a:spcPts val="400"/>
              </a:spcAft>
              <a:buSzPct val="100000"/>
              <a:buFont typeface="+mj-lt"/>
              <a:buAutoNum type="arabicPeriod" startAt="1"/>
            </a:pPr>
            <a:r>
              <a:rPr lang="en-US" sz="1200" dirty="0">
                <a:solidFill>
                  <a:srgbClr val="B4235A"/>
                </a:solidFill>
                <a:latin typeface="Consolas" pitchFamily="34" charset="0"/>
                <a:ea typeface="Consolas" pitchFamily="34" charset="-122"/>
                <a:cs typeface="Consolas" pitchFamily="34" charset="-120"/>
              </a:rPr>
              <a:t>process(orders, 8)</a:t>
            </a:r>
            <a:endParaRPr lang="en-US" sz="1200" dirty="0"/>
          </a:p>
          <a:p>
            <a:pPr marL="342900" indent="-342900">
              <a:spcAft>
                <a:spcPts val="400"/>
              </a:spcAft>
              <a:buSzPct val="100000"/>
              <a:buFont typeface="+mj-lt"/>
              <a:buAutoNum type="arabicPeriod" startAt="1"/>
            </a:pPr>
            <a:r>
              <a:rPr lang="en-US" sz="1200" dirty="0">
                <a:solidFill>
                  <a:srgbClr val="1F2A24"/>
                </a:solidFill>
                <a:latin typeface="Calibri" pitchFamily="34" charset="0"/>
                <a:ea typeface="Calibri" pitchFamily="34" charset="-122"/>
                <a:cs typeface="Calibri" pitchFamily="34" charset="-120"/>
              </a:rPr>
              <a:t>; run </a:t>
            </a:r>
            <a:endParaRPr lang="en-US" sz="1200" dirty="0"/>
          </a:p>
          <a:p>
            <a:pPr marL="342900" indent="-342900">
              <a:spcAft>
                <a:spcPts val="400"/>
              </a:spcAft>
              <a:buSzPct val="100000"/>
              <a:buFont typeface="+mj-lt"/>
              <a:buAutoNum type="arabicPeriod" startAt="1"/>
            </a:pPr>
            <a:r>
              <a:rPr lang="en-US" sz="1200" dirty="0">
                <a:solidFill>
                  <a:srgbClr val="B4235A"/>
                </a:solidFill>
                <a:latin typeface="Consolas" pitchFamily="34" charset="0"/>
                <a:ea typeface="Consolas" pitchFamily="34" charset="-122"/>
                <a:cs typeface="Consolas" pitchFamily="34" charset="-120"/>
              </a:rPr>
              <a:t>mvn test</a:t>
            </a:r>
            <a:endParaRPr lang="en-US" sz="1200" dirty="0"/>
          </a:p>
          <a:p>
            <a:pPr marL="342900" indent="-342900">
              <a:spcAft>
                <a:spcPts val="400"/>
              </a:spcAft>
              <a:buSzPct val="100000"/>
              <a:buFont typeface="+mj-lt"/>
              <a:buAutoNum type="arabicPeriod" startAt="1"/>
            </a:pPr>
            <a:r>
              <a:rPr lang="en-US" sz="1200" dirty="0">
                <a:solidFill>
                  <a:srgbClr val="1F2A24"/>
                </a:solidFill>
                <a:latin typeface="Calibri" pitchFamily="34" charset="0"/>
                <a:ea typeface="Calibri" pitchFamily="34" charset="-122"/>
                <a:cs typeface="Calibri" pitchFamily="34" charset="-120"/>
              </a:rPr>
              <a:t>.</a:t>
            </a:r>
            <a:endParaRPr lang="en-US" sz="1200" dirty="0"/>
          </a:p>
          <a:p>
            <a:pPr marL="342900" indent="-342900">
              <a:spcAft>
                <a:spcPts val="400"/>
              </a:spcAft>
              <a:buSzPct val="100000"/>
              <a:buFont typeface="+mj-lt"/>
              <a:buAutoNum type="arabicPeriod" startAt="1"/>
            </a:pPr>
            <a:r>
              <a:rPr lang="en-US" sz="1200" dirty="0">
                <a:solidFill>
                  <a:srgbClr val="1F2A24"/>
                </a:solidFill>
                <a:latin typeface="Calibri" pitchFamily="34" charset="0"/>
                <a:ea typeface="Calibri" pitchFamily="34" charset="-122"/>
                <a:cs typeface="Calibri" pitchFamily="34" charset="-120"/>
              </a:rPr>
              <a:t>Run </a:t>
            </a:r>
            <a:endParaRPr lang="en-US" sz="1200" dirty="0"/>
          </a:p>
          <a:p>
            <a:pPr marL="342900" indent="-342900">
              <a:spcAft>
                <a:spcPts val="400"/>
              </a:spcAft>
              <a:buSzPct val="100000"/>
              <a:buFont typeface="+mj-lt"/>
              <a:buAutoNum type="arabicPeriod" startAt="1"/>
            </a:pPr>
            <a:r>
              <a:rPr lang="en-US" sz="1200" dirty="0">
                <a:solidFill>
                  <a:srgbClr val="B4235A"/>
                </a:solidFill>
                <a:latin typeface="Consolas" pitchFamily="34" charset="0"/>
                <a:ea typeface="Consolas" pitchFamily="34" charset="-122"/>
                <a:cs typeface="Consolas" pitchFamily="34" charset="-120"/>
              </a:rPr>
              <a:t>mvn clean package</a:t>
            </a:r>
            <a:endParaRPr lang="en-US" sz="1200" dirty="0"/>
          </a:p>
          <a:p>
            <a:pPr marL="342900" indent="-342900">
              <a:spcAft>
                <a:spcPts val="400"/>
              </a:spcAft>
              <a:buSzPct val="100000"/>
              <a:buFont typeface="+mj-lt"/>
              <a:buAutoNum type="arabicPeriod" startAt="1"/>
            </a:pPr>
            <a:r>
              <a:rPr lang="en-US" sz="1200" dirty="0">
                <a:solidFill>
                  <a:srgbClr val="1F2A24"/>
                </a:solidFill>
                <a:latin typeface="Calibri" pitchFamily="34" charset="0"/>
                <a:ea typeface="Calibri" pitchFamily="34" charset="-122"/>
                <a:cs typeface="Calibri" pitchFamily="34" charset="-120"/>
              </a:rPr>
              <a:t> and start the app with </a:t>
            </a:r>
            <a:endParaRPr lang="en-US" sz="1200" dirty="0"/>
          </a:p>
          <a:p>
            <a:pPr marL="342900" indent="-342900">
              <a:spcAft>
                <a:spcPts val="400"/>
              </a:spcAft>
              <a:buSzPct val="100000"/>
              <a:buFont typeface="+mj-lt"/>
              <a:buAutoNum type="arabicPeriod" startAt="1"/>
            </a:pPr>
            <a:r>
              <a:rPr lang="en-US" sz="1200" dirty="0">
                <a:solidFill>
                  <a:srgbClr val="B4235A"/>
                </a:solidFill>
                <a:latin typeface="Consolas" pitchFamily="34" charset="0"/>
                <a:ea typeface="Consolas" pitchFamily="34" charset="-122"/>
                <a:cs typeface="Consolas" pitchFamily="34" charset="-120"/>
              </a:rPr>
              <a:t>java -jar target/order-processor-1.0.0-SNAPSHOT.jar</a:t>
            </a:r>
            <a:endParaRPr lang="en-US" sz="1200" dirty="0"/>
          </a:p>
          <a:p>
            <a:pPr marL="342900" indent="-342900">
              <a:spcAft>
                <a:spcPts val="400"/>
              </a:spcAft>
              <a:buSzPct val="100000"/>
              <a:buFont typeface="+mj-lt"/>
              <a:buAutoNum type="arabicPeriod" startAt="1"/>
            </a:pPr>
            <a:r>
              <a:rPr lang="en-US" sz="1200" dirty="0">
                <a:solidFill>
                  <a:srgbClr val="1F2A24"/>
                </a:solidFill>
                <a:latin typeface="Calibri" pitchFamily="34" charset="0"/>
                <a:ea typeface="Calibri" pitchFamily="34" charset="-122"/>
                <a:cs typeface="Calibri" pitchFamily="34" charset="-120"/>
              </a:rPr>
              <a:t>.</a:t>
            </a:r>
            <a:endParaRPr lang="en-US" sz="1200" dirty="0"/>
          </a:p>
          <a:p>
            <a:pPr marL="342900" indent="-342900">
              <a:spcAft>
                <a:spcPts val="400"/>
              </a:spcAft>
              <a:buSzPct val="100000"/>
              <a:buFont typeface="+mj-lt"/>
              <a:buAutoNum type="arabicPeriod" startAt="1"/>
            </a:pPr>
            <a:r>
              <a:rPr lang="en-US" sz="1200" dirty="0">
                <a:solidFill>
                  <a:srgbClr val="1F2A24"/>
                </a:solidFill>
                <a:latin typeface="Calibri" pitchFamily="34" charset="0"/>
                <a:ea typeface="Calibri" pitchFamily="34" charset="-122"/>
                <a:cs typeface="Calibri" pitchFamily="34" charset="-120"/>
              </a:rPr>
              <a:t>Stretch: add a 5 ms simulated I/O delay per order and compare a fixed pool of 8 with </a:t>
            </a:r>
            <a:endParaRPr lang="en-US" sz="1200" dirty="0"/>
          </a:p>
          <a:p>
            <a:pPr marL="342900" indent="-342900">
              <a:spcAft>
                <a:spcPts val="400"/>
              </a:spcAft>
              <a:buSzPct val="100000"/>
              <a:buFont typeface="+mj-lt"/>
              <a:buAutoNum type="arabicPeriod" startAt="1"/>
            </a:pPr>
            <a:r>
              <a:rPr lang="en-US" sz="1200" dirty="0">
                <a:solidFill>
                  <a:srgbClr val="B4235A"/>
                </a:solidFill>
                <a:latin typeface="Consolas" pitchFamily="34" charset="0"/>
                <a:ea typeface="Consolas" pitchFamily="34" charset="-122"/>
                <a:cs typeface="Consolas" pitchFamily="34" charset="-120"/>
              </a:rPr>
              <a:t>Executors.newVirtualThreadPerTaskExecutor()</a:t>
            </a:r>
            <a:endParaRPr lang="en-US" sz="1200" dirty="0"/>
          </a:p>
          <a:p>
            <a:pPr marL="342900" indent="-342900">
              <a:spcAft>
                <a:spcPts val="400"/>
              </a:spcAft>
              <a:buSzPct val="100000"/>
              <a:buFont typeface="+mj-lt"/>
              <a:buAutoNum type="arabicPeriod" startAt="1"/>
            </a:pPr>
            <a:r>
              <a:rPr lang="en-US" sz="1200" dirty="0">
                <a:solidFill>
                  <a:srgbClr val="1F2A24"/>
                </a:solidFill>
                <a:latin typeface="Calibri" pitchFamily="34" charset="0"/>
                <a:ea typeface="Calibri" pitchFamily="34" charset="-122"/>
                <a:cs typeface="Calibri" pitchFamily="34" charset="-120"/>
              </a:rPr>
              <a:t>.</a:t>
            </a:r>
            <a:endParaRPr lang="en-US" sz="1200" dirty="0"/>
          </a:p>
        </p:txBody>
      </p:sp>
      <p:sp>
        <p:nvSpPr>
          <p:cNvPr id="8" name="Text 6"/>
          <p:cNvSpPr/>
          <p:nvPr/>
        </p:nvSpPr>
        <p:spPr>
          <a:xfrm>
            <a:off x="6217920" y="1883664"/>
            <a:ext cx="551657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OrderProcessor.java</a:t>
            </a:r>
            <a:endParaRPr lang="en-US" sz="900" dirty="0"/>
          </a:p>
        </p:txBody>
      </p:sp>
      <p:sp>
        <p:nvSpPr>
          <p:cNvPr id="9" name="Text 7"/>
          <p:cNvSpPr/>
          <p:nvPr/>
        </p:nvSpPr>
        <p:spPr>
          <a:xfrm>
            <a:off x="6217920" y="2157984"/>
            <a:ext cx="5516575" cy="419709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750" dirty="0">
                <a:solidFill>
                  <a:srgbClr val="24292F"/>
                </a:solidFill>
                <a:latin typeface="Consolas" pitchFamily="34" charset="0"/>
                <a:ea typeface="Consolas" pitchFamily="34" charset="-122"/>
                <a:cs typeface="Consolas" pitchFamily="34" charset="-120"/>
              </a:rPr>
              <a:t>import java.util.*;</a:t>
            </a:r>
            <a:endParaRPr lang="en-US" sz="750" dirty="0"/>
          </a:p>
          <a:p>
            <a:pPr indent="0" marL="0">
              <a:buNone/>
            </a:pPr>
            <a:r>
              <a:rPr lang="en-US" sz="750" dirty="0">
                <a:solidFill>
                  <a:srgbClr val="24292F"/>
                </a:solidFill>
                <a:latin typeface="Consolas" pitchFamily="34" charset="0"/>
                <a:ea typeface="Consolas" pitchFamily="34" charset="-122"/>
                <a:cs typeface="Consolas" pitchFamily="34" charset="-120"/>
              </a:rPr>
              <a:t>import java.util.concurrent.*;</a:t>
            </a:r>
            <a:endParaRPr lang="en-US" sz="750" dirty="0"/>
          </a:p>
          <a:p>
            <a:pPr indent="0" marL="0">
              <a:buNone/>
            </a:pPr>
            <a:r>
              <a:rPr lang="en-US" sz="750" dirty="0">
                <a:solidFill>
                  <a:srgbClr val="24292F"/>
                </a:solidFill>
                <a:latin typeface="Consolas" pitchFamily="34" charset="0"/>
                <a:ea typeface="Consolas" pitchFamily="34" charset="-122"/>
                <a:cs typeface="Consolas" pitchFamily="34" charset="-120"/>
              </a:rPr>
              <a:t>import java.util.concurrent.atomic.LongAdder;</a:t>
            </a:r>
            <a:endParaRPr lang="en-US" sz="750" dirty="0"/>
          </a:p>
          <a:p>
            <a:pPr indent="0" marL="0">
              <a:buNone/>
            </a:pPr>
            <a:endParaRPr lang="en-US" sz="750" dirty="0"/>
          </a:p>
          <a:p>
            <a:pPr indent="0" marL="0">
              <a:buNone/>
            </a:pPr>
            <a:r>
              <a:rPr lang="en-US" sz="750" dirty="0">
                <a:solidFill>
                  <a:srgbClr val="24292F"/>
                </a:solidFill>
                <a:latin typeface="Consolas" pitchFamily="34" charset="0"/>
                <a:ea typeface="Consolas" pitchFamily="34" charset="-122"/>
                <a:cs typeface="Consolas" pitchFamily="34" charset="-120"/>
              </a:rPr>
              <a:t>public class OrderProcessor {</a:t>
            </a:r>
            <a:endParaRPr lang="en-US" sz="750" dirty="0"/>
          </a:p>
          <a:p>
            <a:pPr indent="0" marL="0">
              <a:buNone/>
            </a:pPr>
            <a:r>
              <a:rPr lang="en-US" sz="750" dirty="0">
                <a:solidFill>
                  <a:srgbClr val="24292F"/>
                </a:solidFill>
                <a:latin typeface="Consolas" pitchFamily="34" charset="0"/>
                <a:ea typeface="Consolas" pitchFamily="34" charset="-122"/>
                <a:cs typeface="Consolas" pitchFamily="34" charset="-120"/>
              </a:rPr>
              <a:t>    record Order(int id, long amountPaise, String status) {}</a:t>
            </a:r>
            <a:endParaRPr lang="en-US" sz="750" dirty="0"/>
          </a:p>
          <a:p>
            <a:pPr indent="0" marL="0">
              <a:buNone/>
            </a:pPr>
            <a:endParaRPr lang="en-US" sz="750" dirty="0"/>
          </a:p>
          <a:p>
            <a:pPr indent="0" marL="0">
              <a:buNone/>
            </a:pPr>
            <a:r>
              <a:rPr lang="en-US" sz="750" dirty="0">
                <a:solidFill>
                  <a:srgbClr val="24292F"/>
                </a:solidFill>
                <a:latin typeface="Consolas" pitchFamily="34" charset="0"/>
                <a:ea typeface="Consolas" pitchFamily="34" charset="-122"/>
                <a:cs typeface="Consolas" pitchFamily="34" charset="-120"/>
              </a:rPr>
              <a:t>    static List&lt;Order&gt; sampleOrders(int n) {</a:t>
            </a:r>
            <a:endParaRPr lang="en-US" sz="750" dirty="0"/>
          </a:p>
          <a:p>
            <a:pPr indent="0" marL="0">
              <a:buNone/>
            </a:pPr>
            <a:r>
              <a:rPr lang="en-US" sz="750" dirty="0">
                <a:solidFill>
                  <a:srgbClr val="24292F"/>
                </a:solidFill>
                <a:latin typeface="Consolas" pitchFamily="34" charset="0"/>
                <a:ea typeface="Consolas" pitchFamily="34" charset="-122"/>
                <a:cs typeface="Consolas" pitchFamily="34" charset="-120"/>
              </a:rPr>
              <a:t>        String[] statuses = {"PAID", "PAID", "PENDING", "FAILED"};</a:t>
            </a:r>
            <a:endParaRPr lang="en-US" sz="750" dirty="0"/>
          </a:p>
          <a:p>
            <a:pPr indent="0" marL="0">
              <a:buNone/>
            </a:pPr>
            <a:r>
              <a:rPr lang="en-US" sz="750" dirty="0">
                <a:solidFill>
                  <a:srgbClr val="24292F"/>
                </a:solidFill>
                <a:latin typeface="Consolas" pitchFamily="34" charset="0"/>
                <a:ea typeface="Consolas" pitchFamily="34" charset="-122"/>
                <a:cs typeface="Consolas" pitchFamily="34" charset="-120"/>
              </a:rPr>
              <a:t>        List&lt;Order&gt; orders = new ArrayList&lt;&gt;();</a:t>
            </a:r>
            <a:endParaRPr lang="en-US" sz="750" dirty="0"/>
          </a:p>
          <a:p>
            <a:pPr indent="0" marL="0">
              <a:buNone/>
            </a:pPr>
            <a:r>
              <a:rPr lang="en-US" sz="750" dirty="0">
                <a:solidFill>
                  <a:srgbClr val="24292F"/>
                </a:solidFill>
                <a:latin typeface="Consolas" pitchFamily="34" charset="0"/>
                <a:ea typeface="Consolas" pitchFamily="34" charset="-122"/>
                <a:cs typeface="Consolas" pitchFamily="34" charset="-120"/>
              </a:rPr>
              <a:t>        for (int i = 1; i &lt;= n; i++) orders.add(new Order(i, 10_000L + (i % 7) * 2_500L, statuses[i % 4]));</a:t>
            </a:r>
            <a:endParaRPr lang="en-US" sz="750" dirty="0"/>
          </a:p>
          <a:p>
            <a:pPr indent="0" marL="0">
              <a:buNone/>
            </a:pPr>
            <a:r>
              <a:rPr lang="en-US" sz="750" dirty="0">
                <a:solidFill>
                  <a:srgbClr val="24292F"/>
                </a:solidFill>
                <a:latin typeface="Consolas" pitchFamily="34" charset="0"/>
                <a:ea typeface="Consolas" pitchFamily="34" charset="-122"/>
                <a:cs typeface="Consolas" pitchFamily="34" charset="-120"/>
              </a:rPr>
              <a:t>        return orders;</a:t>
            </a:r>
            <a:endParaRPr lang="en-US" sz="750" dirty="0"/>
          </a:p>
          <a:p>
            <a:pPr indent="0" marL="0">
              <a:buNone/>
            </a:pPr>
            <a:r>
              <a:rPr lang="en-US" sz="750" dirty="0">
                <a:solidFill>
                  <a:srgbClr val="24292F"/>
                </a:solidFill>
                <a:latin typeface="Consolas" pitchFamily="34" charset="0"/>
                <a:ea typeface="Consolas" pitchFamily="34" charset="-122"/>
                <a:cs typeface="Consolas" pitchFamily="34" charset="-120"/>
              </a:rPr>
              <a:t>    }</a:t>
            </a:r>
            <a:endParaRPr lang="en-US" sz="750" dirty="0"/>
          </a:p>
          <a:p>
            <a:pPr indent="0" marL="0">
              <a:buNone/>
            </a:pPr>
            <a:endParaRPr lang="en-US" sz="750" dirty="0"/>
          </a:p>
          <a:p>
            <a:pPr indent="0" marL="0">
              <a:buNone/>
            </a:pPr>
            <a:r>
              <a:rPr lang="en-US" sz="750" dirty="0">
                <a:solidFill>
                  <a:srgbClr val="24292F"/>
                </a:solidFill>
                <a:latin typeface="Consolas" pitchFamily="34" charset="0"/>
                <a:ea typeface="Consolas" pitchFamily="34" charset="-122"/>
                <a:cs typeface="Consolas" pitchFamily="34" charset="-120"/>
              </a:rPr>
              <a:t>    static Map&lt;String, Long&gt; process(List&lt;Order&gt; orders, int threads) throws InterruptedException {</a:t>
            </a:r>
            <a:endParaRPr lang="en-US" sz="750" dirty="0"/>
          </a:p>
          <a:p>
            <a:pPr indent="0" marL="0">
              <a:buNone/>
            </a:pPr>
            <a:r>
              <a:rPr lang="en-US" sz="750" dirty="0">
                <a:solidFill>
                  <a:srgbClr val="24292F"/>
                </a:solidFill>
                <a:latin typeface="Consolas" pitchFamily="34" charset="0"/>
                <a:ea typeface="Consolas" pitchFamily="34" charset="-122"/>
                <a:cs typeface="Consolas" pitchFamily="34" charset="-120"/>
              </a:rPr>
              <a:t>        LongAdder revenue = new LongAdder();</a:t>
            </a:r>
            <a:endParaRPr lang="en-US" sz="750" dirty="0"/>
          </a:p>
          <a:p>
            <a:pPr indent="0" marL="0">
              <a:buNone/>
            </a:pPr>
            <a:r>
              <a:rPr lang="en-US" sz="750" dirty="0">
                <a:solidFill>
                  <a:srgbClr val="24292F"/>
                </a:solidFill>
                <a:latin typeface="Consolas" pitchFamily="34" charset="0"/>
                <a:ea typeface="Consolas" pitchFamily="34" charset="-122"/>
                <a:cs typeface="Consolas" pitchFamily="34" charset="-120"/>
              </a:rPr>
              <a:t>        ConcurrentHashMap&lt;String, Long&gt; byStatus = new ConcurrentHashMap&lt;&gt;();</a:t>
            </a:r>
            <a:endParaRPr lang="en-US" sz="750" dirty="0"/>
          </a:p>
          <a:p>
            <a:pPr indent="0" marL="0">
              <a:buNone/>
            </a:pPr>
            <a:r>
              <a:rPr lang="en-US" sz="750" dirty="0">
                <a:solidFill>
                  <a:srgbClr val="24292F"/>
                </a:solidFill>
                <a:latin typeface="Consolas" pitchFamily="34" charset="0"/>
                <a:ea typeface="Consolas" pitchFamily="34" charset="-122"/>
                <a:cs typeface="Consolas" pitchFamily="34" charset="-120"/>
              </a:rPr>
              <a:t>        try (ExecutorService pool = Executors.newFixedThreadPool(threads)) {</a:t>
            </a:r>
            <a:endParaRPr lang="en-US" sz="750" dirty="0"/>
          </a:p>
          <a:p>
            <a:pPr indent="0" marL="0">
              <a:buNone/>
            </a:pPr>
            <a:r>
              <a:rPr lang="en-US" sz="750" dirty="0">
                <a:solidFill>
                  <a:srgbClr val="24292F"/>
                </a:solidFill>
                <a:latin typeface="Consolas" pitchFamily="34" charset="0"/>
                <a:ea typeface="Consolas" pitchFamily="34" charset="-122"/>
                <a:cs typeface="Consolas" pitchFamily="34" charset="-120"/>
              </a:rPr>
              <a:t>            List&lt;Callable&lt;Void&gt;&gt; tasks = orders.stream().&lt;Callable&lt;Void&gt;&gt;map(o -&gt; () -&gt; {</a:t>
            </a:r>
            <a:endParaRPr lang="en-US" sz="750" dirty="0"/>
          </a:p>
          <a:p>
            <a:pPr indent="0" marL="0">
              <a:buNone/>
            </a:pPr>
            <a:r>
              <a:rPr lang="en-US" sz="750" dirty="0">
                <a:solidFill>
                  <a:srgbClr val="24292F"/>
                </a:solidFill>
                <a:latin typeface="Consolas" pitchFamily="34" charset="0"/>
                <a:ea typeface="Consolas" pitchFamily="34" charset="-122"/>
                <a:cs typeface="Consolas" pitchFamily="34" charset="-120"/>
              </a:rPr>
              <a:t>                byStatus.merge(o.status(), 1L, Long::sum);                     // atomic per key</a:t>
            </a:r>
            <a:endParaRPr lang="en-US" sz="750" dirty="0"/>
          </a:p>
          <a:p>
            <a:pPr indent="0" marL="0">
              <a:buNone/>
            </a:pPr>
            <a:r>
              <a:rPr lang="en-US" sz="750" dirty="0">
                <a:solidFill>
                  <a:srgbClr val="24292F"/>
                </a:solidFill>
                <a:latin typeface="Consolas" pitchFamily="34" charset="0"/>
                <a:ea typeface="Consolas" pitchFamily="34" charset="-122"/>
                <a:cs typeface="Consolas" pitchFamily="34" charset="-120"/>
              </a:rPr>
              <a:t>                if (o.status().equals("PAID")) revenue.add(o.amountPaise() * 118 / 100);</a:t>
            </a:r>
            <a:endParaRPr lang="en-US" sz="750" dirty="0"/>
          </a:p>
          <a:p>
            <a:pPr indent="0" marL="0">
              <a:buNone/>
            </a:pPr>
            <a:r>
              <a:rPr lang="en-US" sz="750" dirty="0">
                <a:solidFill>
                  <a:srgbClr val="24292F"/>
                </a:solidFill>
                <a:latin typeface="Consolas" pitchFamily="34" charset="0"/>
                <a:ea typeface="Consolas" pitchFamily="34" charset="-122"/>
                <a:cs typeface="Consolas" pitchFamily="34" charset="-120"/>
              </a:rPr>
              <a:t>// … full listing in the web notes</a:t>
            </a:r>
            <a:endParaRPr lang="en-US" sz="75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C9C43D"/>
          </a:solidFill>
          <a:ln w="12700">
            <a:solidFill>
              <a:srgbClr val="C9C43D"/>
            </a:solidFill>
            <a:prstDash val="solid"/>
          </a:ln>
        </p:spPr>
      </p:sp>
      <p:sp>
        <p:nvSpPr>
          <p:cNvPr id="3" name="Text 1"/>
          <p:cNvSpPr/>
          <p:nvPr/>
        </p:nvSpPr>
        <p:spPr>
          <a:xfrm>
            <a:off x="457200" y="256032"/>
            <a:ext cx="1463040" cy="292608"/>
          </a:xfrm>
          <a:prstGeom prst="roundRect">
            <a:avLst>
              <a:gd name="adj" fmla="val 18750"/>
            </a:avLst>
          </a:prstGeom>
          <a:solidFill>
            <a:srgbClr val="9B6BF0"/>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QUIZ</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6</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Quiz: concurrency &amp; Maven</a:t>
            </a:r>
            <a:endParaRPr lang="en-US" sz="2800" dirty="0"/>
          </a:p>
        </p:txBody>
      </p:sp>
      <p:sp>
        <p:nvSpPr>
          <p:cNvPr id="6" name="Text 4"/>
          <p:cNvSpPr/>
          <p:nvPr/>
        </p:nvSpPr>
        <p:spPr>
          <a:xfrm>
            <a:off x="457200" y="1261872"/>
            <a:ext cx="11277295" cy="5093208"/>
          </a:xfrm>
          <a:prstGeom prst="rect">
            <a:avLst/>
          </a:prstGeom>
          <a:noFill/>
          <a:ln/>
        </p:spPr>
        <p:txBody>
          <a:bodyPr wrap="square" rtlCol="0" anchor="t"/>
          <a:lstStyle/>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Q1. What happens if you call </a:t>
            </a:r>
            <a:pPr indent="0" marL="0">
              <a:spcAft>
                <a:spcPts val="400"/>
              </a:spcAft>
              <a:buNone/>
            </a:pPr>
            <a:r>
              <a:rPr lang="en-US" sz="850" dirty="0">
                <a:solidFill>
                  <a:srgbClr val="B4235A"/>
                </a:solidFill>
                <a:latin typeface="Consolas" pitchFamily="34" charset="0"/>
                <a:ea typeface="Consolas" pitchFamily="34" charset="-122"/>
                <a:cs typeface="Consolas" pitchFamily="34" charset="-120"/>
              </a:rPr>
              <a:t>thread.run()</a:t>
            </a:r>
            <a:pPr indent="0" marL="0">
              <a:spcAft>
                <a:spcPts val="400"/>
              </a:spcAft>
              <a:buNone/>
            </a:pPr>
            <a:r>
              <a:rPr lang="en-US" sz="850" dirty="0">
                <a:solidFill>
                  <a:srgbClr val="1F2A24"/>
                </a:solidFill>
                <a:latin typeface="Calibri" pitchFamily="34" charset="0"/>
                <a:ea typeface="Calibri" pitchFamily="34" charset="-122"/>
                <a:cs typeface="Calibri" pitchFamily="34" charset="-120"/>
              </a:rPr>
              <a:t> instead of </a:t>
            </a:r>
            <a:pPr indent="0" marL="0">
              <a:spcAft>
                <a:spcPts val="400"/>
              </a:spcAft>
              <a:buNone/>
            </a:pPr>
            <a:r>
              <a:rPr lang="en-US" sz="850" dirty="0">
                <a:solidFill>
                  <a:srgbClr val="B4235A"/>
                </a:solidFill>
                <a:latin typeface="Consolas" pitchFamily="34" charset="0"/>
                <a:ea typeface="Consolas" pitchFamily="34" charset="-122"/>
                <a:cs typeface="Consolas" pitchFamily="34" charset="-120"/>
              </a:rPr>
              <a:t>thread.start()</a:t>
            </a:r>
            <a:pPr indent="0" marL="0">
              <a:spcAft>
                <a:spcPts val="400"/>
              </a:spcAft>
              <a:buNone/>
            </a:pPr>
            <a:r>
              <a:rPr lang="en-US" sz="850" dirty="0">
                <a:solidFill>
                  <a:srgbClr val="1F2A24"/>
                </a:solidFill>
                <a:latin typeface="Calibri" pitchFamily="34" charset="0"/>
                <a:ea typeface="Calibri" pitchFamily="34" charset="-122"/>
                <a:cs typeface="Calibri" pitchFamily="34" charset="-120"/>
              </a:rPr>
              <a:t>?</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Same as start()</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The task runs on the current thread — no new thread</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IllegalThreadStateException</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The thread starts twice</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Q2. Why does </a:t>
            </a:r>
            <a:pPr indent="0" marL="0">
              <a:spcAft>
                <a:spcPts val="400"/>
              </a:spcAft>
              <a:buNone/>
            </a:pPr>
            <a:r>
              <a:rPr lang="en-US" sz="850" dirty="0">
                <a:solidFill>
                  <a:srgbClr val="B4235A"/>
                </a:solidFill>
                <a:latin typeface="Consolas" pitchFamily="34" charset="0"/>
                <a:ea typeface="Consolas" pitchFamily="34" charset="-122"/>
                <a:cs typeface="Consolas" pitchFamily="34" charset="-120"/>
              </a:rPr>
              <a:t>count++</a:t>
            </a:r>
            <a:pPr indent="0" marL="0">
              <a:spcAft>
                <a:spcPts val="400"/>
              </a:spcAft>
              <a:buNone/>
            </a:pPr>
            <a:r>
              <a:rPr lang="en-US" sz="850" dirty="0">
                <a:solidFill>
                  <a:srgbClr val="1F2A24"/>
                </a:solidFill>
                <a:latin typeface="Calibri" pitchFamily="34" charset="0"/>
                <a:ea typeface="Calibri" pitchFamily="34" charset="-122"/>
                <a:cs typeface="Calibri" pitchFamily="34" charset="-120"/>
              </a:rPr>
              <a:t> from several threads lose updates?</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int overflows</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It is a non-atomic read-modify-write</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The JIT removes it</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Threads have separate heaps</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Q3. Which keyword guarantees visibility but NOT atomicity of compound actions?</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synchronized</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volatile</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final</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transient</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Q4. Main risk of </a:t>
            </a:r>
            <a:pPr indent="0" marL="0">
              <a:spcAft>
                <a:spcPts val="400"/>
              </a:spcAft>
              <a:buNone/>
            </a:pPr>
            <a:r>
              <a:rPr lang="en-US" sz="850" dirty="0">
                <a:solidFill>
                  <a:srgbClr val="B4235A"/>
                </a:solidFill>
                <a:latin typeface="Consolas" pitchFamily="34" charset="0"/>
                <a:ea typeface="Consolas" pitchFamily="34" charset="-122"/>
                <a:cs typeface="Consolas" pitchFamily="34" charset="-120"/>
              </a:rPr>
              <a:t>Executors.newFixedThreadPool(10)</a:t>
            </a:r>
            <a:pPr indent="0" marL="0">
              <a:spcAft>
                <a:spcPts val="400"/>
              </a:spcAft>
              <a:buNone/>
            </a:pPr>
            <a:r>
              <a:rPr lang="en-US" sz="850" dirty="0">
                <a:solidFill>
                  <a:srgbClr val="1F2A24"/>
                </a:solidFill>
                <a:latin typeface="Calibri" pitchFamily="34" charset="0"/>
                <a:ea typeface="Calibri" pitchFamily="34" charset="-122"/>
                <a:cs typeface="Calibri" pitchFamily="34" charset="-120"/>
              </a:rPr>
              <a:t> under a flood of tasks?</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It creates unlimited threads</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Its unbounded queue can grow until OutOfMemoryError</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It rejects tasks immediately</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It cannot return results</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Q5. Which phases run for </a:t>
            </a:r>
            <a:pPr indent="0" marL="0">
              <a:spcAft>
                <a:spcPts val="400"/>
              </a:spcAft>
              <a:buNone/>
            </a:pPr>
            <a:r>
              <a:rPr lang="en-US" sz="850" dirty="0">
                <a:solidFill>
                  <a:srgbClr val="B4235A"/>
                </a:solidFill>
                <a:latin typeface="Consolas" pitchFamily="34" charset="0"/>
                <a:ea typeface="Consolas" pitchFamily="34" charset="-122"/>
                <a:cs typeface="Consolas" pitchFamily="34" charset="-120"/>
              </a:rPr>
              <a:t>mvn package</a:t>
            </a:r>
            <a:pPr indent="0" marL="0">
              <a:spcAft>
                <a:spcPts val="400"/>
              </a:spcAft>
              <a:buNone/>
            </a:pPr>
            <a:r>
              <a:rPr lang="en-US" sz="850" dirty="0">
                <a:solidFill>
                  <a:srgbClr val="1F2A24"/>
                </a:solidFill>
                <a:latin typeface="Calibri" pitchFamily="34" charset="0"/>
                <a:ea typeface="Calibri" pitchFamily="34" charset="-122"/>
                <a:cs typeface="Calibri" pitchFamily="34" charset="-120"/>
              </a:rPr>
              <a:t>?</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Only package</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compile and package</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validate, compile, test, package</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clean, compile, package, install</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Q6. A library used only by your unit tests should have scope…</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compile</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provided</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runtime</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test</a:t>
            </a:r>
            <a:endParaRPr lang="en-US" sz="85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C9C43D"/>
          </a:solidFill>
          <a:ln w="12700">
            <a:solidFill>
              <a:srgbClr val="C9C43D"/>
            </a:solidFill>
            <a:prstDash val="solid"/>
          </a:ln>
        </p:spPr>
      </p:sp>
      <p:sp>
        <p:nvSpPr>
          <p:cNvPr id="3" name="Text 1"/>
          <p:cNvSpPr/>
          <p:nvPr/>
        </p:nvSpPr>
        <p:spPr>
          <a:xfrm>
            <a:off x="457200" y="256032"/>
            <a:ext cx="1463040" cy="292608"/>
          </a:xfrm>
          <a:prstGeom prst="roundRect">
            <a:avLst>
              <a:gd name="adj" fmla="val 18750"/>
            </a:avLst>
          </a:prstGeom>
          <a:solidFill>
            <a:srgbClr val="C99A2E"/>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SUMMARY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6</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Session 6 recap — and Module 1 complete</a:t>
            </a:r>
            <a:endParaRPr lang="en-US" sz="2800" dirty="0"/>
          </a:p>
        </p:txBody>
      </p:sp>
      <p:sp>
        <p:nvSpPr>
          <p:cNvPr id="6" name="Text 4"/>
          <p:cNvSpPr/>
          <p:nvPr/>
        </p:nvSpPr>
        <p:spPr>
          <a:xfrm>
            <a:off x="457200" y="1261872"/>
            <a:ext cx="11277295" cy="5093208"/>
          </a:xfrm>
          <a:prstGeom prst="rect">
            <a:avLst/>
          </a:prstGeom>
          <a:noFill/>
          <a:ln/>
        </p:spPr>
        <p:txBody>
          <a:bodyPr wrap="square" rtlCol="0" anchor="t"/>
          <a:lstStyle/>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Threads share the heap → shared mutable state needs atomicity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and</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visibility (happens-before).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Fix races with confinement, immutability,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synchronized</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/locks, atomics or concurrent collections; avoid deadlocks with lock ordering.</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Use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ExecutorService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(bounded!) with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Callable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Future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compose with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CompletableFuture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use virtual threads for blocking I/O.</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Maven = conventions + POM (GAV, properties, BOMs, dependencies, plugins) + lifecycle phases.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Module 1 gave you the Java foundation: JVM, OOP, exceptions, functional style, collections, streams, hashing, concurrency and builds.</a:t>
            </a:r>
            <a:endParaRPr lang="en-US" sz="1700" dirty="0"/>
          </a:p>
        </p:txBody>
      </p:sp>
      <p:sp>
        <p:nvSpPr>
          <p:cNvPr id="7" name="Text 5"/>
          <p:cNvSpPr/>
          <p:nvPr/>
        </p:nvSpPr>
        <p:spPr>
          <a:xfrm>
            <a:off x="457200" y="3867912"/>
            <a:ext cx="11277295" cy="2487168"/>
          </a:xfrm>
          <a:prstGeom prst="rect">
            <a:avLst/>
          </a:prstGeom>
          <a:noFill/>
          <a:ln/>
        </p:spPr>
        <p:txBody>
          <a:bodyPr wrap="square" rtlCol="0" anchor="t"/>
          <a:lstStyle/>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Race condition</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Result depends on thread timing because shared state is accessed without coordination.</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Happens-before</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JMM guarantee that one action’s effects are visible to another (locks, volatile, join, start).</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CAS</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Compare-and-set: atomic update without locks, retried on conflict.</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Deadlock</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Threads wait on each other’s locks forever (circular wait).</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Future</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Handle to a pending result; get() blocks and wraps failures in ExecutionException.</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Virtual thread</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Lightweight JVM-scheduled thread (Java 21) — cheap to block, ideal for I/O.</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BOM</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A POM that only manages dependency versions (imported with scope import).</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Lifecycle phase</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An ordered build step; running one runs all earlier phases.</a:t>
            </a:r>
            <a:endParaRPr lang="en-US" sz="13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87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87</Slides>
  <Notes>87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87</vt:i4>
      </vt:variant>
    </vt:vector>
  </HeadingPairs>
  <TitlesOfParts>
    <vt:vector size="9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1: Core Java &amp; OOP Fundamentals</dc:title>
  <dc:subject>Java Backend Development Course With IBM Certification</dc:subject>
  <dc:creator>Java Backend Interactive Course Notes</dc:creator>
  <cp:lastModifiedBy>Java Backend Interactive Course Notes</cp:lastModifiedBy>
  <cp:revision>1</cp:revision>
  <dcterms:created xsi:type="dcterms:W3CDTF">2026-10-25T08:00:51Z</dcterms:created>
  <dcterms:modified xsi:type="dcterms:W3CDTF">2026-10-25T08:00:51Z</dcterms:modified>
</cp:coreProperties>
</file>