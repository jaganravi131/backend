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notesMasterIdLst>
    <p:notesMasterId r:id="rId8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notesMaster" Target="notesMasters/notesMaster1.xml"/><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Spring Boot, REST &amp; Databases. Build production-ready APIs, connect to real databases, and launch your first backend project — a Splitwise-style expense sharing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each brochure topic and where it is taught.
Project: Minor Project: Splitwise Backend — Environment setup, technical architecture &amp; data modeling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7: Maven Plugins, Archetypes &amp; Project Setup.
Before you start: Session 6: POM basics, GAV coordinates, scopes and the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last session: phases are the what, plugins are the how. The packaging type decides the default bindings — jar packaging binds jar:jar to package.
Most plugins have sensible defaults; you only add configuration to change behaviour. With Spring Boot's parent POM, versions of the common plugins are already managed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(fast, no external systems) run in test; integration tests (database, HTTP, Kafka) run in integration-test after package, and verify fails the build afterwards — so cleanup can still happen if tests fail.
dependencyConvergence fails the build when two paths pull different versions of the same library — the cause of many NoSuchMethodError surprises.
Run ./mvnw verify, then open target/site/jacoco/index.html to see line and branch coverage. We'll use it on the Splitwise tests in Session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 archetypeVersion in scripts so the generated project does not change under you.
Initializr's dependency id web maps to spring-boot-starter-webmvc in Spring Boot 4 — the old spring-boot-starter-web name was renamed.
The quickstart archetype is perfect for small tools and katas; for anything Spring-based, start from Initializr.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generated tree: src/main/resources/application.properties (or .yml), static/ and templates/ folders, the test class with @SpringBootTest, and the Maven wrapper.
The fat JAR produced by spring-boot-maven-plugin:repackage contains your classes plus all dependency JARs and a launcher — one file to deploy, which is what our Docker images will run in Session 23.
DevTools restarts the app automatically when classes change and is excluded from the packaged 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module depends on a sibling like any other dependency (groupId, artifactId); the version comes from the parent's dependencyManagement.
dependencyManagement never adds a dependency by itself — it only fixes the version if a child declares it. This is the same mechanism the Spring Boot parent uses.
Interview question: parent POM vs BOM import? A parent is inherited (one only) and can also configure plugins; a BOM is imported into dependencyManagement (many allowed) and only manages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&amp; GitHub are in the brochure's tech stack and you will use them for every project. A clean GitHub history is also your portfolio for interviews.
Never commit credentials. If a secret is pushed, rotate it immediately — deleting the commit is not enough because forks and caches keep it. From Session 23 secrets come from environment variables or a secret manager.
In Session 23 the same repository gains a GitHub Actions workflow that runs ./mvnw verify on every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workspace becomes the Splitwise project in Session 12, so make sure every student finishes with a green build and a pushed repository.
Typical issues: JAVA_HOME pointing to an older JDK (fix your IDE's project SDK), corporate proxies blocking Maven Central (configure ~/.m2/settings.xml), and port 8080 already in use (server.port8081).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Q4 to reinforce the BOM idea from Session 6: the Spring Boot parent is the biggest BOM students will ever use, and overriding a managed version is just a property, e.g. &lt;mysql.version&gt;.
Q1 answer: B — Failsafe binds to integration-test and verify, running after package and failing the build in verify.
Q2 answer: B — Like dependencyManagement, it only configures; a module must list the plugin under &lt;plugins&gt; to run it.
Q3 answer: B — Boot 4 renamed spring-boot-starter-web to spring-boot-starter-webmvc.
Q4 answer: B — The parent inherits spring-boot-dependencies, a BOM that pins compatible versions of hundreds of libraries.
Q5 answer: B — .gitignore lists untracked patterns; build output and secrets should never be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session: what Spring actually does when that app starts — IoC, dependency injection, auto-configuration — and how Spring MVC handles HTTP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8: Spring Boot Foundations, Spring MVC Architecture &amp; HTTP Methods.
Before you start: Session 2 (programming to interfaces) and Session 7 (a running Spring Boot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the DipDemo from Session 2: main() constructed EmailSender, SmsSender and OrderService manually. In a real system there are hundreds of such objects — Spring builds that object graph for us, in the right order, and makes it easy to swap implementations (e.g. a fake sender in tests).
The modules on this slide map to the rest of the course: MVC &amp; Data in Module 2, Security &amp; testing in Module 3, Cloud &amp; Kafka in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Singleton scope means one instance per application context, shared by all requests and threads — so beans should be stateless (or hold only thread-safe state). This links back to the thread-safety lessons of Session 6.
If two beans implement the same interface and you inject the interface, startup fails with NoUniqueBeanDefinitionException — fix it with @Primary, @Qualifier, or by injecting List&lt;Interface&gt; to get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Injecting Clock instead of calling LocalTime.now() directly is a small but professional habit: tests can inject Clock.fixed(...) and get deterministic times.
@SpringBootApplication triggers component scanning of its own package and sub-packages — that's why notify and orders live under com.example.demo. A bean outside that tree is silently not found.
Ask students to remove @Primary and read the startup failure message: Spring explains exactly which beans conflict and suggests the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the 'magic': auto-configuration is just regular @Configuration classes listed in META-INF/spring/org.springframework.boot.autoconfigure.AutoConfiguration.imports inside Boot's JARs, each with conditions.
Spring Boot 4 split auto-configuration into many smaller modules aligned with the starters, so applications only load what they actually use.
Embedded server: the web server is a library inside your app, not the other way round — which is what makes java -jar app.jar and containers so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Prefer @ConfigurationProperties records over scattered @Value("${...}") annotations: they're type-safe, validated (@Validated), documented in IDE autocomplete, and easy to test.
Secrets (DB passwords, OAuth client secrets) must come from environment variables or a secret manager — never from a committed YAML file. That rule becomes concrete in Sessions 18 and 23.
--- separates documents in one YAML file; spring.config.activate.on-profile makes a document apply only for that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Idempotency matters because networks fail: a client that timed out will retry. Retrying PUT or DELETE is harmless; retrying POST may create a duplicate expense — which is why payment APIs accept an Idempotency-Key header (we implement one in Session 22).
401 vs 403 is a classic confusion: 401 Unauthorized really means unauthenticated (who are you?); 403 Forbidden means authenticated but not allowed. Session 16 makes this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pipeline as an onion: filters (outer), DispatcherServlet, interceptors, controller (core). Knowing where code runs explains many bugs, e.g. a filter cannot see which controller method will handle the request, but an interceptor can.
Classic Spring MVC returns view names rendered by Thymeleaf/JSP templates. REST controllers return data instead; @RestController adds @ResponseBody to every method so return values are written to the response body.
Spring Boot registers the DispatcherServlet automatically, mapped to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controller is a singleton used by all request threads at once, so its in-memory store must be a ConcurrentHashMap and ids an AtomicLong — Session 6 in action. Next session we move logic into a service layer, and in Session 10 into a real database.
Spring answers HEAD and OPTIONS automatically for mapped paths (try curl -i -X OPTIONS localhost:8080/api/v1/contacts).
Jackson (version 3 in Spring Boot 4) serialises records out of the box: component names become JSON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Security (Session 16) is implemented as a chain of servlet filters — understanding filters now pays off later.
OncePerRequestFilter guarantees a single execution per request even with internal forwards/error dispatches.
Next session we'll see a third, even more general mechanism for cross-cutting concerns: AOP.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around and check that nobody uses field injection and that the service — not the controller — owns the data. That separation is what lets us swap the map for a database in Session 10 without touching the controller.
Postman/Insomnia/HTTPie are all fine; insist that students read the status line, not just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Q3, ask a student to give a real example where a non-idempotent POST causes harm on retry (double payment) and how an idempotency key prevents it.
Q1 answer: B — Constructor injection makes dependencies explicit and final, and works without Spring in unit tests.
Q2 answer: C — One instance per application context — so beans should be stateless or thread-safe.
Q3 answer: C — PUT changes state (not safe) but repeating the same PUT leaves the same final state (idempotent). DELETE is the other example.
Q4 answer: B — 201 plus Location: /api/v1/contacts/1 tells the client where the new resource lives.
Q5 answer: B — The DispatcherServlet receives every request and delegates to handler mappings, adapters, converters and resolvers.
Q6 answer: B — It marks a configuration class, turns on auto-configuration and scans the package tree for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session: designing REST APIs properly (resources, DTOs, validation, error responses, pagination) and handling cross-cutting concerns with AOP — plus Lombok to remove boilerplate.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9: RESTful API Design &amp; Implementation, AOP &amp; Lombok.
Before you start: Session 8: Spring beans, @RestController, HTTP methods and status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production 'REST' APIs are Level 2 — and that is a perfectly good target. Level 3 (HATEOAS) is valuable for long-lived public APIs; Spring HATEOAS supports it, but we won't need it for our projects.
Statelessness is the property that lets us run five copies of the Splitwise API behind a load balancer (Session 23): any instance can serve any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reviews start with this table, not with code. Ask the class: should balances be stored or computed? (Computed from expenses and settlements — a read model; we revisit this in Session 13.)
Never put verbs like /createGroup in URIs and never use GET for operations that change data — crawlers, prefetchers and retries assume GET is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Exposing entities directly causes real problems: accidental data leaks, lazy-loading exceptions during JSON serialisation (Session 11), infinite recursion with bidirectional relations, and an API that breaks whenever a column changes.
Records are ideal DTOs: immutable, concise, and Jackson 3 handles them natively. Mapping can be manual (clear, explicit) or generated with MapStruct for large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spring-boot-starter-validation brings Hibernate Validator. Without @Valid the annotations are ignored — a classic bug.
Distinguish syntactic validation (annotations: required, positive, max length) from business rules (payer must participate, group must be active) which need data and live in the service.
Money is BigDecimal with @Digits(fraction 2) — never double (Session 1 warned us). JSON numbers like 2400.00 map straight onto BigDecimal.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Session 2's custom exceptions: services throw meaningful domain exceptions; this advice is the single place that maps them to HTTP. Controllers stay free of try/catch.
HttpStatus.UNPROCESSABLE_CONTENT is the Spring Framework 7 name for 422 (the older UNPROCESSABLE_ENTITY is deprecated). Use 422 for semantically invalid requests and 409 Conflict for state conflicts such as duplicates or version clashes.
Never leak stack traces or SQL in error bodies — log them server-side with the request id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AOP every service method would start with timing code, logging, a security check and a transaction begin/commit — duplicated hundreds of times and easy to forget.
Spring AOP is proxy-based: the bean other beans receive is a proxy wrapping your object. Only calls that go through the proxy are advised — remember this for the self-invocation pitfall on the next slides.
Full AspectJ (compile- or load-time weaving) can advise field access and constructors too, but Spring's proxy model covers almost every backend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@Around is the most powerful advice: it decides whether and when the target runs (proceed()), can change arguments and return values, and can catch exceptions. Use the weakest advice that does the job.
Binding the annotation as a parameter (@annotation(audited)) gives typed access to its attributes.
Be careful what you log: arguments may contain personal data or secrets. Production audit logs mask sensitive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common Spring bugs in real projects and a favourite interview question: Why doesn't my @Transactional/@Cacheable work? Answer: self-invocation or a non-public method.
You can see the proxy at runtime: service.getClass() prints something like ExpenseService$$SpringCGLIB$$0.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 JDKs no longer run annotation processors found on the classpath implicitly, so declaring Lombok in annotationProcessorPaths is required for reliable builds — Spring Initializr generates it. IntelliJ needs the Lombok plugin (bundled) and annotation processing enabled.
Why not @Data on entities? It generates equals/hashCode/toString over all fields, which triggers lazy loading and infinite recursion on bidirectional relationships (Session 11).
Lombok is a compile-time dependency only; it is excluded from the runtime 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placeholders — log.info("user {} paid {}", id, amount) — not string concatenation: the message is only built if the level is enabled. Pass the exception as the last argument to get the stack trace: log.error("payment failed for {}", id, ex).
MDC (Mapped Diagnostic Context) attaches the request id to every line logged while handling that request, so you can grep one request's story across the logs. Session 24 extends this to distributed tracing across services.
Structured (JSON) logging is built into Spring Boot via logging.structured.format. (ECS, GELF, Logstash formats).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end with four distinct, well-formed responses: 201, 400 with an errors map, 404 and 422 — all application/problem+json except the success.
If an aspect doesn't fire, check: is the class a Spring bean, is the method public, is it called from another bean (not this), and does the pointcut actually match the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deserves a whiteboard sketch: caller → proxy → target, and the internal call that never leaves the target object.
For Q1, push back on answers that use PUT: a client cannot know the id of a settlement that doesn't exist yet, so creation via POST to the collection is the natural fit.
Q1 answer: B — A settlement is a resource that gets created inside a group: POST to the collection, 201 on success.
Q2 answer: B — Malformed or invalid input is a client error: 400 with details of each failing field.
Q3 answer: B — Spring's proxy-based AOP intercepts method calls on beans (full AspectJ supports more join point types).
Q4 answer: B — Self-invocation doesn't pass through the proxy, so no advice — including transactions — is applied.
Q5 answer: C — It generates a constructor for all final (and @NonNull) fields; with a single constructor Spring injects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session: persistence with plain JDBC — DDL/DML, connections, PreparedStatements — and then Spring's JdbcTemplate with RowMapper to implement full CRUD.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10: JDBC, DDL/DML, Spring JdbcTemplate, CRUD Operations &amp; RowMapper.
Before you start: Session 9 (layered REST API). Docker installed to run MySQL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MySQL 8.4 is the current LTS line and what our Docker setup uses. InnoDB (the default engine) gives us transactions, row-level locking and foreign keys.
Keep validation in layers: Bean Validation at the API edge, business rules in services, and constraints in the database — the only layer that sees every writer, including scripts and other services.
Normalisation in one sentence per form: 1NF — atomic values, no repeating groups; 2NF — every non-key column depends on the whole key; 3NF — no non-key column depends on another non-key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write WHERE on UPDATE/DELETE — try running the DELETE without it on a copy to feel the danger. MySQL Workbench's 'safe updates' mode exists for this reason.
DECIMAL(12,2) stores money exactly; FLOAT/DOUBLE never. TRUNCATE (DDL) empties a table fast and resets AUTO_INCREMENT; DELETE (DML) removes rows one by one and can be rolled back.
ON DELETE CASCADE on memberships means deleting a group removes its memberships automatically — but we deliberately did not cascade from users, so deleting a user with groups fails instead of silently destroying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JDBC is just interfaces, switching from MySQL to PostgreSQL mostly means swapping the driver and fixing vendor-specific SQL.
HikariCP is fast and has sane defaults (10 connections). A pool that is too small makes requests queue for connections; one that is too large overloads the database. Size it from measurements, not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the boilerplate: getting connections, three nested try-with-resources, manual mapping column by column, checked SQLException everywhere, manual commit/rollback. JdbcTemplate removes all of it.
The transfer shows atomicity: if the debit violates the CHECK (balance &gt; 0) constraint, the rollback guarantees the credit never happens.
Run with the driver on the classpath, e.g. java -cp .:mysql-connector-j.jar JdbcDemo; modern drivers register themselves automatically (no Class.forName needed).
Expected output:
inserted user id=4
4 zoya@example.com Zoya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idea: build a tiny /search?email endpoint with concatenation against the dev database, send x' OR '1''1, and watch every user come back. Then switch to a bound parameter and show it returns nothing.
Sorting is the classic place where people reintroduce injection: ORDER BY + userInput. Map the user's choice to a fixed set of column names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 translation is a big deal: your service code catches meaningful, database-independent exceptions (DuplicateKeyException) instead of parsing vendor error codes from SQLException.
JdbcTemplate is still widely used for reporting queries, bulk operations and performance-critical paths, even in applications whose main persistence is JPA (Session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spring.sql.init.modealways is handy for learning; in real projects schema changes are versioned with Flyway or Liquibase migrations (Boot 4 needs spring-boot-starter-flyway), which we adopt in Session 12.
${DB_PASSWORD} is resolved from an environment variable (export DB_PASSWORDapppw) or any other property source — keep secrets out of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queryForObject throws EmptyResultDataAccessException when no row matches; query(...).stream().findFirst() returns an Optional — usually nicer for 'find by id'.
update returns the number of affected rows: 0 means 'not found' for updates and deletes — a cheap way to return 404 without an extra SELECT.
batchUpdate sends many inserts in round trips of 100, often 10–50× faster than individual inserts. With MySQL add rewriteBatchedStatementstrue to the JDBC URL for the full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 text blocks (""") make multi-line SQL readable without string concatenation.
query(GroupSummary.class) uses a data-class row mapper: column labels are matched to record components, with snake_case → camelCase conversion.
JdbcTemplate, NamedParameterJdbcTemplate and JdbcClient can be mixed; JdbcClient is the most pleasant for new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Transactions belong in the service layer because that's where a business operation is defined — creating a group with its members is one unit of work.
Isolation is about concurrent transactions seeing each other's changes. Higher isolation fewer anomalies but more locking. For money movements we'll combine transactions with explicit locking or optimistic versioning (Sessions 13 and 22).
Keep transactions short: never call a slow remote service while holding a DB transaction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state directly in MySQL after each API call (SELECT FROM users;). Seeing the rows appear (and not appear after a rollback) makes transactions tangible.
If the app fails to start with 'Access denied', check DB_PASSWORD is exported in the same terminal/IDE run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surprises many developers. Discuss why: checked exceptions historically represented 'expected business outcomes', so Spring followed the EJB convention of committing.
Q1 answer: B — It changes structure (schema), so it's Data Definition Language.
Q2 answer: B — The SQL text is fixed and values are bound separately, so input can never change the query's structure.
Q3 answer: B — RowMapper&lt;T&gt;.mapRow(rs, rowNum) converts the current row into a T; the template iterates the rows for you.
Q4 answer: B — Spring translates the vendor error into its unchecked DataAccessException hierarchy; DuplicateKeyException maps nicely to HTTP 409.
Q5 answer: B — Spring rolls back on unchecked exceptions and errors; checked exceptions commit unless rollbackFor is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session: ORM with Hibernate and Spring Data JPA — entities instead of rows, repositories without SQL, and mapping relationships like users ↔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11: Hibernate, Spring Data JPA &amp; Entity Relationships.
Before you start: Session 10: SQL, keys, JDBC and @Transactional.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session we wrote SQL and RowMappers by hand. With JPA we map classes once and let Hibernate generate INSERT/UPDATE/SELECT statements — huge productivity, but we must understand what SQL it generates. Always keep SQL logging on while learning.
Spring Boot 4 ships Hibernate 7 and Jakarta Persistence 3.2. The javax.persistence package from old tutorials no longer exists — it's jakarta.persistence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explains the most surprising JPA behaviour for beginners: 'I changed the name and it was saved even though I never called save!' — because the entity was managed inside a @Transactional method.
JpaRepository.save() calls persist for new entities and merge for detached ones. For an already managed entity it's a no-op apart from returning it.
Each request should use a short transaction in the service layer; the persistence context lives exactly as long as that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use EnumType.STRING: the default ORDINAL stores 0/1/2 and silently corrupts data when someone reorders the enum.
Why this equals/hashCode? A new entity has no id until it is persisted; a hash code based on the id would change and break HashSet membership (Session 5!). A constant per-class hash code with id-based equality is the standard safe recipe.
Note other.getId() rather than other.id: Hibernate may hand you a lazy proxy subclass whose fields are not populated — only its getters load the real data.
Records cannot be entities (entities need mutability and a no-arg constructor), but they are perfect for DTOs and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Derived query keywords: findBy, existsBy, countBy, deleteBy + properties combined with And, Or, Between, LessThan, Containing, IgnoreCase, OrderBy…. Startup fails fast if a property name is wrong — a nice safety net.
JPQL queries entities and fields (User u, u.createdAt), not tables and columns. Use native queries for vendor-specific features, and keep parameters bound.
Returning our own PageResponse record gives clients a stable JSON shape instead of serialising Spring's internal PageImpl.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membership has extra data (role, joined_at), so we model it as its own entity GroupMember with two @ManyToOnes instead of a @ManyToMany. This is the most common real-world advice: start with an explicit join entity.
We use a surrogate id plus a UNIQUE (group_id, user_id) constraint for group_members. A composite primary key works too, but needs @EmbeddedId + @MapsId, which is more complex to get right.
mappedBy tells JPA 'the foreign key lives on the other side'; only changes to the owning side are written to the database — hence helper methods that update both sides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cascade ALL + orphanRemoval true makes ExpenseGroup the aggregate root: you save, update and delete members only through the group. That's a DDD idea that keeps invariants (no duplicate members) in one place.
Notice getMembers() returns an unmodifiable view: outside code can't bypass addMember's rules.
rename has no save() call: the group is managed inside the transaction, so dirty checking flushes the UPDATE at commit (and @Version protects it from concurrent 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on logging.level.org.hibernate.SQLDEBUG during development and count the queries for each endpoint. Ten groups → eleven queries is a bug that becomes a disaster at a thousand groups.
Open Session in View (enabled by default in Spring Boot, with a startup warning) keeps the persistence context open during rendering, hiding N+1 problems until production load. Disabling it forces explicit fetching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Fetch-joining several collections at once multiplies rows (a Cartesian product); fetch one collection per query or use batch fetching for the rest.
Paging + collection fetch join is a trap: Hibernate has to paginate in memory (it warns about it). Page over ids or DTOs instead.
Pessimistic locks block other writers until commit — strong but costly. Optimistic @Version checks (next slide) are the usual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Dependencies for Flyway in Spring Boot 4: spring-boot-starter-flyway plus org.flywaydb:flyway-mysql (MySQL support lives in its own module). Versions are managed by Boot.
Never use ddl-auto: update in production: it can't rename or drop columns safely and leaves no audit trail. Migrations are code — reviewed, versioned and repeatable on every environment.
Optimistic locking needs no database locks at all, which makes it ideal for web apps where users 'think' between reading and saving.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errors: Schema-validation: missing column [version] (migration and entity disagree — that's validate doing its job), and LazyInitializationException (map to DTOs inside the transactional service).
Ask students to paste their before/after SQL logs for the N+1 step — seeing 11 queries collapse into 1 is the lesson that sticks.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is often answered wrong. Draw the tables: the group_id column physically lives in group_members, so GroupMember.group is the owning side.
Q1 answer: B — Managed entities are dirty-checked; pending changes are flushed before commit.
Q2 answer: C — The FK column lives on the many side; mappedBy marks the inverse side whose changes are not persisted.
Q3 answer: B — One query for the list plus one lazy load per group. Fix with a fetch join, an entity graph or a DTO projection.
Q4 answer: B — ORDINAL stores positions (0, 1, 2…); inserting or reordering constants changes their meaning.
Q5 answer: B — UPDATEs include WHERE version ?; a stale write updates 0 rows and fails with an optimistic locking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session is the Splitwise project, part 1: environment setup, technical architecture, flowcharts, HLSD and the complete data model — everything from Module 2 comes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12: Minor Project — Splitwise Backend (Part 1): Setup, Architecture &amp; Data Modeling.
Before you start: Sessions 7–11: project setup, REST design, JDBC/JPA,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project of the course (tech: Spring Boot, MySQL, Hibernate, REST). Treat it like a real product: requirements first, design second, code third.
Show the actual Splitwise app on a phone if possible: a group 'Goa Trip', someone adds 'Dinner ₹2,400 paid by Asha, split equally among 4', and everyone's balance updates. That is the flow we will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contract before the code and share it with the frontend team (or with your future self). Changing a table now costs minutes; changing a public API later costs a migration plan.
Business rules to capture now: only members can be part of an expense; the payer must be a member; split amounts must add up to the total exactly; a member with a non-zero balance cannot be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Package by feature (user, group, expense) rather than by layer (controllers, services): related code stays together and features can later be extracted into microservices (Module 4).
docker compose up -d then docker compose ps — wait for healthy before starting the app if you don't use the Boot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HLSD (high-level system design) answers: what are the components, how do they talk, where does data live, and how does it scale and fail? Interviewers expect you to sketch exactly this before writing any code.
Why not microservices immediately? A small team and a young domain benefit from one deployable unit. Module 4 shows when and how to split — and the Airbnb project does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two failure paths: participant not in the group (422, nothing saved) and a database error after saving the expense but before the splits (transaction rollback — still nothing saved).
The SplitStrategy box is deliberately abstract: in Session 13 it becomes the Strategy pattern, one class per split type, selected from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Invariant: the balances of a group always sum to zero. That's a great property to assert in tests (Session 14).
Derived vs stored balances: computing from expenses/splits/settlements is always correct but costs a query; storing running balances is fast but needs careful concurrency control. We compute (and cache with Redis in Session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not store percentages instead of amounts? Because rounding must be resolved once, at write time, so that every reader sees the same paise. The split type is kept for display and editing.
Money columns are DECIMAL(12,2): up to ₹9,999,999,999.99 — plenty for group expenses.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Flyway records each applied migration in flyway_schema_history; never edit an applied migration — add V2__... instead.
TIMESTAMP(6) keeps microseconds, matching Java's Instant precision closely and giving stable ordering for activity feeds.
With ddl-auto: validate, Hibernate verifies at startup that the entities match this schema — a mismatch fails fast instead of corrupting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compareTo instead of equals for BigDecimal: new BigDecimal("10.00").equals(new BigDecimal("10.0")) is false because the scales differ (see the next slide).
The Settlement entity follows the same pattern: group, payer, payee, amount, settledAt — students write it in the lab.
Keeping the 'shares must add up' rule inside the entity means no service can ever persist an inconsistent expense.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in integer paise for the division avoids rounding-mode debates entirely; converting back with BigDecimal.valueOf(paise, 2) gives clean two-decimal amounts.
Always construct BigDecimal from strings (new BigDecimal("0.1")), never from doubles — new BigDecimal(0.1) captures the binary error 0.1000000000000000055511….
This function becomes EqualSplitStrategy in Session 13, and its unit tests (100/3, 2400/4, 0.01/2) are the first tests we write in Session 14.
Expected output:
0.30000000000000004
0.3
[33.34, 33.33, 33.33] sum=100.00
[600.00, 600.00, 600.00, 600.00]
false vs compareTo=0
rejected: Rounding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Grading checklist: app starts against a fresh database; migrations apply cleanly; every endpoint returns the documented status codes; no entity is returned directly from a controller; README explains the design.
Encourage small commits per step — it makes the PR easy to review and shows good habits to future employers browsing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Q3 to discuss alternatives (computing shares on the fly from percentages) and why they fail when two readers round differently.
Q1 answer: B — 0.1 + 0.2 is 0.30000000000000004 in double. DECIMAL/BigDecimal represent paise exactly.
Q2 answer: B — 10,000 paise / 3 3,333 remainder 1; the first participant absorbs the extra paisa so the total stays exactly 100.00.
Q3 answer: B — Rounding is resolved once at write time; balances become simple sums over stored shares.
Q4 answer: B — MySQL 8 reserves GROUPS (window functions). Avoid reserved words rather than quoting them everywhere.
Q5 answer: C — Positive means others owe them; negative means they owe. Across the group, balances sum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is complete: students now have a real Spring Boot service on MySQL. Module 3 continues the same project — expense flows and group management in Session 13, then testing, caching and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ODY">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6446520"/>
            <a:ext cx="11277295" cy="0"/>
          </a:xfrm>
          <a:prstGeom prst="line">
            <a:avLst/>
          </a:prstGeom>
          <a:noFill/>
          <a:ln w="9525">
            <a:solidFill>
              <a:srgbClr val="D5DDD7"/>
            </a:solidFill>
            <a:prstDash val="solid"/>
          </a:ln>
        </p:spPr>
      </p:sp>
      <p:sp>
        <p:nvSpPr>
          <p:cNvPr id="3" name="Text 1"/>
          <p:cNvSpPr/>
          <p:nvPr/>
        </p:nvSpPr>
        <p:spPr>
          <a:xfrm>
            <a:off x="457200" y="6473952"/>
            <a:ext cx="10362895" cy="274320"/>
          </a:xfrm>
          <a:prstGeom prst="rect">
            <a:avLst/>
          </a:prstGeom>
          <a:noFill/>
          <a:ln/>
        </p:spPr>
        <p:txBody>
          <a:bodyPr wrap="square" rtlCol="0" anchor="ctr"/>
          <a:lstStyle/>
          <a:p>
            <a:pPr indent="0" marL="0">
              <a:buNone/>
            </a:pPr>
            <a:r>
              <a:rPr lang="en-US" sz="900" dirty="0">
                <a:solidFill>
                  <a:srgbClr val="5B6B60"/>
                </a:solidFill>
                <a:latin typeface="Calibri" pitchFamily="34" charset="0"/>
                <a:ea typeface="Calibri" pitchFamily="34" charset="-122"/>
                <a:cs typeface="Calibri" pitchFamily="34" charset="-120"/>
              </a:rPr>
              <a:t>Module 2 · Spring Boot, REST &amp; Databases  —  based on the GeeksforGeeks “Java Backend Development Course With IBM Certification” syllabus</a:t>
            </a:r>
            <a:endParaRPr lang="en-US" sz="9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51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3D9BD1"/>
          </a:solidFill>
          <a:ln w="12700">
            <a:solidFill>
              <a:srgbClr val="3D9BD1"/>
            </a:solidFill>
            <a:prstDash val="solid"/>
          </a:ln>
        </p:spPr>
      </p:sp>
      <p:sp>
        <p:nvSpPr>
          <p:cNvPr id="3" name="Text 1"/>
          <p:cNvSpPr/>
          <p:nvPr/>
        </p:nvSpPr>
        <p:spPr>
          <a:xfrm>
            <a:off x="731520" y="1188720"/>
            <a:ext cx="10058400" cy="457200"/>
          </a:xfrm>
          <a:prstGeom prst="rect">
            <a:avLst/>
          </a:prstGeom>
          <a:noFill/>
          <a:ln/>
        </p:spPr>
        <p:txBody>
          <a:bodyPr wrap="square" rtlCol="0" anchor="ctr"/>
          <a:lstStyle/>
          <a:p>
            <a:pPr indent="0" marL="0">
              <a:buNone/>
            </a:pPr>
            <a:r>
              <a:rPr lang="en-US" sz="1600" b="1" dirty="0">
                <a:solidFill>
                  <a:srgbClr val="3D9BD1"/>
                </a:solidFill>
                <a:latin typeface="Calibri" pitchFamily="34" charset="0"/>
                <a:ea typeface="Calibri" pitchFamily="34" charset="-122"/>
                <a:cs typeface="Calibri" pitchFamily="34" charset="-120"/>
              </a:rPr>
              <a:t>MODULE 2  ·  SESSIONS 7–12</a:t>
            </a:r>
            <a:endParaRPr lang="en-US" sz="1600" dirty="0"/>
          </a:p>
        </p:txBody>
      </p:sp>
      <p:sp>
        <p:nvSpPr>
          <p:cNvPr id="4" name="Text 2"/>
          <p:cNvSpPr/>
          <p:nvPr/>
        </p:nvSpPr>
        <p:spPr>
          <a:xfrm>
            <a:off x="731520" y="1691640"/>
            <a:ext cx="10515600" cy="1280160"/>
          </a:xfrm>
          <a:prstGeom prst="rect">
            <a:avLst/>
          </a:prstGeom>
          <a:noFill/>
          <a:ln/>
        </p:spPr>
        <p:txBody>
          <a:bodyPr wrap="square"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Spring Boot, REST &amp; Databases</a:t>
            </a:r>
            <a:endParaRPr lang="en-US" sz="4400" dirty="0"/>
          </a:p>
        </p:txBody>
      </p:sp>
      <p:sp>
        <p:nvSpPr>
          <p:cNvPr id="5" name="Text 3"/>
          <p:cNvSpPr/>
          <p:nvPr/>
        </p:nvSpPr>
        <p:spPr>
          <a:xfrm>
            <a:off x="731520" y="3108960"/>
            <a:ext cx="10058400" cy="1005840"/>
          </a:xfrm>
          <a:prstGeom prst="rect">
            <a:avLst/>
          </a:prstGeom>
          <a:noFill/>
          <a:ln/>
        </p:spPr>
        <p:txBody>
          <a:bodyPr wrap="square" rtlCol="0" anchor="t"/>
          <a:lstStyle/>
          <a:p>
            <a:pPr indent="0" marL="0">
              <a:buNone/>
            </a:pPr>
            <a:r>
              <a:rPr lang="en-US" sz="1800" dirty="0">
                <a:solidFill>
                  <a:srgbClr val="C9D8CE"/>
                </a:solidFill>
                <a:latin typeface="Calibri" pitchFamily="34" charset="0"/>
                <a:ea typeface="Calibri" pitchFamily="34" charset="-122"/>
                <a:cs typeface="Calibri" pitchFamily="34" charset="-120"/>
              </a:rPr>
              <a:t>Build production-ready APIs, connect to real databases, and launch your first backend project — a Splitwise-style expense sharing application.</a:t>
            </a:r>
            <a:endParaRPr lang="en-US" sz="1800" dirty="0"/>
          </a:p>
        </p:txBody>
      </p:sp>
      <p:sp>
        <p:nvSpPr>
          <p:cNvPr id="6" name="Text 4"/>
          <p:cNvSpPr/>
          <p:nvPr/>
        </p:nvSpPr>
        <p:spPr>
          <a:xfrm>
            <a:off x="731520" y="4937760"/>
            <a:ext cx="10058400" cy="365760"/>
          </a:xfrm>
          <a:prstGeom prst="rect">
            <a:avLst/>
          </a:prstGeom>
          <a:noFill/>
          <a:ln/>
        </p:spPr>
        <p:txBody>
          <a:bodyPr wrap="square" rtlCol="0" anchor="ctr"/>
          <a:lstStyle/>
          <a:p>
            <a:pPr indent="0" marL="0">
              <a:buNone/>
            </a:pPr>
            <a:r>
              <a:rPr lang="en-US" sz="1400" b="1" dirty="0">
                <a:solidFill>
                  <a:srgbClr val="F3EF6B"/>
                </a:solidFill>
                <a:latin typeface="Calibri" pitchFamily="34" charset="0"/>
                <a:ea typeface="Calibri" pitchFamily="34" charset="-122"/>
                <a:cs typeface="Calibri" pitchFamily="34" charset="-120"/>
              </a:rPr>
              <a:t>Java Backend Development — Interactive Course Notes</a:t>
            </a:r>
            <a:endParaRPr lang="en-US" sz="1400" dirty="0"/>
          </a:p>
        </p:txBody>
      </p:sp>
      <p:sp>
        <p:nvSpPr>
          <p:cNvPr id="7" name="Text 5"/>
          <p:cNvSpPr/>
          <p:nvPr/>
        </p:nvSpPr>
        <p:spPr>
          <a:xfrm>
            <a:off x="731520" y="5349240"/>
            <a:ext cx="10515600" cy="548640"/>
          </a:xfrm>
          <a:prstGeom prst="rect">
            <a:avLst/>
          </a:prstGeom>
          <a:noFill/>
          <a:ln/>
        </p:spPr>
        <p:txBody>
          <a:bodyPr wrap="square" rtlCol="0" anchor="ctr"/>
          <a:lstStyle/>
          <a:p>
            <a:pPr indent="0" marL="0">
              <a:buNone/>
            </a:pPr>
            <a:r>
              <a:rPr lang="en-US" sz="1100" dirty="0">
                <a:solidFill>
                  <a:srgbClr val="9FB3A6"/>
                </a:solidFill>
                <a:latin typeface="Calibri" pitchFamily="34" charset="0"/>
                <a:ea typeface="Calibri" pitchFamily="34" charset="-122"/>
                <a:cs typeface="Calibri" pitchFamily="34" charset="-120"/>
              </a:rPr>
              <a:t>Independent study companion based on the GeeksforGeeks “Java Backend Development Course With IBM Certification” brochure. Code targets Java 21 LTS (Java 25 LTS also works), Spring Boot 4.1.x (Spring Framework 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Module roadmap</a:t>
            </a:r>
            <a:endParaRPr lang="en-US" sz="2800" dirty="0"/>
          </a:p>
        </p:txBody>
      </p:sp>
      <p:sp>
        <p:nvSpPr>
          <p:cNvPr id="4" name="Text 2"/>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Brochure topics in order, and the session that teaches each one.</a:t>
            </a:r>
            <a:endParaRPr lang="en-US" sz="13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77295" cy="914400"/>
        </p:xfrm>
        <a:graphic>
          <a:graphicData uri="http://schemas.openxmlformats.org/drawingml/2006/table">
            <a:tbl>
              <a:tblPr/>
              <a:tblGrid>
                <a:gridCol w="548640"/>
                <a:gridCol w="8778240"/>
                <a:gridCol w="1947672"/>
              </a:tblGrid>
              <a:tr h="43891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Brochure topic (verbatim)</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Session(s)</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Maven plugins, archetypes &amp; project setup</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S7</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Spring MVC architecture &amp; HTTP methods</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S8</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RESTful API design &amp; implementation</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S9</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AOP, cross-cutting concerns &amp; Lombok integration</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S9</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JDBC, DDL/DML &amp; Spring JDBC Template</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S10</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CRUD operations &amp; RowMapper</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S10</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Hibernate, Spring Data JPA &amp; entity relationships</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S11</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Minor Project: Splitwise Backend (Part 1) — architecture &amp; schema design</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S12</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3D9BD1"/>
                </a:solidFill>
                <a:latin typeface="Calibri" pitchFamily="34" charset="0"/>
                <a:ea typeface="Calibri" pitchFamily="34" charset="-122"/>
                <a:cs typeface="Calibri" pitchFamily="34" charset="-120"/>
              </a:rPr>
              <a:t>SESSION 7 OF 24  ·  MODULE 2</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Maven Plugins, Archetypes &amp; Project Setup</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Maven plugins, archetypes &amp; project setup</a:t>
            </a:r>
            <a:endParaRPr lang="en-US" sz="1400" dirty="0"/>
          </a:p>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Spring Initializr &amp; the Spring Boot project layout</a:t>
            </a:r>
            <a:endParaRPr lang="en-US" sz="1400" dirty="0"/>
          </a:p>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Git &amp; GitHub workflow (from the brochure tech stack)</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Configure Maven plugins (compiler, surefire, failsafe, JaCoCo, enforcer, Spring Boot) and bind goals to phases.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Generate projects from archetypes and with Spring Initializr; understand the generated Spring Boot POM.</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Structure a multi-module build with a parent POM,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dependencyManagement</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and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pluginManagement</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Version your project with Git and collaborate through GitHub branches and pull requests.</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Plugins do the real work</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Configuring plugins in the POM</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Archetypes: project templates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The generated Spring Boot project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Multi-module builds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Git &amp; GitHub: the daily workflow</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Lab: set up your course workspace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plugins, archetypes &amp; setup</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7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Plugins do the real work</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Maven core only knows the lifecycle. Every action — compiling, testing, packaging — is a </a:t>
            </a:r>
            <a:pPr indent="0" marL="0">
              <a:buNone/>
            </a:pPr>
            <a:r>
              <a:rPr lang="en-US" sz="1350" b="1" dirty="0">
                <a:solidFill>
                  <a:srgbClr val="5B6B60"/>
                </a:solidFill>
                <a:latin typeface="Calibri" pitchFamily="34" charset="0"/>
                <a:ea typeface="Calibri" pitchFamily="34" charset="-122"/>
                <a:cs typeface="Calibri" pitchFamily="34" charset="-120"/>
              </a:rPr>
              <a:t>goal</a:t>
            </a:r>
            <a:pPr indent="0" marL="0">
              <a:buNone/>
            </a:pPr>
            <a:r>
              <a:rPr lang="en-US" sz="1350" dirty="0">
                <a:solidFill>
                  <a:srgbClr val="5B6B60"/>
                </a:solidFill>
                <a:latin typeface="Calibri" pitchFamily="34" charset="0"/>
                <a:ea typeface="Calibri" pitchFamily="34" charset="-122"/>
                <a:cs typeface="Calibri" pitchFamily="34" charset="-120"/>
              </a:rPr>
              <a:t> of a </a:t>
            </a:r>
            <a:pPr indent="0" marL="0">
              <a:buNone/>
            </a:pPr>
            <a:r>
              <a:rPr lang="en-US" sz="1350" b="1" dirty="0">
                <a:solidFill>
                  <a:srgbClr val="5B6B60"/>
                </a:solidFill>
                <a:latin typeface="Calibri" pitchFamily="34" charset="0"/>
                <a:ea typeface="Calibri" pitchFamily="34" charset="-122"/>
                <a:cs typeface="Calibri" pitchFamily="34" charset="-120"/>
              </a:rPr>
              <a:t>plugin</a:t>
            </a:r>
            <a:pPr indent="0" marL="0">
              <a:buNone/>
            </a:pPr>
            <a:r>
              <a:rPr lang="en-US" sz="1350" dirty="0">
                <a:solidFill>
                  <a:srgbClr val="5B6B60"/>
                </a:solidFill>
                <a:latin typeface="Calibri" pitchFamily="34" charset="0"/>
                <a:ea typeface="Calibri" pitchFamily="34" charset="-122"/>
                <a:cs typeface="Calibri" pitchFamily="34" charset="-120"/>
              </a:rPr>
              <a:t>, bound to a phase.</a:t>
            </a:r>
            <a:endParaRPr lang="en-US" sz="1350" dirty="0"/>
          </a:p>
        </p:txBody>
      </p:sp>
      <p:sp>
        <p:nvSpPr>
          <p:cNvPr id="7" name="Text 5"/>
          <p:cNvSpPr/>
          <p:nvPr/>
        </p:nvSpPr>
        <p:spPr>
          <a:xfrm>
            <a:off x="457200" y="1883664"/>
            <a:ext cx="11277295" cy="273405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 plugin is a bundle of goals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mojos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compiler:compile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surefire:test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jar:jar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Executions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bind extra goals to phases, e.g. JaCoCo's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report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goal to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verify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&lt;pluginManagement&gt;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declares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versions/config for children;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&lt;plugins&gt;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activates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plugins in this build.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Run any goal directly with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mvn &lt;prefix&gt;:&lt;goal&gt;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e.g.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mvn dependency:tree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mvn spring-boot:run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2057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Plugin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Default phase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Job</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maven-compiler-plugin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compile / test-compile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compile src/main and src/test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maven-surefire-plugin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test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run unit tests (Test)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maven-failsafe-plugin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integration-test / verify</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run integration tests (IT) after packaging</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maven-jar-plugin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package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build the JAR</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spring-boot-maven-plugin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package (repackage)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executable fat JAR, spring-boot:run, build-image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jacoco-maven-plugin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initialize + verify</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test coverage report / thresholds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maven-enforcer-plugin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validate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fail fast on wrong Java/Maven versions or banned deps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Configuring plugins in the POM</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Coverage, integration tests and build rules — the three plugin setups most backend teams add first.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pom.xml (build section)</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&lt;build&gt;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&lt;plugins&gt;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 Unit tests: *Test.java (phase: test) --&gt;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&lt;plugin&gt;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&lt;groupId&gt;org.apache.maven.plugins&lt;/groupId&gt;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&lt;artifactId&gt;maven-surefire-plugin&lt;/artifactId&gt;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&lt;version&gt;3.6.0&lt;/version&gt;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&lt;/plugin&gt;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 Integration tests: *IT.java (phases: integration-test + verify) --&gt;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&lt;plugin&gt;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&lt;groupId&gt;org.apache.maven.plugins&lt;/groupId&gt;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&lt;artifactId&gt;maven-failsafe-plugin&lt;/artifactId&gt;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&lt;version&gt;3.6.0&lt;/version&gt;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&lt;executions&gt;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&lt;execution&gt;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&lt;goals&gt;&lt;goal&gt;integration-test&lt;/goal&gt;&lt;goal&gt;verify&lt;/goal&gt;&lt;/goals&gt;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&lt;/execution&gt;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&lt;/executions&gt;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&lt;/plugin&gt;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Archetypes: project templates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An </a:t>
            </a:r>
            <a:pPr indent="0" marL="0">
              <a:buNone/>
            </a:pPr>
            <a:r>
              <a:rPr lang="en-US" sz="1350" b="1" dirty="0">
                <a:solidFill>
                  <a:srgbClr val="5B6B60"/>
                </a:solidFill>
                <a:latin typeface="Calibri" pitchFamily="34" charset="0"/>
                <a:ea typeface="Calibri" pitchFamily="34" charset="-122"/>
                <a:cs typeface="Calibri" pitchFamily="34" charset="-120"/>
              </a:rPr>
              <a:t>archetype</a:t>
            </a:r>
            <a:pPr indent="0" marL="0">
              <a:buNone/>
            </a:pPr>
            <a:r>
              <a:rPr lang="en-US" sz="1350" dirty="0">
                <a:solidFill>
                  <a:srgbClr val="5B6B60"/>
                </a:solidFill>
                <a:latin typeface="Calibri" pitchFamily="34" charset="0"/>
                <a:ea typeface="Calibri" pitchFamily="34" charset="-122"/>
                <a:cs typeface="Calibri" pitchFamily="34" charset="-120"/>
              </a:rPr>
              <a:t> is a Maven project template. </a:t>
            </a:r>
            <a:pPr indent="0" marL="0">
              <a:buNone/>
            </a:pPr>
            <a:r>
              <a:rPr lang="en-US" sz="1350" dirty="0">
                <a:solidFill>
                  <a:srgbClr val="B4235A"/>
                </a:solidFill>
                <a:latin typeface="Consolas" pitchFamily="34" charset="0"/>
                <a:ea typeface="Consolas" pitchFamily="34" charset="-122"/>
                <a:cs typeface="Consolas" pitchFamily="34" charset="-120"/>
              </a:rPr>
              <a:t>archetype:generate</a:t>
            </a:r>
            <a:pPr indent="0" marL="0">
              <a:buNone/>
            </a:pPr>
            <a:r>
              <a:rPr lang="en-US" sz="1350" dirty="0">
                <a:solidFill>
                  <a:srgbClr val="5B6B60"/>
                </a:solidFill>
                <a:latin typeface="Calibri" pitchFamily="34" charset="0"/>
                <a:ea typeface="Calibri" pitchFamily="34" charset="-122"/>
                <a:cs typeface="Calibri" pitchFamily="34" charset="-120"/>
              </a:rPr>
              <a:t> copies it and fills in your coordinates.</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maven-archetype-quickstart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 plain Java app with a test;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maven-archetype-webapp</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 WAR skeleton.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Interactive mode asks for values; batch mode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-DinteractiveMode=false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is scriptable.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Teams create their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own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archetypes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archetype:create-from-project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to standardise new services: logging, CI, Dockerfile, code style.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For Spring Boot,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Spring Initializr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(start.spring.io) is the modern, always-up-to-date generator — IntelliJ and VS Code use it too.</a:t>
            </a:r>
            <a:endParaRPr lang="en-US" sz="17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Terminal</a:t>
            </a:r>
            <a:endParaRPr lang="en-US" sz="900" dirty="0"/>
          </a:p>
        </p:txBody>
      </p:sp>
      <p:sp>
        <p:nvSpPr>
          <p:cNvPr id="9" name="Text 7"/>
          <p:cNvSpPr/>
          <p:nvPr/>
        </p:nvSpPr>
        <p:spPr>
          <a:xfrm>
            <a:off x="5852160" y="2157984"/>
            <a:ext cx="588233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016" dirty="0">
                <a:solidFill>
                  <a:srgbClr val="24292F"/>
                </a:solidFill>
                <a:latin typeface="Consolas" pitchFamily="34" charset="0"/>
                <a:ea typeface="Consolas" pitchFamily="34" charset="-122"/>
                <a:cs typeface="Consolas" pitchFamily="34" charset="-120"/>
              </a:rPr>
              <a:t>$ mvn archetype:generate \</a:t>
            </a:r>
            <a:endParaRPr lang="en-US" sz="1016" dirty="0"/>
          </a:p>
          <a:p>
            <a:pPr indent="0" marL="0">
              <a:buNone/>
            </a:pPr>
            <a:r>
              <a:rPr lang="en-US" sz="1016" dirty="0">
                <a:solidFill>
                  <a:srgbClr val="24292F"/>
                </a:solidFill>
                <a:latin typeface="Consolas" pitchFamily="34" charset="0"/>
                <a:ea typeface="Consolas" pitchFamily="34" charset="-122"/>
                <a:cs typeface="Consolas" pitchFamily="34" charset="-120"/>
              </a:rPr>
              <a:t>    -DarchetypeGroupId=org.apache.maven.archetypes \</a:t>
            </a:r>
            <a:endParaRPr lang="en-US" sz="1016" dirty="0"/>
          </a:p>
          <a:p>
            <a:pPr indent="0" marL="0">
              <a:buNone/>
            </a:pPr>
            <a:r>
              <a:rPr lang="en-US" sz="1016" dirty="0">
                <a:solidFill>
                  <a:srgbClr val="24292F"/>
                </a:solidFill>
                <a:latin typeface="Consolas" pitchFamily="34" charset="0"/>
                <a:ea typeface="Consolas" pitchFamily="34" charset="-122"/>
                <a:cs typeface="Consolas" pitchFamily="34" charset="-120"/>
              </a:rPr>
              <a:t>    -DarchetypeArtifactId=maven-archetype-quickstart \</a:t>
            </a:r>
            <a:endParaRPr lang="en-US" sz="1016" dirty="0"/>
          </a:p>
          <a:p>
            <a:pPr indent="0" marL="0">
              <a:buNone/>
            </a:pPr>
            <a:r>
              <a:rPr lang="en-US" sz="1016" dirty="0">
                <a:solidFill>
                  <a:srgbClr val="24292F"/>
                </a:solidFill>
                <a:latin typeface="Consolas" pitchFamily="34" charset="0"/>
                <a:ea typeface="Consolas" pitchFamily="34" charset="-122"/>
                <a:cs typeface="Consolas" pitchFamily="34" charset="-120"/>
              </a:rPr>
              <a:t>    -DarchetypeVersion=1.5 \</a:t>
            </a:r>
            <a:endParaRPr lang="en-US" sz="1016" dirty="0"/>
          </a:p>
          <a:p>
            <a:pPr indent="0" marL="0">
              <a:buNone/>
            </a:pPr>
            <a:r>
              <a:rPr lang="en-US" sz="1016" dirty="0">
                <a:solidFill>
                  <a:srgbClr val="24292F"/>
                </a:solidFill>
                <a:latin typeface="Consolas" pitchFamily="34" charset="0"/>
                <a:ea typeface="Consolas" pitchFamily="34" charset="-122"/>
                <a:cs typeface="Consolas" pitchFamily="34" charset="-120"/>
              </a:rPr>
              <a:t>    -DgroupId=com.example.tools -DartifactId=csv-report \</a:t>
            </a:r>
            <a:endParaRPr lang="en-US" sz="1016" dirty="0"/>
          </a:p>
          <a:p>
            <a:pPr indent="0" marL="0">
              <a:buNone/>
            </a:pPr>
            <a:r>
              <a:rPr lang="en-US" sz="1016" dirty="0">
                <a:solidFill>
                  <a:srgbClr val="24292F"/>
                </a:solidFill>
                <a:latin typeface="Consolas" pitchFamily="34" charset="0"/>
                <a:ea typeface="Consolas" pitchFamily="34" charset="-122"/>
                <a:cs typeface="Consolas" pitchFamily="34" charset="-120"/>
              </a:rPr>
              <a:t>    -DinteractiveMode=false</a:t>
            </a:r>
            <a:endParaRPr lang="en-US" sz="1016" dirty="0"/>
          </a:p>
          <a:p>
            <a:pPr indent="0" marL="0">
              <a:buNone/>
            </a:pPr>
            <a:endParaRPr lang="en-US" sz="1016" dirty="0"/>
          </a:p>
          <a:p>
            <a:pPr indent="0" marL="0">
              <a:buNone/>
            </a:pPr>
            <a:r>
              <a:rPr lang="en-US" sz="1016" dirty="0">
                <a:solidFill>
                  <a:srgbClr val="24292F"/>
                </a:solidFill>
                <a:latin typeface="Consolas" pitchFamily="34" charset="0"/>
                <a:ea typeface="Consolas" pitchFamily="34" charset="-122"/>
                <a:cs typeface="Consolas" pitchFamily="34" charset="-120"/>
              </a:rPr>
              <a:t>$ tree csv-report</a:t>
            </a:r>
            <a:endParaRPr lang="en-US" sz="1016" dirty="0"/>
          </a:p>
          <a:p>
            <a:pPr indent="0" marL="0">
              <a:buNone/>
            </a:pPr>
            <a:r>
              <a:rPr lang="en-US" sz="1016" dirty="0">
                <a:solidFill>
                  <a:srgbClr val="24292F"/>
                </a:solidFill>
                <a:latin typeface="Consolas" pitchFamily="34" charset="0"/>
                <a:ea typeface="Consolas" pitchFamily="34" charset="-122"/>
                <a:cs typeface="Consolas" pitchFamily="34" charset="-120"/>
              </a:rPr>
              <a:t>csv-report</a:t>
            </a:r>
            <a:endParaRPr lang="en-US" sz="1016" dirty="0"/>
          </a:p>
          <a:p>
            <a:pPr indent="0" marL="0">
              <a:buNone/>
            </a:pPr>
            <a:r>
              <a:rPr lang="en-US" sz="1016" dirty="0">
                <a:solidFill>
                  <a:srgbClr val="24292F"/>
                </a:solidFill>
                <a:latin typeface="Consolas" pitchFamily="34" charset="0"/>
                <a:ea typeface="Consolas" pitchFamily="34" charset="-122"/>
                <a:cs typeface="Consolas" pitchFamily="34" charset="-120"/>
              </a:rPr>
              <a:t>├── pom.xml</a:t>
            </a:r>
            <a:endParaRPr lang="en-US" sz="1016" dirty="0"/>
          </a:p>
          <a:p>
            <a:pPr indent="0" marL="0">
              <a:buNone/>
            </a:pPr>
            <a:r>
              <a:rPr lang="en-US" sz="1016" dirty="0">
                <a:solidFill>
                  <a:srgbClr val="24292F"/>
                </a:solidFill>
                <a:latin typeface="Consolas" pitchFamily="34" charset="0"/>
                <a:ea typeface="Consolas" pitchFamily="34" charset="-122"/>
                <a:cs typeface="Consolas" pitchFamily="34" charset="-120"/>
              </a:rPr>
              <a:t>└── src</a:t>
            </a:r>
            <a:endParaRPr lang="en-US" sz="1016" dirty="0"/>
          </a:p>
          <a:p>
            <a:pPr indent="0" marL="0">
              <a:buNone/>
            </a:pPr>
            <a:r>
              <a:rPr lang="en-US" sz="1016" dirty="0">
                <a:solidFill>
                  <a:srgbClr val="24292F"/>
                </a:solidFill>
                <a:latin typeface="Consolas" pitchFamily="34" charset="0"/>
                <a:ea typeface="Consolas" pitchFamily="34" charset="-122"/>
                <a:cs typeface="Consolas" pitchFamily="34" charset="-120"/>
              </a:rPr>
              <a:t>    ├── main/java/com/example/tools/App.java</a:t>
            </a:r>
            <a:endParaRPr lang="en-US" sz="1016" dirty="0"/>
          </a:p>
          <a:p>
            <a:pPr indent="0" marL="0">
              <a:buNone/>
            </a:pPr>
            <a:r>
              <a:rPr lang="en-US" sz="1016" dirty="0">
                <a:solidFill>
                  <a:srgbClr val="24292F"/>
                </a:solidFill>
                <a:latin typeface="Consolas" pitchFamily="34" charset="0"/>
                <a:ea typeface="Consolas" pitchFamily="34" charset="-122"/>
                <a:cs typeface="Consolas" pitchFamily="34" charset="-120"/>
              </a:rPr>
              <a:t>    └── test/java/com/example/tools/AppTest.java</a:t>
            </a:r>
            <a:endParaRPr lang="en-US" sz="1016" dirty="0"/>
          </a:p>
          <a:p>
            <a:pPr indent="0" marL="0">
              <a:buNone/>
            </a:pPr>
            <a:endParaRPr lang="en-US" sz="1016" dirty="0"/>
          </a:p>
          <a:p>
            <a:pPr indent="0" marL="0">
              <a:buNone/>
            </a:pPr>
            <a:r>
              <a:rPr lang="en-US" sz="1016" dirty="0">
                <a:solidFill>
                  <a:srgbClr val="24292F"/>
                </a:solidFill>
                <a:latin typeface="Consolas" pitchFamily="34" charset="0"/>
                <a:ea typeface="Consolas" pitchFamily="34" charset="-122"/>
                <a:cs typeface="Consolas" pitchFamily="34" charset="-120"/>
              </a:rPr>
              <a:t># Spring Initializr from the command line (same as the web UI)</a:t>
            </a:r>
            <a:endParaRPr lang="en-US" sz="1016" dirty="0"/>
          </a:p>
          <a:p>
            <a:pPr indent="0" marL="0">
              <a:buNone/>
            </a:pPr>
            <a:r>
              <a:rPr lang="en-US" sz="1016" dirty="0">
                <a:solidFill>
                  <a:srgbClr val="24292F"/>
                </a:solidFill>
                <a:latin typeface="Consolas" pitchFamily="34" charset="0"/>
                <a:ea typeface="Consolas" pitchFamily="34" charset="-122"/>
                <a:cs typeface="Consolas" pitchFamily="34" charset="-120"/>
              </a:rPr>
              <a:t>$ curl https://start.spring.io/starter.zip \</a:t>
            </a:r>
            <a:endParaRPr lang="en-US" sz="1016" dirty="0"/>
          </a:p>
          <a:p>
            <a:pPr indent="0" marL="0">
              <a:buNone/>
            </a:pPr>
            <a:r>
              <a:rPr lang="en-US" sz="1016" dirty="0">
                <a:solidFill>
                  <a:srgbClr val="24292F"/>
                </a:solidFill>
                <a:latin typeface="Consolas" pitchFamily="34" charset="0"/>
                <a:ea typeface="Consolas" pitchFamily="34" charset="-122"/>
                <a:cs typeface="Consolas" pitchFamily="34" charset="-120"/>
              </a:rPr>
              <a:t>    -d type=maven-project -d language=java -d javaVersion=21 \</a:t>
            </a:r>
            <a:endParaRPr lang="en-US" sz="1016" dirty="0"/>
          </a:p>
          <a:p>
            <a:pPr indent="0" marL="0">
              <a:buNone/>
            </a:pPr>
            <a:r>
              <a:rPr lang="en-US" sz="1016" dirty="0">
                <a:solidFill>
                  <a:srgbClr val="24292F"/>
                </a:solidFill>
                <a:latin typeface="Consolas" pitchFamily="34" charset="0"/>
                <a:ea typeface="Consolas" pitchFamily="34" charset="-122"/>
                <a:cs typeface="Consolas" pitchFamily="34" charset="-120"/>
              </a:rPr>
              <a:t>    -d groupId=com.example -d artifactId=splitwise -d name=splitwise \</a:t>
            </a:r>
            <a:endParaRPr lang="en-US" sz="1016" dirty="0"/>
          </a:p>
          <a:p>
            <a:pPr indent="0" marL="0">
              <a:buNone/>
            </a:pPr>
            <a:r>
              <a:rPr lang="en-US" sz="1016" dirty="0">
                <a:solidFill>
                  <a:srgbClr val="24292F"/>
                </a:solidFill>
                <a:latin typeface="Consolas" pitchFamily="34" charset="0"/>
                <a:ea typeface="Consolas" pitchFamily="34" charset="-122"/>
                <a:cs typeface="Consolas" pitchFamily="34" charset="-120"/>
              </a:rPr>
              <a:t>    -d dependencies=web,validation,data-jpa,mysql,actuator,devtools,lombok \</a:t>
            </a:r>
            <a:endParaRPr lang="en-US" sz="1016" dirty="0"/>
          </a:p>
          <a:p>
            <a:pPr indent="0" marL="0">
              <a:buNone/>
            </a:pPr>
            <a:r>
              <a:rPr lang="en-US" sz="1016" dirty="0">
                <a:solidFill>
                  <a:srgbClr val="24292F"/>
                </a:solidFill>
                <a:latin typeface="Consolas" pitchFamily="34" charset="0"/>
                <a:ea typeface="Consolas" pitchFamily="34" charset="-122"/>
                <a:cs typeface="Consolas" pitchFamily="34" charset="-120"/>
              </a:rPr>
              <a:t>    -o splitwise.zip</a:t>
            </a:r>
            <a:endParaRPr lang="en-US" sz="1016"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The generated Spring Boot project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Spring Initializr produces a ready-to-run project. The </a:t>
            </a:r>
            <a:pPr indent="0" marL="0">
              <a:buNone/>
            </a:pPr>
            <a:r>
              <a:rPr lang="en-US" sz="1350" b="1" dirty="0">
                <a:solidFill>
                  <a:srgbClr val="5B6B60"/>
                </a:solidFill>
                <a:latin typeface="Calibri" pitchFamily="34" charset="0"/>
                <a:ea typeface="Calibri" pitchFamily="34" charset="-122"/>
                <a:cs typeface="Calibri" pitchFamily="34" charset="-120"/>
              </a:rPr>
              <a:t>parent POM</a:t>
            </a:r>
            <a:pPr indent="0" marL="0">
              <a:buNone/>
            </a:pPr>
            <a:r>
              <a:rPr lang="en-US" sz="1350" dirty="0">
                <a:solidFill>
                  <a:srgbClr val="5B6B60"/>
                </a:solidFill>
                <a:latin typeface="Calibri" pitchFamily="34" charset="0"/>
                <a:ea typeface="Calibri" pitchFamily="34" charset="-122"/>
                <a:cs typeface="Calibri" pitchFamily="34" charset="-120"/>
              </a:rPr>
              <a:t> manages hundreds of versions so your dependencies need none.</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pom.xml  (+2 more in the web notes)</a:t>
            </a:r>
            <a:endParaRPr lang="en-US" sz="900" dirty="0"/>
          </a:p>
        </p:txBody>
      </p:sp>
      <p:sp>
        <p:nvSpPr>
          <p:cNvPr id="8" name="Text 6"/>
          <p:cNvSpPr/>
          <p:nvPr/>
        </p:nvSpPr>
        <p:spPr>
          <a:xfrm>
            <a:off x="457200" y="2157984"/>
            <a:ext cx="11277295" cy="3602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&lt;parent&gt;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&lt;groupId&gt;org.springframework.boot&lt;/groupId&gt;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&lt;artifactId&gt;spring-boot-starter-parent&lt;/artifactId&gt;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&lt;version&gt;4.1.2&lt;/version&gt;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&lt;relativePath/&gt;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&lt;/parent&gt;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&lt;groupId&gt;com.example&lt;/groupId&gt;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&lt;artifactId&gt;splitwise&lt;/artifactId&gt;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&lt;version&gt;0.0.1-SNAPSHOT&lt;/version&gt;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&lt;properties&gt;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&lt;java.version&gt;21&lt;/java.version&gt;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&lt;/properties&gt;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&lt;dependencies&gt;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&lt;dependency&gt;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&lt;groupId&gt;org.springframework.boot&lt;/groupId&gt;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9"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VERSION: </a:t>
            </a:r>
            <a:pPr indent="0" marL="0">
              <a:buNone/>
            </a:pPr>
            <a:r>
              <a:rPr lang="en-US" sz="1100" dirty="0">
                <a:solidFill>
                  <a:srgbClr val="1F2A24"/>
                </a:solidFill>
                <a:latin typeface="Calibri" pitchFamily="34" charset="0"/>
                <a:ea typeface="Calibri" pitchFamily="34" charset="-122"/>
                <a:cs typeface="Calibri" pitchFamily="34" charset="-120"/>
              </a:rPr>
              <a:t>Spring Boot </a:t>
            </a:r>
            <a:pPr indent="0" marL="0">
              <a:buNone/>
            </a:pPr>
            <a:r>
              <a:rPr lang="en-US" sz="1100" b="1" dirty="0">
                <a:solidFill>
                  <a:srgbClr val="1F2A24"/>
                </a:solidFill>
                <a:latin typeface="Calibri" pitchFamily="34" charset="0"/>
                <a:ea typeface="Calibri" pitchFamily="34" charset="-122"/>
                <a:cs typeface="Calibri" pitchFamily="34" charset="-120"/>
              </a:rPr>
              <a:t>4.1.x</a:t>
            </a:r>
            <a:pPr indent="0" marL="0">
              <a:buNone/>
            </a:pPr>
            <a:r>
              <a:rPr lang="en-US" sz="1100" dirty="0">
                <a:solidFill>
                  <a:srgbClr val="1F2A24"/>
                </a:solidFill>
                <a:latin typeface="Calibri" pitchFamily="34" charset="0"/>
                <a:ea typeface="Calibri" pitchFamily="34" charset="-122"/>
                <a:cs typeface="Calibri" pitchFamily="34" charset="-120"/>
              </a:rPr>
              <a:t> (Spring Framework 7, Jakarta EE 11) needs Java 17+; we use 21. Boot 4 renamed several starters, e.g. </a:t>
            </a:r>
            <a:pPr indent="0" marL="0">
              <a:buNone/>
            </a:pPr>
            <a:r>
              <a:rPr lang="en-US" sz="1100" dirty="0">
                <a:solidFill>
                  <a:srgbClr val="B4235A"/>
                </a:solidFill>
                <a:latin typeface="Consolas" pitchFamily="34" charset="0"/>
                <a:ea typeface="Consolas" pitchFamily="34" charset="-122"/>
                <a:cs typeface="Consolas" pitchFamily="34" charset="-120"/>
              </a:rPr>
              <a:t>spring-boot-starter-web</a:t>
            </a:r>
            <a:pPr indent="0" marL="0">
              <a:buNone/>
            </a:pPr>
            <a:r>
              <a:rPr lang="en-US" sz="1100" dirty="0">
                <a:solidFill>
                  <a:srgbClr val="1F2A24"/>
                </a:solidFill>
                <a:latin typeface="Calibri" pitchFamily="34" charset="0"/>
                <a:ea typeface="Calibri" pitchFamily="34" charset="-122"/>
                <a:cs typeface="Calibri" pitchFamily="34" charset="-120"/>
              </a:rPr>
              <a:t> → </a:t>
            </a:r>
            <a:pPr indent="0" marL="0">
              <a:buNone/>
            </a:pPr>
            <a:r>
              <a:rPr lang="en-US" sz="1100" dirty="0">
                <a:solidFill>
                  <a:srgbClr val="B4235A"/>
                </a:solidFill>
                <a:latin typeface="Consolas" pitchFamily="34" charset="0"/>
                <a:ea typeface="Consolas" pitchFamily="34" charset="-122"/>
                <a:cs typeface="Consolas" pitchFamily="34" charset="-120"/>
              </a:rPr>
              <a:t>spring-boot-starter-webmvc</a:t>
            </a:r>
            <a:pPr indent="0" marL="0">
              <a:buNone/>
            </a:pPr>
            <a:r>
              <a:rPr lang="en-US" sz="1100" dirty="0">
                <a:solidFill>
                  <a:srgbClr val="1F2A24"/>
                </a:solidFill>
                <a:latin typeface="Calibri" pitchFamily="34" charset="0"/>
                <a:ea typeface="Calibri" pitchFamily="34" charset="-122"/>
                <a:cs typeface="Calibri" pitchFamily="34" charset="-120"/>
              </a:rPr>
              <a:t> and </a:t>
            </a:r>
            <a:pPr indent="0" marL="0">
              <a:buNone/>
            </a:pPr>
            <a:r>
              <a:rPr lang="en-US" sz="1100" dirty="0">
                <a:solidFill>
                  <a:srgbClr val="B4235A"/>
                </a:solidFill>
                <a:latin typeface="Consolas" pitchFamily="34" charset="0"/>
                <a:ea typeface="Consolas" pitchFamily="34" charset="-122"/>
                <a:cs typeface="Consolas" pitchFamily="34" charset="-120"/>
              </a:rPr>
              <a:t>spring-boot-starter-aop</a:t>
            </a:r>
            <a:pPr indent="0" marL="0">
              <a:buNone/>
            </a:pPr>
            <a:r>
              <a:rPr lang="en-US" sz="1100" dirty="0">
                <a:solidFill>
                  <a:srgbClr val="1F2A24"/>
                </a:solidFill>
                <a:latin typeface="Calibri" pitchFamily="34" charset="0"/>
                <a:ea typeface="Calibri" pitchFamily="34" charset="-122"/>
                <a:cs typeface="Calibri" pitchFamily="34" charset="-120"/>
              </a:rPr>
              <a:t> → </a:t>
            </a:r>
            <a:pPr indent="0" marL="0">
              <a:buNone/>
            </a:pPr>
            <a:r>
              <a:rPr lang="en-US" sz="1100" dirty="0">
                <a:solidFill>
                  <a:srgbClr val="B4235A"/>
                </a:solidFill>
                <a:latin typeface="Consolas" pitchFamily="34" charset="0"/>
                <a:ea typeface="Consolas" pitchFamily="34" charset="-122"/>
                <a:cs typeface="Consolas" pitchFamily="34" charset="-120"/>
              </a:rPr>
              <a:t>spring-boot-starter-aspectj</a:t>
            </a:r>
            <a:pPr indent="0" marL="0">
              <a:buNone/>
            </a:pPr>
            <a:r>
              <a:rPr lang="en-US" sz="1100" dirty="0">
                <a:solidFill>
                  <a:srgbClr val="1F2A24"/>
                </a:solidFill>
                <a:latin typeface="Calibri" pitchFamily="34" charset="0"/>
                <a:ea typeface="Calibri" pitchFamily="34" charset="-122"/>
                <a:cs typeface="Calibri" pitchFamily="34" charset="-120"/>
              </a:rPr>
              <a: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Multi-module builds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Large systems split into modules that build together. A </a:t>
            </a:r>
            <a:pPr indent="0" marL="0">
              <a:buNone/>
            </a:pPr>
            <a:r>
              <a:rPr lang="en-US" sz="1350" b="1" dirty="0">
                <a:solidFill>
                  <a:srgbClr val="5B6B60"/>
                </a:solidFill>
                <a:latin typeface="Calibri" pitchFamily="34" charset="0"/>
                <a:ea typeface="Calibri" pitchFamily="34" charset="-122"/>
                <a:cs typeface="Calibri" pitchFamily="34" charset="-120"/>
              </a:rPr>
              <a:t>parent POM</a:t>
            </a:r>
            <a:pPr indent="0" marL="0">
              <a:buNone/>
            </a:pPr>
            <a:r>
              <a:rPr lang="en-US" sz="1350" dirty="0">
                <a:solidFill>
                  <a:srgbClr val="5B6B60"/>
                </a:solidFill>
                <a:latin typeface="Calibri" pitchFamily="34" charset="0"/>
                <a:ea typeface="Calibri" pitchFamily="34" charset="-122"/>
                <a:cs typeface="Calibri" pitchFamily="34" charset="-120"/>
              </a:rPr>
              <a:t> centralises versions and plugin configuration.</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Parent: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&lt;packaging&gt;pom&lt;/packaging&gt;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&lt;modules&gt;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list + shared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&lt;dependencyManagement&gt;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&lt;pluginManagement&gt;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The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reactor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works out the build order from inter-module dependencies.</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./mvnw -pl splitwise-api -am package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builds one module plus everything it needs.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Microservices (Module 4) are usually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separate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repositories or builds; multi-module suits a modular monolith or shared libraries.</a:t>
            </a:r>
            <a:endParaRPr lang="en-US" sz="17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parent pom.xml (excerpt)</a:t>
            </a:r>
            <a:endParaRPr lang="en-US" sz="900" dirty="0"/>
          </a:p>
        </p:txBody>
      </p:sp>
      <p:sp>
        <p:nvSpPr>
          <p:cNvPr id="9" name="Text 7"/>
          <p:cNvSpPr/>
          <p:nvPr/>
        </p:nvSpPr>
        <p:spPr>
          <a:xfrm>
            <a:off x="5852160" y="2157984"/>
            <a:ext cx="588233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977" dirty="0">
                <a:solidFill>
                  <a:srgbClr val="24292F"/>
                </a:solidFill>
                <a:latin typeface="Consolas" pitchFamily="34" charset="0"/>
                <a:ea typeface="Consolas" pitchFamily="34" charset="-122"/>
                <a:cs typeface="Consolas" pitchFamily="34" charset="-120"/>
              </a:rPr>
              <a:t>&lt;groupId&gt;com.example&lt;/groupId&gt;</a:t>
            </a:r>
            <a:endParaRPr lang="en-US" sz="977" dirty="0"/>
          </a:p>
          <a:p>
            <a:pPr indent="0" marL="0">
              <a:buNone/>
            </a:pPr>
            <a:r>
              <a:rPr lang="en-US" sz="977" dirty="0">
                <a:solidFill>
                  <a:srgbClr val="24292F"/>
                </a:solidFill>
                <a:latin typeface="Consolas" pitchFamily="34" charset="0"/>
                <a:ea typeface="Consolas" pitchFamily="34" charset="-122"/>
                <a:cs typeface="Consolas" pitchFamily="34" charset="-120"/>
              </a:rPr>
              <a:t>&lt;artifactId&gt;splitwise-parent&lt;/artifactId&gt;</a:t>
            </a:r>
            <a:endParaRPr lang="en-US" sz="977" dirty="0"/>
          </a:p>
          <a:p>
            <a:pPr indent="0" marL="0">
              <a:buNone/>
            </a:pPr>
            <a:r>
              <a:rPr lang="en-US" sz="977" dirty="0">
                <a:solidFill>
                  <a:srgbClr val="24292F"/>
                </a:solidFill>
                <a:latin typeface="Consolas" pitchFamily="34" charset="0"/>
                <a:ea typeface="Consolas" pitchFamily="34" charset="-122"/>
                <a:cs typeface="Consolas" pitchFamily="34" charset="-120"/>
              </a:rPr>
              <a:t>&lt;version&gt;1.0.0-SNAPSHOT&lt;/version&gt;</a:t>
            </a:r>
            <a:endParaRPr lang="en-US" sz="977" dirty="0"/>
          </a:p>
          <a:p>
            <a:pPr indent="0" marL="0">
              <a:buNone/>
            </a:pPr>
            <a:r>
              <a:rPr lang="en-US" sz="977" dirty="0">
                <a:solidFill>
                  <a:srgbClr val="24292F"/>
                </a:solidFill>
                <a:latin typeface="Consolas" pitchFamily="34" charset="0"/>
                <a:ea typeface="Consolas" pitchFamily="34" charset="-122"/>
                <a:cs typeface="Consolas" pitchFamily="34" charset="-120"/>
              </a:rPr>
              <a:t>&lt;packaging&gt;pom&lt;/packaging&gt;</a:t>
            </a:r>
            <a:endParaRPr lang="en-US" sz="977" dirty="0"/>
          </a:p>
          <a:p>
            <a:pPr indent="0" marL="0">
              <a:buNone/>
            </a:pPr>
            <a:endParaRPr lang="en-US" sz="977" dirty="0"/>
          </a:p>
          <a:p>
            <a:pPr indent="0" marL="0">
              <a:buNone/>
            </a:pPr>
            <a:r>
              <a:rPr lang="en-US" sz="977" dirty="0">
                <a:solidFill>
                  <a:srgbClr val="24292F"/>
                </a:solidFill>
                <a:latin typeface="Consolas" pitchFamily="34" charset="0"/>
                <a:ea typeface="Consolas" pitchFamily="34" charset="-122"/>
                <a:cs typeface="Consolas" pitchFamily="34" charset="-120"/>
              </a:rPr>
              <a:t>&lt;modules&gt;</a:t>
            </a:r>
            <a:endParaRPr lang="en-US" sz="977" dirty="0"/>
          </a:p>
          <a:p>
            <a:pPr indent="0" marL="0">
              <a:buNone/>
            </a:pPr>
            <a:r>
              <a:rPr lang="en-US" sz="977" dirty="0">
                <a:solidFill>
                  <a:srgbClr val="24292F"/>
                </a:solidFill>
                <a:latin typeface="Consolas" pitchFamily="34" charset="0"/>
                <a:ea typeface="Consolas" pitchFamily="34" charset="-122"/>
                <a:cs typeface="Consolas" pitchFamily="34" charset="-120"/>
              </a:rPr>
              <a:t>  &lt;module&gt;splitwise-common&lt;/module&gt;</a:t>
            </a:r>
            <a:endParaRPr lang="en-US" sz="977" dirty="0"/>
          </a:p>
          <a:p>
            <a:pPr indent="0" marL="0">
              <a:buNone/>
            </a:pPr>
            <a:r>
              <a:rPr lang="en-US" sz="977" dirty="0">
                <a:solidFill>
                  <a:srgbClr val="24292F"/>
                </a:solidFill>
                <a:latin typeface="Consolas" pitchFamily="34" charset="0"/>
                <a:ea typeface="Consolas" pitchFamily="34" charset="-122"/>
                <a:cs typeface="Consolas" pitchFamily="34" charset="-120"/>
              </a:rPr>
              <a:t>  &lt;module&gt;splitwise-domain&lt;/module&gt;</a:t>
            </a:r>
            <a:endParaRPr lang="en-US" sz="977" dirty="0"/>
          </a:p>
          <a:p>
            <a:pPr indent="0" marL="0">
              <a:buNone/>
            </a:pPr>
            <a:r>
              <a:rPr lang="en-US" sz="977" dirty="0">
                <a:solidFill>
                  <a:srgbClr val="24292F"/>
                </a:solidFill>
                <a:latin typeface="Consolas" pitchFamily="34" charset="0"/>
                <a:ea typeface="Consolas" pitchFamily="34" charset="-122"/>
                <a:cs typeface="Consolas" pitchFamily="34" charset="-120"/>
              </a:rPr>
              <a:t>  &lt;module&gt;splitwise-api&lt;/module&gt;</a:t>
            </a:r>
            <a:endParaRPr lang="en-US" sz="977" dirty="0"/>
          </a:p>
          <a:p>
            <a:pPr indent="0" marL="0">
              <a:buNone/>
            </a:pPr>
            <a:r>
              <a:rPr lang="en-US" sz="977" dirty="0">
                <a:solidFill>
                  <a:srgbClr val="24292F"/>
                </a:solidFill>
                <a:latin typeface="Consolas" pitchFamily="34" charset="0"/>
                <a:ea typeface="Consolas" pitchFamily="34" charset="-122"/>
                <a:cs typeface="Consolas" pitchFamily="34" charset="-120"/>
              </a:rPr>
              <a:t>&lt;/modules&gt;</a:t>
            </a:r>
            <a:endParaRPr lang="en-US" sz="977" dirty="0"/>
          </a:p>
          <a:p>
            <a:pPr indent="0" marL="0">
              <a:buNone/>
            </a:pPr>
            <a:endParaRPr lang="en-US" sz="977" dirty="0"/>
          </a:p>
          <a:p>
            <a:pPr indent="0" marL="0">
              <a:buNone/>
            </a:pPr>
            <a:r>
              <a:rPr lang="en-US" sz="977" dirty="0">
                <a:solidFill>
                  <a:srgbClr val="24292F"/>
                </a:solidFill>
                <a:latin typeface="Consolas" pitchFamily="34" charset="0"/>
                <a:ea typeface="Consolas" pitchFamily="34" charset="-122"/>
                <a:cs typeface="Consolas" pitchFamily="34" charset="-120"/>
              </a:rPr>
              <a:t>&lt;dependencyManagement&gt;</a:t>
            </a:r>
            <a:endParaRPr lang="en-US" sz="977" dirty="0"/>
          </a:p>
          <a:p>
            <a:pPr indent="0" marL="0">
              <a:buNone/>
            </a:pPr>
            <a:r>
              <a:rPr lang="en-US" sz="977" dirty="0">
                <a:solidFill>
                  <a:srgbClr val="24292F"/>
                </a:solidFill>
                <a:latin typeface="Consolas" pitchFamily="34" charset="0"/>
                <a:ea typeface="Consolas" pitchFamily="34" charset="-122"/>
                <a:cs typeface="Consolas" pitchFamily="34" charset="-120"/>
              </a:rPr>
              <a:t>  &lt;dependencies&gt;</a:t>
            </a:r>
            <a:endParaRPr lang="en-US" sz="977" dirty="0"/>
          </a:p>
          <a:p>
            <a:pPr indent="0" marL="0">
              <a:buNone/>
            </a:pPr>
            <a:r>
              <a:rPr lang="en-US" sz="977" dirty="0">
                <a:solidFill>
                  <a:srgbClr val="24292F"/>
                </a:solidFill>
                <a:latin typeface="Consolas" pitchFamily="34" charset="0"/>
                <a:ea typeface="Consolas" pitchFamily="34" charset="-122"/>
                <a:cs typeface="Consolas" pitchFamily="34" charset="-120"/>
              </a:rPr>
              <a:t>    &lt;dependency&gt;   &lt;!-- children can use splitwise-common without a version --&gt;</a:t>
            </a:r>
            <a:endParaRPr lang="en-US" sz="977" dirty="0"/>
          </a:p>
          <a:p>
            <a:pPr indent="0" marL="0">
              <a:buNone/>
            </a:pPr>
            <a:r>
              <a:rPr lang="en-US" sz="977" dirty="0">
                <a:solidFill>
                  <a:srgbClr val="24292F"/>
                </a:solidFill>
                <a:latin typeface="Consolas" pitchFamily="34" charset="0"/>
                <a:ea typeface="Consolas" pitchFamily="34" charset="-122"/>
                <a:cs typeface="Consolas" pitchFamily="34" charset="-120"/>
              </a:rPr>
              <a:t>      &lt;groupId&gt;com.example&lt;/groupId&gt;</a:t>
            </a:r>
            <a:endParaRPr lang="en-US" sz="977" dirty="0"/>
          </a:p>
          <a:p>
            <a:pPr indent="0" marL="0">
              <a:buNone/>
            </a:pPr>
            <a:r>
              <a:rPr lang="en-US" sz="977" dirty="0">
                <a:solidFill>
                  <a:srgbClr val="24292F"/>
                </a:solidFill>
                <a:latin typeface="Consolas" pitchFamily="34" charset="0"/>
                <a:ea typeface="Consolas" pitchFamily="34" charset="-122"/>
                <a:cs typeface="Consolas" pitchFamily="34" charset="-120"/>
              </a:rPr>
              <a:t>      &lt;artifactId&gt;splitwise-common&lt;/artifactId&gt;</a:t>
            </a:r>
            <a:endParaRPr lang="en-US" sz="977" dirty="0"/>
          </a:p>
          <a:p>
            <a:pPr indent="0" marL="0">
              <a:buNone/>
            </a:pPr>
            <a:r>
              <a:rPr lang="en-US" sz="977" dirty="0">
                <a:solidFill>
                  <a:srgbClr val="24292F"/>
                </a:solidFill>
                <a:latin typeface="Consolas" pitchFamily="34" charset="0"/>
                <a:ea typeface="Consolas" pitchFamily="34" charset="-122"/>
                <a:cs typeface="Consolas" pitchFamily="34" charset="-120"/>
              </a:rPr>
              <a:t>      &lt;version&gt;${project.version}&lt;/version&gt;</a:t>
            </a:r>
            <a:endParaRPr lang="en-US" sz="977" dirty="0"/>
          </a:p>
          <a:p>
            <a:pPr indent="0" marL="0">
              <a:buNone/>
            </a:pPr>
            <a:r>
              <a:rPr lang="en-US" sz="977" dirty="0">
                <a:solidFill>
                  <a:srgbClr val="24292F"/>
                </a:solidFill>
                <a:latin typeface="Consolas" pitchFamily="34" charset="0"/>
                <a:ea typeface="Consolas" pitchFamily="34" charset="-122"/>
                <a:cs typeface="Consolas" pitchFamily="34" charset="-120"/>
              </a:rPr>
              <a:t>    &lt;/dependency&gt;</a:t>
            </a:r>
            <a:endParaRPr lang="en-US" sz="977" dirty="0"/>
          </a:p>
          <a:p>
            <a:pPr indent="0" marL="0">
              <a:buNone/>
            </a:pPr>
            <a:r>
              <a:rPr lang="en-US" sz="977" dirty="0">
                <a:solidFill>
                  <a:srgbClr val="24292F"/>
                </a:solidFill>
                <a:latin typeface="Consolas" pitchFamily="34" charset="0"/>
                <a:ea typeface="Consolas" pitchFamily="34" charset="-122"/>
                <a:cs typeface="Consolas" pitchFamily="34" charset="-120"/>
              </a:rPr>
              <a:t>  &lt;/dependencies&gt;</a:t>
            </a:r>
            <a:endParaRPr lang="en-US" sz="977" dirty="0"/>
          </a:p>
          <a:p>
            <a:pPr indent="0" marL="0">
              <a:buNone/>
            </a:pPr>
            <a:r>
              <a:rPr lang="en-US" sz="977" dirty="0">
                <a:solidFill>
                  <a:srgbClr val="24292F"/>
                </a:solidFill>
                <a:latin typeface="Consolas" pitchFamily="34" charset="0"/>
                <a:ea typeface="Consolas" pitchFamily="34" charset="-122"/>
                <a:cs typeface="Consolas" pitchFamily="34" charset="-120"/>
              </a:rPr>
              <a:t>&lt;/dependencyManagement&gt;</a:t>
            </a:r>
            <a:endParaRPr lang="en-US" sz="977"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Git &amp; GitHub: the daily workflow</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Git tracks every change locally; GitHub hosts the shared repository, code reviews and CI.</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Feature branches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never commit straight to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main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open a pull request (PR) for review.</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Small, focused commits with clear messages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feat: add expense split validation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Ignore build output and secrets: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target/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.idea/</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*.iml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.env</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git pull --rebase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keeps history linear; resolve conflicts locally, then push.</a:t>
            </a:r>
            <a:endParaRPr lang="en-US" sz="17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Terminal</a:t>
            </a:r>
            <a:endParaRPr lang="en-US" sz="900" dirty="0"/>
          </a:p>
        </p:txBody>
      </p:sp>
      <p:sp>
        <p:nvSpPr>
          <p:cNvPr id="9" name="Text 7"/>
          <p:cNvSpPr/>
          <p:nvPr/>
        </p:nvSpPr>
        <p:spPr>
          <a:xfrm>
            <a:off x="5852160" y="2157984"/>
            <a:ext cx="588233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003" dirty="0">
                <a:solidFill>
                  <a:srgbClr val="24292F"/>
                </a:solidFill>
                <a:latin typeface="Consolas" pitchFamily="34" charset="0"/>
                <a:ea typeface="Consolas" pitchFamily="34" charset="-122"/>
                <a:cs typeface="Consolas" pitchFamily="34" charset="-120"/>
              </a:rPr>
              <a:t>$ git init &amp;&amp; git add . &amp;&amp; git commit -m "chore: initial Spring Boot project"</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 git branch -M main</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 git remote add origin git@github.com:&lt;you&gt;/splitwise.git</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 git push -u origin main</a:t>
            </a:r>
            <a:endParaRPr lang="en-US" sz="1003" dirty="0"/>
          </a:p>
          <a:p>
            <a:pPr indent="0" marL="0">
              <a:buNone/>
            </a:pP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 git switch -c feature/expense-api          # new branch per feature</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 git add -p                                  # stage hunks interactively</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 git commit -m "feat: add POST /api/v1/expenses"</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 git push -u origin feature/expense-api      # then open a PR on GitHub</a:t>
            </a:r>
            <a:endParaRPr lang="en-US" sz="1003" dirty="0"/>
          </a:p>
          <a:p>
            <a:pPr indent="0" marL="0">
              <a:buNone/>
            </a:pP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 cat .gitignore</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target/</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.idea/</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*.iml</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.env</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HELP.md</a:t>
            </a:r>
            <a:endParaRPr lang="en-US" sz="1003"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Lab: set up your course workspace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Leave this session with a professional project skeleton on GitHub, built by Maven with coverage and rules enforced.</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Install JDK 21, IntelliJ IDEA (or VS Code + Java extensions) and Git; verify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java -version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git --version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Generate a quickstart project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archetype:generate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(batch mode) and run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mvn test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Generate the </a:t>
            </a:r>
            <a:endParaRPr lang="en-US" sz="1500" dirty="0"/>
          </a:p>
          <a:p>
            <a:pPr marL="342900" indent="-342900">
              <a:spcAft>
                <a:spcPts val="400"/>
              </a:spcAft>
              <a:buSzPct val="100000"/>
              <a:buFont typeface="+mj-lt"/>
              <a:buAutoNum type="arabicPeriod" startAt="1"/>
            </a:pPr>
            <a:r>
              <a:rPr lang="en-US" sz="1500" b="1" dirty="0">
                <a:solidFill>
                  <a:srgbClr val="1F2A24"/>
                </a:solidFill>
                <a:latin typeface="Calibri" pitchFamily="34" charset="0"/>
                <a:ea typeface="Calibri" pitchFamily="34" charset="-122"/>
                <a:cs typeface="Calibri" pitchFamily="34" charset="-120"/>
              </a:rPr>
              <a:t>splitwise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Spring Boot project on start.spring.io: Maven, Java 21, Spring Boot 4.1.x, dependencies </a:t>
            </a:r>
            <a:endParaRPr lang="en-US" sz="1500" dirty="0"/>
          </a:p>
          <a:p>
            <a:pPr marL="342900" indent="-342900">
              <a:spcAft>
                <a:spcPts val="400"/>
              </a:spcAft>
              <a:buSzPct val="100000"/>
              <a:buFont typeface="+mj-lt"/>
              <a:buAutoNum type="arabicPeriod" startAt="1"/>
            </a:pPr>
            <a:r>
              <a:rPr lang="en-US" sz="1500" i="1" dirty="0">
                <a:solidFill>
                  <a:srgbClr val="1F2A24"/>
                </a:solidFill>
                <a:latin typeface="Calibri" pitchFamily="34" charset="0"/>
                <a:ea typeface="Calibri" pitchFamily="34" charset="-122"/>
                <a:cs typeface="Calibri" pitchFamily="34" charset="-120"/>
              </a:rPr>
              <a:t>Spring Web, Validation, Actuator, DevTools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Open it in your IDE, run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./mvnw spring-boot:run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visit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http://localhost:8080/actuator/health</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{"status":"UP"}</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the JaCoCo and enforcer plugins from today's slide; run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./mvnw verify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open the coverage report.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Build the fat JAR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./mvnw clean package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run it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java -jar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Create a GitHub repository, add a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.gitignore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push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main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then create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feature/readme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edit the README and open a pull request.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Stretch: convert the project into a multi-module build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splitwise-common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splitwise-api</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plugins, archetypes &amp; setup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Which plugin should run integration tests named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*IT.java</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after packaging?</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maven-surefire-plugin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maven-failsafe-plugin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maven-jar-plugin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maven-enforcer-plugin</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What does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&lt;pluginManagement&gt;</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do in a parent POM?</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Runs the plugins in every module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Declares versions/config that children use when they activate the plugin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Downloads plugins early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Disables plugins</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In Spring Boot 4, which starter gives you Spring MVC with embedded Tomcat?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spring-boot-starter-web</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spring-boot-starter-webmvc</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spring-boot-starter-tomcat-only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spring-mvc-starter</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Why don't the starters in a Spring Boot POM need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&lt;version&gt;</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tags?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Maven guesses the latest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The spring-boot-starter-parent manages their versions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Starters have no versions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Initializr hard-codes them in the JAR</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Which file keeps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target/</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and IDE files out of Git?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pom.xml</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.gitignore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settings.xml</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application.yml</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7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Plugins implement phases: compiler, surefire (unit), failsafe (integration), jar, Spring Boot repackage, JaCoCo, enforcer.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Archetypes template new projects; Spring Initializr is the archetype for Spring Boot.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The Spring Boot parent POM manages versions and plugin config; Boot 4 uses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spring-boot-starter-webmvc</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Parent POMs + modules + reactor for multi-module builds;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dependencyManagement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pins, it doesn't add.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Git feature branches + GitHub pull requests are the team workflow for every project in this course.</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Mojo</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 single plugin goal (Maven plain Old Java Object), e.g. surefire:test.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Execution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Binding of plugin goals to a lifecycle phase with its own configuration.</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Archetype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 Maven project template used by archetype:generate.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Fat JAR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Executable JAR containing the app and all dependencies (spring-boot-maven-plugin).</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Reactor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Maven component that orders and builds the modules of a multi-module project.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Failsafe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Plugin for integration tests that still runs post-test cleanup before failing.</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Feature branch</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Short-lived Git branch for one change, merged through a pull request.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spring-boot-starter-parent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Parent POM providing dependency management and plugin defaults for Boot apps.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3D9BD1"/>
                </a:solidFill>
                <a:latin typeface="Calibri" pitchFamily="34" charset="0"/>
                <a:ea typeface="Calibri" pitchFamily="34" charset="-122"/>
                <a:cs typeface="Calibri" pitchFamily="34" charset="-120"/>
              </a:rPr>
              <a:t>SESSION 8 OF 24  ·  MODULE 2</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Spring Boot Foundations, Spring MVC Architecture &amp; HTTP Methods</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Spring MVC architecture &amp; HTTP methods</a:t>
            </a:r>
            <a:endParaRPr lang="en-US" sz="1400" dirty="0"/>
          </a:p>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Spring IoC container, dependency injection &amp; auto-configuration</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Explain IoC and dependency injection; declare beans with stereotypes and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@Bean</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methods.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Describe what Spring Boot adds: starters, auto-configuration, embedded server, externalised configuration.</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Trace a request through Spring MVC (DispatcherServlet → handler → message converter) and its filters/interceptors.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Use HTTP methods and status codes correctly in a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@RestController</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Why Spring? From new everywhere to a container</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Beans &amp; dependency injection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Dependency injection in a Spring Boot app</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What Spring Boot adds: starters &amp; auto-configuration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Externalised configuration &amp; profiles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HTTP essentials: methods, safety &amp; idempotency</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Spring MVC architecture: the DispatcherServlet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A REST controller with every HTTP method</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Around the handler: filters &amp; interceptors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Lab: a Movies API with every HTTP method</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Spring Boot core, MVC &amp; HTTP</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8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Why Spring? From new everywhere to a container</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In Session 2 we wired </a:t>
            </a:r>
            <a:pPr indent="0" marL="0">
              <a:buNone/>
            </a:pPr>
            <a:r>
              <a:rPr lang="en-US" sz="1350" dirty="0">
                <a:solidFill>
                  <a:srgbClr val="B4235A"/>
                </a:solidFill>
                <a:latin typeface="Consolas" pitchFamily="34" charset="0"/>
                <a:ea typeface="Consolas" pitchFamily="34" charset="-122"/>
                <a:cs typeface="Consolas" pitchFamily="34" charset="-120"/>
              </a:rPr>
              <a:t>OrderService</a:t>
            </a:r>
            <a:pPr indent="0" marL="0">
              <a:buNone/>
            </a:pPr>
            <a:r>
              <a:rPr lang="en-US" sz="1350" dirty="0">
                <a:solidFill>
                  <a:srgbClr val="5B6B60"/>
                </a:solidFill>
                <a:latin typeface="Calibri" pitchFamily="34" charset="0"/>
                <a:ea typeface="Calibri" pitchFamily="34" charset="-122"/>
                <a:cs typeface="Calibri" pitchFamily="34" charset="-120"/>
              </a:rPr>
              <a:t> by hand. Spring's </a:t>
            </a:r>
            <a:pPr indent="0" marL="0">
              <a:buNone/>
            </a:pPr>
            <a:r>
              <a:rPr lang="en-US" sz="1350" b="1" dirty="0">
                <a:solidFill>
                  <a:srgbClr val="5B6B60"/>
                </a:solidFill>
                <a:latin typeface="Calibri" pitchFamily="34" charset="0"/>
                <a:ea typeface="Calibri" pitchFamily="34" charset="-122"/>
                <a:cs typeface="Calibri" pitchFamily="34" charset="-120"/>
              </a:rPr>
              <a:t>IoC container</a:t>
            </a:r>
            <a:pPr indent="0" marL="0">
              <a:buNone/>
            </a:pPr>
            <a:r>
              <a:rPr lang="en-US" sz="1350" dirty="0">
                <a:solidFill>
                  <a:srgbClr val="5B6B60"/>
                </a:solidFill>
                <a:latin typeface="Calibri" pitchFamily="34" charset="0"/>
                <a:ea typeface="Calibri" pitchFamily="34" charset="-122"/>
                <a:cs typeface="Calibri" pitchFamily="34" charset="-120"/>
              </a:rPr>
              <a:t> creates objects (beans), injects their dependencies and manages their lifecycle for you.</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Inversion of Control: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your classes don't create their dependencies — the container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gives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them (Hollywood principle: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don't call us, we'll call you</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Spring Framework</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provides the container and modules;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Spring Boot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makes them production-ready with almost zero configuration.</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Spring Framework — IoC/DI core, AOP, transactions, Spring MVC, WebFlux</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Spring Boot — starters, auto-config, embedded Tomcat, Actuator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Spring Data — repositories for JPA, Redis, MongoDB…</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Spring Security — authentication, authorization, OAuth2</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Spring Cloud — gateway, config, discovery, circuit breakers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Spring for Kafka — producers, listeners, retries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Beans &amp; dependency injection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a:t>
            </a:r>
            <a:pPr indent="0" marL="0">
              <a:buNone/>
            </a:pPr>
            <a:r>
              <a:rPr lang="en-US" sz="1350" b="1" dirty="0">
                <a:solidFill>
                  <a:srgbClr val="5B6B60"/>
                </a:solidFill>
                <a:latin typeface="Calibri" pitchFamily="34" charset="0"/>
                <a:ea typeface="Calibri" pitchFamily="34" charset="-122"/>
                <a:cs typeface="Calibri" pitchFamily="34" charset="-120"/>
              </a:rPr>
              <a:t>bean</a:t>
            </a:r>
            <a:pPr indent="0" marL="0">
              <a:buNone/>
            </a:pPr>
            <a:r>
              <a:rPr lang="en-US" sz="1350" dirty="0">
                <a:solidFill>
                  <a:srgbClr val="5B6B60"/>
                </a:solidFill>
                <a:latin typeface="Calibri" pitchFamily="34" charset="0"/>
                <a:ea typeface="Calibri" pitchFamily="34" charset="-122"/>
                <a:cs typeface="Calibri" pitchFamily="34" charset="-120"/>
              </a:rPr>
              <a:t> is an object managed by the container. Spring discovers beans by </a:t>
            </a:r>
            <a:pPr indent="0" marL="0">
              <a:buNone/>
            </a:pPr>
            <a:r>
              <a:rPr lang="en-US" sz="1350" b="1" dirty="0">
                <a:solidFill>
                  <a:srgbClr val="5B6B60"/>
                </a:solidFill>
                <a:latin typeface="Calibri" pitchFamily="34" charset="0"/>
                <a:ea typeface="Calibri" pitchFamily="34" charset="-122"/>
                <a:cs typeface="Calibri" pitchFamily="34" charset="-120"/>
              </a:rPr>
              <a:t>component scanning</a:t>
            </a:r>
            <a:pPr indent="0" marL="0">
              <a:buNone/>
            </a:pPr>
            <a:r>
              <a:rPr lang="en-US" sz="1350" dirty="0">
                <a:solidFill>
                  <a:srgbClr val="5B6B60"/>
                </a:solidFill>
                <a:latin typeface="Calibri" pitchFamily="34" charset="0"/>
                <a:ea typeface="Calibri" pitchFamily="34" charset="-122"/>
                <a:cs typeface="Calibri" pitchFamily="34" charset="-120"/>
              </a:rPr>
              <a:t> or from </a:t>
            </a:r>
            <a:pPr indent="0" marL="0">
              <a:buNone/>
            </a:pPr>
            <a:r>
              <a:rPr lang="en-US" sz="1350" b="1" dirty="0">
                <a:solidFill>
                  <a:srgbClr val="5B6B60"/>
                </a:solidFill>
                <a:latin typeface="Calibri" pitchFamily="34" charset="0"/>
                <a:ea typeface="Calibri" pitchFamily="34" charset="-122"/>
                <a:cs typeface="Calibri" pitchFamily="34" charset="-120"/>
              </a:rPr>
              <a:t>`@Bean` methods</a:t>
            </a:r>
            <a:pPr indent="0" marL="0">
              <a:buNone/>
            </a:pPr>
            <a:r>
              <a:rPr lang="en-US" sz="1350" dirty="0">
                <a:solidFill>
                  <a:srgbClr val="5B6B60"/>
                </a:solidFill>
                <a:latin typeface="Calibri" pitchFamily="34" charset="0"/>
                <a:ea typeface="Calibri" pitchFamily="34" charset="-122"/>
                <a:cs typeface="Calibri" pitchFamily="34" charset="-120"/>
              </a:rPr>
              <a:t>, then injects them where they are needed.</a:t>
            </a:r>
            <a:endParaRPr lang="en-US" sz="1350" dirty="0"/>
          </a:p>
        </p:txBody>
      </p:sp>
      <p:sp>
        <p:nvSpPr>
          <p:cNvPr id="7" name="Text 5"/>
          <p:cNvSpPr/>
          <p:nvPr/>
        </p:nvSpPr>
        <p:spPr>
          <a:xfrm>
            <a:off x="457200" y="1883664"/>
            <a:ext cx="11277295" cy="273405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Constructor injection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(preferred): dependencies are explicit, fields can be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final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easy to test. With one constructor,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@Autowired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is optional.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Avoid field injection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@Autowired private Foo foo;</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it hides dependencies and needs reflection to test.</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Scopes: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singleton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(default — one per container),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prototype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(new each time),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request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session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Lifecycle hooks: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@PostConstruct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@PreDestroy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(package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jakarta.annotation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235131">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Annotation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Meaning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@Component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generic bean found by component scanning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@Service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business logic layer (a specialised @Component)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@Repository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data access layer; translates persistence exceptions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@Controller / @RestController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web layer; @RestController @Controller + @ResponseBody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@Configuration + @Bean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factory methods for beans you can't annotate (third-party classes)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@Primary / @Qualifier("x")</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choose between several beans of the same type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Dependency injection in a Spring Boot app</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Two implementations of one interface, a third-party bean from a </a:t>
            </a:r>
            <a:pPr indent="0" marL="0">
              <a:buNone/>
            </a:pPr>
            <a:r>
              <a:rPr lang="en-US" sz="1350" dirty="0">
                <a:solidFill>
                  <a:srgbClr val="B4235A"/>
                </a:solidFill>
                <a:latin typeface="Consolas" pitchFamily="34" charset="0"/>
                <a:ea typeface="Consolas" pitchFamily="34" charset="-122"/>
                <a:cs typeface="Consolas" pitchFamily="34" charset="-120"/>
              </a:rPr>
              <a:t>@Bean</a:t>
            </a:r>
            <a:pPr indent="0" marL="0">
              <a:buNone/>
            </a:pPr>
            <a:r>
              <a:rPr lang="en-US" sz="1350" dirty="0">
                <a:solidFill>
                  <a:srgbClr val="5B6B60"/>
                </a:solidFill>
                <a:latin typeface="Calibri" pitchFamily="34" charset="0"/>
                <a:ea typeface="Calibri" pitchFamily="34" charset="-122"/>
                <a:cs typeface="Calibri" pitchFamily="34" charset="-120"/>
              </a:rPr>
              <a:t> method, and constructor injection everywhere.</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NotificationSenders.java  (+2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com.example.demo.notify;</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org.springframework.context.annotation.Primary;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org.springframework.stereotype.Component;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interface NotificationSender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String channel();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void send(String to, String message);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@Component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EmailSender implements NotificationSender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String channel() { return "EMAIL";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void send(String to, String msg) { System.out.println("EMAIL -&gt; " + to + ": " + msg);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@Component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@Primary                                       // default choice when one sender is injected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SmsSender implements NotificationSender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String channel() { return "SMS";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void send(String to, String msg) { System.out.println("SMS   -&gt; " + to + ": " + msg);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What Spring Boot adds: starters &amp; auto-configuration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Boot looks at your classpath and configuration, then </a:t>
            </a:r>
            <a:pPr indent="0" marL="0">
              <a:buNone/>
            </a:pPr>
            <a:r>
              <a:rPr lang="en-US" sz="1350" b="1" dirty="0">
                <a:solidFill>
                  <a:srgbClr val="5B6B60"/>
                </a:solidFill>
                <a:latin typeface="Calibri" pitchFamily="34" charset="0"/>
                <a:ea typeface="Calibri" pitchFamily="34" charset="-122"/>
                <a:cs typeface="Calibri" pitchFamily="34" charset="-120"/>
              </a:rPr>
              <a:t>auto-configures</a:t>
            </a:r>
            <a:pPr indent="0" marL="0">
              <a:buNone/>
            </a:pPr>
            <a:r>
              <a:rPr lang="en-US" sz="1350" dirty="0">
                <a:solidFill>
                  <a:srgbClr val="5B6B60"/>
                </a:solidFill>
                <a:latin typeface="Calibri" pitchFamily="34" charset="0"/>
                <a:ea typeface="Calibri" pitchFamily="34" charset="-122"/>
                <a:cs typeface="Calibri" pitchFamily="34" charset="-120"/>
              </a:rPr>
              <a:t> sensible beans — which you can override at any time.</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500" b="1" dirty="0">
                <a:solidFill>
                  <a:srgbClr val="1F2A24"/>
                </a:solidFill>
                <a:latin typeface="Calibri" pitchFamily="34" charset="0"/>
                <a:ea typeface="Calibri" pitchFamily="34" charset="-122"/>
                <a:cs typeface="Calibri" pitchFamily="34" charset="-120"/>
              </a:rPr>
              <a:t>Starters</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 are curated dependency bundles: </a:t>
            </a:r>
            <a:endParaRPr lang="en-US" sz="1500" dirty="0"/>
          </a:p>
          <a:p>
            <a:pPr marL="177800" indent="-177800">
              <a:spcAft>
                <a:spcPts val="400"/>
              </a:spcAft>
              <a:buSzPct val="100000"/>
              <a:buChar char="•"/>
            </a:pPr>
            <a:r>
              <a:rPr lang="en-US" sz="1500" dirty="0">
                <a:solidFill>
                  <a:srgbClr val="B4235A"/>
                </a:solidFill>
                <a:latin typeface="Consolas" pitchFamily="34" charset="0"/>
                <a:ea typeface="Consolas" pitchFamily="34" charset="-122"/>
                <a:cs typeface="Consolas" pitchFamily="34" charset="-120"/>
              </a:rPr>
              <a:t>spring-boot-starter-webmvc</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 brings Spring MVC, Jackson, Tomcat, validation hooks.</a:t>
            </a:r>
            <a:endParaRPr lang="en-US" sz="1500" dirty="0"/>
          </a:p>
          <a:p>
            <a:pPr marL="177800" indent="-177800">
              <a:spcAft>
                <a:spcPts val="400"/>
              </a:spcAft>
              <a:buSzPct val="100000"/>
              <a:buChar char="•"/>
            </a:pPr>
            <a:r>
              <a:rPr lang="en-US" sz="1500" b="1" dirty="0">
                <a:solidFill>
                  <a:srgbClr val="1F2A24"/>
                </a:solidFill>
                <a:latin typeface="Calibri" pitchFamily="34" charset="0"/>
                <a:ea typeface="Calibri" pitchFamily="34" charset="-122"/>
                <a:cs typeface="Calibri" pitchFamily="34" charset="-120"/>
              </a:rPr>
              <a:t>Auto-configuration</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 classes are guarded by conditions: </a:t>
            </a:r>
            <a:endParaRPr lang="en-US" sz="1500" dirty="0"/>
          </a:p>
          <a:p>
            <a:pPr marL="177800" indent="-177800">
              <a:spcAft>
                <a:spcPts val="400"/>
              </a:spcAft>
              <a:buSzPct val="100000"/>
              <a:buChar char="•"/>
            </a:pPr>
            <a:r>
              <a:rPr lang="en-US" sz="1500" i="1" dirty="0">
                <a:solidFill>
                  <a:srgbClr val="1F2A24"/>
                </a:solidFill>
                <a:latin typeface="Calibri" pitchFamily="34" charset="0"/>
                <a:ea typeface="Calibri" pitchFamily="34" charset="-122"/>
                <a:cs typeface="Calibri" pitchFamily="34" charset="-120"/>
              </a:rPr>
              <a:t>if Jackson is on the classpath and you defined no `JsonMapper`, create one</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Your own bean always wins (</a:t>
            </a:r>
            <a:endParaRPr lang="en-US" sz="1500" dirty="0"/>
          </a:p>
          <a:p>
            <a:pPr marL="177800" indent="-177800">
              <a:spcAft>
                <a:spcPts val="400"/>
              </a:spcAft>
              <a:buSzPct val="100000"/>
              <a:buChar char="•"/>
            </a:pPr>
            <a:r>
              <a:rPr lang="en-US" sz="1500" dirty="0">
                <a:solidFill>
                  <a:srgbClr val="B4235A"/>
                </a:solidFill>
                <a:latin typeface="Consolas" pitchFamily="34" charset="0"/>
                <a:ea typeface="Consolas" pitchFamily="34" charset="-122"/>
                <a:cs typeface="Consolas" pitchFamily="34" charset="-120"/>
              </a:rPr>
              <a:t>@ConditionalOnMissingBean</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 — override defaults by simply declaring a bean.</a:t>
            </a:r>
            <a:endParaRPr lang="en-US" sz="1500" dirty="0"/>
          </a:p>
          <a:p>
            <a:pPr marL="177800" indent="-177800">
              <a:spcAft>
                <a:spcPts val="400"/>
              </a:spcAft>
              <a:buSzPct val="100000"/>
              <a:buChar char="•"/>
            </a:pPr>
            <a:r>
              <a:rPr lang="en-US" sz="1500" b="1" dirty="0">
                <a:solidFill>
                  <a:srgbClr val="1F2A24"/>
                </a:solidFill>
                <a:latin typeface="Calibri" pitchFamily="34" charset="0"/>
                <a:ea typeface="Calibri" pitchFamily="34" charset="-122"/>
                <a:cs typeface="Calibri" pitchFamily="34" charset="-120"/>
              </a:rPr>
              <a:t>Externalised config:</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 the same JAR runs in dev and prod with different properties, profiles and environment variables.</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Run with </a:t>
            </a:r>
            <a:endParaRPr lang="en-US" sz="1500" dirty="0"/>
          </a:p>
          <a:p>
            <a:pPr marL="177800" indent="-177800">
              <a:spcAft>
                <a:spcPts val="400"/>
              </a:spcAft>
              <a:buSzPct val="100000"/>
              <a:buChar char="•"/>
            </a:pPr>
            <a:r>
              <a:rPr lang="en-US" sz="1500" dirty="0">
                <a:solidFill>
                  <a:srgbClr val="B4235A"/>
                </a:solidFill>
                <a:latin typeface="Consolas" pitchFamily="34" charset="0"/>
                <a:ea typeface="Consolas" pitchFamily="34" charset="-122"/>
                <a:cs typeface="Consolas" pitchFamily="34" charset="-120"/>
              </a:rPr>
              <a:t>--debug</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 (or </a:t>
            </a:r>
            <a:endParaRPr lang="en-US" sz="1500" dirty="0"/>
          </a:p>
          <a:p>
            <a:pPr marL="177800" indent="-177800">
              <a:spcAft>
                <a:spcPts val="400"/>
              </a:spcAft>
              <a:buSzPct val="100000"/>
              <a:buChar char="•"/>
            </a:pPr>
            <a:r>
              <a:rPr lang="en-US" sz="1500" dirty="0">
                <a:solidFill>
                  <a:srgbClr val="B4235A"/>
                </a:solidFill>
                <a:latin typeface="Consolas" pitchFamily="34" charset="0"/>
                <a:ea typeface="Consolas" pitchFamily="34" charset="-122"/>
                <a:cs typeface="Consolas" pitchFamily="34" charset="-120"/>
              </a:rPr>
              <a:t>debug=true</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 to print the </a:t>
            </a:r>
            <a:endParaRPr lang="en-US" sz="1500" dirty="0"/>
          </a:p>
          <a:p>
            <a:pPr marL="177800" indent="-177800">
              <a:spcAft>
                <a:spcPts val="400"/>
              </a:spcAft>
              <a:buSzPct val="100000"/>
              <a:buChar char="•"/>
            </a:pPr>
            <a:r>
              <a:rPr lang="en-US" sz="1500" i="1" dirty="0">
                <a:solidFill>
                  <a:srgbClr val="1F2A24"/>
                </a:solidFill>
                <a:latin typeface="Calibri" pitchFamily="34" charset="0"/>
                <a:ea typeface="Calibri" pitchFamily="34" charset="-122"/>
                <a:cs typeface="Calibri" pitchFamily="34" charset="-120"/>
              </a:rPr>
              <a:t>conditions evaluation report</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 what was configured and why.</a:t>
            </a:r>
            <a:endParaRPr lang="en-US" sz="1500" dirty="0"/>
          </a:p>
        </p:txBody>
      </p:sp>
      <p:sp>
        <p:nvSpPr>
          <p:cNvPr id="8" name="Text 6"/>
          <p:cNvSpPr/>
          <p:nvPr/>
        </p:nvSpPr>
        <p:spPr>
          <a:xfrm>
            <a:off x="585216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main()</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SpringApplication.run</a:t>
            </a:r>
            <a:endParaRPr lang="en-US" sz="1150" dirty="0"/>
          </a:p>
        </p:txBody>
      </p:sp>
      <p:sp>
        <p:nvSpPr>
          <p:cNvPr id="9" name="Shape 7"/>
          <p:cNvSpPr/>
          <p:nvPr/>
        </p:nvSpPr>
        <p:spPr>
          <a:xfrm>
            <a:off x="6772595" y="2432304"/>
            <a:ext cx="320040" cy="0"/>
          </a:xfrm>
          <a:prstGeom prst="line">
            <a:avLst/>
          </a:prstGeom>
          <a:noFill/>
          <a:ln w="15875">
            <a:solidFill>
              <a:srgbClr val="6F8276"/>
            </a:solidFill>
            <a:prstDash val="solid"/>
            <a:tailEnd type="triangle"/>
          </a:ln>
        </p:spPr>
      </p:sp>
      <p:sp>
        <p:nvSpPr>
          <p:cNvPr id="10" name="Text 8"/>
          <p:cNvSpPr/>
          <p:nvPr/>
        </p:nvSpPr>
        <p:spPr>
          <a:xfrm>
            <a:off x="7092635"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Load config</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application.yml, env vars, args</a:t>
            </a:r>
            <a:endParaRPr lang="en-US" sz="1150" dirty="0"/>
          </a:p>
        </p:txBody>
      </p:sp>
      <p:sp>
        <p:nvSpPr>
          <p:cNvPr id="11" name="Shape 9"/>
          <p:cNvSpPr/>
          <p:nvPr/>
        </p:nvSpPr>
        <p:spPr>
          <a:xfrm>
            <a:off x="8013070" y="2432304"/>
            <a:ext cx="320040" cy="0"/>
          </a:xfrm>
          <a:prstGeom prst="line">
            <a:avLst/>
          </a:prstGeom>
          <a:noFill/>
          <a:ln w="15875">
            <a:solidFill>
              <a:srgbClr val="6F8276"/>
            </a:solidFill>
            <a:prstDash val="solid"/>
            <a:tailEnd type="triangle"/>
          </a:ln>
        </p:spPr>
      </p:sp>
      <p:sp>
        <p:nvSpPr>
          <p:cNvPr id="12" name="Text 10"/>
          <p:cNvSpPr/>
          <p:nvPr/>
        </p:nvSpPr>
        <p:spPr>
          <a:xfrm>
            <a:off x="833311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Scan components</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your @Component classes</a:t>
            </a:r>
            <a:endParaRPr lang="en-US" sz="1150" dirty="0"/>
          </a:p>
        </p:txBody>
      </p:sp>
      <p:sp>
        <p:nvSpPr>
          <p:cNvPr id="13" name="Shape 11"/>
          <p:cNvSpPr/>
          <p:nvPr/>
        </p:nvSpPr>
        <p:spPr>
          <a:xfrm>
            <a:off x="9253545" y="2432304"/>
            <a:ext cx="320040" cy="0"/>
          </a:xfrm>
          <a:prstGeom prst="line">
            <a:avLst/>
          </a:prstGeom>
          <a:noFill/>
          <a:ln w="15875">
            <a:solidFill>
              <a:srgbClr val="6F8276"/>
            </a:solidFill>
            <a:prstDash val="solid"/>
            <a:tailEnd type="triangle"/>
          </a:ln>
        </p:spPr>
      </p:sp>
      <p:sp>
        <p:nvSpPr>
          <p:cNvPr id="14" name="Text 12"/>
          <p:cNvSpPr/>
          <p:nvPr/>
        </p:nvSpPr>
        <p:spPr>
          <a:xfrm>
            <a:off x="9573585"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Auto-configure</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@ConditionalOnClass / OnMissingBean</a:t>
            </a:r>
            <a:endParaRPr lang="en-US" sz="1150" dirty="0"/>
          </a:p>
        </p:txBody>
      </p:sp>
      <p:sp>
        <p:nvSpPr>
          <p:cNvPr id="15" name="Shape 13"/>
          <p:cNvSpPr/>
          <p:nvPr/>
        </p:nvSpPr>
        <p:spPr>
          <a:xfrm>
            <a:off x="10494020" y="2432304"/>
            <a:ext cx="320040" cy="0"/>
          </a:xfrm>
          <a:prstGeom prst="line">
            <a:avLst/>
          </a:prstGeom>
          <a:noFill/>
          <a:ln w="15875">
            <a:solidFill>
              <a:srgbClr val="6F8276"/>
            </a:solidFill>
            <a:prstDash val="solid"/>
            <a:tailEnd type="triangle"/>
          </a:ln>
        </p:spPr>
      </p:sp>
      <p:sp>
        <p:nvSpPr>
          <p:cNvPr id="16" name="Text 14"/>
          <p:cNvSpPr/>
          <p:nvPr/>
        </p:nvSpPr>
        <p:spPr>
          <a:xfrm>
            <a:off x="1081406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Start Tomcat</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port 8080, ready</a:t>
            </a:r>
            <a:endParaRPr lang="en-US" sz="11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Externalised configuration &amp; profiles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Bind YAML to a type-safe record with </a:t>
            </a:r>
            <a:pPr indent="0" marL="0">
              <a:buNone/>
            </a:pPr>
            <a:r>
              <a:rPr lang="en-US" sz="1350" dirty="0">
                <a:solidFill>
                  <a:srgbClr val="B4235A"/>
                </a:solidFill>
                <a:latin typeface="Consolas" pitchFamily="34" charset="0"/>
                <a:ea typeface="Consolas" pitchFamily="34" charset="-122"/>
                <a:cs typeface="Consolas" pitchFamily="34" charset="-120"/>
              </a:rPr>
              <a:t>@ConfigurationProperties</a:t>
            </a:r>
            <a:pPr indent="0" marL="0">
              <a:buNone/>
            </a:pPr>
            <a:r>
              <a:rPr lang="en-US" sz="1350" dirty="0">
                <a:solidFill>
                  <a:srgbClr val="5B6B60"/>
                </a:solidFill>
                <a:latin typeface="Calibri" pitchFamily="34" charset="0"/>
                <a:ea typeface="Calibri" pitchFamily="34" charset="-122"/>
                <a:cs typeface="Calibri" pitchFamily="34" charset="-120"/>
              </a:rPr>
              <a:t>, and switch behaviour per environment with profiles.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application.yml  (+2 more in the web notes)</a:t>
            </a:r>
            <a:endParaRPr lang="en-US" sz="900" dirty="0"/>
          </a:p>
        </p:txBody>
      </p:sp>
      <p:sp>
        <p:nvSpPr>
          <p:cNvPr id="8" name="Text 6"/>
          <p:cNvSpPr/>
          <p:nvPr/>
        </p:nvSpPr>
        <p:spPr>
          <a:xfrm>
            <a:off x="457200" y="2157984"/>
            <a:ext cx="1127729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spring:</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application: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name: splitwise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profiles: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active: dev            # default profile for local runs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server: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port: 8080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app:</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currency: INR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max-group-size: 50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features: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simplify-debts: true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Source (higher wins)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Command-line args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--server.port9090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Environment variables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SERVER_PORT9090, SPRING_DATASOURCE_PASSWORD…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Profile-specific files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application-prod.yml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application.yml / .properties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defaults packaged in the JAR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HTTP essentials: methods, safety &amp; idempotency</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HTTP is a stateless request/response protocol. The </a:t>
            </a:r>
            <a:pPr indent="0" marL="0">
              <a:buNone/>
            </a:pPr>
            <a:r>
              <a:rPr lang="en-US" sz="1350" b="1" dirty="0">
                <a:solidFill>
                  <a:srgbClr val="5B6B60"/>
                </a:solidFill>
                <a:latin typeface="Calibri" pitchFamily="34" charset="0"/>
                <a:ea typeface="Calibri" pitchFamily="34" charset="-122"/>
                <a:cs typeface="Calibri" pitchFamily="34" charset="-120"/>
              </a:rPr>
              <a:t>method</a:t>
            </a:r>
            <a:pPr indent="0" marL="0">
              <a:buNone/>
            </a:pPr>
            <a:r>
              <a:rPr lang="en-US" sz="1350" dirty="0">
                <a:solidFill>
                  <a:srgbClr val="5B6B60"/>
                </a:solidFill>
                <a:latin typeface="Calibri" pitchFamily="34" charset="0"/>
                <a:ea typeface="Calibri" pitchFamily="34" charset="-122"/>
                <a:cs typeface="Calibri" pitchFamily="34" charset="-120"/>
              </a:rPr>
              <a:t> states the intent; the </a:t>
            </a:r>
            <a:pPr indent="0" marL="0">
              <a:buNone/>
            </a:pPr>
            <a:r>
              <a:rPr lang="en-US" sz="1350" b="1" dirty="0">
                <a:solidFill>
                  <a:srgbClr val="5B6B60"/>
                </a:solidFill>
                <a:latin typeface="Calibri" pitchFamily="34" charset="0"/>
                <a:ea typeface="Calibri" pitchFamily="34" charset="-122"/>
                <a:cs typeface="Calibri" pitchFamily="34" charset="-120"/>
              </a:rPr>
              <a:t>status code</a:t>
            </a:r>
            <a:pPr indent="0" marL="0">
              <a:buNone/>
            </a:pPr>
            <a:r>
              <a:rPr lang="en-US" sz="1350" dirty="0">
                <a:solidFill>
                  <a:srgbClr val="5B6B60"/>
                </a:solidFill>
                <a:latin typeface="Calibri" pitchFamily="34" charset="0"/>
                <a:ea typeface="Calibri" pitchFamily="34" charset="-122"/>
                <a:cs typeface="Calibri" pitchFamily="34" charset="-120"/>
              </a:rPr>
              <a:t> reports the outcome.</a:t>
            </a:r>
            <a:endParaRPr lang="en-US" sz="1350" dirty="0"/>
          </a:p>
        </p:txBody>
      </p:sp>
      <p:sp>
        <p:nvSpPr>
          <p:cNvPr id="7" name="Text 5"/>
          <p:cNvSpPr/>
          <p:nvPr/>
        </p:nvSpPr>
        <p:spPr>
          <a:xfrm>
            <a:off x="457200" y="1883664"/>
            <a:ext cx="5120640" cy="273405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Safe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no server-side change.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Idempotent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repeating the request has the same effect as sending it once.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Status classes: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2xx</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success ·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3xx</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redirect ·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4xx</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client error (400, 401, 403, 404, 409, 422) ·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5xx</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server error (500, 502, 503).</a:t>
            </a:r>
            <a:endParaRPr lang="en-US" sz="17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A raw HTTP exchange</a:t>
            </a:r>
            <a:endParaRPr lang="en-US" sz="900" dirty="0"/>
          </a:p>
        </p:txBody>
      </p:sp>
      <p:sp>
        <p:nvSpPr>
          <p:cNvPr id="9" name="Text 7"/>
          <p:cNvSpPr/>
          <p:nvPr/>
        </p:nvSpPr>
        <p:spPr>
          <a:xfrm>
            <a:off x="5852160" y="2157984"/>
            <a:ext cx="588233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POST /api/v1/expenses HTTP/1.1</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Host: api.splitwise.local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Content-Type: application/json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Authorization: Bearer eyJhbGciOi...</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{"groupId": 7, "description": "Dinner", "amount": 2400.00}</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HTTP/1.1 201 Created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Location: /api/v1/expenses/42</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Content-Type: application/json</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{"id": 42, "groupId": 7, "description": "Dinner", "amount": 2400.00}</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2255459"/>
                <a:gridCol w="2255459"/>
                <a:gridCol w="2255459"/>
                <a:gridCol w="2255459"/>
                <a:gridCol w="2255459"/>
              </a:tblGrid>
              <a:tr h="235131">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Method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Safe?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Idempotent?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Typical success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35131">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GET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read a resource or collection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POST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create / trigger processing</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201 Created (+ Location)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PUT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replace a resource completely</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200 OK / 204 No Content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PATCH</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partial update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(not guaranteed)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DELETE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remove a resource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204 No Content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HEAD / OPTIONS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headers only / allowed methods (CORS)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200 OK</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Spring MVC architecture: the DispatcherServlet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Every request enters one </a:t>
            </a:r>
            <a:pPr indent="0" marL="0">
              <a:buNone/>
            </a:pPr>
            <a:r>
              <a:rPr lang="en-US" sz="1350" b="1" dirty="0">
                <a:solidFill>
                  <a:srgbClr val="5B6B60"/>
                </a:solidFill>
                <a:latin typeface="Calibri" pitchFamily="34" charset="0"/>
                <a:ea typeface="Calibri" pitchFamily="34" charset="-122"/>
                <a:cs typeface="Calibri" pitchFamily="34" charset="-120"/>
              </a:rPr>
              <a:t>front controller</a:t>
            </a:r>
            <a:pPr indent="0" marL="0">
              <a:buNone/>
            </a:pPr>
            <a:r>
              <a:rPr lang="en-US" sz="1350" dirty="0">
                <a:solidFill>
                  <a:srgbClr val="5B6B60"/>
                </a:solidFill>
                <a:latin typeface="Calibri" pitchFamily="34" charset="0"/>
                <a:ea typeface="Calibri" pitchFamily="34" charset="-122"/>
                <a:cs typeface="Calibri" pitchFamily="34" charset="-120"/>
              </a:rPr>
              <a:t>, the </a:t>
            </a:r>
            <a:pPr indent="0" marL="0">
              <a:buNone/>
            </a:pPr>
            <a:r>
              <a:rPr lang="en-US" sz="1350" dirty="0">
                <a:solidFill>
                  <a:srgbClr val="B4235A"/>
                </a:solidFill>
                <a:latin typeface="Consolas" pitchFamily="34" charset="0"/>
                <a:ea typeface="Consolas" pitchFamily="34" charset="-122"/>
                <a:cs typeface="Consolas" pitchFamily="34" charset="-120"/>
              </a:rPr>
              <a:t>DispatcherServlet</a:t>
            </a:r>
            <a:pPr indent="0" marL="0">
              <a:buNone/>
            </a:pPr>
            <a:r>
              <a:rPr lang="en-US" sz="1350" dirty="0">
                <a:solidFill>
                  <a:srgbClr val="5B6B60"/>
                </a:solidFill>
                <a:latin typeface="Calibri" pitchFamily="34" charset="0"/>
                <a:ea typeface="Calibri" pitchFamily="34" charset="-122"/>
                <a:cs typeface="Calibri" pitchFamily="34" charset="-120"/>
              </a:rPr>
              <a:t>, which delegates to specialised components.</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Servlet filters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run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before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the DispatcherServlet (security, CORS, request ids).</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HandlerMapping</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picks the controller method from path, method, headers, params.</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HandlerAdapter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calls it, resolving arguments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@PathVariable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@RequestBody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and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HandlerInterceptors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run around it.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Return values go through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HttpMessageConverters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(Jackson → JSON) for REST, or a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ViewResolver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for server-rendered pages.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Exceptions are handled by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HandlerExceptionResolvers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@ExceptionHandler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@RestControllerAdvice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(Session 9).</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1. Client → DispatcherServlet: GET /api/v1/contacts/1</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2. DispatcherServlet → HandlerMapping: find handler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3. HandlerMapping → DispatcherServlet: ContactController.get()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4. DispatcherServlet → Controller: invoke, bind @PathVariable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5. Controller → DispatcherServlet: ResponseEntity&lt;Contact&gt;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6. DispatcherServlet → Jackson: serialize body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7. Jackson → DispatcherServlet: JSON bytes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8. DispatcherServlet → Client: 200 OK + JSON</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A REST controller with every HTTP method</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GET, POST, PUT, PATCH and DELETE on one resource — returning the right status codes with </a:t>
            </a:r>
            <a:pPr indent="0" marL="0">
              <a:buNone/>
            </a:pPr>
            <a:r>
              <a:rPr lang="en-US" sz="1350" dirty="0">
                <a:solidFill>
                  <a:srgbClr val="B4235A"/>
                </a:solidFill>
                <a:latin typeface="Consolas" pitchFamily="34" charset="0"/>
                <a:ea typeface="Consolas" pitchFamily="34" charset="-122"/>
                <a:cs typeface="Consolas" pitchFamily="34" charset="-120"/>
              </a:rPr>
              <a:t>ResponseEntity</a:t>
            </a:r>
            <a:pPr indent="0" marL="0">
              <a:buNone/>
            </a:pPr>
            <a:r>
              <a:rPr lang="en-US" sz="1350" dirty="0">
                <a:solidFill>
                  <a:srgbClr val="5B6B60"/>
                </a:solidFill>
                <a:latin typeface="Calibri" pitchFamily="34" charset="0"/>
                <a:ea typeface="Calibri" pitchFamily="34" charset="-122"/>
                <a:cs typeface="Calibri" pitchFamily="34" charset="-120"/>
              </a:rPr>
              <a: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ContactController.java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com.example.demo.contacts;</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java.net.URI;</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java.util.concurrent.ConcurrentHashMap;</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java.util.concurrent.atomic.AtomicLong;</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org.springframework.http.ResponseEntity;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org.springframework.web.bind.annotation.*;</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record Contact(Long id, String name, String email)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@RestController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@RequestMapping("/api/v1/contacts")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ContactController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Map&lt;Long, Contact&gt; store = new ConcurrentHashMap&lt;&gt;();   // thread-safe: singleton bean!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AtomicLong ids = new AtomicLong();</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@GetMapping                                        // GET /api/v1/contacts?name=asha</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List&lt;Contact&gt; list(@RequestParam(required = false) String name)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store.values().stream()</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.filter(c -&gt; name == null || c.name().equalsIgnoreCase(name))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Around the handler: filters &amp; interceptors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Cross-cutting web concerns belong in the pipeline, not in every controller method.</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RequestIdFilter.java  (+1 more in the web notes)</a:t>
            </a:r>
            <a:endParaRPr lang="en-US" sz="900" dirty="0"/>
          </a:p>
        </p:txBody>
      </p:sp>
      <p:sp>
        <p:nvSpPr>
          <p:cNvPr id="8" name="Text 6"/>
          <p:cNvSpPr/>
          <p:nvPr/>
        </p:nvSpPr>
        <p:spPr>
          <a:xfrm>
            <a:off x="457200" y="2157984"/>
            <a:ext cx="1127729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com.example.demo.web;</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jakarta.servlet.FilterChain;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jakarta.servlet.ServletException;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jakarta.servlet.http.HttpServletRequest;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jakarta.servlet.http.HttpServletResponse;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java.io.IOException;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java.util.Optional;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java.util.UUID;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org.springframework.stereotype.Component;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org.springframework.web.filter.OncePerRequestFilter;</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384048">
                <a:tc>
                  <a:txBody>
                    <a:bodyPr/>
                    <a:lstStyle/>
                    <a:p>
                      <a:pPr indent="0" marL="0">
                        <a:buNone/>
                      </a:pP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Servlet Filter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HandlerInterceptor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Runs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before/after the DispatcherServlet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before/after the chosen handler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Knows the handler method?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(handler argument)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Typical use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security, CORS, request ids, compression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timing, locale, auditing per endpoint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Lab: a Movies API with every HTTP method</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Build, wire and exercise your first Spring MVC REST API with layered beans and configuration.</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Generate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movies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on start.spring.io (Maven, Java 21, Boot 4.1.x) with </a:t>
            </a:r>
            <a:endParaRPr lang="en-US" sz="1500" dirty="0"/>
          </a:p>
          <a:p>
            <a:pPr marL="342900" indent="-342900">
              <a:spcAft>
                <a:spcPts val="400"/>
              </a:spcAft>
              <a:buSzPct val="100000"/>
              <a:buFont typeface="+mj-lt"/>
              <a:buAutoNum type="arabicPeriod" startAt="1"/>
            </a:pPr>
            <a:r>
              <a:rPr lang="en-US" sz="1500" i="1" dirty="0">
                <a:solidFill>
                  <a:srgbClr val="1F2A24"/>
                </a:solidFill>
                <a:latin typeface="Calibri" pitchFamily="34" charset="0"/>
                <a:ea typeface="Calibri" pitchFamily="34" charset="-122"/>
                <a:cs typeface="Calibri" pitchFamily="34" charset="-120"/>
              </a:rPr>
              <a:t>Spring Web</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i="1" dirty="0">
                <a:solidFill>
                  <a:srgbClr val="1F2A24"/>
                </a:solidFill>
                <a:latin typeface="Calibri" pitchFamily="34" charset="0"/>
                <a:ea typeface="Calibri" pitchFamily="34" charset="-122"/>
                <a:cs typeface="Calibri" pitchFamily="34" charset="-120"/>
              </a:rPr>
              <a:t>DevTools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Create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record Movie(Long id, String title, int year, double rating)</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Create a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@Service MovieService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holding a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ConcurrentHashMap</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AtomicLong</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inject it into the controller </a:t>
            </a:r>
            <a:endParaRPr lang="en-US" sz="1500" dirty="0"/>
          </a:p>
          <a:p>
            <a:pPr marL="342900" indent="-342900">
              <a:spcAft>
                <a:spcPts val="400"/>
              </a:spcAft>
              <a:buSzPct val="100000"/>
              <a:buFont typeface="+mj-lt"/>
              <a:buAutoNum type="arabicPeriod" startAt="1"/>
            </a:pPr>
            <a:r>
              <a:rPr lang="en-US" sz="1500" b="1" dirty="0">
                <a:solidFill>
                  <a:srgbClr val="1F2A24"/>
                </a:solidFill>
                <a:latin typeface="Calibri" pitchFamily="34" charset="0"/>
                <a:ea typeface="Calibri" pitchFamily="34" charset="-122"/>
                <a:cs typeface="Calibri" pitchFamily="34" charset="-120"/>
              </a:rPr>
              <a:t>through the constructor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Implement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GET /api/v1/movies?year=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GET /{id}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(404 if missing),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POST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(201 +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Location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PUT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PATCH</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(rating only)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DELETE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(204).</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Exercise every endpoint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curl -i</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(or Postman/HTTPie) and check the status codes and headers.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app.max-movies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via a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@ConfigurationProperties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record; return </a:t>
            </a:r>
            <a:endParaRPr lang="en-US" sz="1500" dirty="0"/>
          </a:p>
          <a:p>
            <a:pPr marL="342900" indent="-342900">
              <a:spcAft>
                <a:spcPts val="400"/>
              </a:spcAft>
              <a:buSzPct val="100000"/>
              <a:buFont typeface="+mj-lt"/>
              <a:buAutoNum type="arabicPeriod" startAt="1"/>
            </a:pPr>
            <a:r>
              <a:rPr lang="en-US" sz="1500" b="1" dirty="0">
                <a:solidFill>
                  <a:srgbClr val="1F2A24"/>
                </a:solidFill>
                <a:latin typeface="Calibri" pitchFamily="34" charset="0"/>
                <a:ea typeface="Calibri" pitchFamily="34" charset="-122"/>
                <a:cs typeface="Calibri" pitchFamily="34" charset="-120"/>
              </a:rPr>
              <a:t>409 Conflict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when the limit is reached.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Register the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TimingInterceptor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RequestIdFilter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confirm the log line and the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X-Request-Id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response header.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Stretch: run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--debug</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find the auto-configuration that created the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DispatcherServlet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try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OPTIONS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HEAD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requests.</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Spring Boot core, MVC &amp; HTTP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Which injection style is recommended in Spring?</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Field injection with @Autowired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Constructor injection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Static setters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Service locator lookups</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What is the default scope of a Spring bean?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prototype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request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singleton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session</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Which method is idempotent but NOT safe?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GET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POST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PUT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HEAD</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Correct response for a successful POST that created a resource: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200 OK with empty body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201 Created with a Location header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204 No Content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302 Found</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What is the front controller of Spring MVC?</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HandlerInterceptor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DispatcherServlet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ViewResolver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RestTemplate</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Q6.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@SpringBootApplication</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combines…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@Controller + @Service + @Repository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@Configuration + @EnableAutoConfiguration + @ComponentScan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@EnableWebMvc + @EnableJpa</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@Bean + @Primary</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8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IoC container builds the object graph; prefer constructor injection; beans are singletons by default → keep them stateless.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Spring Boot = starters + conditional auto-configuration + embedded server + externalised config &amp; profiles.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HTTP methods carry intent; know safe vs idempotent; use precise status codes (201, 204, 400, 404, 409…).</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Spring MVC: filters → DispatcherServlet → HandlerMapping → interceptors → controller → message converters.</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@RestController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@GetMapping</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@PostMapping</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ResponseEntity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build REST endpoints.</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IoC</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The container, not your code, creates and wires objects.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Bean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An object created and managed by the Spring container.</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@Primary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Marks the default bean when several candidates match a type.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Auto-configuration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Conditional @Configuration classes Boot applies based on classpath and properties.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@ConfigurationProperties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Binds a prefix of external config to a type-safe object/record.</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Idempotent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Repeating the request has the same effect as doing it once.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DispatcherServlet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Spring MVC front controller that routes every request.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HandlerInterceptor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Hook that runs before/after a controller method.</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3D9BD1"/>
                </a:solidFill>
                <a:latin typeface="Calibri" pitchFamily="34" charset="0"/>
                <a:ea typeface="Calibri" pitchFamily="34" charset="-122"/>
                <a:cs typeface="Calibri" pitchFamily="34" charset="-120"/>
              </a:rPr>
              <a:t>SESSION 9 OF 24  ·  MODULE 2</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RESTful API Design &amp; Implementation, AOP &amp; Lombok</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RESTful API design &amp; implementation</a:t>
            </a:r>
            <a:endParaRPr lang="en-US" sz="1400" dirty="0"/>
          </a:p>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AOP, cross-cutting concerns &amp; Lombok integration</a:t>
            </a:r>
            <a:endParaRPr lang="en-US" sz="1400" dirty="0"/>
          </a:p>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Logging with SLF4J/Logback, MDC &amp; structured logs</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Design resource-oriented REST APIs: URIs, methods, status codes, pagination, versioning.</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Implement a layered API with DTOs, Bean Validation and RFC 9457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ProblemDetail</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error responses.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Explain AOP (aspects, advice, pointcuts, proxies) and write logging/auditing aspects.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Remove boilerplate with Lombok and log professionally with SLF4J, MDC and structured logging.</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REST principles &amp; the maturity model</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Designing the Splitwise API</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Layered architecture &amp; DTOs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DTOs + Bean Validation in practice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Consistent errors with @RestControllerAdvice &amp; ProblemDetail</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Cross-cutting concerns &amp; AOP</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Writing aspects: timing &amp; auditing</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Spring runs on AOP — and the self-invocation pitfall</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Lombok: less boilerplate, same bytecode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Logging like a professional: SLF4J, levels, MDC</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Lab: Expenses API v1 — validated, layered, observable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REST, AOP &amp; Lombok</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9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REST principles &amp; the maturity model</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REST (Representational State Transfer) models your system as </a:t>
            </a:r>
            <a:pPr indent="0" marL="0">
              <a:buNone/>
            </a:pPr>
            <a:r>
              <a:rPr lang="en-US" sz="1350" b="1" dirty="0">
                <a:solidFill>
                  <a:srgbClr val="5B6B60"/>
                </a:solidFill>
                <a:latin typeface="Calibri" pitchFamily="34" charset="0"/>
                <a:ea typeface="Calibri" pitchFamily="34" charset="-122"/>
                <a:cs typeface="Calibri" pitchFamily="34" charset="-120"/>
              </a:rPr>
              <a:t>resources</a:t>
            </a:r>
            <a:pPr indent="0" marL="0">
              <a:buNone/>
            </a:pPr>
            <a:r>
              <a:rPr lang="en-US" sz="1350" dirty="0">
                <a:solidFill>
                  <a:srgbClr val="5B6B60"/>
                </a:solidFill>
                <a:latin typeface="Calibri" pitchFamily="34" charset="0"/>
                <a:ea typeface="Calibri" pitchFamily="34" charset="-122"/>
                <a:cs typeface="Calibri" pitchFamily="34" charset="-120"/>
              </a:rPr>
              <a:t> identified by URIs and manipulated through a </a:t>
            </a:r>
            <a:pPr indent="0" marL="0">
              <a:buNone/>
            </a:pPr>
            <a:r>
              <a:rPr lang="en-US" sz="1350" b="1" dirty="0">
                <a:solidFill>
                  <a:srgbClr val="5B6B60"/>
                </a:solidFill>
                <a:latin typeface="Calibri" pitchFamily="34" charset="0"/>
                <a:ea typeface="Calibri" pitchFamily="34" charset="-122"/>
                <a:cs typeface="Calibri" pitchFamily="34" charset="-120"/>
              </a:rPr>
              <a:t>uniform interface</a:t>
            </a:r>
            <a:pPr indent="0" marL="0">
              <a:buNone/>
            </a:pPr>
            <a:r>
              <a:rPr lang="en-US" sz="1350" dirty="0">
                <a:solidFill>
                  <a:srgbClr val="5B6B60"/>
                </a:solidFill>
                <a:latin typeface="Calibri" pitchFamily="34" charset="0"/>
                <a:ea typeface="Calibri" pitchFamily="34" charset="-122"/>
                <a:cs typeface="Calibri" pitchFamily="34" charset="-120"/>
              </a:rPr>
              <a:t> — the HTTP methods.</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Resources are nouns: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/groups/7/expenses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not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/getExpensesForGroup?id=7</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Representations: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clients exchange JSON views of a resource, not the resource itself.</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Stateless: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each request carries everything needed (e.g. a token) — servers keep no client session, so they scale horizontally.</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Cacheable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responses and a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layered system</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(gateways, CDNs) in between are allowed.</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Level 3 — Hypermedia (HATEOAS) — responses contain links to next actions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Level 2 — HTTP verbs + status codes — GET/POST/PUT/DELETE, 201/404/409… ← target for most APIs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Level 1 — Resources — separate URIs per resource, but one verb</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Level 0 — RPC over HTTP — one endpoint, POST everything</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Designing the Splitwise API</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Model the domain as resources first, then map operations onto methods and sub-resources.</a:t>
            </a:r>
            <a:endParaRPr lang="en-US" sz="1350" dirty="0"/>
          </a:p>
        </p:txBody>
      </p:sp>
      <p:sp>
        <p:nvSpPr>
          <p:cNvPr id="7" name="Text 5"/>
          <p:cNvSpPr/>
          <p:nvPr/>
        </p:nvSpPr>
        <p:spPr>
          <a:xfrm>
            <a:off x="457200" y="1883664"/>
            <a:ext cx="11277295" cy="213969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Plural nouns, lowercase, hyphens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/expense-categories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nest only one or two levels deep.</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Actions become resources: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settle up</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POST /settlements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 settlement is a thing that gets created).</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Filtering, sorting, paging</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via query params; return page metadata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totalElements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totalPages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Versioning:</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URI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/api/v1</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header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API-Version: 2</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or media type — pick one and be consistent.</a:t>
            </a:r>
            <a:endParaRPr lang="en-US" sz="17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4069080"/>
          <a:ext cx="11277295" cy="914400"/>
        </p:xfrm>
        <a:graphic>
          <a:graphicData uri="http://schemas.openxmlformats.org/drawingml/2006/table">
            <a:tbl>
              <a:tblPr/>
              <a:tblGrid>
                <a:gridCol w="3759098"/>
                <a:gridCol w="3759098"/>
                <a:gridCol w="3759098"/>
              </a:tblGrid>
              <a:tr h="16459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Operation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Method &amp; URI</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Success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164592">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Create a group</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POST /api/v1/groups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201 + Location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List my groups (paged)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GET /api/v1/groups?page0&amp;size20&amp;sortname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Add a member</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POST /api/v1/groups/{groupId}/members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201</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Add an expense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POST /api/v1/groups/{groupId}/expenses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201</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Expense details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GET /api/v1/groups/{groupId}/expenses/{expenseId}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200 / 404</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Edit an expense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PUT /api/v1/groups/{groupId}/expenses/{expenseId}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Delete an expense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DELETE /api/v1/groups/{groupId}/expenses/{expenseId}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204</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Record a settlement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POST /api/v1/groups/{groupId}/settlements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201</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64592">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Balances in a group</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GET /api/v1/groups/{groupId}/balances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9" name="Text 6"/>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VERSION: </a:t>
            </a:r>
            <a:pPr indent="0" marL="0">
              <a:buNone/>
            </a:pPr>
            <a:r>
              <a:rPr lang="en-US" sz="1100" dirty="0">
                <a:solidFill>
                  <a:srgbClr val="1F2A24"/>
                </a:solidFill>
                <a:latin typeface="Calibri" pitchFamily="34" charset="0"/>
                <a:ea typeface="Calibri" pitchFamily="34" charset="-122"/>
                <a:cs typeface="Calibri" pitchFamily="34" charset="-120"/>
              </a:rPr>
              <a:t>Spring Framework 7 has </a:t>
            </a:r>
            <a:pPr indent="0" marL="0">
              <a:buNone/>
            </a:pPr>
            <a:r>
              <a:rPr lang="en-US" sz="1100" b="1" dirty="0">
                <a:solidFill>
                  <a:srgbClr val="1F2A24"/>
                </a:solidFill>
                <a:latin typeface="Calibri" pitchFamily="34" charset="0"/>
                <a:ea typeface="Calibri" pitchFamily="34" charset="-122"/>
                <a:cs typeface="Calibri" pitchFamily="34" charset="-120"/>
              </a:rPr>
              <a:t>built-in API versioning</a:t>
            </a:r>
            <a:pPr indent="0" marL="0">
              <a:buNone/>
            </a:pPr>
            <a:r>
              <a:rPr lang="en-US" sz="1100" dirty="0">
                <a:solidFill>
                  <a:srgbClr val="1F2A24"/>
                </a:solidFill>
                <a:latin typeface="Calibri" pitchFamily="34" charset="0"/>
                <a:ea typeface="Calibri" pitchFamily="34" charset="-122"/>
                <a:cs typeface="Calibri" pitchFamily="34" charset="-120"/>
              </a:rPr>
              <a:t>: </a:t>
            </a:r>
            <a:pPr indent="0" marL="0">
              <a:buNone/>
            </a:pPr>
            <a:r>
              <a:rPr lang="en-US" sz="1100" dirty="0">
                <a:solidFill>
                  <a:srgbClr val="B4235A"/>
                </a:solidFill>
                <a:latin typeface="Consolas" pitchFamily="34" charset="0"/>
                <a:ea typeface="Consolas" pitchFamily="34" charset="-122"/>
                <a:cs typeface="Consolas" pitchFamily="34" charset="-120"/>
              </a:rPr>
              <a:t>@GetMapping(path = "/{id}", version = "2.0")</a:t>
            </a:r>
            <a:pPr indent="0" marL="0">
              <a:buNone/>
            </a:pPr>
            <a:r>
              <a:rPr lang="en-US" sz="1100" dirty="0">
                <a:solidFill>
                  <a:srgbClr val="1F2A24"/>
                </a:solidFill>
                <a:latin typeface="Calibri" pitchFamily="34" charset="0"/>
                <a:ea typeface="Calibri" pitchFamily="34" charset="-122"/>
                <a:cs typeface="Calibri" pitchFamily="34" charset="-120"/>
              </a:rPr>
              <a:t> plus e.g. </a:t>
            </a:r>
            <a:pPr indent="0" marL="0">
              <a:buNone/>
            </a:pPr>
            <a:r>
              <a:rPr lang="en-US" sz="1100" dirty="0">
                <a:solidFill>
                  <a:srgbClr val="B4235A"/>
                </a:solidFill>
                <a:latin typeface="Consolas" pitchFamily="34" charset="0"/>
                <a:ea typeface="Consolas" pitchFamily="34" charset="-122"/>
                <a:cs typeface="Consolas" pitchFamily="34" charset="-120"/>
              </a:rPr>
              <a:t>spring.mvc.apiversion.use.header=API-Version</a:t>
            </a:r>
            <a:pPr indent="0" marL="0">
              <a:buNone/>
            </a:pPr>
            <a:r>
              <a:rPr lang="en-US" sz="1100" dirty="0">
                <a:solidFill>
                  <a:srgbClr val="1F2A24"/>
                </a:solidFill>
                <a:latin typeface="Calibri" pitchFamily="34" charset="0"/>
                <a:ea typeface="Calibri" pitchFamily="34" charset="-122"/>
                <a:cs typeface="Calibri" pitchFamily="34" charset="-120"/>
              </a:rPr>
              <a:t> in Spring Boot 4. We keep the simple </a:t>
            </a:r>
            <a:pPr indent="0" marL="0">
              <a:buNone/>
            </a:pPr>
            <a:r>
              <a:rPr lang="en-US" sz="1100" dirty="0">
                <a:solidFill>
                  <a:srgbClr val="B4235A"/>
                </a:solidFill>
                <a:latin typeface="Consolas" pitchFamily="34" charset="0"/>
                <a:ea typeface="Consolas" pitchFamily="34" charset="-122"/>
                <a:cs typeface="Consolas" pitchFamily="34" charset="-120"/>
              </a:rPr>
              <a:t>/api/v1</a:t>
            </a:r>
            <a:pPr indent="0" marL="0">
              <a:buNone/>
            </a:pPr>
            <a:r>
              <a:rPr lang="en-US" sz="1100" dirty="0">
                <a:solidFill>
                  <a:srgbClr val="1F2A24"/>
                </a:solidFill>
                <a:latin typeface="Calibri" pitchFamily="34" charset="0"/>
                <a:ea typeface="Calibri" pitchFamily="34" charset="-122"/>
                <a:cs typeface="Calibri" pitchFamily="34" charset="-120"/>
              </a:rPr>
              <a:t> prefix in the projects.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Layered architecture &amp; DTOs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Each layer has one job. Data crosses the API boundary as </a:t>
            </a:r>
            <a:pPr indent="0" marL="0">
              <a:buNone/>
            </a:pPr>
            <a:r>
              <a:rPr lang="en-US" sz="1350" b="1" dirty="0">
                <a:solidFill>
                  <a:srgbClr val="5B6B60"/>
                </a:solidFill>
                <a:latin typeface="Calibri" pitchFamily="34" charset="0"/>
                <a:ea typeface="Calibri" pitchFamily="34" charset="-122"/>
                <a:cs typeface="Calibri" pitchFamily="34" charset="-120"/>
              </a:rPr>
              <a:t>DTOs</a:t>
            </a:r>
            <a:pPr indent="0" marL="0">
              <a:buNone/>
            </a:pPr>
            <a:r>
              <a:rPr lang="en-US" sz="1350" dirty="0">
                <a:solidFill>
                  <a:srgbClr val="5B6B60"/>
                </a:solidFill>
                <a:latin typeface="Calibri" pitchFamily="34" charset="0"/>
                <a:ea typeface="Calibri" pitchFamily="34" charset="-122"/>
                <a:cs typeface="Calibri" pitchFamily="34" charset="-120"/>
              </a:rPr>
              <a:t>, never as JPA entities.</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Request DTOs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describe exactly what a client may send (no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id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no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createdAt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Response DTOs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decide what is exposed (never the password hash) and decouple the API from the schema.</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Validate at the edge (controller), enforce business rules in the service, constraints in the database.</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Web: Controller (HTTP ↔ DTOs, validation, status codes)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Business: Service (rules, transactions, orchestration)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Persistence: Repository (SQL / JPA (Sessions 10–11))</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Database: MySQL (tables, constraints, indexes)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DTOs + Bean Validation in practice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Declare constraints on the request record, trigger them with </a:t>
            </a:r>
            <a:pPr indent="0" marL="0">
              <a:buNone/>
            </a:pPr>
            <a:r>
              <a:rPr lang="en-US" sz="1350" dirty="0">
                <a:solidFill>
                  <a:srgbClr val="B4235A"/>
                </a:solidFill>
                <a:latin typeface="Consolas" pitchFamily="34" charset="0"/>
                <a:ea typeface="Consolas" pitchFamily="34" charset="-122"/>
                <a:cs typeface="Consolas" pitchFamily="34" charset="-120"/>
              </a:rPr>
              <a:t>@Valid</a:t>
            </a:r>
            <a:pPr indent="0" marL="0">
              <a:buNone/>
            </a:pPr>
            <a:r>
              <a:rPr lang="en-US" sz="1350" dirty="0">
                <a:solidFill>
                  <a:srgbClr val="5B6B60"/>
                </a:solidFill>
                <a:latin typeface="Calibri" pitchFamily="34" charset="0"/>
                <a:ea typeface="Calibri" pitchFamily="34" charset="-122"/>
                <a:cs typeface="Calibri" pitchFamily="34" charset="-120"/>
              </a:rPr>
              <a:t>, and return </a:t>
            </a:r>
            <a:pPr indent="0" marL="0">
              <a:buNone/>
            </a:pPr>
            <a:r>
              <a:rPr lang="en-US" sz="1350" dirty="0">
                <a:solidFill>
                  <a:srgbClr val="B4235A"/>
                </a:solidFill>
                <a:latin typeface="Consolas" pitchFamily="34" charset="0"/>
                <a:ea typeface="Consolas" pitchFamily="34" charset="-122"/>
                <a:cs typeface="Consolas" pitchFamily="34" charset="-120"/>
              </a:rPr>
              <a:t>201 Created</a:t>
            </a:r>
            <a:pPr indent="0" marL="0">
              <a:buNone/>
            </a:pPr>
            <a:r>
              <a:rPr lang="en-US" sz="1350" dirty="0">
                <a:solidFill>
                  <a:srgbClr val="5B6B60"/>
                </a:solidFill>
                <a:latin typeface="Calibri" pitchFamily="34" charset="0"/>
                <a:ea typeface="Calibri" pitchFamily="34" charset="-122"/>
                <a:cs typeface="Calibri" pitchFamily="34" charset="-120"/>
              </a:rPr>
              <a:t> with a </a:t>
            </a:r>
            <a:pPr indent="0" marL="0">
              <a:buNone/>
            </a:pPr>
            <a:r>
              <a:rPr lang="en-US" sz="1350" dirty="0">
                <a:solidFill>
                  <a:srgbClr val="B4235A"/>
                </a:solidFill>
                <a:latin typeface="Consolas" pitchFamily="34" charset="0"/>
                <a:ea typeface="Consolas" pitchFamily="34" charset="-122"/>
                <a:cs typeface="Consolas" pitchFamily="34" charset="-120"/>
              </a:rPr>
              <a:t>Location</a:t>
            </a:r>
            <a:pPr indent="0" marL="0">
              <a:buNone/>
            </a:pPr>
            <a:r>
              <a:rPr lang="en-US" sz="1350" dirty="0">
                <a:solidFill>
                  <a:srgbClr val="5B6B60"/>
                </a:solidFill>
                <a:latin typeface="Calibri" pitchFamily="34" charset="0"/>
                <a:ea typeface="Calibri" pitchFamily="34" charset="-122"/>
                <a:cs typeface="Calibri" pitchFamily="34" charset="-120"/>
              </a:rPr>
              <a:t> header.</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CreateExpenseRequest.java  (+3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com.example.splitwise.expense;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jakarta.validation.constraints.*;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java.math.BigDecimal;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record CreateExpenseRequest(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@NotBlank @Size(max = 120) String description,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@NotNull @Positive @Digits(integer = 10, fraction = 2) BigDecimal amount,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@NotNull Long paidBy,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@NotEmpty List&lt;@NotNull Long&gt; participants) {}</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Consistent errors with @RestControllerAdvice &amp; ProblemDetail</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One class translates exceptions into </a:t>
            </a:r>
            <a:pPr indent="0" marL="0">
              <a:buNone/>
            </a:pPr>
            <a:r>
              <a:rPr lang="en-US" sz="1350" b="1" dirty="0">
                <a:solidFill>
                  <a:srgbClr val="5B6B60"/>
                </a:solidFill>
                <a:latin typeface="Calibri" pitchFamily="34" charset="0"/>
                <a:ea typeface="Calibri" pitchFamily="34" charset="-122"/>
                <a:cs typeface="Calibri" pitchFamily="34" charset="-120"/>
              </a:rPr>
              <a:t>RFC 9457</a:t>
            </a:r>
            <a:pPr indent="0" marL="0">
              <a:buNone/>
            </a:pPr>
            <a:r>
              <a:rPr lang="en-US" sz="1350" dirty="0">
                <a:solidFill>
                  <a:srgbClr val="5B6B60"/>
                </a:solidFill>
                <a:latin typeface="Calibri" pitchFamily="34" charset="0"/>
                <a:ea typeface="Calibri" pitchFamily="34" charset="-122"/>
                <a:cs typeface="Calibri" pitchFamily="34" charset="-120"/>
              </a:rPr>
              <a:t> problem responses (</a:t>
            </a:r>
            <a:pPr indent="0" marL="0">
              <a:buNone/>
            </a:pPr>
            <a:r>
              <a:rPr lang="en-US" sz="1350" dirty="0">
                <a:solidFill>
                  <a:srgbClr val="B4235A"/>
                </a:solidFill>
                <a:latin typeface="Consolas" pitchFamily="34" charset="0"/>
                <a:ea typeface="Consolas" pitchFamily="34" charset="-122"/>
                <a:cs typeface="Consolas" pitchFamily="34" charset="-120"/>
              </a:rPr>
              <a:t>application/problem+json</a:t>
            </a:r>
            <a:pPr indent="0" marL="0">
              <a:buNone/>
            </a:pPr>
            <a:r>
              <a:rPr lang="en-US" sz="1350" dirty="0">
                <a:solidFill>
                  <a:srgbClr val="5B6B60"/>
                </a:solidFill>
                <a:latin typeface="Calibri" pitchFamily="34" charset="0"/>
                <a:ea typeface="Calibri" pitchFamily="34" charset="-122"/>
                <a:cs typeface="Calibri" pitchFamily="34" charset="-120"/>
              </a:rPr>
              <a:t>) for the whole API.</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GlobalExceptionHandler.java  (+2 more in the web notes)</a:t>
            </a:r>
            <a:endParaRPr lang="en-US" sz="900" dirty="0"/>
          </a:p>
        </p:txBody>
      </p:sp>
      <p:sp>
        <p:nvSpPr>
          <p:cNvPr id="8" name="Text 6"/>
          <p:cNvSpPr/>
          <p:nvPr/>
        </p:nvSpPr>
        <p:spPr>
          <a:xfrm>
            <a:off x="457200" y="2157984"/>
            <a:ext cx="11277295" cy="3602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com.example.splitwise.web;</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java.net.URI;</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java.util.Map;</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java.util.stream.Collectors;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org.springframework.http.HttpStatus;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org.springframework.http.ProblemDetail;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org.springframework.validation.FieldError;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org.springframework.web.bind.MethodArgumentNotValidException;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org.springframework.web.bind.annotation.ExceptionHandler;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org.springframework.web.bind.annotation.RestControllerAdvice;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@RestControllerAdvice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GlobalExceptionHandler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@ExceptionHandler(NotFoundException.class)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ProblemDetail notFound(NotFoundException ex)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ProblemDetail pd = ProblemDetail.forStatusAndDetail(HttpStatus.NOT_FOUND, ex.getMessage());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9"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TIP: </a:t>
            </a:r>
            <a:pPr indent="0" marL="0">
              <a:buNone/>
            </a:pPr>
            <a:r>
              <a:rPr lang="en-US" sz="1100" dirty="0">
                <a:solidFill>
                  <a:srgbClr val="1F2A24"/>
                </a:solidFill>
                <a:latin typeface="Calibri" pitchFamily="34" charset="0"/>
                <a:ea typeface="Calibri" pitchFamily="34" charset="-122"/>
                <a:cs typeface="Calibri" pitchFamily="34" charset="-120"/>
              </a:rPr>
              <a:t>Set </a:t>
            </a:r>
            <a:pPr indent="0" marL="0">
              <a:buNone/>
            </a:pPr>
            <a:r>
              <a:rPr lang="en-US" sz="1100" dirty="0">
                <a:solidFill>
                  <a:srgbClr val="B4235A"/>
                </a:solidFill>
                <a:latin typeface="Consolas" pitchFamily="34" charset="0"/>
                <a:ea typeface="Consolas" pitchFamily="34" charset="-122"/>
                <a:cs typeface="Consolas" pitchFamily="34" charset="-120"/>
              </a:rPr>
              <a:t>spring.mvc.problemdetails.enabled=true</a:t>
            </a:r>
            <a:pPr indent="0" marL="0">
              <a:buNone/>
            </a:pPr>
            <a:r>
              <a:rPr lang="en-US" sz="1100" dirty="0">
                <a:solidFill>
                  <a:srgbClr val="1F2A24"/>
                </a:solidFill>
                <a:latin typeface="Calibri" pitchFamily="34" charset="0"/>
                <a:ea typeface="Calibri" pitchFamily="34" charset="-122"/>
                <a:cs typeface="Calibri" pitchFamily="34" charset="-120"/>
              </a:rPr>
              <a:t> so Spring's built-in errors (unsupported media type, missing parameters, 405…) use the same </a:t>
            </a:r>
            <a:pPr indent="0" marL="0">
              <a:buNone/>
            </a:pPr>
            <a:r>
              <a:rPr lang="en-US" sz="1100" dirty="0">
                <a:solidFill>
                  <a:srgbClr val="B4235A"/>
                </a:solidFill>
                <a:latin typeface="Consolas" pitchFamily="34" charset="0"/>
                <a:ea typeface="Consolas" pitchFamily="34" charset="-122"/>
                <a:cs typeface="Consolas" pitchFamily="34" charset="-120"/>
              </a:rPr>
              <a:t>ProblemDetail</a:t>
            </a:r>
            <a:pPr indent="0" marL="0">
              <a:buNone/>
            </a:pPr>
            <a:r>
              <a:rPr lang="en-US" sz="1100" dirty="0">
                <a:solidFill>
                  <a:srgbClr val="1F2A24"/>
                </a:solidFill>
                <a:latin typeface="Calibri" pitchFamily="34" charset="0"/>
                <a:ea typeface="Calibri" pitchFamily="34" charset="-122"/>
                <a:cs typeface="Calibri" pitchFamily="34" charset="-120"/>
              </a:rPr>
              <a:t> format.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Cross-cutting concerns &amp; AOP</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Logging, security, transactions, caching and metrics cut across every layer. </a:t>
            </a:r>
            <a:pPr indent="0" marL="0">
              <a:buNone/>
            </a:pPr>
            <a:r>
              <a:rPr lang="en-US" sz="1350" b="1" dirty="0">
                <a:solidFill>
                  <a:srgbClr val="5B6B60"/>
                </a:solidFill>
                <a:latin typeface="Calibri" pitchFamily="34" charset="0"/>
                <a:ea typeface="Calibri" pitchFamily="34" charset="-122"/>
                <a:cs typeface="Calibri" pitchFamily="34" charset="-120"/>
              </a:rPr>
              <a:t>Aspect-Oriented Programming</a:t>
            </a:r>
            <a:pPr indent="0" marL="0">
              <a:buNone/>
            </a:pPr>
            <a:r>
              <a:rPr lang="en-US" sz="1350" dirty="0">
                <a:solidFill>
                  <a:srgbClr val="5B6B60"/>
                </a:solidFill>
                <a:latin typeface="Calibri" pitchFamily="34" charset="0"/>
                <a:ea typeface="Calibri" pitchFamily="34" charset="-122"/>
                <a:cs typeface="Calibri" pitchFamily="34" charset="-120"/>
              </a:rPr>
              <a:t> writes them once and applies them declaratively.</a:t>
            </a:r>
            <a:endParaRPr lang="en-US" sz="1350" dirty="0"/>
          </a:p>
        </p:txBody>
      </p:sp>
      <p:sp>
        <p:nvSpPr>
          <p:cNvPr id="7" name="Text 5"/>
          <p:cNvSpPr/>
          <p:nvPr/>
        </p:nvSpPr>
        <p:spPr>
          <a:xfrm>
            <a:off x="457200"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Caller</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controller</a:t>
            </a:r>
            <a:endParaRPr lang="en-US" sz="1150" dirty="0"/>
          </a:p>
        </p:txBody>
      </p:sp>
      <p:sp>
        <p:nvSpPr>
          <p:cNvPr id="8" name="Shape 6"/>
          <p:cNvSpPr/>
          <p:nvPr/>
        </p:nvSpPr>
        <p:spPr>
          <a:xfrm>
            <a:off x="2456627" y="2432304"/>
            <a:ext cx="320040" cy="0"/>
          </a:xfrm>
          <a:prstGeom prst="line">
            <a:avLst/>
          </a:prstGeom>
          <a:noFill/>
          <a:ln w="15875">
            <a:solidFill>
              <a:srgbClr val="6F8276"/>
            </a:solidFill>
            <a:prstDash val="solid"/>
            <a:tailEnd type="triangle"/>
          </a:ln>
        </p:spPr>
      </p:sp>
      <p:sp>
        <p:nvSpPr>
          <p:cNvPr id="9" name="Text 7"/>
          <p:cNvSpPr/>
          <p:nvPr/>
        </p:nvSpPr>
        <p:spPr>
          <a:xfrm>
            <a:off x="2776667"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Proxy</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before advice</a:t>
            </a:r>
            <a:endParaRPr lang="en-US" sz="1150" dirty="0"/>
          </a:p>
        </p:txBody>
      </p:sp>
      <p:sp>
        <p:nvSpPr>
          <p:cNvPr id="10" name="Shape 8"/>
          <p:cNvSpPr/>
          <p:nvPr/>
        </p:nvSpPr>
        <p:spPr>
          <a:xfrm>
            <a:off x="4776094" y="2432304"/>
            <a:ext cx="320040" cy="0"/>
          </a:xfrm>
          <a:prstGeom prst="line">
            <a:avLst/>
          </a:prstGeom>
          <a:noFill/>
          <a:ln w="15875">
            <a:solidFill>
              <a:srgbClr val="6F8276"/>
            </a:solidFill>
            <a:prstDash val="solid"/>
            <a:tailEnd type="triangle"/>
          </a:ln>
        </p:spPr>
      </p:sp>
      <p:sp>
        <p:nvSpPr>
          <p:cNvPr id="11" name="Text 9"/>
          <p:cNvSpPr/>
          <p:nvPr/>
        </p:nvSpPr>
        <p:spPr>
          <a:xfrm>
            <a:off x="5096134"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Target</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ExpenseService.create()</a:t>
            </a:r>
            <a:endParaRPr lang="en-US" sz="1150" dirty="0"/>
          </a:p>
        </p:txBody>
      </p:sp>
      <p:sp>
        <p:nvSpPr>
          <p:cNvPr id="12" name="Shape 10"/>
          <p:cNvSpPr/>
          <p:nvPr/>
        </p:nvSpPr>
        <p:spPr>
          <a:xfrm>
            <a:off x="7095561" y="2432304"/>
            <a:ext cx="320040" cy="0"/>
          </a:xfrm>
          <a:prstGeom prst="line">
            <a:avLst/>
          </a:prstGeom>
          <a:noFill/>
          <a:ln w="15875">
            <a:solidFill>
              <a:srgbClr val="6F8276"/>
            </a:solidFill>
            <a:prstDash val="solid"/>
            <a:tailEnd type="triangle"/>
          </a:ln>
        </p:spPr>
      </p:sp>
      <p:sp>
        <p:nvSpPr>
          <p:cNvPr id="13" name="Text 11"/>
          <p:cNvSpPr/>
          <p:nvPr/>
        </p:nvSpPr>
        <p:spPr>
          <a:xfrm>
            <a:off x="7415601"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Proxy</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after / around advice</a:t>
            </a:r>
            <a:endParaRPr lang="en-US" sz="1150" dirty="0"/>
          </a:p>
        </p:txBody>
      </p:sp>
      <p:sp>
        <p:nvSpPr>
          <p:cNvPr id="14" name="Shape 12"/>
          <p:cNvSpPr/>
          <p:nvPr/>
        </p:nvSpPr>
        <p:spPr>
          <a:xfrm>
            <a:off x="9415028" y="2432304"/>
            <a:ext cx="320040" cy="0"/>
          </a:xfrm>
          <a:prstGeom prst="line">
            <a:avLst/>
          </a:prstGeom>
          <a:noFill/>
          <a:ln w="15875">
            <a:solidFill>
              <a:srgbClr val="6F8276"/>
            </a:solidFill>
            <a:prstDash val="solid"/>
            <a:tailEnd type="triangle"/>
          </a:ln>
        </p:spPr>
      </p:sp>
      <p:sp>
        <p:nvSpPr>
          <p:cNvPr id="15" name="Text 13"/>
          <p:cNvSpPr/>
          <p:nvPr/>
        </p:nvSpPr>
        <p:spPr>
          <a:xfrm>
            <a:off x="9735068"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Caller</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gets the result</a:t>
            </a:r>
            <a:endParaRPr lang="en-US" sz="11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Term</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Meaning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Aspect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 module for one concern (@Aspect class)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Join point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 point in execution — in Spring AOP always a method call on a bean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Pointcut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an expression selecting join points: execution( ..service..(..)), @annotation(Audited)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Advice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the code to run: @Before, @AfterReturning, @AfterThrowing, @After, @Around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Weaving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linking aspects to targets — Spring does it at runtime with proxies (JDK dynamic proxy or CGLIB subclass)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Writing aspects: timing &amp; auditing</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An </a:t>
            </a:r>
            <a:pPr indent="0" marL="0">
              <a:buNone/>
            </a:pPr>
            <a:r>
              <a:rPr lang="en-US" sz="1350" dirty="0">
                <a:solidFill>
                  <a:srgbClr val="B4235A"/>
                </a:solidFill>
                <a:latin typeface="Consolas" pitchFamily="34" charset="0"/>
                <a:ea typeface="Consolas" pitchFamily="34" charset="-122"/>
                <a:cs typeface="Consolas" pitchFamily="34" charset="-120"/>
              </a:rPr>
              <a:t>@Around</a:t>
            </a:r>
            <a:pPr indent="0" marL="0">
              <a:buNone/>
            </a:pPr>
            <a:r>
              <a:rPr lang="en-US" sz="1350" dirty="0">
                <a:solidFill>
                  <a:srgbClr val="5B6B60"/>
                </a:solidFill>
                <a:latin typeface="Calibri" pitchFamily="34" charset="0"/>
                <a:ea typeface="Calibri" pitchFamily="34" charset="-122"/>
                <a:cs typeface="Calibri" pitchFamily="34" charset="-120"/>
              </a:rPr>
              <a:t> advice measures every service method; a custom annotation marks methods that must be audited.</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pom.xml  (+3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&lt;groupId&gt;org.springframework.boot&lt;/groupId&gt;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&lt;artifactId&gt;spring-boot-starter-aspectj&lt;/artifactId&gt;   &lt;!-- Boot 4 name (was -aop) --&gt;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Spring runs on AOP — and the self-invocation pitfall</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Many annotations you will use are implemented as proxies around your beans.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Self-invocation bypasses the proxy</a:t>
            </a:r>
            <a:endParaRPr lang="en-US" sz="900" dirty="0"/>
          </a:p>
        </p:txBody>
      </p:sp>
      <p:sp>
        <p:nvSpPr>
          <p:cNvPr id="8" name="Text 6"/>
          <p:cNvSpPr/>
          <p:nvPr/>
        </p:nvSpPr>
        <p:spPr>
          <a:xfrm>
            <a:off x="457200" y="2157984"/>
            <a:ext cx="11277295" cy="186537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@Service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SettlementService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void settleAll(List&lt;Long&gt; ids)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ids.forEach(this::settle);   // "this" is the raw object, NOT the proxy: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 @Transactional on settle() is silently ignored!</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@Transactional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4069080"/>
          <a:ext cx="11277295" cy="914400"/>
        </p:xfrm>
        <a:graphic>
          <a:graphicData uri="http://schemas.openxmlformats.org/drawingml/2006/table">
            <a:tbl>
              <a:tblPr/>
              <a:tblGrid>
                <a:gridCol w="3759098"/>
                <a:gridCol w="3759098"/>
                <a:gridCol w="375909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Annotation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Advice applied by the proxy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Session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@Transactional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begin → commit / rollback on exception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10–11</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@Cacheable / @CacheEvict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return cached value or store result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@PreAuthorize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check permissions before the call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@Async</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run the method on an executor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6, 22</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@Retryable (Spring Framework 7)</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retry on failure with backoff</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10"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PITFALL: </a:t>
            </a:r>
            <a:pPr indent="0" marL="0">
              <a:buNone/>
            </a:pPr>
            <a:r>
              <a:rPr lang="en-US" sz="1100" dirty="0">
                <a:solidFill>
                  <a:srgbClr val="1F2A24"/>
                </a:solidFill>
                <a:latin typeface="Calibri" pitchFamily="34" charset="0"/>
                <a:ea typeface="Calibri" pitchFamily="34" charset="-122"/>
                <a:cs typeface="Calibri" pitchFamily="34" charset="-120"/>
              </a:rPr>
              <a:t>Proxies only intercept </a:t>
            </a:r>
            <a:pPr indent="0" marL="0">
              <a:buNone/>
            </a:pPr>
            <a:r>
              <a:rPr lang="en-US" sz="1100" b="1" dirty="0">
                <a:solidFill>
                  <a:srgbClr val="1F2A24"/>
                </a:solidFill>
                <a:latin typeface="Calibri" pitchFamily="34" charset="0"/>
                <a:ea typeface="Calibri" pitchFamily="34" charset="-122"/>
                <a:cs typeface="Calibri" pitchFamily="34" charset="-120"/>
              </a:rPr>
              <a:t>external, public</a:t>
            </a:r>
            <a:pPr indent="0" marL="0">
              <a:buNone/>
            </a:pPr>
            <a:r>
              <a:rPr lang="en-US" sz="1100" dirty="0">
                <a:solidFill>
                  <a:srgbClr val="1F2A24"/>
                </a:solidFill>
                <a:latin typeface="Calibri" pitchFamily="34" charset="0"/>
                <a:ea typeface="Calibri" pitchFamily="34" charset="-122"/>
                <a:cs typeface="Calibri" pitchFamily="34" charset="-120"/>
              </a:rPr>
              <a:t> calls to the bean. Internal </a:t>
            </a:r>
            <a:pPr indent="0" marL="0">
              <a:buNone/>
            </a:pPr>
            <a:r>
              <a:rPr lang="en-US" sz="1100" dirty="0">
                <a:solidFill>
                  <a:srgbClr val="B4235A"/>
                </a:solidFill>
                <a:latin typeface="Consolas" pitchFamily="34" charset="0"/>
                <a:ea typeface="Consolas" pitchFamily="34" charset="-122"/>
                <a:cs typeface="Consolas" pitchFamily="34" charset="-120"/>
              </a:rPr>
              <a:t>this.method()</a:t>
            </a:r>
            <a:pPr indent="0" marL="0">
              <a:buNone/>
            </a:pPr>
            <a:r>
              <a:rPr lang="en-US" sz="1100" dirty="0">
                <a:solidFill>
                  <a:srgbClr val="1F2A24"/>
                </a:solidFill>
                <a:latin typeface="Calibri" pitchFamily="34" charset="0"/>
                <a:ea typeface="Calibri" pitchFamily="34" charset="-122"/>
                <a:cs typeface="Calibri" pitchFamily="34" charset="-120"/>
              </a:rPr>
              <a:t> calls, </a:t>
            </a:r>
            <a:pPr indent="0" marL="0">
              <a:buNone/>
            </a:pPr>
            <a:r>
              <a:rPr lang="en-US" sz="1100" dirty="0">
                <a:solidFill>
                  <a:srgbClr val="B4235A"/>
                </a:solidFill>
                <a:latin typeface="Consolas" pitchFamily="34" charset="0"/>
                <a:ea typeface="Consolas" pitchFamily="34" charset="-122"/>
                <a:cs typeface="Consolas" pitchFamily="34" charset="-120"/>
              </a:rPr>
              <a:t>private</a:t>
            </a:r>
            <a:pPr indent="0" marL="0">
              <a:buNone/>
            </a:pPr>
            <a:r>
              <a:rPr lang="en-US" sz="1100" dirty="0">
                <a:solidFill>
                  <a:srgbClr val="1F2A24"/>
                </a:solidFill>
                <a:latin typeface="Calibri" pitchFamily="34" charset="0"/>
                <a:ea typeface="Calibri" pitchFamily="34" charset="-122"/>
                <a:cs typeface="Calibri" pitchFamily="34" charset="-120"/>
              </a:rPr>
              <a:t> methods and </a:t>
            </a:r>
            <a:pPr indent="0" marL="0">
              <a:buNone/>
            </a:pPr>
            <a:r>
              <a:rPr lang="en-US" sz="1100" dirty="0">
                <a:solidFill>
                  <a:srgbClr val="B4235A"/>
                </a:solidFill>
                <a:latin typeface="Consolas" pitchFamily="34" charset="0"/>
                <a:ea typeface="Consolas" pitchFamily="34" charset="-122"/>
                <a:cs typeface="Consolas" pitchFamily="34" charset="-120"/>
              </a:rPr>
              <a:t>final</a:t>
            </a:r>
            <a:pPr indent="0" marL="0">
              <a:buNone/>
            </a:pPr>
            <a:r>
              <a:rPr lang="en-US" sz="1100" dirty="0">
                <a:solidFill>
                  <a:srgbClr val="1F2A24"/>
                </a:solidFill>
                <a:latin typeface="Calibri" pitchFamily="34" charset="0"/>
                <a:ea typeface="Calibri" pitchFamily="34" charset="-122"/>
                <a:cs typeface="Calibri" pitchFamily="34" charset="-120"/>
              </a:rPr>
              <a:t> methods are not advised.</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Lombok: less boilerplate, same bytecode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Lombok is an annotation processor that generates getters, constructors, builders and loggers at compile time.</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ExpenseService.java  (+2 more in the web notes)</a:t>
            </a:r>
            <a:endParaRPr lang="en-US" sz="900" dirty="0"/>
          </a:p>
        </p:txBody>
      </p:sp>
      <p:sp>
        <p:nvSpPr>
          <p:cNvPr id="8" name="Text 6"/>
          <p:cNvSpPr/>
          <p:nvPr/>
        </p:nvSpPr>
        <p:spPr>
          <a:xfrm>
            <a:off x="457200" y="2157984"/>
            <a:ext cx="1127729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com.example.splitwise.expense;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java.time.Clock;</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lombok.RequiredArgsConstructor;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lombok.extern.slf4j.Slf4j;</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org.springframework.stereotype.Service;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@Slf4j                       // private static final Logger log = LoggerFactory.getLogger(...)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@Service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@RequiredArgsConstructor     // constructor for all final fields = constructor injection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ExpenseService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ExpenseRepository repository;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Use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Prefer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Immutable DTOs / value objects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Java records (no Lombok needed)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Spring beans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@RequiredArgsConstructor + @Slf4j</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JPA entities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@Getter/@Setter + explicit equals/hashCode — avoid @Data</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Objects with many optional fields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@Builder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Logging like a professional: SLF4J, levels, MDC</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Spring Boot uses </a:t>
            </a:r>
            <a:pPr indent="0" marL="0">
              <a:buNone/>
            </a:pPr>
            <a:r>
              <a:rPr lang="en-US" sz="1350" b="1" dirty="0">
                <a:solidFill>
                  <a:srgbClr val="5B6B60"/>
                </a:solidFill>
                <a:latin typeface="Calibri" pitchFamily="34" charset="0"/>
                <a:ea typeface="Calibri" pitchFamily="34" charset="-122"/>
                <a:cs typeface="Calibri" pitchFamily="34" charset="-120"/>
              </a:rPr>
              <a:t>SLF4J</a:t>
            </a:r>
            <a:pPr indent="0" marL="0">
              <a:buNone/>
            </a:pPr>
            <a:r>
              <a:rPr lang="en-US" sz="1350" dirty="0">
                <a:solidFill>
                  <a:srgbClr val="5B6B60"/>
                </a:solidFill>
                <a:latin typeface="Calibri" pitchFamily="34" charset="0"/>
                <a:ea typeface="Calibri" pitchFamily="34" charset="-122"/>
                <a:cs typeface="Calibri" pitchFamily="34" charset="-120"/>
              </a:rPr>
              <a:t> as the API and </a:t>
            </a:r>
            <a:pPr indent="0" marL="0">
              <a:buNone/>
            </a:pPr>
            <a:r>
              <a:rPr lang="en-US" sz="1350" b="1" dirty="0">
                <a:solidFill>
                  <a:srgbClr val="5B6B60"/>
                </a:solidFill>
                <a:latin typeface="Calibri" pitchFamily="34" charset="0"/>
                <a:ea typeface="Calibri" pitchFamily="34" charset="-122"/>
                <a:cs typeface="Calibri" pitchFamily="34" charset="-120"/>
              </a:rPr>
              <a:t>Logback</a:t>
            </a:r>
            <a:pPr indent="0" marL="0">
              <a:buNone/>
            </a:pPr>
            <a:r>
              <a:rPr lang="en-US" sz="1350" dirty="0">
                <a:solidFill>
                  <a:srgbClr val="5B6B60"/>
                </a:solidFill>
                <a:latin typeface="Calibri" pitchFamily="34" charset="0"/>
                <a:ea typeface="Calibri" pitchFamily="34" charset="-122"/>
                <a:cs typeface="Calibri" pitchFamily="34" charset="-120"/>
              </a:rPr>
              <a:t> as the default implementation. Log with levels, parameters and context.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MdcFilter.java  (+1 more in the web notes)</a:t>
            </a:r>
            <a:endParaRPr lang="en-US" sz="900" dirty="0"/>
          </a:p>
        </p:txBody>
      </p:sp>
      <p:sp>
        <p:nvSpPr>
          <p:cNvPr id="8" name="Text 6"/>
          <p:cNvSpPr/>
          <p:nvPr/>
        </p:nvSpPr>
        <p:spPr>
          <a:xfrm>
            <a:off x="457200" y="2157984"/>
            <a:ext cx="1127729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com.example.splitwise.web;</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jakarta.servlet.FilterChain;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jakarta.servlet.ServletException;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jakarta.servlet.http.HttpServletRequest;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jakarta.servlet.http.HttpServletResponse;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java.io.IOException;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java.util.UUID;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org.slf4j.MDC;</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org.springframework.stereotype.Component;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org.springframework.web.filter.OncePerRequestFilter;</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Level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Use for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ERROR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failures needing attention (with the exception as last argument)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WARN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unexpected but handled (fallback used, retry happened)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INFO</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business events (expense created, user registered)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DEBUG / TRACE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diagnostics, disabled in production by default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Lab: Expenses API v1 — validated, layered, observable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Turn the in-memory API into a professional one: DTOs, validation, problem details, aspects, Lombok and logging.</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In the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splitwise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project add </a:t>
            </a:r>
            <a:endParaRPr lang="en-US" sz="1500" dirty="0"/>
          </a:p>
          <a:p>
            <a:pPr marL="342900" indent="-342900">
              <a:spcAft>
                <a:spcPts val="400"/>
              </a:spcAft>
              <a:buSzPct val="100000"/>
              <a:buFont typeface="+mj-lt"/>
              <a:buAutoNum type="arabicPeriod" startAt="1"/>
            </a:pPr>
            <a:r>
              <a:rPr lang="en-US" sz="1500" i="1" dirty="0">
                <a:solidFill>
                  <a:srgbClr val="1F2A24"/>
                </a:solidFill>
                <a:latin typeface="Calibri" pitchFamily="34" charset="0"/>
                <a:ea typeface="Calibri" pitchFamily="34" charset="-122"/>
                <a:cs typeface="Calibri" pitchFamily="34" charset="-120"/>
              </a:rPr>
              <a:t>Validation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i="1" dirty="0">
                <a:solidFill>
                  <a:srgbClr val="1F2A24"/>
                </a:solidFill>
                <a:latin typeface="Calibri" pitchFamily="34" charset="0"/>
                <a:ea typeface="Calibri" pitchFamily="34" charset="-122"/>
                <a:cs typeface="Calibri" pitchFamily="34" charset="-120"/>
              </a:rPr>
              <a:t>Lombok</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spring-boot-starter-aspectj</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Create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CreateExpenseRequest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ExpenseResponse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records with Bean Validation annotations (BigDecimal amounts!).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Implement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ExpenseService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(in-memory for now) with the rule </a:t>
            </a:r>
            <a:endParaRPr lang="en-US" sz="1500" dirty="0"/>
          </a:p>
          <a:p>
            <a:pPr marL="342900" indent="-342900">
              <a:spcAft>
                <a:spcPts val="400"/>
              </a:spcAft>
              <a:buSzPct val="100000"/>
              <a:buFont typeface="+mj-lt"/>
              <a:buAutoNum type="arabicPeriod" startAt="1"/>
            </a:pPr>
            <a:r>
              <a:rPr lang="en-US" sz="1500" i="1" dirty="0">
                <a:solidFill>
                  <a:srgbClr val="1F2A24"/>
                </a:solidFill>
                <a:latin typeface="Calibri" pitchFamily="34" charset="0"/>
                <a:ea typeface="Calibri" pitchFamily="34" charset="-122"/>
                <a:cs typeface="Calibri" pitchFamily="34" charset="-120"/>
              </a:rPr>
              <a:t>payer must be a participant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using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@RequiredArgsConstructor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@Slf4j</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Implement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POST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GET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endpoints under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/api/v1/groups/{groupId}/expenses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returning 201 + Location / 200.</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GlobalExceptionHandler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mapping validation → 400 (with field errors), not found → 404, business rule → 422; enable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spring.mvc.problemdetails.enabled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PerformanceAspect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@Audited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annotation on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create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check both log lines.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the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MdcFilter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 console pattern showing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%X{requestId}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Verify with curl: one valid request, one with blank description and negative amount, one unknown id, one payer outside participants. Stretch: add paging to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GET /expenses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page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size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(max 100) and a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PageResponse&lt;T&gt;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record.</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REST, AOP &amp; Lombok</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Best URI and method to record that Asha paid Ravi back in group 7?</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GET /settleUp?group=7&amp;from=asha</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POST /api/v1/groups/7/settlements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PUT /api/v1/settle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POST /api/v1/doSettlement</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The request body fails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@Valid</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checks. Which status fits?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200</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400 Bad Request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404 Not Found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500</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In Spring AOP, a join point is always…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a field write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a method execution on a Spring bean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a constructor call</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a class load</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@Transactional</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on a method called via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this.settle()</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from the same class…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works normally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is ignored because the call bypasses the proxy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throws at startup</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runs twice</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Which Lombok annotation gives you constructor injection for final fields?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@Data</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@Builder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@RequiredArgsConstructor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@Value</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9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REST = resources (nouns) + uniform HTTP methods + correct status codes + stateless requests; aim for maturity Level 2.</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Controller → Service → Repository; request/response DTOs (records),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@Valid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Bean Validation,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BigDecimal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for money.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One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@RestControllerAdvice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RFC 9457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ProblemDetail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responses (400/404/409/422…).</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AOP: aspects, pointcuts and advice applied through proxies; beware self-invocation and non-public methods.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Lombok for beans and builders (not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@Data</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on entities); SLF4J placeholders, levels, MDC and structured logs.</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Richardson Level 2</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Resources + HTTP verbs + status codes — the practical REST target.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DTO</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Data Transfer Object: the shape of data crossing the API boundary.</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ProblemDetail</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RFC 9457 standard error body (type, title, status, detail, instance).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Pointcut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Expression selecting which method executions an advice applies to.</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@Around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Advice that wraps a call and decides when to proceed().</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Self-invocation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An internal this.call() that bypasses the Spring proxy.</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@RequiredArgsConstructor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Lombok constructor for final fields — clean constructor injection.</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MDC</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Per-thread logging context, e.g. a request id on every line.</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3D9BD1"/>
                </a:solidFill>
                <a:latin typeface="Calibri" pitchFamily="34" charset="0"/>
                <a:ea typeface="Calibri" pitchFamily="34" charset="-122"/>
                <a:cs typeface="Calibri" pitchFamily="34" charset="-120"/>
              </a:rPr>
              <a:t>SESSION 10 OF 24  ·  MODULE 2</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JDBC, DDL/DML, Spring JdbcTemplate, CRUD Operations &amp; RowMapper</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JDBC, DDL/DML &amp; Spring JDBC Template</a:t>
            </a:r>
            <a:endParaRPr lang="en-US" sz="1400" dirty="0"/>
          </a:p>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CRUD operations &amp; RowMapper</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Write DDL and DML for a relational schema with keys, constraints and indexes (MySQL 8.4).</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Use plain JDBC safely: connections, PreparedStatement, ResultSet, generated keys, transactions.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Replace JDBC boilerplate with Spring's JdbcTemplate/JdbcClient and map rows with RowMapper.</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Implement full CRUD behind a REST API with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@Transactional</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services and translated exceptions.</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Relational databases &amp; the SQL families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DDL &amp; DML for the Splitwise core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JDBC architecture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Plain JDBC: CRUD, generated keys &amp; a transaction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SQL injection &amp; why PreparedStatement matters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Spring JDBC: JdbcTemplate, JdbcClient &amp; exception translation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Configuring Spring JDBC with MySQL</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CRUD repository with JdbcTemplate &amp; RowMapper</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JdbcClient &amp; named parameters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Transactions with @Transactional</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Lab: Users &amp; Groups CRUD on MySQL with JdbcTemplate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JDBC &amp; JdbcTemplate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10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Relational databases &amp; the SQL families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Data lives in </a:t>
            </a:r>
            <a:pPr indent="0" marL="0">
              <a:buNone/>
            </a:pPr>
            <a:r>
              <a:rPr lang="en-US" sz="1350" b="1" dirty="0">
                <a:solidFill>
                  <a:srgbClr val="5B6B60"/>
                </a:solidFill>
                <a:latin typeface="Calibri" pitchFamily="34" charset="0"/>
                <a:ea typeface="Calibri" pitchFamily="34" charset="-122"/>
                <a:cs typeface="Calibri" pitchFamily="34" charset="-120"/>
              </a:rPr>
              <a:t>tables</a:t>
            </a:r>
            <a:pPr indent="0" marL="0">
              <a:buNone/>
            </a:pPr>
            <a:r>
              <a:rPr lang="en-US" sz="1350" dirty="0">
                <a:solidFill>
                  <a:srgbClr val="5B6B60"/>
                </a:solidFill>
                <a:latin typeface="Calibri" pitchFamily="34" charset="0"/>
                <a:ea typeface="Calibri" pitchFamily="34" charset="-122"/>
                <a:cs typeface="Calibri" pitchFamily="34" charset="-120"/>
              </a:rPr>
              <a:t> of rows and columns, linked by </a:t>
            </a:r>
            <a:pPr indent="0" marL="0">
              <a:buNone/>
            </a:pPr>
            <a:r>
              <a:rPr lang="en-US" sz="1350" b="1" dirty="0">
                <a:solidFill>
                  <a:srgbClr val="5B6B60"/>
                </a:solidFill>
                <a:latin typeface="Calibri" pitchFamily="34" charset="0"/>
                <a:ea typeface="Calibri" pitchFamily="34" charset="-122"/>
                <a:cs typeface="Calibri" pitchFamily="34" charset="-120"/>
              </a:rPr>
              <a:t>keys</a:t>
            </a:r>
            <a:pPr indent="0" marL="0">
              <a:buNone/>
            </a:pPr>
            <a:r>
              <a:rPr lang="en-US" sz="1350" dirty="0">
                <a:solidFill>
                  <a:srgbClr val="5B6B60"/>
                </a:solidFill>
                <a:latin typeface="Calibri" pitchFamily="34" charset="0"/>
                <a:ea typeface="Calibri" pitchFamily="34" charset="-122"/>
                <a:cs typeface="Calibri" pitchFamily="34" charset="-120"/>
              </a:rPr>
              <a:t>. SQL statements fall into five families.</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Primary key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identifies a row;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foreign key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references another table's key and enforces integrity.</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Constraints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NOT NULL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UNIQUE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CHECK</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FOREIGN KEY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are the last line of defence for data quality.</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Normalisation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(1NF–3NF) removes duplication;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indexes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speed up lookups at some write cost.</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ACID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transactions: Atomicity, Consistency, Isolation, Durability.</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DDL — CREATE, ALTER, DROP, TRUNCATE — define structure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DML — INSERT, UPDATE, DELETE — change data</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DQL — SELECT — read data</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TCL — COMMIT, ROLLBACK, SAVEPOINT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DCL — GRANT, REVOKE — permissions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DDL &amp; DML for the Splitwise core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Start MySQL in Docker, create users and groups with real constraints, then query them with a JOIN.</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Start MySQL  (+2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 docker run -d --name splitwise-db -p 3306:3306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 MYSQL_ROOT_PASSWORD=rootpw -e MYSQL_DATABASE=splitwise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 MYSQL_USER=app -e MYSQL_PASSWORD=apppw  mysql:8.4</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docker exec -it splitwise-db mysql -uapp -papppw splitwise</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JDBC architecture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JDBC is Java's standard API for relational databases. Your code talks to interfaces; a vendor </a:t>
            </a:r>
            <a:pPr indent="0" marL="0">
              <a:buNone/>
            </a:pPr>
            <a:r>
              <a:rPr lang="en-US" sz="1350" b="1" dirty="0">
                <a:solidFill>
                  <a:srgbClr val="5B6B60"/>
                </a:solidFill>
                <a:latin typeface="Calibri" pitchFamily="34" charset="0"/>
                <a:ea typeface="Calibri" pitchFamily="34" charset="-122"/>
                <a:cs typeface="Calibri" pitchFamily="34" charset="-120"/>
              </a:rPr>
              <a:t>driver</a:t>
            </a:r>
            <a:pPr indent="0" marL="0">
              <a:buNone/>
            </a:pPr>
            <a:r>
              <a:rPr lang="en-US" sz="1350" dirty="0">
                <a:solidFill>
                  <a:srgbClr val="5B6B60"/>
                </a:solidFill>
                <a:latin typeface="Calibri" pitchFamily="34" charset="0"/>
                <a:ea typeface="Calibri" pitchFamily="34" charset="-122"/>
                <a:cs typeface="Calibri" pitchFamily="34" charset="-120"/>
              </a:rPr>
              <a:t> implements them.</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URL format: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jdbc:mysql://host:3306/splitwise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Opening a TCP connection + authentication is slow → production code always uses a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pool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via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DataSource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Every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Connection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Statement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and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ResultSet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must be closed → try-with-resources (Session 2).</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Your code [Repository / DAO classes]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JDBC API (java.sql / javax.sql) [DataSource, Connection, PreparedStatement, ResultSet, SQLException]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Connection pool: HikariCP — Spring Boot default [reuses open connections, max pool size, timeouts]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JDBC driver: com.mysql:mysql-connector-j [speaks the MySQL wire protocol]</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MySQL server</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Plain JDBC: CRUD, generated keys &amp; a transaction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The raw API — powerful, but notice how much ceremony every operation needs.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JdbcDemo.java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java.math.BigDecimal;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java.sql.*;</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JdbcDemo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final String URL = "jdbc:mysql://localhost:3306/splitwise";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static void main(String[] args) throws SQLException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try (Connection con = DriverManager.getConnection(URL, "app", System.getenv("DB_PASSWORD")))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long id = insertUser(con, "zoya@example.com", "Zoya");</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System.out.println("inserted user id=" + id);</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String sql = "SELECT id, email, display_name FROM users WHERE email =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try (PreparedStatement ps = con.prepareStatement(sql))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ps.setString(1, "zoya@example.com");              // bound parameter, never concatenated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try (ResultSet rs = ps.executeQuery())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while (rs.next())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System.out.println(rs.getLong("id") + " " + rs.getString("email")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 " + rs.getString("display_name"));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SQL injection &amp; why PreparedStatement matters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Concatenating user input into SQL lets an attacker change the </a:t>
            </a:r>
            <a:pPr indent="0" marL="0">
              <a:buNone/>
            </a:pPr>
            <a:r>
              <a:rPr lang="en-US" sz="1350" b="1" dirty="0">
                <a:solidFill>
                  <a:srgbClr val="5B6B60"/>
                </a:solidFill>
                <a:latin typeface="Calibri" pitchFamily="34" charset="0"/>
                <a:ea typeface="Calibri" pitchFamily="34" charset="-122"/>
                <a:cs typeface="Calibri" pitchFamily="34" charset="-120"/>
              </a:rPr>
              <a:t>meaning</a:t>
            </a:r>
            <a:pPr indent="0" marL="0">
              <a:buNone/>
            </a:pPr>
            <a:r>
              <a:rPr lang="en-US" sz="1350" dirty="0">
                <a:solidFill>
                  <a:srgbClr val="5B6B60"/>
                </a:solidFill>
                <a:latin typeface="Calibri" pitchFamily="34" charset="0"/>
                <a:ea typeface="Calibri" pitchFamily="34" charset="-122"/>
                <a:cs typeface="Calibri" pitchFamily="34" charset="-120"/>
              </a:rPr>
              <a:t> of your query.</a:t>
            </a:r>
            <a:endParaRPr lang="en-US" sz="1350" dirty="0"/>
          </a:p>
        </p:txBody>
      </p:sp>
      <p:sp>
        <p:nvSpPr>
          <p:cNvPr id="7" name="Text 5"/>
          <p:cNvSpPr/>
          <p:nvPr/>
        </p:nvSpPr>
        <p:spPr>
          <a:xfrm>
            <a:off x="457200" y="1883664"/>
            <a:ext cx="5120640" cy="387705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SQL injection is consistently near the top of the OWASP Top 10 risks.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Always bind parameters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or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:name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For dynamic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identifiers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(sort column), use an allow-list.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Bonus: prepared statements are parsed once and can be reused efficiently (and batched).</a:t>
            </a:r>
            <a:endParaRPr lang="en-US" sz="17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Vulnerable vs safe</a:t>
            </a:r>
            <a:endParaRPr lang="en-US" sz="900" dirty="0"/>
          </a:p>
        </p:txBody>
      </p:sp>
      <p:sp>
        <p:nvSpPr>
          <p:cNvPr id="9" name="Text 7"/>
          <p:cNvSpPr/>
          <p:nvPr/>
        </p:nvSpPr>
        <p:spPr>
          <a:xfrm>
            <a:off x="5852160" y="2157984"/>
            <a:ext cx="5882335" cy="3602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780" dirty="0">
                <a:solidFill>
                  <a:srgbClr val="24292F"/>
                </a:solidFill>
                <a:latin typeface="Consolas" pitchFamily="34" charset="0"/>
                <a:ea typeface="Consolas" pitchFamily="34" charset="-122"/>
                <a:cs typeface="Consolas" pitchFamily="34" charset="-120"/>
              </a:rPr>
              <a:t>// ❌ VULNERABLE: input is pasted into the SQL text</a:t>
            </a:r>
            <a:endParaRPr lang="en-US" sz="780" dirty="0"/>
          </a:p>
          <a:p>
            <a:pPr indent="0" marL="0">
              <a:buNone/>
            </a:pPr>
            <a:r>
              <a:rPr lang="en-US" sz="780" dirty="0">
                <a:solidFill>
                  <a:srgbClr val="24292F"/>
                </a:solidFill>
                <a:latin typeface="Consolas" pitchFamily="34" charset="0"/>
                <a:ea typeface="Consolas" pitchFamily="34" charset="-122"/>
                <a:cs typeface="Consolas" pitchFamily="34" charset="-120"/>
              </a:rPr>
              <a:t>String email = request.getParameter("email");          // attacker sends:  x' OR '1'='1</a:t>
            </a:r>
            <a:endParaRPr lang="en-US" sz="780" dirty="0"/>
          </a:p>
          <a:p>
            <a:pPr indent="0" marL="0">
              <a:buNone/>
            </a:pPr>
            <a:r>
              <a:rPr lang="en-US" sz="780" dirty="0">
                <a:solidFill>
                  <a:srgbClr val="24292F"/>
                </a:solidFill>
                <a:latin typeface="Consolas" pitchFamily="34" charset="0"/>
                <a:ea typeface="Consolas" pitchFamily="34" charset="-122"/>
                <a:cs typeface="Consolas" pitchFamily="34" charset="-120"/>
              </a:rPr>
              <a:t>String sql = "SELECT * FROM users WHERE email = '" + email + "'";</a:t>
            </a:r>
            <a:endParaRPr lang="en-US" sz="780" dirty="0"/>
          </a:p>
          <a:p>
            <a:pPr indent="0" marL="0">
              <a:buNone/>
            </a:pPr>
            <a:r>
              <a:rPr lang="en-US" sz="780" dirty="0">
                <a:solidFill>
                  <a:srgbClr val="24292F"/>
                </a:solidFill>
                <a:latin typeface="Consolas" pitchFamily="34" charset="0"/>
                <a:ea typeface="Consolas" pitchFamily="34" charset="-122"/>
                <a:cs typeface="Consolas" pitchFamily="34" charset="-120"/>
              </a:rPr>
              <a:t>// becomes: SELECT * FROM users WHERE email = 'x' OR '1'='1'   -&gt; returns EVERY user</a:t>
            </a:r>
            <a:endParaRPr lang="en-US" sz="780" dirty="0"/>
          </a:p>
          <a:p>
            <a:pPr indent="0" marL="0">
              <a:buNone/>
            </a:pPr>
            <a:r>
              <a:rPr lang="en-US" sz="780" dirty="0">
                <a:solidFill>
                  <a:srgbClr val="24292F"/>
                </a:solidFill>
                <a:latin typeface="Consolas" pitchFamily="34" charset="0"/>
                <a:ea typeface="Consolas" pitchFamily="34" charset="-122"/>
                <a:cs typeface="Consolas" pitchFamily="34" charset="-120"/>
              </a:rPr>
              <a:t>ResultSet rs = connection.createStatement().executeQuery(sql);</a:t>
            </a:r>
            <a:endParaRPr lang="en-US" sz="780" dirty="0"/>
          </a:p>
          <a:p>
            <a:pPr indent="0" marL="0">
              <a:buNone/>
            </a:pPr>
            <a:endParaRPr lang="en-US" sz="780" dirty="0"/>
          </a:p>
          <a:p>
            <a:pPr indent="0" marL="0">
              <a:buNone/>
            </a:pPr>
            <a:r>
              <a:rPr lang="en-US" sz="780" dirty="0">
                <a:solidFill>
                  <a:srgbClr val="24292F"/>
                </a:solidFill>
                <a:latin typeface="Consolas" pitchFamily="34" charset="0"/>
                <a:ea typeface="Consolas" pitchFamily="34" charset="-122"/>
                <a:cs typeface="Consolas" pitchFamily="34" charset="-120"/>
              </a:rPr>
              <a:t>// ✅ SAFE: the SQL text is fixed; the value is sent separately as data</a:t>
            </a:r>
            <a:endParaRPr lang="en-US" sz="780" dirty="0"/>
          </a:p>
          <a:p>
            <a:pPr indent="0" marL="0">
              <a:buNone/>
            </a:pPr>
            <a:r>
              <a:rPr lang="en-US" sz="780" dirty="0">
                <a:solidFill>
                  <a:srgbClr val="24292F"/>
                </a:solidFill>
                <a:latin typeface="Consolas" pitchFamily="34" charset="0"/>
                <a:ea typeface="Consolas" pitchFamily="34" charset="-122"/>
                <a:cs typeface="Consolas" pitchFamily="34" charset="-120"/>
              </a:rPr>
              <a:t>PreparedStatement ps = connection.prepareStatement("SELECT * FROM users WHERE email = ?");</a:t>
            </a:r>
            <a:endParaRPr lang="en-US" sz="780" dirty="0"/>
          </a:p>
          <a:p>
            <a:pPr indent="0" marL="0">
              <a:buNone/>
            </a:pPr>
            <a:r>
              <a:rPr lang="en-US" sz="780" dirty="0">
                <a:solidFill>
                  <a:srgbClr val="24292F"/>
                </a:solidFill>
                <a:latin typeface="Consolas" pitchFamily="34" charset="0"/>
                <a:ea typeface="Consolas" pitchFamily="34" charset="-122"/>
                <a:cs typeface="Consolas" pitchFamily="34" charset="-120"/>
              </a:rPr>
              <a:t>ps.setString(1, email);                                // treated as a literal string, never as SQL</a:t>
            </a:r>
            <a:endParaRPr lang="en-US" sz="780" dirty="0"/>
          </a:p>
          <a:p>
            <a:pPr indent="0" marL="0">
              <a:buNone/>
            </a:pPr>
            <a:r>
              <a:rPr lang="en-US" sz="780" dirty="0">
                <a:solidFill>
                  <a:srgbClr val="24292F"/>
                </a:solidFill>
                <a:latin typeface="Consolas" pitchFamily="34" charset="0"/>
                <a:ea typeface="Consolas" pitchFamily="34" charset="-122"/>
                <a:cs typeface="Consolas" pitchFamily="34" charset="-120"/>
              </a:rPr>
              <a:t>ResultSet safe = ps.executeQuery();</a:t>
            </a:r>
            <a:endParaRPr lang="en-US" sz="780" dirty="0"/>
          </a:p>
        </p:txBody>
      </p:sp>
      <p:sp>
        <p:nvSpPr>
          <p:cNvPr id="10" name="Text 8"/>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WARN: </a:t>
            </a:r>
            <a:pPr indent="0" marL="0">
              <a:buNone/>
            </a:pPr>
            <a:r>
              <a:rPr lang="en-US" sz="1100" dirty="0">
                <a:solidFill>
                  <a:srgbClr val="1F2A24"/>
                </a:solidFill>
                <a:latin typeface="Calibri" pitchFamily="34" charset="0"/>
                <a:ea typeface="Calibri" pitchFamily="34" charset="-122"/>
                <a:cs typeface="Calibri" pitchFamily="34" charset="-120"/>
              </a:rPr>
              <a:t>ORMs don't make you immune: string-concatenated JPQL or native queries are just as injectable. Parameters, always.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400" b="1" dirty="0">
                <a:solidFill>
                  <a:srgbClr val="1F2A24"/>
                </a:solidFill>
                <a:latin typeface="Calibri" pitchFamily="34" charset="0"/>
                <a:ea typeface="Calibri" pitchFamily="34" charset="-122"/>
                <a:cs typeface="Calibri" pitchFamily="34" charset="-120"/>
              </a:rPr>
              <a:t>Spring JDBC: JdbcTemplate, JdbcClient &amp; exception translation</a:t>
            </a:r>
            <a:endParaRPr lang="en-US" sz="24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Spring keeps the SQL in your hands but takes over connections, statements, cleanup and error handling.</a:t>
            </a:r>
            <a:endParaRPr lang="en-US" sz="1350" dirty="0"/>
          </a:p>
        </p:txBody>
      </p:sp>
      <p:sp>
        <p:nvSpPr>
          <p:cNvPr id="7" name="Text 5"/>
          <p:cNvSpPr/>
          <p:nvPr/>
        </p:nvSpPr>
        <p:spPr>
          <a:xfrm>
            <a:off x="457200" y="1883664"/>
            <a:ext cx="5120640" cy="2734056"/>
          </a:xfrm>
          <a:prstGeom prst="rect">
            <a:avLst/>
          </a:prstGeom>
          <a:noFill/>
          <a:ln/>
        </p:spPr>
        <p:txBody>
          <a:bodyPr wrap="square" rtlCol="0" anchor="t"/>
          <a:lstStyle/>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DuplicateKeyException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(unique violation) →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409</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DataIntegrityViolationException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(FK/CHECK) →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409/422</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EmptyResultDataAccessException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404</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Spring Boot auto-configures a HikariCP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DataSource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JdbcTemplate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and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JdbcClient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from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spring.datasource.*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p:txBody>
      </p:sp>
      <p:sp>
        <p:nvSpPr>
          <p:cNvPr id="8" name="Text 6"/>
          <p:cNvSpPr/>
          <p:nvPr/>
        </p:nvSpPr>
        <p:spPr>
          <a:xfrm>
            <a:off x="5852160" y="1883664"/>
            <a:ext cx="588233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JdbcTemplate: classic API,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placeholders;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query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queryForObject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update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batchUpdate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NamedParameterJdbcTemplate: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:name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placeholders; params from a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Map</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or bean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JdbcClient (Spring 6.1+): fluent: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sql(...).param(...).query(...)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maps records automatically</a:t>
            </a:r>
            <a:endParaRPr lang="en-US" sz="13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You write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Spring handles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SQL + parameters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getting/releasing pooled connections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row → object mapping (RowMapper)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creating &amp; closing statements and result sets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transaction boundaries (@Transactional)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commit/rollback on the right connection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handling specific failures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translating SQLException into unchecked DataAccessException subclasses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Configuring Spring JDBC with MySQL</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Two dependencies, a few properties, and an optional </a:t>
            </a:r>
            <a:pPr indent="0" marL="0">
              <a:buNone/>
            </a:pPr>
            <a:r>
              <a:rPr lang="en-US" sz="1350" dirty="0">
                <a:solidFill>
                  <a:srgbClr val="B4235A"/>
                </a:solidFill>
                <a:latin typeface="Consolas" pitchFamily="34" charset="0"/>
                <a:ea typeface="Consolas" pitchFamily="34" charset="-122"/>
                <a:cs typeface="Consolas" pitchFamily="34" charset="-120"/>
              </a:rPr>
              <a:t>schema.sql</a:t>
            </a:r>
            <a:pPr indent="0" marL="0">
              <a:buNone/>
            </a:pPr>
            <a:r>
              <a:rPr lang="en-US" sz="1350" dirty="0">
                <a:solidFill>
                  <a:srgbClr val="5B6B60"/>
                </a:solidFill>
                <a:latin typeface="Calibri" pitchFamily="34" charset="0"/>
                <a:ea typeface="Calibri" pitchFamily="34" charset="-122"/>
                <a:cs typeface="Calibri" pitchFamily="34" charset="-120"/>
              </a:rPr>
              <a:t> that runs at startup in development.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pom.xml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&lt;groupId&gt;org.springframework.boot&lt;/groupId&gt;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&lt;artifactId&gt;spring-boot-starter-jdbc&lt;/artifactId&gt;   &lt;!-- JdbcTemplate, JdbcClient, HikariCP --&gt;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&lt;groupId&gt;com.mysql&lt;/groupId&gt;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&lt;artifactId&gt;mysql-connector-j&lt;/artifactId&gt;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&lt;scope&gt;runtime&lt;/scope&gt;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CRUD repository with JdbcTemplate &amp; RowMapper</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a:t>
            </a:r>
            <a:pPr indent="0" marL="0">
              <a:buNone/>
            </a:pPr>
            <a:r>
              <a:rPr lang="en-US" sz="1350" dirty="0">
                <a:solidFill>
                  <a:srgbClr val="B4235A"/>
                </a:solidFill>
                <a:latin typeface="Consolas" pitchFamily="34" charset="0"/>
                <a:ea typeface="Consolas" pitchFamily="34" charset="-122"/>
                <a:cs typeface="Consolas" pitchFamily="34" charset="-120"/>
              </a:rPr>
              <a:t>RowMapper</a:t>
            </a:r>
            <a:pPr indent="0" marL="0">
              <a:buNone/>
            </a:pPr>
            <a:r>
              <a:rPr lang="en-US" sz="1350" dirty="0">
                <a:solidFill>
                  <a:srgbClr val="5B6B60"/>
                </a:solidFill>
                <a:latin typeface="Calibri" pitchFamily="34" charset="0"/>
                <a:ea typeface="Calibri" pitchFamily="34" charset="-122"/>
                <a:cs typeface="Calibri" pitchFamily="34" charset="-120"/>
              </a:rPr>
              <a:t> turns one </a:t>
            </a:r>
            <a:pPr indent="0" marL="0">
              <a:buNone/>
            </a:pPr>
            <a:r>
              <a:rPr lang="en-US" sz="1350" dirty="0">
                <a:solidFill>
                  <a:srgbClr val="B4235A"/>
                </a:solidFill>
                <a:latin typeface="Consolas" pitchFamily="34" charset="0"/>
                <a:ea typeface="Consolas" pitchFamily="34" charset="-122"/>
                <a:cs typeface="Consolas" pitchFamily="34" charset="-120"/>
              </a:rPr>
              <a:t>ResultSet</a:t>
            </a:r>
            <a:pPr indent="0" marL="0">
              <a:buNone/>
            </a:pPr>
            <a:r>
              <a:rPr lang="en-US" sz="1350" dirty="0">
                <a:solidFill>
                  <a:srgbClr val="5B6B60"/>
                </a:solidFill>
                <a:latin typeface="Calibri" pitchFamily="34" charset="0"/>
                <a:ea typeface="Calibri" pitchFamily="34" charset="-122"/>
                <a:cs typeface="Calibri" pitchFamily="34" charset="-120"/>
              </a:rPr>
              <a:t> row into one object; the template does everything else.</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UserJdbcRepository.java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com.example.splitwise.user;</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java.sql.PreparedStatement;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java.sql.Statement;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java.util.Optional;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org.springframework.jdbc.core.JdbcTemplate;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org.springframework.jdbc.core.RowMapper;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org.springframework.jdbc.support.GeneratedKeyHolder;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org.springframework.jdbc.support.KeyHolder;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org.springframework.stereotype.Repository;</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@Repository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UserJdbcRepository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static final RowMapper&lt;User&gt; USER_ROW_MAPPER = (rs, rowNum) -&gt; new User(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rs.getLong("id"),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rs.getString("email"),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rs.getString("display_name"),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rs.getTimestamp("created_at").toInstant());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JdbcTemplate jdbc;</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JdbcClient &amp; named parameters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The fluent </a:t>
            </a:r>
            <a:pPr indent="0" marL="0">
              <a:buNone/>
            </a:pPr>
            <a:r>
              <a:rPr lang="en-US" sz="1350" dirty="0">
                <a:solidFill>
                  <a:srgbClr val="B4235A"/>
                </a:solidFill>
                <a:latin typeface="Consolas" pitchFamily="34" charset="0"/>
                <a:ea typeface="Consolas" pitchFamily="34" charset="-122"/>
                <a:cs typeface="Consolas" pitchFamily="34" charset="-120"/>
              </a:rPr>
              <a:t>JdbcClient</a:t>
            </a:r>
            <a:pPr indent="0" marL="0">
              <a:buNone/>
            </a:pPr>
            <a:r>
              <a:rPr lang="en-US" sz="1350" dirty="0">
                <a:solidFill>
                  <a:srgbClr val="5B6B60"/>
                </a:solidFill>
                <a:latin typeface="Calibri" pitchFamily="34" charset="0"/>
                <a:ea typeface="Calibri" pitchFamily="34" charset="-122"/>
                <a:cs typeface="Calibri" pitchFamily="34" charset="-120"/>
              </a:rPr>
              <a:t> (Spring Framework 6.1+) reads almost like the SQL itself and maps records automatically.</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GroupJdbcRepository.java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com.example.splitwise.group;</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java.util.Optional;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org.springframework.jdbc.core.simple.JdbcClient;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org.springframework.jdbc.support.GeneratedKeyHolder;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org.springframework.jdbc.support.KeyHolder;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org.springframework.stereotype.Repository;</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record GroupSummary(Long id, String name, int memberCount)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@Repository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GroupJdbcRepository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JdbcClient jdbc;</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GroupJdbcRepository(JdbcClient jdbc) { this.jdbc = jdbc;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long create(String name, long createdBy)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KeyHolder keys = new GeneratedKeyHolder();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jdbc.sql("INSERT INTO expense_groups (name, created_by) VALUES (:name, :createdBy)")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.param("name", name)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Transactions with @Transactional</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Declare the boundary on a service method; Spring opens the transaction before it and commits or rolls back after it.</a:t>
            </a:r>
            <a:endParaRPr lang="en-US" sz="1350" dirty="0"/>
          </a:p>
        </p:txBody>
      </p:sp>
      <p:sp>
        <p:nvSpPr>
          <p:cNvPr id="7" name="Text 5"/>
          <p:cNvSpPr/>
          <p:nvPr/>
        </p:nvSpPr>
        <p:spPr>
          <a:xfrm>
            <a:off x="457200" y="1883664"/>
            <a:ext cx="5120640" cy="2734056"/>
          </a:xfrm>
          <a:prstGeom prst="rect">
            <a:avLst/>
          </a:prstGeom>
          <a:noFill/>
          <a:ln/>
        </p:spPr>
        <p:txBody>
          <a:bodyPr wrap="square" rtlCol="0" anchor="t"/>
          <a:lstStyle/>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Default rollback: on </a:t>
            </a:r>
            <a:endParaRPr lang="en-US" sz="1500" dirty="0"/>
          </a:p>
          <a:p>
            <a:pPr marL="177800" indent="-177800">
              <a:spcAft>
                <a:spcPts val="400"/>
              </a:spcAft>
              <a:buSzPct val="100000"/>
              <a:buChar char="•"/>
            </a:pPr>
            <a:r>
              <a:rPr lang="en-US" sz="1500" b="1" dirty="0">
                <a:solidFill>
                  <a:srgbClr val="1F2A24"/>
                </a:solidFill>
                <a:latin typeface="Calibri" pitchFamily="34" charset="0"/>
                <a:ea typeface="Calibri" pitchFamily="34" charset="-122"/>
                <a:cs typeface="Calibri" pitchFamily="34" charset="-120"/>
              </a:rPr>
              <a:t>unchecked</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 exceptions (and </a:t>
            </a:r>
            <a:endParaRPr lang="en-US" sz="1500" dirty="0"/>
          </a:p>
          <a:p>
            <a:pPr marL="177800" indent="-177800">
              <a:spcAft>
                <a:spcPts val="400"/>
              </a:spcAft>
              <a:buSzPct val="100000"/>
              <a:buChar char="•"/>
            </a:pPr>
            <a:r>
              <a:rPr lang="en-US" sz="1500" dirty="0">
                <a:solidFill>
                  <a:srgbClr val="B4235A"/>
                </a:solidFill>
                <a:latin typeface="Consolas" pitchFamily="34" charset="0"/>
                <a:ea typeface="Consolas" pitchFamily="34" charset="-122"/>
                <a:cs typeface="Consolas" pitchFamily="34" charset="-120"/>
              </a:rPr>
              <a:t>Error</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 checked exceptions commit unless you set </a:t>
            </a:r>
            <a:endParaRPr lang="en-US" sz="1500" dirty="0"/>
          </a:p>
          <a:p>
            <a:pPr marL="177800" indent="-177800">
              <a:spcAft>
                <a:spcPts val="400"/>
              </a:spcAft>
              <a:buSzPct val="100000"/>
              <a:buChar char="•"/>
            </a:pPr>
            <a:r>
              <a:rPr lang="en-US" sz="1500" dirty="0">
                <a:solidFill>
                  <a:srgbClr val="B4235A"/>
                </a:solidFill>
                <a:latin typeface="Consolas" pitchFamily="34" charset="0"/>
                <a:ea typeface="Consolas" pitchFamily="34" charset="-122"/>
                <a:cs typeface="Consolas" pitchFamily="34" charset="-120"/>
              </a:rPr>
              <a:t>rollbackFor</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Default propagation </a:t>
            </a:r>
            <a:endParaRPr lang="en-US" sz="1500" dirty="0"/>
          </a:p>
          <a:p>
            <a:pPr marL="177800" indent="-177800">
              <a:spcAft>
                <a:spcPts val="400"/>
              </a:spcAft>
              <a:buSzPct val="100000"/>
              <a:buChar char="•"/>
            </a:pPr>
            <a:r>
              <a:rPr lang="en-US" sz="1500" dirty="0">
                <a:solidFill>
                  <a:srgbClr val="B4235A"/>
                </a:solidFill>
                <a:latin typeface="Consolas" pitchFamily="34" charset="0"/>
                <a:ea typeface="Consolas" pitchFamily="34" charset="-122"/>
                <a:cs typeface="Consolas" pitchFamily="34" charset="-120"/>
              </a:rPr>
              <a:t>REQUIRED</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 join the caller's transaction or start a new one; </a:t>
            </a:r>
            <a:endParaRPr lang="en-US" sz="1500" dirty="0"/>
          </a:p>
          <a:p>
            <a:pPr marL="177800" indent="-177800">
              <a:spcAft>
                <a:spcPts val="400"/>
              </a:spcAft>
              <a:buSzPct val="100000"/>
              <a:buChar char="•"/>
            </a:pPr>
            <a:r>
              <a:rPr lang="en-US" sz="1500" dirty="0">
                <a:solidFill>
                  <a:srgbClr val="B4235A"/>
                </a:solidFill>
                <a:latin typeface="Consolas" pitchFamily="34" charset="0"/>
                <a:ea typeface="Consolas" pitchFamily="34" charset="-122"/>
                <a:cs typeface="Consolas" pitchFamily="34" charset="-120"/>
              </a:rPr>
              <a:t>REQUIRES_NEW</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 suspends it and starts another.</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It's AOP: keep </a:t>
            </a:r>
            <a:endParaRPr lang="en-US" sz="1500" dirty="0"/>
          </a:p>
          <a:p>
            <a:pPr marL="177800" indent="-177800">
              <a:spcAft>
                <a:spcPts val="400"/>
              </a:spcAft>
              <a:buSzPct val="100000"/>
              <a:buChar char="•"/>
            </a:pPr>
            <a:r>
              <a:rPr lang="en-US" sz="1500" dirty="0">
                <a:solidFill>
                  <a:srgbClr val="B4235A"/>
                </a:solidFill>
                <a:latin typeface="Consolas" pitchFamily="34" charset="0"/>
                <a:ea typeface="Consolas" pitchFamily="34" charset="-122"/>
                <a:cs typeface="Consolas" pitchFamily="34" charset="-120"/>
              </a:rPr>
              <a:t>@Transactional</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 on </a:t>
            </a:r>
            <a:endParaRPr lang="en-US" sz="1500" dirty="0"/>
          </a:p>
          <a:p>
            <a:pPr marL="177800" indent="-177800">
              <a:spcAft>
                <a:spcPts val="400"/>
              </a:spcAft>
              <a:buSzPct val="100000"/>
              <a:buChar char="•"/>
            </a:pPr>
            <a:r>
              <a:rPr lang="en-US" sz="1500" b="1" dirty="0">
                <a:solidFill>
                  <a:srgbClr val="1F2A24"/>
                </a:solidFill>
                <a:latin typeface="Calibri" pitchFamily="34" charset="0"/>
                <a:ea typeface="Calibri" pitchFamily="34" charset="-122"/>
                <a:cs typeface="Calibri" pitchFamily="34" charset="-120"/>
              </a:rPr>
              <a:t>public</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 service methods called from other beans (Session 9 pitfall).</a:t>
            </a:r>
            <a:endParaRPr lang="en-US" sz="15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GroupService.java</a:t>
            </a:r>
            <a:endParaRPr lang="en-US" sz="900" dirty="0"/>
          </a:p>
        </p:txBody>
      </p:sp>
      <p:sp>
        <p:nvSpPr>
          <p:cNvPr id="9" name="Text 7"/>
          <p:cNvSpPr/>
          <p:nvPr/>
        </p:nvSpPr>
        <p:spPr>
          <a:xfrm>
            <a:off x="5852160" y="2157984"/>
            <a:ext cx="588233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003" dirty="0">
                <a:solidFill>
                  <a:srgbClr val="24292F"/>
                </a:solidFill>
                <a:latin typeface="Consolas" pitchFamily="34" charset="0"/>
                <a:ea typeface="Consolas" pitchFamily="34" charset="-122"/>
                <a:cs typeface="Consolas" pitchFamily="34" charset="-120"/>
              </a:rPr>
              <a:t>package com.example.splitwise.group;</a:t>
            </a:r>
            <a:endParaRPr lang="en-US" sz="1003" dirty="0"/>
          </a:p>
          <a:p>
            <a:pPr indent="0" marL="0">
              <a:buNone/>
            </a:pP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import java.util.List;</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import org.springframework.stereotype.Service;</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import org.springframework.transaction.annotation.Transactional;</a:t>
            </a:r>
            <a:endParaRPr lang="en-US" sz="1003" dirty="0"/>
          </a:p>
          <a:p>
            <a:pPr indent="0" marL="0">
              <a:buNone/>
            </a:pP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@Service</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public class GroupService {</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    private final GroupJdbcRepository groups;</a:t>
            </a:r>
            <a:endParaRPr lang="en-US" sz="1003" dirty="0"/>
          </a:p>
          <a:p>
            <a:pPr indent="0" marL="0">
              <a:buNone/>
            </a:pP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    public GroupService(GroupJdbcRepository groups) { this.groups = groups; }</a:t>
            </a:r>
            <a:endParaRPr lang="en-US" sz="1003" dirty="0"/>
          </a:p>
          <a:p>
            <a:pPr indent="0" marL="0">
              <a:buNone/>
            </a:pP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 … full listing in the web notes</a:t>
            </a:r>
            <a:endParaRPr lang="en-US" sz="1003"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2819324"/>
                <a:gridCol w="2819324"/>
                <a:gridCol w="2819324"/>
                <a:gridCol w="2819324"/>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Isolation level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Dirty read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Non-repeatable read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Phantom read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READ_UNCOMMITTED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possible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possible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possible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READ_COMMITTED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possible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possible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REPEATABLE_READ (MySQL InnoDB default)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mostly prevented in InnoDB</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SERIALIZABLE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Lab: Users &amp; Groups CRUD on MySQL with JdbcTemplate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Replace the in-memory maps with a real database, end to end.</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Start MySQL 8.4 in Docker (previous slide) and 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spring-boot-starter-jdbc</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mysql-connector-j</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to the Splitwise project.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Put the DDL in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src/main/resources/schema.sql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seed three users in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data.sql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set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spring.sql.init.mode=always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Implement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UserJdbcRepository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(JdbcTemplate +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RowMapper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findAll, findById, insert, updateName and delete.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Expose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/api/v1/users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CRUD endpoints: 201 + Location on create, 404 when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update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delete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affect 0 rows.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Map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DuplicateKeyException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(same email twice) to </a:t>
            </a:r>
            <a:endParaRPr lang="en-US" sz="1500" dirty="0"/>
          </a:p>
          <a:p>
            <a:pPr marL="342900" indent="-342900">
              <a:spcAft>
                <a:spcPts val="400"/>
              </a:spcAft>
              <a:buSzPct val="100000"/>
              <a:buFont typeface="+mj-lt"/>
              <a:buAutoNum type="arabicPeriod" startAt="1"/>
            </a:pPr>
            <a:r>
              <a:rPr lang="en-US" sz="1500" b="1" dirty="0">
                <a:solidFill>
                  <a:srgbClr val="1F2A24"/>
                </a:solidFill>
                <a:latin typeface="Calibri" pitchFamily="34" charset="0"/>
                <a:ea typeface="Calibri" pitchFamily="34" charset="-122"/>
                <a:cs typeface="Calibri" pitchFamily="34" charset="-120"/>
              </a:rPr>
              <a:t>409 Conflict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in your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@RestControllerAdvice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Implement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GroupJdbcRepository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JdbcClient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@Transactional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createGroup(name, creator, members)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Prove atomicity: create a group with a non-existent member id → expect an error and </a:t>
            </a:r>
            <a:endParaRPr lang="en-US" sz="1500" dirty="0"/>
          </a:p>
          <a:p>
            <a:pPr marL="342900" indent="-342900">
              <a:spcAft>
                <a:spcPts val="400"/>
              </a:spcAft>
              <a:buSzPct val="100000"/>
              <a:buFont typeface="+mj-lt"/>
              <a:buAutoNum type="arabicPeriod" startAt="1"/>
            </a:pPr>
            <a:r>
              <a:rPr lang="en-US" sz="1500" b="1" dirty="0">
                <a:solidFill>
                  <a:srgbClr val="1F2A24"/>
                </a:solidFill>
                <a:latin typeface="Calibri" pitchFamily="34" charset="0"/>
                <a:ea typeface="Calibri" pitchFamily="34" charset="-122"/>
                <a:cs typeface="Calibri" pitchFamily="34" charset="-120"/>
              </a:rPr>
              <a:t>no</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row in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expense_groups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Stretch: write a vulnerable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/users/search?email=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endpoint with concatenation, exploit it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x' OR '1'='1</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then fix it with a bound parameter.</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JDBC &amp; JdbcTemplate</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Which statement family does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ALTER TABLE users ADD COLUMN phone ...</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belong to?</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DML</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DDL</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DQL</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TCL</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Why use PreparedStatement with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placeholders?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It returns more rows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Parameters are sent as data, preventing SQL injection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It avoids transactions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It is required for SELECT</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What does a RowMapper do?</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Opens connections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Maps one ResultSet row to an object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Creates tables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Commits transactions</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Inserting a duplicate email (UNIQUE column) through JdbcTemplate throws…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SQLException (checked)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DuplicateKeyException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NullPointerException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Nothing — it is ignored</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A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@Transactional</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method throws a checked exception. By default the transaction…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rolls back</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commits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is suspended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retries</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10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DDL defines structure, DML changes data; constraints + keys + indexes protect integrity and performance.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JDBC: DataSource (pooled) → Connection → PreparedStatement → ResultSet; always close resources; bind parameters.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JdbcTemplate / JdbcClient remove boilerplate; RowMapper maps rows; Spring translates SQLExceptions.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CRUD = query/queryForObject + update + batchUpdate; affected-row counts drive 404s.</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@Transactional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on service methods gives atomic business operations (rollback on unchecked exceptions).</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DDL vs DML</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DDL changes schema (CREATE/ALTER); DML changes rows (INSERT/UPDATE/DELETE).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Foreign key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Column referencing another table’s key; the DB enforces the link.</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HikariCP</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Spring Boot’s default JDBC connection pool.</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PreparedStatement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Precompiled SQL with bound parameters — prevents injection.</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RowMapper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Callback mapping one ResultSet row to one object.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DataAccessException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Spring’s unchecked, vendor-neutral persistence exception hierarchy.</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JdbcClient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Fluent JDBC API (Spring 6.1+) with named params and record mapping.</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ACID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Atomicity, Consistency, Isolation, Durability — transaction guarantees.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3D9BD1"/>
                </a:solidFill>
                <a:latin typeface="Calibri" pitchFamily="34" charset="0"/>
                <a:ea typeface="Calibri" pitchFamily="34" charset="-122"/>
                <a:cs typeface="Calibri" pitchFamily="34" charset="-120"/>
              </a:rPr>
              <a:t>SESSION 11 OF 24  ·  MODULE 2</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Hibernate, Spring Data JPA &amp; Entity Relationships</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Hibernate, Spring Data JPA &amp; entity relationships</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Explain ORM, JPA, Hibernate and Spring Data JPA, and the entity lifecycle / persistence context.</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Map entities with ids, columns, enums, versions and relationships (1:1, 1:N, N:1, M:N).</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Write Spring Data repositories with derived queries, JPQL, pagination and projections.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Recognise and fix the N+1 problem, lazy-loading exceptions and lost updates (optimistic locking).</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ORM: objects in Java, rows in MySQL</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Entity lifecycle &amp; the persistence context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Mapping an entity</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Spring Data JPA repositories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Relationships: owning side, mappedBy, cascade &amp; fetch</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Mapping the group ↔ member ↔ user relationships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Lazy loading &amp; the N+1 query problem</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Fixing N+1 with fetch joins &amp; entity graphs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Lost updates, @Version &amp; schema management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Lab: Users &amp; Groups on Spring Data JPA</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JPA &amp; relationships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11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ORM: objects in Java, rows in MySQL</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An </a:t>
            </a:r>
            <a:pPr indent="0" marL="0">
              <a:buNone/>
            </a:pPr>
            <a:r>
              <a:rPr lang="en-US" sz="1350" b="1" dirty="0">
                <a:solidFill>
                  <a:srgbClr val="5B6B60"/>
                </a:solidFill>
                <a:latin typeface="Calibri" pitchFamily="34" charset="0"/>
                <a:ea typeface="Calibri" pitchFamily="34" charset="-122"/>
                <a:cs typeface="Calibri" pitchFamily="34" charset="-120"/>
              </a:rPr>
              <a:t>Object-Relational Mapper</a:t>
            </a:r>
            <a:pPr indent="0" marL="0">
              <a:buNone/>
            </a:pPr>
            <a:r>
              <a:rPr lang="en-US" sz="1350" dirty="0">
                <a:solidFill>
                  <a:srgbClr val="5B6B60"/>
                </a:solidFill>
                <a:latin typeface="Calibri" pitchFamily="34" charset="0"/>
                <a:ea typeface="Calibri" pitchFamily="34" charset="-122"/>
                <a:cs typeface="Calibri" pitchFamily="34" charset="-120"/>
              </a:rPr>
              <a:t> translates between your object graph and relational tables, generating SQL for you.</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JPA</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is a specification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jakarta.persistence.*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Hibernate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is the most used implementation.</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Spring Data JPA</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adds repository interfaces whose implementations are generated at runtime.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Mismatch to manage: inheritance, object identity vs primary keys, navigation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group.getMembers()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vs joins.</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Your code [services work with entities]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Spring Data JPA: repositories, derived queries, paging [JpaRepository&lt;User, Long&gt;]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Jakarta Persistence (JPA) API: the standard [@Entity, EntityManager, JPQL]</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Hibernate ORM 7: the implementation [SQL generation, caching, dirty checking]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JDBC + HikariCP → MySQL</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Entity lifecycle &amp; the persistence context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Inside a transaction, the </a:t>
            </a:r>
            <a:pPr indent="0" marL="0">
              <a:buNone/>
            </a:pPr>
            <a:r>
              <a:rPr lang="en-US" sz="1350" b="1" dirty="0">
                <a:solidFill>
                  <a:srgbClr val="5B6B60"/>
                </a:solidFill>
                <a:latin typeface="Calibri" pitchFamily="34" charset="0"/>
                <a:ea typeface="Calibri" pitchFamily="34" charset="-122"/>
                <a:cs typeface="Calibri" pitchFamily="34" charset="-120"/>
              </a:rPr>
              <a:t>persistence context</a:t>
            </a:r>
            <a:pPr indent="0" marL="0">
              <a:buNone/>
            </a:pPr>
            <a:r>
              <a:rPr lang="en-US" sz="1350" dirty="0">
                <a:solidFill>
                  <a:srgbClr val="5B6B60"/>
                </a:solidFill>
                <a:latin typeface="Calibri" pitchFamily="34" charset="0"/>
                <a:ea typeface="Calibri" pitchFamily="34" charset="-122"/>
                <a:cs typeface="Calibri" pitchFamily="34" charset="-120"/>
              </a:rPr>
              <a:t> tracks every managed entity — it is a first-level cache and a change detector.</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Dirty checking:</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change a managed entity's field and Hibernate issues the UPDATE at flush/commit — no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save()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call needed.</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First-level cache: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find(User.class, 1)</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twice in one transaction hits the database once.</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Flush</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writes pending changes (before commit, before queries that might be affected, or on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flush()</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Outside a transaction, entities are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detached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changes are not tracked and lazy associations can't load.</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Transient → Managed  (persist())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Managed → Detached  (tx ends)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Detached → Managed  (merge())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Managed → Removed  (remove())</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Mapping an entity</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Annotations describe how a class maps to a table. Keep entities </a:t>
            </a:r>
            <a:pPr indent="0" marL="0">
              <a:buNone/>
            </a:pPr>
            <a:r>
              <a:rPr lang="en-US" sz="1350" b="1" dirty="0">
                <a:solidFill>
                  <a:srgbClr val="5B6B60"/>
                </a:solidFill>
                <a:latin typeface="Calibri" pitchFamily="34" charset="0"/>
                <a:ea typeface="Calibri" pitchFamily="34" charset="-122"/>
                <a:cs typeface="Calibri" pitchFamily="34" charset="-120"/>
              </a:rPr>
              <a:t>intention-revealing</a:t>
            </a:r>
            <a:pPr indent="0" marL="0">
              <a:buNone/>
            </a:pPr>
            <a:r>
              <a:rPr lang="en-US" sz="1350" dirty="0">
                <a:solidFill>
                  <a:srgbClr val="5B6B60"/>
                </a:solidFill>
                <a:latin typeface="Calibri" pitchFamily="34" charset="0"/>
                <a:ea typeface="Calibri" pitchFamily="34" charset="-122"/>
                <a:cs typeface="Calibri" pitchFamily="34" charset="-120"/>
              </a:rPr>
              <a:t> — not bags of setters.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User.java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com.example.splitwise.user;</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jakarta.persistence.*;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java.time.Instant;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@Entity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@Table(name = "users")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User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@GeneratedValue(strategy = GenerationType.IDENTITY)    // MySQL AUTO_INCREMENT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Long id;</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@Column(nullable = false, unique = true, length = 255)</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String email;</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@Column(name = "display_name", nullable = false, length = 100)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String displayName;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@Enumerated(EnumType.STRING)                            // store 'ACTIVE', not 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@Column(nullable = false, length = 20)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Spring Data JPA repositories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Declare an interface; Spring generates the implementation, including queries derived from </a:t>
            </a:r>
            <a:pPr indent="0" marL="0">
              <a:buNone/>
            </a:pPr>
            <a:r>
              <a:rPr lang="en-US" sz="1350" b="1" dirty="0">
                <a:solidFill>
                  <a:srgbClr val="5B6B60"/>
                </a:solidFill>
                <a:latin typeface="Calibri" pitchFamily="34" charset="0"/>
                <a:ea typeface="Calibri" pitchFamily="34" charset="-122"/>
                <a:cs typeface="Calibri" pitchFamily="34" charset="-120"/>
              </a:rPr>
              <a:t>method names</a:t>
            </a:r>
            <a:pPr indent="0" marL="0">
              <a:buNone/>
            </a:pPr>
            <a:r>
              <a:rPr lang="en-US" sz="1350" dirty="0">
                <a:solidFill>
                  <a:srgbClr val="5B6B60"/>
                </a:solidFill>
                <a:latin typeface="Calibri" pitchFamily="34" charset="0"/>
                <a:ea typeface="Calibri" pitchFamily="34" charset="-122"/>
                <a:cs typeface="Calibri" pitchFamily="34" charset="-120"/>
              </a:rPr>
              <a: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UserRepository.java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com.example.splitwise.user;</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java.time.Instant;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java.util.Optional;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org.springframework.data.domain.Page;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org.springframework.data.domain.Pageable;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org.springframework.data.jpa.repository.JpaRepository;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org.springframework.data.jpa.repository.Query;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org.springframework.data.repository.query.Param;</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interface UserRepository extends JpaRepository&lt;User, Long&gt; {   // save, findById, findAll, delete...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Optional&lt;User&gt; findByEmail(String email);                             // derived queries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boolean existsByEmail(String email);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List&lt;User&gt; findByDisplayNameContainingIgnoreCaseOrderByDisplayNameAsc(String part);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Page&lt;User&gt; findByStatus(UserStatus status, Pageable pageable);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@Query("select m.user from GroupMember m where m.group.id = :groupId")   // JPQL: entities, not tables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List&lt;User&gt; findMembersOfGroup(@Param("groupId") Long groupId);</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Relationships: owning side, mappedBy, cascade &amp; fetch</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Associations map foreign keys to object references. The side holding the foreign key is the </a:t>
            </a:r>
            <a:pPr indent="0" marL="0">
              <a:buNone/>
            </a:pPr>
            <a:r>
              <a:rPr lang="en-US" sz="1350" b="1" dirty="0">
                <a:solidFill>
                  <a:srgbClr val="5B6B60"/>
                </a:solidFill>
                <a:latin typeface="Calibri" pitchFamily="34" charset="0"/>
                <a:ea typeface="Calibri" pitchFamily="34" charset="-122"/>
                <a:cs typeface="Calibri" pitchFamily="34" charset="-120"/>
              </a:rPr>
              <a:t>owning</a:t>
            </a:r>
            <a:pPr indent="0" marL="0">
              <a:buNone/>
            </a:pPr>
            <a:r>
              <a:rPr lang="en-US" sz="1350" dirty="0">
                <a:solidFill>
                  <a:srgbClr val="5B6B60"/>
                </a:solidFill>
                <a:latin typeface="Calibri" pitchFamily="34" charset="0"/>
                <a:ea typeface="Calibri" pitchFamily="34" charset="-122"/>
                <a:cs typeface="Calibri" pitchFamily="34" charset="-120"/>
              </a:rPr>
              <a:t> side.</a:t>
            </a:r>
            <a:endParaRPr lang="en-US" sz="1350" dirty="0"/>
          </a:p>
        </p:txBody>
      </p:sp>
      <p:sp>
        <p:nvSpPr>
          <p:cNvPr id="7" name="Text 5"/>
          <p:cNvSpPr/>
          <p:nvPr/>
        </p:nvSpPr>
        <p:spPr>
          <a:xfrm>
            <a:off x="457200" y="1883664"/>
            <a:ext cx="1127729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users (id PK, email UQ, display_name, status, version)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expense_groups (id PK, name, created_by FK → users, version)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group_members (id PK, group_id FK → expense_groups, user_id FK → users, role, joined_at, UQ (group_id, user_id))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user_profiles (user_id PK, FK → users, phone, upi_id)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users 1 — 1 user_profiles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users 1 — N group_members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expense_groups 1 — N group_members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users N — M expense_groups (via group_members)</a:t>
            </a:r>
            <a:endParaRPr lang="en-US" sz="13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Annotation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Default fetch</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Notes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@ManyToOne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EAGER ⚠️</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owning side (FK column) — set fetch LAZY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@OneToMany(mappedBy "...")</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LAZY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inverse side; often cascade ALL, orphanRemoval true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@OneToOne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EAGER ⚠️</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consider @MapsId to share the primary key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@ManyToMany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LAZY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only for pure links without extra columns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Mapping the group ↔ member ↔ user relationships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An aggregate root (</a:t>
            </a:r>
            <a:pPr indent="0" marL="0">
              <a:buNone/>
            </a:pPr>
            <a:r>
              <a:rPr lang="en-US" sz="1350" dirty="0">
                <a:solidFill>
                  <a:srgbClr val="B4235A"/>
                </a:solidFill>
                <a:latin typeface="Consolas" pitchFamily="34" charset="0"/>
                <a:ea typeface="Consolas" pitchFamily="34" charset="-122"/>
                <a:cs typeface="Consolas" pitchFamily="34" charset="-120"/>
              </a:rPr>
              <a:t>ExpenseGroup</a:t>
            </a:r>
            <a:pPr indent="0" marL="0">
              <a:buNone/>
            </a:pPr>
            <a:r>
              <a:rPr lang="en-US" sz="1350" dirty="0">
                <a:solidFill>
                  <a:srgbClr val="5B6B60"/>
                </a:solidFill>
                <a:latin typeface="Calibri" pitchFamily="34" charset="0"/>
                <a:ea typeface="Calibri" pitchFamily="34" charset="-122"/>
                <a:cs typeface="Calibri" pitchFamily="34" charset="-120"/>
              </a:rPr>
              <a:t>) owns its members via cascade; helper methods keep both sides consistent.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ExpenseGroup.java  (+2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com.example.splitwise.group;</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com.example.splitwise.user.User;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jakarta.persistence.*;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java.util.ArrayList;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java.util.Collections;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@Entity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@Table(name = "expense_groups")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ExpenseGroup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@Id @GeneratedValue(strategy = GenerationType.IDENTITY)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Long id;</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@Column(nullable = false, length = 100)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String name;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@ManyToOne(fetch = FetchType.LAZY, optional = false)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@JoinColumn(name = "created_by")                       // FK column: this is the owning side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User createdBy;</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Lazy loading &amp; the N+1 query problem</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Loading N groups and then touching each group's members fires </a:t>
            </a:r>
            <a:pPr indent="0" marL="0">
              <a:buNone/>
            </a:pPr>
            <a:r>
              <a:rPr lang="en-US" sz="1350" b="1" dirty="0">
                <a:solidFill>
                  <a:srgbClr val="5B6B60"/>
                </a:solidFill>
                <a:latin typeface="Calibri" pitchFamily="34" charset="0"/>
                <a:ea typeface="Calibri" pitchFamily="34" charset="-122"/>
                <a:cs typeface="Calibri" pitchFamily="34" charset="-120"/>
              </a:rPr>
              <a:t>1 + N</a:t>
            </a:r>
            <a:pPr indent="0" marL="0">
              <a:buNone/>
            </a:pPr>
            <a:r>
              <a:rPr lang="en-US" sz="1350" dirty="0">
                <a:solidFill>
                  <a:srgbClr val="5B6B60"/>
                </a:solidFill>
                <a:latin typeface="Calibri" pitchFamily="34" charset="0"/>
                <a:ea typeface="Calibri" pitchFamily="34" charset="-122"/>
                <a:cs typeface="Calibri" pitchFamily="34" charset="-120"/>
              </a:rPr>
              <a:t> queries. It is the #1 JPA performance bug.</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Fixes: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JOIN FETCH</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in JPQL,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`@EntityGraph`</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on repository methods,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DTO projections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or batch fetching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hibernate.default_batch_fetch_size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LazyInitializationException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touching a lazy association after the transaction closed (e.g. during JSON serialisation of an entity).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Set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spring.jpa.open-in-view=false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so lazy loading can't silently happen in the web layer; map to DTOs inside the service.</a:t>
            </a:r>
            <a:endParaRPr lang="en-US" sz="17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Hibernate SQL log</a:t>
            </a:r>
            <a:endParaRPr lang="en-US" sz="900" dirty="0"/>
          </a:p>
        </p:txBody>
      </p:sp>
      <p:sp>
        <p:nvSpPr>
          <p:cNvPr id="9" name="Text 7"/>
          <p:cNvSpPr/>
          <p:nvPr/>
        </p:nvSpPr>
        <p:spPr>
          <a:xfrm>
            <a:off x="5852160" y="2157984"/>
            <a:ext cx="588233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750" dirty="0">
                <a:solidFill>
                  <a:srgbClr val="24292F"/>
                </a:solidFill>
                <a:latin typeface="Consolas" pitchFamily="34" charset="0"/>
                <a:ea typeface="Consolas" pitchFamily="34" charset="-122"/>
                <a:cs typeface="Consolas" pitchFamily="34" charset="-120"/>
              </a:rPr>
              <a:t>-- groups.findAll() then group.getMembers().size() for each group  -&gt;  1 + N queries</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select g1_0.id, g1_0.created_by, g1_0.name, g1_0.version from expense_groups g1_0</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select m1_0.group_id, m1_0.id, m1_0.joined_at, m1_0.role, m1_0.user_id from group_members m1_0 where m1_0.group_id=?</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select m1_0.group_id, m1_0.id, m1_0.joined_at, m1_0.role, m1_0.user_id from group_members m1_0 where m1_0.group_id=?</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one more query per group ...</a:t>
            </a:r>
            <a:endParaRPr lang="en-US" sz="750" dirty="0"/>
          </a:p>
          <a:p>
            <a:pPr indent="0" marL="0">
              <a:buNone/>
            </a:pP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 with a fetch join / entity graph  -&gt;  1 query</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select g1_0.id, g1_0.name, m1_0.id, m1_0.role, u1_0.id, u1_0.display_name</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from expense_groups g1_0</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left join group_members m1_0 on g1_0.id = m1_0.group_id</a:t>
            </a:r>
            <a:endParaRPr lang="en-US" sz="750" dirty="0"/>
          </a:p>
          <a:p>
            <a:pPr indent="0" marL="0">
              <a:buNone/>
            </a:pPr>
            <a:r>
              <a:rPr lang="en-US" sz="750" dirty="0">
                <a:solidFill>
                  <a:srgbClr val="24292F"/>
                </a:solidFill>
                <a:latin typeface="Consolas" pitchFamily="34" charset="0"/>
                <a:ea typeface="Consolas" pitchFamily="34" charset="-122"/>
                <a:cs typeface="Consolas" pitchFamily="34" charset="-120"/>
              </a:rPr>
              <a:t>left join users u1_0 on u1_0.id = m1_0.user_id</a:t>
            </a:r>
            <a:endParaRPr lang="en-US" sz="7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Fixing N+1 with fetch joins &amp; entity graphs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Tell Hibernate up front which associations a use case needs.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ExpenseGroupRepository.java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com.example.splitwise.group;</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jakarta.persistence.LockModeType;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java.util.Optional;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org.springframework.data.jpa.repository.*;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org.springframework.data.repository.query.Param;</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interface ExpenseGroupRepository extends JpaRepository&lt;ExpenseGroup, Long&gt;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Option 1: JPQL fetch join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@Query("""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select distinct g from ExpenseGroup g</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join fetch g.members m</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join fetch m.user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where g.id = :id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Optional&lt;ExpenseGroup&gt; findWithMembers(@Param("id") Long id);</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Option 2: entity graph on a derived query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@EntityGraph(attributePaths = {"members", "members.user"})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Lost updates, @Version &amp; schema management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Two users edit the same expense at once: without protection the last write silently wins.</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@Version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adds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AND version = ?</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to every UPDATE; 0 rows updated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ObjectOptimisticLockingFailureException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return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409 Conflict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let the client reload and retry.</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spring.jpa.hibernate.ddl-auto</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create-drop</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for throwaway tests,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`validate`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(or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none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for real environments.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Version schema changes with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Flyway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migrations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V1__init.sql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V2__add_phone.sql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applied automatically at startup.</a:t>
            </a:r>
            <a:endParaRPr lang="en-US" sz="17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application.yml</a:t>
            </a:r>
            <a:endParaRPr lang="en-US" sz="900" dirty="0"/>
          </a:p>
        </p:txBody>
      </p:sp>
      <p:sp>
        <p:nvSpPr>
          <p:cNvPr id="9" name="Text 7"/>
          <p:cNvSpPr/>
          <p:nvPr/>
        </p:nvSpPr>
        <p:spPr>
          <a:xfrm>
            <a:off x="5852160" y="2157984"/>
            <a:ext cx="588233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898" dirty="0">
                <a:solidFill>
                  <a:srgbClr val="24292F"/>
                </a:solidFill>
                <a:latin typeface="Consolas" pitchFamily="34" charset="0"/>
                <a:ea typeface="Consolas" pitchFamily="34" charset="-122"/>
                <a:cs typeface="Consolas" pitchFamily="34" charset="-120"/>
              </a:rPr>
              <a:t>spring:</a:t>
            </a:r>
            <a:endParaRPr lang="en-US" sz="898" dirty="0"/>
          </a:p>
          <a:p>
            <a:pPr indent="0" marL="0">
              <a:buNone/>
            </a:pPr>
            <a:r>
              <a:rPr lang="en-US" sz="898" dirty="0">
                <a:solidFill>
                  <a:srgbClr val="24292F"/>
                </a:solidFill>
                <a:latin typeface="Consolas" pitchFamily="34" charset="0"/>
                <a:ea typeface="Consolas" pitchFamily="34" charset="-122"/>
                <a:cs typeface="Consolas" pitchFamily="34" charset="-120"/>
              </a:rPr>
              <a:t>  jpa:</a:t>
            </a:r>
            <a:endParaRPr lang="en-US" sz="898" dirty="0"/>
          </a:p>
          <a:p>
            <a:pPr indent="0" marL="0">
              <a:buNone/>
            </a:pPr>
            <a:r>
              <a:rPr lang="en-US" sz="898" dirty="0">
                <a:solidFill>
                  <a:srgbClr val="24292F"/>
                </a:solidFill>
                <a:latin typeface="Consolas" pitchFamily="34" charset="0"/>
                <a:ea typeface="Consolas" pitchFamily="34" charset="-122"/>
                <a:cs typeface="Consolas" pitchFamily="34" charset="-120"/>
              </a:rPr>
              <a:t>    hibernate:</a:t>
            </a:r>
            <a:endParaRPr lang="en-US" sz="898" dirty="0"/>
          </a:p>
          <a:p>
            <a:pPr indent="0" marL="0">
              <a:buNone/>
            </a:pPr>
            <a:r>
              <a:rPr lang="en-US" sz="898" dirty="0">
                <a:solidFill>
                  <a:srgbClr val="24292F"/>
                </a:solidFill>
                <a:latin typeface="Consolas" pitchFamily="34" charset="0"/>
                <a:ea typeface="Consolas" pitchFamily="34" charset="-122"/>
                <a:cs typeface="Consolas" pitchFamily="34" charset="-120"/>
              </a:rPr>
              <a:t>      ddl-auto: validate          # schema comes from Flyway; Hibernate only checks it</a:t>
            </a:r>
            <a:endParaRPr lang="en-US" sz="898" dirty="0"/>
          </a:p>
          <a:p>
            <a:pPr indent="0" marL="0">
              <a:buNone/>
            </a:pPr>
            <a:r>
              <a:rPr lang="en-US" sz="898" dirty="0">
                <a:solidFill>
                  <a:srgbClr val="24292F"/>
                </a:solidFill>
                <a:latin typeface="Consolas" pitchFamily="34" charset="0"/>
                <a:ea typeface="Consolas" pitchFamily="34" charset="-122"/>
                <a:cs typeface="Consolas" pitchFamily="34" charset="-120"/>
              </a:rPr>
              <a:t>    open-in-view: false</a:t>
            </a:r>
            <a:endParaRPr lang="en-US" sz="898" dirty="0"/>
          </a:p>
          <a:p>
            <a:pPr indent="0" marL="0">
              <a:buNone/>
            </a:pPr>
            <a:r>
              <a:rPr lang="en-US" sz="898" dirty="0">
                <a:solidFill>
                  <a:srgbClr val="24292F"/>
                </a:solidFill>
                <a:latin typeface="Consolas" pitchFamily="34" charset="0"/>
                <a:ea typeface="Consolas" pitchFamily="34" charset="-122"/>
                <a:cs typeface="Consolas" pitchFamily="34" charset="-120"/>
              </a:rPr>
              <a:t>  flyway:</a:t>
            </a:r>
            <a:endParaRPr lang="en-US" sz="898" dirty="0"/>
          </a:p>
          <a:p>
            <a:pPr indent="0" marL="0">
              <a:buNone/>
            </a:pPr>
            <a:r>
              <a:rPr lang="en-US" sz="898" dirty="0">
                <a:solidFill>
                  <a:srgbClr val="24292F"/>
                </a:solidFill>
                <a:latin typeface="Consolas" pitchFamily="34" charset="0"/>
                <a:ea typeface="Consolas" pitchFamily="34" charset="-122"/>
                <a:cs typeface="Consolas" pitchFamily="34" charset="-120"/>
              </a:rPr>
              <a:t>    locations: classpath:db/migration</a:t>
            </a:r>
            <a:endParaRPr lang="en-US" sz="898" dirty="0"/>
          </a:p>
          <a:p>
            <a:pPr indent="0" marL="0">
              <a:buNone/>
            </a:pPr>
            <a:r>
              <a:rPr lang="en-US" sz="898" dirty="0">
                <a:solidFill>
                  <a:srgbClr val="24292F"/>
                </a:solidFill>
                <a:latin typeface="Consolas" pitchFamily="34" charset="0"/>
                <a:ea typeface="Consolas" pitchFamily="34" charset="-122"/>
                <a:cs typeface="Consolas" pitchFamily="34" charset="-120"/>
              </a:rPr>
              <a:t>logging:</a:t>
            </a:r>
            <a:endParaRPr lang="en-US" sz="898" dirty="0"/>
          </a:p>
          <a:p>
            <a:pPr indent="0" marL="0">
              <a:buNone/>
            </a:pPr>
            <a:r>
              <a:rPr lang="en-US" sz="898" dirty="0">
                <a:solidFill>
                  <a:srgbClr val="24292F"/>
                </a:solidFill>
                <a:latin typeface="Consolas" pitchFamily="34" charset="0"/>
                <a:ea typeface="Consolas" pitchFamily="34" charset="-122"/>
                <a:cs typeface="Consolas" pitchFamily="34" charset="-120"/>
              </a:rPr>
              <a:t>  level:</a:t>
            </a:r>
            <a:endParaRPr lang="en-US" sz="898" dirty="0"/>
          </a:p>
          <a:p>
            <a:pPr indent="0" marL="0">
              <a:buNone/>
            </a:pPr>
            <a:r>
              <a:rPr lang="en-US" sz="898" dirty="0">
                <a:solidFill>
                  <a:srgbClr val="24292F"/>
                </a:solidFill>
                <a:latin typeface="Consolas" pitchFamily="34" charset="0"/>
                <a:ea typeface="Consolas" pitchFamily="34" charset="-122"/>
                <a:cs typeface="Consolas" pitchFamily="34" charset="-120"/>
              </a:rPr>
              <a:t>    org.hibernate.SQL: DEBUG                 # generated SQL</a:t>
            </a:r>
            <a:endParaRPr lang="en-US" sz="898" dirty="0"/>
          </a:p>
          <a:p>
            <a:pPr indent="0" marL="0">
              <a:buNone/>
            </a:pPr>
            <a:r>
              <a:rPr lang="en-US" sz="898" dirty="0">
                <a:solidFill>
                  <a:srgbClr val="24292F"/>
                </a:solidFill>
                <a:latin typeface="Consolas" pitchFamily="34" charset="0"/>
                <a:ea typeface="Consolas" pitchFamily="34" charset="-122"/>
                <a:cs typeface="Consolas" pitchFamily="34" charset="-120"/>
              </a:rPr>
              <a:t>    org.hibernate.orm.jdbc.bind: TRACE       # bound parameter values (dev only)</a:t>
            </a:r>
            <a:endParaRPr lang="en-US" sz="898"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Lab: Users &amp; Groups on Spring Data JPA</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Migrate the JDBC implementation to JPA, map the relationships, and prove you have no N+1 queries.</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spring-boot-starter-data-jpa</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spring-boot-starter-flyway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flyway-mysql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move the DDL into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db/migration/V1__init.sql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version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columns and the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group_members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surrogate id + unique constraint).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Set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ddl-auto: validate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open-in-view: false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enable SQL logging.</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Create the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User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ExpenseGroup</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GroupMember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entities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GroupRole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enum as on the slides.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Create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UserRepository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ExpenseGroupRepository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implement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GroupService.create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cascade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rename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via dirty checking.</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Expose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GET /api/v1/users?page=&amp;size=&amp;sort=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returning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PageResponse&lt;UserCard&gt;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Write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GET /api/v1/groups/{id}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returning a DTO with members; count queries in the log — then fix N+1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findWithMembers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Trigger an optimistic-lock conflict: load the same group in two transactions (two curl calls with a breakpoint/sleep), rename both, map the exception to </a:t>
            </a:r>
            <a:endParaRPr lang="en-US" sz="1500" dirty="0"/>
          </a:p>
          <a:p>
            <a:pPr marL="342900" indent="-342900">
              <a:spcAft>
                <a:spcPts val="400"/>
              </a:spcAft>
              <a:buSzPct val="100000"/>
              <a:buFont typeface="+mj-lt"/>
              <a:buAutoNum type="arabicPeriod" startAt="1"/>
            </a:pPr>
            <a:r>
              <a:rPr lang="en-US" sz="1500" b="1" dirty="0">
                <a:solidFill>
                  <a:srgbClr val="1F2A24"/>
                </a:solidFill>
                <a:latin typeface="Calibri" pitchFamily="34" charset="0"/>
                <a:ea typeface="Calibri" pitchFamily="34" charset="-122"/>
                <a:cs typeface="Calibri" pitchFamily="34" charset="-120"/>
              </a:rPr>
              <a:t>409</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Stretch: 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V2__add_user_profiles.sql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@OneToOne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UserProfile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sharing the user's primary key via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@MapsId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JPA &amp; relationships</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Inside a @Transactional method you load a User and call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user.rename("X")</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What happens without calling save()?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Nothing is saved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Hibernate detects the change and issues an UPDATE at commit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An exception is thrown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The change is saved only in the cache</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In a bidirectional one-to-many, which side owns the relationship?</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The @OneToMany side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The side with mappedBy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The @ManyToOne side holding the foreign key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Both equally</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Listing 50 groups and printing each group's members triggers 51 queries. This is…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Optimistic locking</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The N+1 problem</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A cartesian product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Dirty checking</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Why prefer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EnumType.STRING</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over the default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ORDINAL</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It is faster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Reordering enum constants won't corrupt existing data</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ORDINAL is not supported by MySQL</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STRING uses less storage</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What does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@Version</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protect against?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SQL injection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Lost updates from concurrent edits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N+1 queries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Schema drift</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11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JPA (spec) + Hibernate (implementation) + Spring Data JPA (repositories) map objects to tables.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Persistence context = first-level cache + dirty checking; entities are transient, managed, detached or removed.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Relationships: owning side holds the FK,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mappedBy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on the inverse side; prefer LAZY, explicit join entities, aggregate roots with cascade.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Repositories: derived queries, JPQL, native SQL, paging, DTO projections.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Avoid N+1 (fetch join, entity graph, DTOs), disable open-in-view, use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@Version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manage schema with Flyway.</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Persistence context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Per-transaction set of managed entities: cache + change tracking.</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Dirty checking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Hibernate compares managed entities to snapshots and issues UPDATEs at flush.</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Owning side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The association side that holds the foreign key and is persisted.</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orphanRemoval</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Deletes child rows removed from the parent’s collection.</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N+1 problem</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1 query for a list + 1 per element to load an association.</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@EntityGraph</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Declares associations to fetch eagerly for one repository method.</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@Version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Optimistic locking column checked on every update.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Flyway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Versioned SQL migrations applied in order at startup.</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3D9BD1"/>
                </a:solidFill>
                <a:latin typeface="Calibri" pitchFamily="34" charset="0"/>
                <a:ea typeface="Calibri" pitchFamily="34" charset="-122"/>
                <a:cs typeface="Calibri" pitchFamily="34" charset="-120"/>
              </a:rPr>
              <a:t>SESSION 12 OF 24  ·  MODULE 2</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Minor Project — Splitwise Backend (Part 1): Setup, Architecture &amp; Data Modeling</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Minor Project: Splitwise Backend (Part 1) — architecture &amp; schema design</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Turn the Splitwise brief into requirements, use cases and an API contract.</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Set up the project environment (Spring Boot 4, MySQL 8.4 via Docker Compose, Flyway, Git).</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Design the technical architecture (HLSD), the add-expense and settle-up flowcharts, and the ERD.</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Implement the schema, the core entities and exact money splitting with BigDecimal.</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Project: Project brief: a Splitwise-like expense sharing app</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Requirements → use cases → API contract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Project: Environment setup</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Technical architecture (HLSD)</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Flowchart: adding an expense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Balances &amp; the settle-up flow</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Data model (ERD)</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Schema as a Flyway migration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Core entities: Expense &amp; ExpenseSplit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Exact money: splitting with BigDecimal</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Project milestone 1: Splitwise foundations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Splitwise design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12 recap — Module 2 complete</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E05A72"/>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PROJECT</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Project brief: a Splitwise-like expense sharing app</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“Build a Splitwise-like Expense Sharing Application from the ground up — project environment setup, technical architecture design, project flowchart, expense creation and settlement flows, user and group management features, HLSD, and data modeling concepts.” — brochure</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Functional: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users, groups &amp; members, expenses split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equally / exactly / by percentage / by shares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balances, settle-up, activity history.</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Non-functional: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money must be exact to the paisa, writes must be atomic, reads fast (cached later), APIs secured (Session 16).</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Part 1 — Session 12: environment &amp; repo setup; architecture + HLSD; flowcharts; data model &amp; schema; users &amp; groups API</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Part 2 — Session 13: expense creation (4 split types); balances; settlements &amp; debt simplification; group management rules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Advanced — Session 17: JUnit + Mockito tests; Redis caching; Spring Security + roles; Cursor AI agents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Requirements → use cases → API contract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Every endpoint should trace back to a use case. Part 1 delivers users and groups; Part 2 adds money movement.</a:t>
            </a:r>
            <a:endParaRPr lang="en-US" sz="1350" dirty="0"/>
          </a:p>
        </p:txBody>
      </p:sp>
      <p:sp>
        <p:nvSpPr>
          <p:cNvPr id="7" name="Text 5"/>
          <p:cNvSpPr/>
          <p:nvPr/>
        </p:nvSpPr>
        <p:spPr>
          <a:xfrm>
            <a:off x="457200" y="1883664"/>
            <a:ext cx="1127729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Register / profile — Part 1 (passwords: S16)</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Create group, add/remove members — Part 1</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Add / edit / delete expense — Part 2</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View balances &amp; settle up — Part 2</a:t>
            </a:r>
            <a:endParaRPr lang="en-US" sz="13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2057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Endpoint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Part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POST /api/v1/users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register a user</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GET /api/v1/users/{id}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user profile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POST /api/v1/groups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create a group (creator becomes ADMIN)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GET /api/v1/groups/{id}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group with members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POST /api/v1/groups/{id}/members · DELETE …/members/{userId}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manage members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POST /api/v1/groups/{id}/expenses · GET …/expenses?page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add / list expenses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GET /api/v1/groups/{id}/balances · POST …/settlements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balances &amp; settle-up</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E05A72"/>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PROJECT</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Environment setup</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reproducible local environment: one command starts the database, one command starts the app.</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compose.yaml  (+1 more in the web notes)</a:t>
            </a:r>
            <a:endParaRPr lang="en-US" sz="900" dirty="0"/>
          </a:p>
        </p:txBody>
      </p:sp>
      <p:sp>
        <p:nvSpPr>
          <p:cNvPr id="8" name="Text 6"/>
          <p:cNvSpPr/>
          <p:nvPr/>
        </p:nvSpPr>
        <p:spPr>
          <a:xfrm>
            <a:off x="457200" y="2157984"/>
            <a:ext cx="11277295" cy="186537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services: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mysql: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image: mysql:8.4</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environment: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MYSQL_DATABASE: splitwise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MYSQL_USER: app</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MYSQL_PASSWORD: apppw          # local dev only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MYSQL_ROOT_PASSWORD: rootpw</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457200" y="4069080"/>
          <a:ext cx="11277295" cy="914400"/>
        </p:xfrm>
        <a:graphic>
          <a:graphicData uri="http://schemas.openxmlformats.org/drawingml/2006/table">
            <a:tbl>
              <a:tblPr/>
              <a:tblGrid>
                <a:gridCol w="3759098"/>
                <a:gridCol w="3759098"/>
                <a:gridCol w="3759098"/>
              </a:tblGrid>
              <a:tr h="235131">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Tool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Version / choice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JDK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21 LTS (Temurin)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records, virtual threads, Boot 4 support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Build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Maven wrapper ./mvnw</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same Maven everywhere (Session 7)</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Framework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Spring Boot 4.1.x</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webmvc, validation, data-jpa, flyway, actuator, lombok, devtools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Database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MySQL 8.4 in Docker Compose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 local installs, easy reset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API client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Postman / HTTPie / curl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exercise endpoints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VCS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Git + GitHub</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feature branches, PRs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10"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TIP: </a:t>
            </a:r>
            <a:pPr indent="0" marL="0">
              <a:buNone/>
            </a:pPr>
            <a:r>
              <a:rPr lang="en-US" sz="1100" dirty="0">
                <a:solidFill>
                  <a:srgbClr val="1F2A24"/>
                </a:solidFill>
                <a:latin typeface="Calibri" pitchFamily="34" charset="0"/>
                <a:ea typeface="Calibri" pitchFamily="34" charset="-122"/>
                <a:cs typeface="Calibri" pitchFamily="34" charset="-120"/>
              </a:rPr>
              <a:t>Add </a:t>
            </a:r>
            <a:pPr indent="0" marL="0">
              <a:buNone/>
            </a:pPr>
            <a:r>
              <a:rPr lang="en-US" sz="1100" dirty="0">
                <a:solidFill>
                  <a:srgbClr val="B4235A"/>
                </a:solidFill>
                <a:latin typeface="Consolas" pitchFamily="34" charset="0"/>
                <a:ea typeface="Consolas" pitchFamily="34" charset="-122"/>
                <a:cs typeface="Consolas" pitchFamily="34" charset="-120"/>
              </a:rPr>
              <a:t>spring-boot-docker-compose</a:t>
            </a:r>
            <a:pPr indent="0" marL="0">
              <a:buNone/>
            </a:pPr>
            <a:r>
              <a:rPr lang="en-US" sz="1100" dirty="0">
                <a:solidFill>
                  <a:srgbClr val="1F2A24"/>
                </a:solidFill>
                <a:latin typeface="Calibri" pitchFamily="34" charset="0"/>
                <a:ea typeface="Calibri" pitchFamily="34" charset="-122"/>
                <a:cs typeface="Calibri" pitchFamily="34" charset="-120"/>
              </a:rPr>
              <a:t> (scope runtime/optional) and </a:t>
            </a:r>
            <a:pPr indent="0" marL="0">
              <a:buNone/>
            </a:pPr>
            <a:r>
              <a:rPr lang="en-US" sz="1100" dirty="0">
                <a:solidFill>
                  <a:srgbClr val="B4235A"/>
                </a:solidFill>
                <a:latin typeface="Consolas" pitchFamily="34" charset="0"/>
                <a:ea typeface="Consolas" pitchFamily="34" charset="-122"/>
                <a:cs typeface="Consolas" pitchFamily="34" charset="-120"/>
              </a:rPr>
              <a:t>./mvnw spring-boot:run</a:t>
            </a:r>
            <a:pPr indent="0" marL="0">
              <a:buNone/>
            </a:pPr>
            <a:r>
              <a:rPr lang="en-US" sz="1100" dirty="0">
                <a:solidFill>
                  <a:srgbClr val="1F2A24"/>
                </a:solidFill>
                <a:latin typeface="Calibri" pitchFamily="34" charset="0"/>
                <a:ea typeface="Calibri" pitchFamily="34" charset="-122"/>
                <a:cs typeface="Calibri" pitchFamily="34" charset="-120"/>
              </a:rPr>
              <a:t> starts </a:t>
            </a:r>
            <a:pPr indent="0" marL="0">
              <a:buNone/>
            </a:pPr>
            <a:r>
              <a:rPr lang="en-US" sz="1100" dirty="0">
                <a:solidFill>
                  <a:srgbClr val="B4235A"/>
                </a:solidFill>
                <a:latin typeface="Consolas" pitchFamily="34" charset="0"/>
                <a:ea typeface="Consolas" pitchFamily="34" charset="-122"/>
                <a:cs typeface="Consolas" pitchFamily="34" charset="-120"/>
              </a:rPr>
              <a:t>compose.yaml</a:t>
            </a:r>
            <a:pPr indent="0" marL="0">
              <a:buNone/>
            </a:pPr>
            <a:r>
              <a:rPr lang="en-US" sz="1100" dirty="0">
                <a:solidFill>
                  <a:srgbClr val="1F2A24"/>
                </a:solidFill>
                <a:latin typeface="Calibri" pitchFamily="34" charset="0"/>
                <a:ea typeface="Calibri" pitchFamily="34" charset="-122"/>
                <a:cs typeface="Calibri" pitchFamily="34" charset="-120"/>
              </a:rPr>
              <a:t> automatically and wires the datasource for you.</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Technical architecture (HLSD)</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layered, modular monolith first — the right starting point. We note where scale and security will plug in later.</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Stateless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API instances → scale horizontally behind a load balancer.</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Single source of truth:</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MySQL with constraints; balances are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derived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from expenses and settlements.</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Consistency: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each command (add expense, settle up) is one ACID transaction.</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Observability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from day one: Actuator health, structured logs with request ids.</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Clients: Web app | Mobile app | Postman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API: Controllers (DTOs, validation, ProblemDetail) | Security filter chain (Session 16)</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Domain: Services (rules, @Transactional) | Split strategies (Session 13)</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Data: JPA repositories | MySQL 8.4 (source of truth) | Redis (cache, Session 15)</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Flowchart: adding an expense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The most important write path. Every check happens before anything is stored, and storing happens in one transaction.</a:t>
            </a:r>
            <a:endParaRPr lang="en-US" sz="1350" dirty="0"/>
          </a:p>
        </p:txBody>
      </p:sp>
      <p:sp>
        <p:nvSpPr>
          <p:cNvPr id="7" name="Text 5"/>
          <p:cNvSpPr/>
          <p:nvPr/>
        </p:nvSpPr>
        <p:spPr>
          <a:xfrm>
            <a:off x="457200" y="1975104"/>
            <a:ext cx="11277295" cy="351391"/>
          </a:xfrm>
          <a:prstGeom prst="roundRect">
            <a:avLst>
              <a:gd name="adj" fmla="val 20818"/>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POST /groups/{id}/expenses</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JSON body: description, amount, paidBy, splitType, participants</a:t>
            </a:r>
            <a:endParaRPr lang="en-US" sz="1200" dirty="0"/>
          </a:p>
        </p:txBody>
      </p:sp>
      <p:sp>
        <p:nvSpPr>
          <p:cNvPr id="8" name="Shape 6"/>
          <p:cNvSpPr/>
          <p:nvPr/>
        </p:nvSpPr>
        <p:spPr>
          <a:xfrm>
            <a:off x="6095848" y="2326495"/>
            <a:ext cx="0" cy="320040"/>
          </a:xfrm>
          <a:prstGeom prst="line">
            <a:avLst/>
          </a:prstGeom>
          <a:noFill/>
          <a:ln w="15875">
            <a:solidFill>
              <a:srgbClr val="6F8276"/>
            </a:solidFill>
            <a:prstDash val="solid"/>
            <a:tailEnd type="triangle"/>
          </a:ln>
        </p:spPr>
      </p:sp>
      <p:sp>
        <p:nvSpPr>
          <p:cNvPr id="9" name="Text 7"/>
          <p:cNvSpPr/>
          <p:nvPr/>
        </p:nvSpPr>
        <p:spPr>
          <a:xfrm>
            <a:off x="457200" y="2646535"/>
            <a:ext cx="11277295" cy="351391"/>
          </a:xfrm>
          <a:prstGeom prst="roundRect">
            <a:avLst>
              <a:gd name="adj" fmla="val 20818"/>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Validate request DTO</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invalid → 400 ProblemDetail</a:t>
            </a:r>
            <a:endParaRPr lang="en-US" sz="1200" dirty="0"/>
          </a:p>
        </p:txBody>
      </p:sp>
      <p:sp>
        <p:nvSpPr>
          <p:cNvPr id="10" name="Shape 8"/>
          <p:cNvSpPr/>
          <p:nvPr/>
        </p:nvSpPr>
        <p:spPr>
          <a:xfrm>
            <a:off x="6095848" y="2997926"/>
            <a:ext cx="0" cy="320040"/>
          </a:xfrm>
          <a:prstGeom prst="line">
            <a:avLst/>
          </a:prstGeom>
          <a:noFill/>
          <a:ln w="15875">
            <a:solidFill>
              <a:srgbClr val="6F8276"/>
            </a:solidFill>
            <a:prstDash val="solid"/>
            <a:tailEnd type="triangle"/>
          </a:ln>
        </p:spPr>
      </p:sp>
      <p:sp>
        <p:nvSpPr>
          <p:cNvPr id="11" name="Text 9"/>
          <p:cNvSpPr/>
          <p:nvPr/>
        </p:nvSpPr>
        <p:spPr>
          <a:xfrm>
            <a:off x="457200" y="3317966"/>
            <a:ext cx="11277295" cy="351391"/>
          </a:xfrm>
          <a:prstGeom prst="roundRect">
            <a:avLst>
              <a:gd name="adj" fmla="val 20818"/>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Load group + members</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unknown group → 404</a:t>
            </a:r>
            <a:endParaRPr lang="en-US" sz="1200" dirty="0"/>
          </a:p>
        </p:txBody>
      </p:sp>
      <p:sp>
        <p:nvSpPr>
          <p:cNvPr id="12" name="Shape 10"/>
          <p:cNvSpPr/>
          <p:nvPr/>
        </p:nvSpPr>
        <p:spPr>
          <a:xfrm>
            <a:off x="6095848" y="3669357"/>
            <a:ext cx="0" cy="320040"/>
          </a:xfrm>
          <a:prstGeom prst="line">
            <a:avLst/>
          </a:prstGeom>
          <a:noFill/>
          <a:ln w="15875">
            <a:solidFill>
              <a:srgbClr val="6F8276"/>
            </a:solidFill>
            <a:prstDash val="solid"/>
            <a:tailEnd type="triangle"/>
          </a:ln>
        </p:spPr>
      </p:sp>
      <p:sp>
        <p:nvSpPr>
          <p:cNvPr id="13" name="Text 11"/>
          <p:cNvSpPr/>
          <p:nvPr/>
        </p:nvSpPr>
        <p:spPr>
          <a:xfrm>
            <a:off x="457200" y="3989397"/>
            <a:ext cx="11277295" cy="351391"/>
          </a:xfrm>
          <a:prstGeom prst="roundRect">
            <a:avLst>
              <a:gd name="adj" fmla="val 20818"/>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Payer &amp; participants are members?</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no → 422 business rule</a:t>
            </a:r>
            <a:endParaRPr lang="en-US" sz="1200" dirty="0"/>
          </a:p>
        </p:txBody>
      </p:sp>
      <p:sp>
        <p:nvSpPr>
          <p:cNvPr id="14" name="Shape 12"/>
          <p:cNvSpPr/>
          <p:nvPr/>
        </p:nvSpPr>
        <p:spPr>
          <a:xfrm>
            <a:off x="6095848" y="4340787"/>
            <a:ext cx="0" cy="320040"/>
          </a:xfrm>
          <a:prstGeom prst="line">
            <a:avLst/>
          </a:prstGeom>
          <a:noFill/>
          <a:ln w="15875">
            <a:solidFill>
              <a:srgbClr val="6F8276"/>
            </a:solidFill>
            <a:prstDash val="solid"/>
            <a:tailEnd type="triangle"/>
          </a:ln>
        </p:spPr>
      </p:sp>
      <p:sp>
        <p:nvSpPr>
          <p:cNvPr id="15" name="Text 13"/>
          <p:cNvSpPr/>
          <p:nvPr/>
        </p:nvSpPr>
        <p:spPr>
          <a:xfrm>
            <a:off x="457200" y="4660827"/>
            <a:ext cx="11277295" cy="351391"/>
          </a:xfrm>
          <a:prstGeom prst="roundRect">
            <a:avLst>
              <a:gd name="adj" fmla="val 20818"/>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Compute shares with SplitStrategy</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EQUAL / EXACT / PERCENTAGE / SHARES; sum must equal amount</a:t>
            </a:r>
            <a:endParaRPr lang="en-US" sz="1200" dirty="0"/>
          </a:p>
        </p:txBody>
      </p:sp>
      <p:sp>
        <p:nvSpPr>
          <p:cNvPr id="16" name="Shape 14"/>
          <p:cNvSpPr/>
          <p:nvPr/>
        </p:nvSpPr>
        <p:spPr>
          <a:xfrm>
            <a:off x="6095848" y="5012218"/>
            <a:ext cx="0" cy="320040"/>
          </a:xfrm>
          <a:prstGeom prst="line">
            <a:avLst/>
          </a:prstGeom>
          <a:noFill/>
          <a:ln w="15875">
            <a:solidFill>
              <a:srgbClr val="6F8276"/>
            </a:solidFill>
            <a:prstDash val="solid"/>
            <a:tailEnd type="triangle"/>
          </a:ln>
        </p:spPr>
      </p:sp>
      <p:sp>
        <p:nvSpPr>
          <p:cNvPr id="17" name="Text 15"/>
          <p:cNvSpPr/>
          <p:nvPr/>
        </p:nvSpPr>
        <p:spPr>
          <a:xfrm>
            <a:off x="457200" y="5332258"/>
            <a:ext cx="11277295" cy="351391"/>
          </a:xfrm>
          <a:prstGeom prst="roundRect">
            <a:avLst>
              <a:gd name="adj" fmla="val 20818"/>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Save expense + splits (one transaction)</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rollback on any failure</a:t>
            </a:r>
            <a:endParaRPr lang="en-US" sz="1200" dirty="0"/>
          </a:p>
        </p:txBody>
      </p:sp>
      <p:sp>
        <p:nvSpPr>
          <p:cNvPr id="18" name="Shape 16"/>
          <p:cNvSpPr/>
          <p:nvPr/>
        </p:nvSpPr>
        <p:spPr>
          <a:xfrm>
            <a:off x="6095848" y="5683649"/>
            <a:ext cx="0" cy="320040"/>
          </a:xfrm>
          <a:prstGeom prst="line">
            <a:avLst/>
          </a:prstGeom>
          <a:noFill/>
          <a:ln w="15875">
            <a:solidFill>
              <a:srgbClr val="6F8276"/>
            </a:solidFill>
            <a:prstDash val="solid"/>
            <a:tailEnd type="triangle"/>
          </a:ln>
        </p:spPr>
      </p:sp>
      <p:sp>
        <p:nvSpPr>
          <p:cNvPr id="19" name="Text 17"/>
          <p:cNvSpPr/>
          <p:nvPr/>
        </p:nvSpPr>
        <p:spPr>
          <a:xfrm>
            <a:off x="457200" y="6003689"/>
            <a:ext cx="11277295" cy="351391"/>
          </a:xfrm>
          <a:prstGeom prst="roundRect">
            <a:avLst>
              <a:gd name="adj" fmla="val 20818"/>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201 Created + Location</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balances now reflect the expense</a:t>
            </a:r>
            <a:endParaRPr lang="en-US" sz="12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Balances &amp; the settle-up flow</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member's balance = </a:t>
            </a:r>
            <a:pPr indent="0" marL="0">
              <a:buNone/>
            </a:pPr>
            <a:r>
              <a:rPr lang="en-US" sz="1350" b="1" dirty="0">
                <a:solidFill>
                  <a:srgbClr val="5B6B60"/>
                </a:solidFill>
                <a:latin typeface="Calibri" pitchFamily="34" charset="0"/>
                <a:ea typeface="Calibri" pitchFamily="34" charset="-122"/>
                <a:cs typeface="Calibri" pitchFamily="34" charset="-120"/>
              </a:rPr>
              <a:t>total paid − total owed</a:t>
            </a:r>
            <a:pPr indent="0" marL="0">
              <a:buNone/>
            </a:pPr>
            <a:r>
              <a:rPr lang="en-US" sz="1350" dirty="0">
                <a:solidFill>
                  <a:srgbClr val="5B6B60"/>
                </a:solidFill>
                <a:latin typeface="Calibri" pitchFamily="34" charset="0"/>
                <a:ea typeface="Calibri" pitchFamily="34" charset="-122"/>
                <a:cs typeface="Calibri" pitchFamily="34" charset="-120"/>
              </a:rPr>
              <a:t>, adjusted by settlements. Positive: others owe you; negative: you owe.</a:t>
            </a:r>
            <a:endParaRPr lang="en-US" sz="1350" dirty="0"/>
          </a:p>
        </p:txBody>
      </p:sp>
      <p:sp>
        <p:nvSpPr>
          <p:cNvPr id="7" name="Text 5"/>
          <p:cNvSpPr/>
          <p:nvPr/>
        </p:nvSpPr>
        <p:spPr>
          <a:xfrm>
            <a:off x="457200" y="1883664"/>
            <a:ext cx="1127729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1. Ravi (owes) → API: GET /groups/7/balances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2. API → MySQL: sum paid, sum owed, settlements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3. MySQL → API: Asha +900, Ravi -600, Meera -300</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4. API → Ravi (owes): you owe Asha 600</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5. Ravi (owes) → API: POST /groups/7/settlements {to: Asha, 600}</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6. API → MySQL: INSERT settlement (transaction)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7. API → Ravi (owes): 201 Created, balance now 0</a:t>
            </a:r>
            <a:endParaRPr lang="en-US" sz="13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2819324"/>
                <a:gridCol w="2819324"/>
                <a:gridCol w="2819324"/>
                <a:gridCol w="2819324"/>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Goa Trip (₹)</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Paid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Owed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Balance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Asha</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1,200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300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+900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Ravi</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600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−600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Meera</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300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−300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Sum</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1,200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1,200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0 ✅</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Data model (ERD)</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Six tables capture everything; </a:t>
            </a:r>
            <a:pPr indent="0" marL="0">
              <a:buNone/>
            </a:pPr>
            <a:r>
              <a:rPr lang="en-US" sz="1350" dirty="0">
                <a:solidFill>
                  <a:srgbClr val="B4235A"/>
                </a:solidFill>
                <a:latin typeface="Consolas" pitchFamily="34" charset="0"/>
                <a:ea typeface="Consolas" pitchFamily="34" charset="-122"/>
                <a:cs typeface="Consolas" pitchFamily="34" charset="-120"/>
              </a:rPr>
              <a:t>expense_splits</a:t>
            </a:r>
            <a:pPr indent="0" marL="0">
              <a:buNone/>
            </a:pPr>
            <a:r>
              <a:rPr lang="en-US" sz="1350" dirty="0">
                <a:solidFill>
                  <a:srgbClr val="5B6B60"/>
                </a:solidFill>
                <a:latin typeface="Calibri" pitchFamily="34" charset="0"/>
                <a:ea typeface="Calibri" pitchFamily="34" charset="-122"/>
                <a:cs typeface="Calibri" pitchFamily="34" charset="-120"/>
              </a:rPr>
              <a:t> records exactly what each participant owes for each expense.</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Store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computed shares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for every split type → balances are simple sums, and history never changes when rules change.</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Soft delete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deleted_at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keeps an audit trail; queries filter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deleted_at IS NULL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Indexes follow access paths: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(group_id, expense_date)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for the expense feed, FK columns for joins.</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users (id PK, email UQ, display_name, password_hash, status, version)</a:t>
            </a:r>
            <a:endParaRPr lang="en-US" sz="1200" dirty="0"/>
          </a:p>
          <a:p>
            <a:pPr marL="1778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expense_groups (id PK, name, currency, created_by FK → users, version)</a:t>
            </a:r>
            <a:endParaRPr lang="en-US" sz="1200" dirty="0"/>
          </a:p>
          <a:p>
            <a:pPr marL="1778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group_members (id PK, group_id FK, user_id FK, role, UQ (group_id, user_id))</a:t>
            </a:r>
            <a:endParaRPr lang="en-US" sz="1200" dirty="0"/>
          </a:p>
          <a:p>
            <a:pPr marL="1778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expenses (id PK, group_id FK, description, amount DECIMAL(12,2), split_type, paid_by FK → users, expense_date, deleted_at, version)</a:t>
            </a:r>
            <a:endParaRPr lang="en-US" sz="1200" dirty="0"/>
          </a:p>
          <a:p>
            <a:pPr marL="1778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expense_splits (id PK, expense_id FK, user_id FK, share_amount DECIMAL(12,2), UQ (expense_id, user_id))</a:t>
            </a:r>
            <a:endParaRPr lang="en-US" sz="1200" dirty="0"/>
          </a:p>
          <a:p>
            <a:pPr marL="1778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settlements (id PK, group_id FK, payer_id FK → users, payee_id FK → users, amount, settled_at)</a:t>
            </a:r>
            <a:endParaRPr lang="en-US" sz="1200" dirty="0"/>
          </a:p>
          <a:p>
            <a:pPr marL="1778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expense_groups 1 — N group_members</a:t>
            </a:r>
            <a:endParaRPr lang="en-US" sz="1200" dirty="0"/>
          </a:p>
          <a:p>
            <a:pPr marL="1778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users 1 — N group_members</a:t>
            </a:r>
            <a:endParaRPr lang="en-US" sz="1200" dirty="0"/>
          </a:p>
          <a:p>
            <a:pPr marL="1778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expense_groups 1 — N expenses</a:t>
            </a:r>
            <a:endParaRPr lang="en-US" sz="1200" dirty="0"/>
          </a:p>
          <a:p>
            <a:pPr marL="1778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expenses 1 — N expense_splits</a:t>
            </a:r>
            <a:endParaRPr lang="en-US" sz="1200" dirty="0"/>
          </a:p>
          <a:p>
            <a:pPr marL="1778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users 1 — N expense_splits</a:t>
            </a:r>
            <a:endParaRPr lang="en-US" sz="1200" dirty="0"/>
          </a:p>
          <a:p>
            <a:pPr marL="177800" indent="-177800">
              <a:spcAft>
                <a:spcPts val="400"/>
              </a:spcAft>
              <a:buSzPct val="100000"/>
              <a:buChar char="•"/>
            </a:pPr>
            <a:r>
              <a:rPr lang="en-US" sz="1200" dirty="0">
                <a:solidFill>
                  <a:srgbClr val="1F2A24"/>
                </a:solidFill>
                <a:latin typeface="Calibri" pitchFamily="34" charset="0"/>
                <a:ea typeface="Calibri" pitchFamily="34" charset="-122"/>
                <a:cs typeface="Calibri" pitchFamily="34" charset="-120"/>
              </a:rPr>
              <a:t>expense_groups 1 — N settlements</a:t>
            </a:r>
            <a:endParaRPr lang="en-US" sz="12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Schema as a Flyway migration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B4235A"/>
                </a:solidFill>
                <a:latin typeface="Consolas" pitchFamily="34" charset="0"/>
                <a:ea typeface="Consolas" pitchFamily="34" charset="-122"/>
                <a:cs typeface="Consolas" pitchFamily="34" charset="-120"/>
              </a:rPr>
              <a:t>V1__splitwise_schema.sql</a:t>
            </a:r>
            <a:pPr indent="0" marL="0">
              <a:buNone/>
            </a:pPr>
            <a:r>
              <a:rPr lang="en-US" sz="1350" dirty="0">
                <a:solidFill>
                  <a:srgbClr val="5B6B60"/>
                </a:solidFill>
                <a:latin typeface="Calibri" pitchFamily="34" charset="0"/>
                <a:ea typeface="Calibri" pitchFamily="34" charset="-122"/>
                <a:cs typeface="Calibri" pitchFamily="34" charset="-120"/>
              </a:rPr>
              <a:t> creates the full model with constraints the application can rely on.</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db/migration/V1__splitwise_schema.sql</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CREATE TABLE users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id            BIGINT AUTO_INCREMENT PRIMARY KEY,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email         VARCHAR(255) NOT NULL,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display_name  VARCHAR(100) NOT NULL,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password_hash VARCHAR(100) NULL,                 -- filled from Session 16</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status        VARCHAR(20)  NOT NULL DEFAULT 'ACTIVE',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created_at    TIMESTAMP(6) NOT NULL DEFAULT CURRENT_TIMESTAMP(6),</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version       BIGINT       NOT NULL DEFAULT 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CONSTRAINT uq_users_email UNIQUE (email)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CREATE TABLE expense_groups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id          BIGINT AUTO_INCREMENT PRIMARY KEY,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name        VARCHAR(100) NOT NULL,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currency    CHAR(3)      NOT NULL DEFAULT 'INR',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created_by  BIGINT       NOT NULL,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created_at  TIMESTAMP(6) NOT NULL DEFAULT CURRENT_TIMESTAMP(6),</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version     BIGINT       NOT NULL DEFAULT 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CONSTRAINT fk_groups_creator FOREIGN KEY (created_by) REFERENCES users (id)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Core entities: Expense &amp; ExpenseSplit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The expense is an aggregate root that owns its splits and refuses splits that don't add up.</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Expense.java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com.example.splitwise.expense;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com.example.splitwise.group.ExpenseGroup;</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com.example.splitwise.user.User;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jakarta.persistence.*;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java.math.BigDecimal;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java.time.Instant;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java.time.LocalDate;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@Entity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@Table(name = "expenses")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Expense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@Id @GeneratedValue(strategy = GenerationType.IDENTITY)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Long id;</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@ManyToOne(fetch = FetchType.LAZY, optional = false) @JoinColumn(name = "group_id")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ExpenseGroup group;</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@Column(nullable = false, length = 120)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String description;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Exact money: splitting with BigDecimal</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₹100 split three ways is not 33.333… — someone pays the extra paisa. Decide the rule once and apply it everywhere.</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MoneySplit.java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java.math.BigDecimal;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java.math.RoundingMode;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java.util.ArrayList;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MoneySplit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Equal split; leftover paise go to the first participants, so the sum is always exact.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List&lt;BigDecimal&gt; splitEqually(BigDecimal amount, int n)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BigDecimal total = amount.setScale(2, RoundingMode.UNNECESSARY);   // reject 3+ decimals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long paise = total.movePointRight(2).longValueExact();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long base = paise / n, remainder = paise % 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List&lt;BigDecimal&gt; shares = new ArrayList&lt;&gt;();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for (int i = 0; i &lt; n; i++)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shares.add(BigDecimal.valueOf(base + (i &lt; remainder ? 1 : 0), 2));</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shares;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static void main(String[] args)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System.out.println(0.1 + 0.2);                                       // why never double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Project milestone 1: Splitwise foundations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Deliver a running service with the full schema, core entities, users &amp; groups API — and design docs in the README.</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Create the GitHub repo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splitwise-backend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 Spring Boot 4.1.x project with webmvc, validation, data-jpa, mysql, flyway (+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flyway-mysql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actuator, lombok, devtools.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compose.yaml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(MySQL 8.4), run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docker compose up -d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point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spring.datasource.*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it (password from an environment variable).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V1__splitwise_schema.sql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start the app and confirm the tables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flyway_schema_history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exist.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Implement the entities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User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ExpenseGroup</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GroupMember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Expense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ExpenseSplit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Settlement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 enums);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ddl-auto: validate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must pass.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Implement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MoneySplit.splitEqually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(or a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Money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utility) with the remainder rule and check 100/3 → 33.34, 33.33, 33.33.</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Build the Part 1 endpoints (users, groups, members) with DTOs, validation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ProblemDetail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errors (409 duplicate email, 404 unknown group).</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Document the architecture diagram, the add-expense flowchart and the ERD in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README.md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(images or Mermaid).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Open a pull request </a:t>
            </a:r>
            <a:endParaRPr lang="en-US" sz="1500" dirty="0"/>
          </a:p>
          <a:p>
            <a:pPr marL="342900" indent="-342900">
              <a:spcAft>
                <a:spcPts val="400"/>
              </a:spcAft>
              <a:buSzPct val="100000"/>
              <a:buFont typeface="+mj-lt"/>
              <a:buAutoNum type="arabicPeriod" startAt="1"/>
            </a:pPr>
            <a:r>
              <a:rPr lang="en-US" sz="1500" i="1" dirty="0">
                <a:solidFill>
                  <a:srgbClr val="1F2A24"/>
                </a:solidFill>
                <a:latin typeface="Calibri" pitchFamily="34" charset="0"/>
                <a:ea typeface="Calibri" pitchFamily="34" charset="-122"/>
                <a:cs typeface="Calibri" pitchFamily="34" charset="-120"/>
              </a:rPr>
              <a:t>Splitwise Part 1</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review a classmate's PR against the API contract.</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Splitwise design</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Why are money columns DECIMAL(12,2) and fields BigDecimal?</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They are faster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Exact decimal arithmetic — no binary rounding errors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MySQL has no FLOAT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JSON requires it</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₹100.00 split equally among 3 people with our rule gives…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33.33 each (99.99 total)</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33.34, 33.33, 33.33</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33.333 each</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34, 33, 33</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Why store a row per participant in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expense_splits</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To make inserts slower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It supports every split type and keeps resolved amounts stable for balances and history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Because JPA requires it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To avoid foreign keys</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Why is the table called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expense_groups</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instead of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groups</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Style preference only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GROUPS is a reserved word in MySQL 8</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Hibernate forbids it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Flyway forbids it</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A member's balance in a group is…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what they paid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what they owe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total paid − total owed, adjusted by settlements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always zero</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D9BD1"/>
          </a:solidFill>
          <a:ln w="12700">
            <a:solidFill>
              <a:srgbClr val="3D9BD1"/>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12 recap — Module 2 complete</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Brief → use cases → API contract before code; Part 1 = users, groups, members.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Reproducible environment: Boot 4 + Maven wrapper + MySQL 8.4 in Compose + Flyway + Git.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HLSD: stateless layered monolith, MySQL as source of truth, Redis &amp; Security slots for later.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Flowcharts for add-expense and settle-up; ERD with expense_splits and settlements; constraints everywhere.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Money is exact: DECIMAL(12,2), BigDecimal from strings, remainder distribution, compareTo for equality.</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HLSD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High-level system design: components, data stores, communication, scaling.</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Use case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 user goal the system supports, e.g. “settle up with a friend”.</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Aggregate root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Entity that owns and protects a cluster of objects (Expense → splits).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Soft delete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Mark a row deleted (deleted_at) instead of removing it.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Balance invariant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Balances within a group always sum to zero.</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Remainder distribution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Give leftover paise to some participants so shares sum exactly.</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Flyway migration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Versioned SQL script (V1__..., V2__...) applied once per database.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compose.yaml</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Declares local infrastructure (MySQL) started with docker compose up.</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80</Slides>
  <Notes>80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80</vt:i4>
      </vt:variant>
    </vt:vector>
  </HeadingPairs>
  <TitlesOfParts>
    <vt:vector size="8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Spring Boot, REST &amp; Databases</dc:title>
  <dc:subject>Java Backend Development Course With IBM Certification</dc:subject>
  <dc:creator>Java Backend Interactive Course Notes</dc:creator>
  <cp:lastModifiedBy>Java Backend Interactive Course Notes</cp:lastModifiedBy>
  <cp:revision>1</cp:revision>
  <dcterms:created xsi:type="dcterms:W3CDTF">2026-10-25T08:00:51Z</dcterms:created>
  <dcterms:modified xsi:type="dcterms:W3CDTF">2026-10-25T08:00:51Z</dcterms:modified>
</cp:coreProperties>
</file>